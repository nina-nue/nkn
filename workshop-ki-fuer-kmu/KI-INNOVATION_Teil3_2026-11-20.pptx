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0"/>
    <p:sldId id="257" r:id="rId9"/>
    <p:sldId id="258" r:id="rId7"/>
    <p:sldId id="259" r:id="rId6"/>
    <p:sldId id="260" r:id="rId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96"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2D53A7-A6F8-4D7A-92A0-B761737A18BF}" v="1" dt="2026-04-14T14:29:15.273"/>
    <p1510:client id="{832B96DA-4D16-4391-89A1-C43C48631DDD}" v="6" dt="2026-04-15T06:06:27.490"/>
    <p1510:client id="{8ADB1845-F5F4-49FC-9783-0BE813E3BFE9}" v="3" dt="2026-04-15T06:09:22.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6" autoAdjust="0"/>
    <p:restoredTop sz="88182" autoAdjust="0"/>
  </p:normalViewPr>
  <p:slideViewPr>
    <p:cSldViewPr showGuides="1">
      <p:cViewPr varScale="1">
        <p:scale>
          <a:sx n="66" d="100"/>
          <a:sy n="66" d="100"/>
        </p:scale>
        <p:origin x="1032" y="48"/>
      </p:cViewPr>
      <p:guideLst>
        <p:guide orient="horz" pos="1296"/>
        <p:guide pos="576"/>
      </p:guideLst>
    </p:cSldViewPr>
  </p:slideViewPr>
  <p:notesTextViewPr>
    <p:cViewPr>
      <p:scale>
        <a:sx n="3" d="2"/>
        <a:sy n="3" d="2"/>
      </p:scale>
      <p:origin x="0" y="0"/>
    </p:cViewPr>
  </p:notesTextViewPr>
  <p:sorterViewPr>
    <p:cViewPr>
      <p:scale>
        <a:sx n="60" d="100"/>
        <a:sy n="6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radarChart>
        <c:radarStyle val="filled"/>
        <c:varyColors val="0"/>
        <c:ser>
          <c:idx val="0"/>
          <c:order val="0"/>
          <c:tx>
            <c:strRef>
              <c:f>Sheet1!$B$1</c:f>
              <c:strCache>
                <c:ptCount val="1"/>
                <c:pt idx="0">
                  <c:v>Bewertung</c:v>
                </c:pt>
              </c:strCache>
            </c:strRef>
          </c:tx>
          <c:spPr>
            <a:solidFill>
              <a:srgbClr val="FB2762">
                <a:alpha val="45000"/>
              </a:srgbClr>
            </a:solidFill>
            <a:ln>
              <a:solidFill>
                <a:srgbClr val="FB2762"/>
              </a:solidFill>
            </a:ln>
          </c:spPr>
          <c:cat>
            <c:strRef>
              <c:f>Sheet1!$A$2:$A$7</c:f>
              <c:strCache>
                <c:ptCount val="6"/>
                <c:pt idx="0">
                  <c:v>Nutzen</c:v>
                </c:pt>
                <c:pt idx="1">
                  <c:v>Datenqualität</c:v>
                </c:pt>
                <c:pt idx="2">
                  <c:v>Transparenz</c:v>
                </c:pt>
                <c:pt idx="3">
                  <c:v>Robustheit</c:v>
                </c:pt>
                <c:pt idx="4">
                  <c:v>Ethik &amp; Datenschutz</c:v>
                </c:pt>
                <c:pt idx="5">
                  <c:v>Nachhaltigkeit</c:v>
                </c:pt>
              </c:strCache>
            </c:strRef>
          </c:cat>
          <c:val>
            <c:numRef>
              <c:f>Sheet1!$B$2:$B$7</c:f>
              <c:numCache>
                <c:formatCode>General</c:formatCode>
                <c:ptCount val="6"/>
                <c:pt idx="0">
                  <c:v>4</c:v>
                </c:pt>
                <c:pt idx="1">
                  <c:v>3</c:v>
                </c:pt>
                <c:pt idx="2">
                  <c:v>4</c:v>
                </c:pt>
                <c:pt idx="3">
                  <c:v>3</c:v>
                </c:pt>
                <c:pt idx="4">
                  <c:v>4</c:v>
                </c:pt>
                <c:pt idx="5">
                  <c:v>3</c:v>
                </c:pt>
              </c:numCache>
            </c:numRef>
          </c:val>
          <c:smooth val="0"/>
        </c:ser>
        <c:axId val="2073612648"/>
        <c:axId val="-2112772216"/>
      </c:radarChart>
      <c:catAx>
        <c:axId val="2073612648"/>
        <c:scaling>
          <c:orientation val="minMax"/>
        </c:scaling>
        <c:delete val="0"/>
        <c:axPos val="b"/>
        <c:majorGridlines/>
        <c:numFmt formatCode="m/d/yy" sourceLinked="1"/>
        <c:majorTickMark val="out"/>
        <c:minorTickMark val="none"/>
        <c:tickLblPos val="nextTo"/>
        <c:crossAx val="-2112772216"/>
        <c:crosses val="autoZero"/>
        <c:auto val="1"/>
        <c:lblAlgn val="ctr"/>
        <c:lblOffset val="100"/>
        <c:noMultiLvlLbl val="0"/>
      </c:catAx>
      <c:valAx>
        <c:axId val="-2112772216"/>
        <c:scaling>
          <c:orientation val="minMax"/>
          <c:max val="5.0"/>
          <c:min val="0.0"/>
        </c:scaling>
        <c:delete val="0"/>
        <c:axPos val="l"/>
        <c:majorGridlines>
          <c:spPr>
            <a:ln>
              <a:solidFill>
                <a:srgbClr val="B8C7DE"/>
              </a:solidFill>
            </a:ln>
          </c:spPr>
        </c:majorGridlines>
        <c:numFmt formatCode="General" sourceLinked="1"/>
        <c:majorTickMark val="cross"/>
        <c:minorTickMark val="none"/>
        <c:tickLblPos val="nextTo"/>
        <c:txPr>
          <a:bodyPr/>
          <a:lstStyle/>
          <a:p>
            <a:pPr>
              <a:defRPr sz="1000"/>
            </a:pPr>
          </a:p>
        </c:txPr>
        <c:crossAx val="2073612648"/>
        <c:crosses val="autoZero"/>
        <c:crossBetween val="between"/>
        <c:majorUnit val="1.0"/>
      </c:valAx>
    </c:plotArea>
    <c:plotVisOnly val="1"/>
    <c:dispBlanksAs val="gap"/>
    <c:showDLblsOverMax val="0"/>
  </c:chart>
  <c:txPr>
    <a:bodyPr/>
    <a:lstStyle/>
    <a:p>
      <a:pPr>
        <a:defRPr sz="1200">
          <a:solidFill>
            <a:srgbClr val="0E1F53"/>
          </a:solidFill>
          <a:latin typeface="Robo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Sechs Stunden: Standortbestimmung, Prototyping, Bewertung, Pitch und der Weg ins Testen und Iterieren.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Reihe besteht aus zwei Präsenzworkshops mit digitaler Begleitung dazwischen. Die Anmeldung umfasst alle Termine. Bitte zu den Präsenzterminen einen Laptop mitbringen.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Zeitplan für sechs Stunden. Arbeitsphasen sind pink markiert.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Ziele für Teil 3 der Reihe.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Rückblick: Die Phasen 1 bis 3 liegen hinter uns. Heute: Prototypen, Bewertung und der Start ins Testen.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Person stellt in 3 Minuten ihren Stand vor, entlang der fünf Felder. Die Ampel zeigt, wo heute der Fokus liegt. Moderation sammelt wiederkehrende Fragen für den Input.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Kurzer Rückblick auf den Praxisfall, bevor es ins Prototyping geht.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Kernfrage der Phase: Wie machen wir die Idee schnell und günstig erlebbar? Ziel: Ausgewählte Ideen so greifbar machen, dass echte Menschen sie ausprobieren können.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Prototyp-Treppe: Starten Sie immer unten. Nur wenn eine Stufe die Annahme nicht testen kann, gehen Sie eine Stufe höher. KI macht die oberen Stufen heute in Minuten erreichbar, aber die unteren sind oft aussagekräftiger.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im Arbeitsheft.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 zum Kopieren. Die eckigen Klammern ersetzen Sie durch Ihre Angaben. Farben: Grün Rolle, Blau Kontext, Orange Aufgabe, Violett Vorgehen, Petrol Format, Rot Regeln.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Rechts oben: wie sich der Schritt automatisieren lässt. Rechts unten: fertige Skills aus öffentlichen GitHub-Repositories, passend zu dieser Phase. Vor dem Einsatz Lizenz und Inhalt prüfen.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Systemprompt, ausgefüllt für die Hochschule Rhein-Waal. Die Vorlage mit Platzhaltern steht im Arbeitsheft. Rechts: welche Werkzeuge und Skills der Agent dafür nutzt.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Prototypen in wenigen Stunden: Ein Storyboard aus Sicht von Jonas und eine Landingpage für den Fake-Door-Test. Die Landingpage hat die Prototyp-Werkstatt mit dem Skill landingpage-prototyp erzeugt.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Arbeitsphase 60 Minuten. Die Teilnehmenden wählen eine Station. Moderation betreut je eine Station. Nach 40 Minuten: kurzer Test mit einer Person vom Nachbartisch, danach 20 Minuten verbessern.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ein KI-Ansatz in den Betrieb geht, prüfen wir ihn in sechs Dimensionen. Das schützt vor bösen Überraschungen und hilft beim Nachweis der KI-Kompetenz nach Art. 4 der KI-Verordnung.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Agent liefert einen kritischen Erstentwurf der Bewertung. Die Noten vergibt am Ende das Team selbst.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KI-Ansatz im Beispiel: ein Challenge-Assistent, der Aufgaben der Unternehmen aufbereitet, Teams vorschlägt und Ergebnisse zusammenfasst. Stärken bei Nutzen und Transparenz, Handlungsbedarf bei Datenqualität, Robustheit und Nachhaltigkeit.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Einzelarbeit mit dem Bewertungsbogen. Erst selbst bewerten, dann den KI-Bewertungs-Check laufen lassen und vergleichen.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 Person pitcht 3 Minuten, danach 3 Minuten Feedback. Der Prototyp wird gezeigt, nicht beschrieben.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 dem Pitch-Coach bereiten die Teilnehmenden in 20 Minuten ihren Pitch vor und üben die kritischen Fragen.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Moderation achtet auf die Zeit. Feedback wird auf Karten mitgeschrieben und übergeben.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Kernfrage der Phase: Funktioniert die Lösung, und was lernen wir daraus? Ziel: Prototypen mit echten Nutzer:innen testen, lernen und entscheiden.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Leitfragen strukturieren die Teamarbeit. Die Methoden sind klassische Design-Thinking-Werkzeuge, die auch ganz ohne KI funktionieren.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Werkzeuge mit je einem Beispiel-Prompt zum direkten Ausprobieren. Alle Prompts finden Sie auch im Arbeitsheft.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Vorlage zum Kopieren. Die eckigen Klammern ersetzen Sie durch Ihre Angaben. Farben: Grün Rolle, Blau Kontext, Orange Aufgabe, Violett Vorgehen, Petrol Format, Rot Regeln.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ein eigener Skill für diese Phase. Rechts oben: wie sich der Schritt automatisieren lässt. Rechts unten: fertige Skills aus öffentlichen GitHub-Repositories, passend zu dieser Phase. Vor dem Einsatz Lizenz und Inhalt prüfen.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Testplan mit klarer Hypothese und Erfolgskriterium. Das Ergebnis im Beispiel: Die Nachfrage ist da, aber Uhrzeit, Anerkennung und Sprache müssen angepasst werden. Also: weiter mit Änderungen, zurück in Phase 4 Prototypen. Genau das ist Iteration.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jedem Test gibt es drei Möglichkeiten: weiter, ändern oder stoppen. Ändern heißt: zurück in die passende Phase. Das ist kein Scheitern, sondern der Kern des Prozesses.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Einzel- oder Tandemarbeit an der eigenen Innovationsherausforderung. Moderation geht herum und hilft beim Prompten.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Workshop endet, die Agenten arbeiten weiter. Vier Rhythmen: wöchentlich, monatlich, quartalsweise und ereignisgesteuert. Fangen Sie mit einem einzigen Dauerläufer an, meist dem Markt-Radar.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wichtigste Dauerläufer für KMU. Achtung: Bei geplanten Aufgaben startet jeder Lauf ohne Erinnerung an den letzten. Deshalb steht im Prompt ausdrücklich: nur Neues der letzten sieben Tage.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Weg A ist in 10 Minuten eingerichtet und reicht für die meisten KMU. Weg B lohnt sich, wenn Sie eigene Quellen wie Branchen-Newsletter einbinden, Ergebnisse archivieren oder Daten im eigenen Haus behalten wollen. n8n lässt sich selbst hosten.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könnte die Mail für das Innovationsteam der HSRW aussehen. Die Inhalte sind für den Workshop erfunden. Entscheidend ist das Format: drei Signale, jeweils mit Quelle und konkreter Handlungsidee, in unter drei Minuten lesbar.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ausgefüllte Canvas des HSRW-Beispiels als Orientierung.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Ergebnis der Reihe auf einer Seite. Jede Person füllt ihr Canvas aus und nimmt es mit. Auch als Ausdruck auf den Tischen.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 realistischer Fahrplan für ein KMU: ein Innovationsprojekt, ein kleines Team, ein Agent nach dem anderen. Nach 90 Tagen haben Sie einen getesteten Prototyp und laufende Automatisierungen.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Bitten Sie alle Teilnehmenden, sich einen der fünf Schritte mit Datum in den Kalender zu schreiben, bevor sie gehen.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Links finden sich auch in der Prompt-Bibliothek, die die Teilnehmenden nach dem Workshop erhalten.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Teilnehmenden erhalten eine Teilnahmebestätigung. Sie hilft, Maßnahmen zur KI-Kompetenz nach Art. 4 der KI-Verordnung zu dokumentieren.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 der Recherche: Oktober 2026.</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Dank an alle Teilnehmenden und Partner. Hinweis auf Ansprechpersonen im Projekt KI für KMU NiederRhein.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66996F0A-761E-DEB6-45D2-3621742AC7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Rectangle 7"/>
          <p:cNvSpPr>
            <a:spLocks/>
          </p:cNvSpPr>
          <p:nvPr userDrawn="1"/>
        </p:nvSpPr>
        <p:spPr>
          <a:xfrm>
            <a:off x="0" y="-1"/>
            <a:ext cx="12192000" cy="6858000"/>
          </a:xfrm>
          <a:prstGeom prst="rect">
            <a:avLst/>
          </a:prstGeom>
          <a:solidFill>
            <a:schemeClr val="accent1">
              <a:alpha val="37000"/>
            </a:schemeClr>
          </a:solidFill>
          <a:ln w="12700">
            <a:noFill/>
            <a:miter/>
          </a:ln>
        </p:spPr>
        <p:txBody>
          <a:bodyPr lIns="45719" rIns="45719" anchor="ctr"/>
          <a:lstStyle/>
          <a:p>
            <a:pPr algn="ctr">
              <a:defRPr>
                <a:solidFill>
                  <a:schemeClr val="accent2"/>
                </a:solidFill>
              </a:defRPr>
            </a:pPr>
            <a:endParaRPr dirty="0">
              <a:solidFill>
                <a:schemeClr val="accent2"/>
              </a:solidFill>
              <a:latin typeface="Arial" panose="020B0604020202020204" pitchFamily="34" charset="0"/>
              <a:cs typeface="Arial" panose="020B0604020202020204" pitchFamily="34" charset="0"/>
            </a:endParaRPr>
          </a:p>
        </p:txBody>
      </p:sp>
      <p:pic>
        <p:nvPicPr>
          <p:cNvPr id="9" name="Grafik 8" descr="Ein Bild, das Screenshot, Text, Software, Betriebssystem enthält.&#10;&#10;KI-generierte Inhalte können fehlerhaft sein.">
            <a:extLst>
              <a:ext uri="{FF2B5EF4-FFF2-40B4-BE49-F238E27FC236}">
                <a16:creationId xmlns:a16="http://schemas.microsoft.com/office/drawing/2014/main" id="{DB261F60-79C7-A249-1744-51B62E90B35C}"/>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pic>
        <p:nvPicPr>
          <p:cNvPr id="2" name="Förderlogos EU Landesregierung_white.png" descr="Förderlogos EU Landesregierung_white.png">
            <a:extLst>
              <a:ext uri="{FF2B5EF4-FFF2-40B4-BE49-F238E27FC236}">
                <a16:creationId xmlns:a16="http://schemas.microsoft.com/office/drawing/2014/main" id="{837FCD26-0F02-C76B-533A-B85AD0A62070}"/>
              </a:ext>
            </a:extLst>
          </p:cNvPr>
          <p:cNvPicPr>
            <a:picLocks noChangeAspect="1"/>
          </p:cNvPicPr>
          <p:nvPr userDrawn="1"/>
        </p:nvPicPr>
        <p:blipFill>
          <a:blip r:embed="rId4"/>
          <a:stretch>
            <a:fillRect/>
          </a:stretch>
        </p:blipFill>
        <p:spPr>
          <a:xfrm>
            <a:off x="692072" y="6098941"/>
            <a:ext cx="4513493" cy="681421"/>
          </a:xfrm>
          <a:prstGeom prst="rect">
            <a:avLst/>
          </a:prstGeom>
          <a:ln w="12700">
            <a:miter lim="400000"/>
          </a:ln>
        </p:spPr>
      </p:pic>
      <p:sp>
        <p:nvSpPr>
          <p:cNvPr id="4" name="Textplatzhalter 3">
            <a:extLst>
              <a:ext uri="{FF2B5EF4-FFF2-40B4-BE49-F238E27FC236}">
                <a16:creationId xmlns:a16="http://schemas.microsoft.com/office/drawing/2014/main" id="{B1417894-3158-262D-E698-DFADE710472D}"/>
              </a:ext>
            </a:extLst>
          </p:cNvPr>
          <p:cNvSpPr>
            <a:spLocks noGrp="1"/>
          </p:cNvSpPr>
          <p:nvPr>
            <p:ph type="body" sz="quarter" idx="10" hasCustomPrompt="1"/>
          </p:nvPr>
        </p:nvSpPr>
        <p:spPr>
          <a:xfrm>
            <a:off x="838200" y="5715000"/>
            <a:ext cx="1600200" cy="306388"/>
          </a:xfrm>
        </p:spPr>
        <p:txBody>
          <a:bodyPr/>
          <a:lstStyle>
            <a:lvl1pPr>
              <a:defRPr sz="1000">
                <a:solidFill>
                  <a:schemeClr val="accent2"/>
                </a:solidFill>
              </a:defRPr>
            </a:lvl1pPr>
            <a:lvl2pPr>
              <a:defRPr sz="1000"/>
            </a:lvl2pPr>
            <a:lvl3pPr>
              <a:defRPr sz="1000"/>
            </a:lvl3pPr>
            <a:lvl4pPr>
              <a:defRPr sz="1000"/>
            </a:lvl4pPr>
            <a:lvl5pPr>
              <a:defRPr sz="1000"/>
            </a:lvl5pPr>
          </a:lstStyle>
          <a:p>
            <a:pPr lvl="0"/>
            <a:r>
              <a:rPr lang="de-DE" dirty="0"/>
              <a:t>Datum</a:t>
            </a:r>
          </a:p>
        </p:txBody>
      </p:sp>
      <p:sp>
        <p:nvSpPr>
          <p:cNvPr id="5" name="Textplatzhalter 10">
            <a:extLst>
              <a:ext uri="{FF2B5EF4-FFF2-40B4-BE49-F238E27FC236}">
                <a16:creationId xmlns:a16="http://schemas.microsoft.com/office/drawing/2014/main" id="{1F51AA21-1A88-D2ED-1A1F-491F5EA23AB6}"/>
              </a:ext>
            </a:extLst>
          </p:cNvPr>
          <p:cNvSpPr>
            <a:spLocks noGrp="1"/>
          </p:cNvSpPr>
          <p:nvPr>
            <p:ph type="body" sz="quarter" idx="12" hasCustomPrompt="1"/>
          </p:nvPr>
        </p:nvSpPr>
        <p:spPr>
          <a:xfrm>
            <a:off x="850491" y="2294923"/>
            <a:ext cx="4637482" cy="677863"/>
          </a:xfrm>
          <a:ln w="12700">
            <a:miter lim="400000"/>
          </a:ln>
        </p:spPr>
        <p:txBody>
          <a:bodyPr lIns="45719" rIns="45719">
            <a:normAutofit fontScale="92500" lnSpcReduction="10000"/>
          </a:bodyPr>
          <a:lstStyle>
            <a:lvl1pPr>
              <a:defRPr kumimoji="0" lang="de-DE" sz="4800" b="1" i="0" u="none" strike="noStrike" kern="0" cap="none" spc="0" normalizeH="0" baseline="0" dirty="0" smtClean="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1pPr>
            <a:lvl2pPr>
              <a:defRPr lang="de-DE" sz="4800" b="0" i="0" u="none" strike="noStrike" cap="none" spc="0" baseline="0" dirty="0" smtClean="0">
                <a:solidFill>
                  <a:schemeClr val="accent2"/>
                </a:solidFill>
                <a:uFillTx/>
                <a:latin typeface="Arial" panose="020B0604020202020204" pitchFamily="34" charset="0"/>
                <a:ea typeface="Arial" panose="020B0604020202020204" pitchFamily="34" charset="0"/>
                <a:cs typeface="Arial" panose="020B0604020202020204" pitchFamily="34" charset="0"/>
              </a:defRPr>
            </a:lvl2pPr>
            <a:lvl3pPr>
              <a:defRPr lang="de-DE" sz="4800" b="0" i="0" u="none" strike="noStrike" cap="none" spc="0" baseline="0" dirty="0" smtClean="0">
                <a:solidFill>
                  <a:schemeClr val="accent2"/>
                </a:solidFill>
                <a:uFillTx/>
                <a:latin typeface="Arial" panose="020B0604020202020204" pitchFamily="34" charset="0"/>
                <a:ea typeface="Arial" panose="020B0604020202020204" pitchFamily="34" charset="0"/>
                <a:cs typeface="Arial" panose="020B0604020202020204" pitchFamily="34" charset="0"/>
              </a:defRPr>
            </a:lvl3pPr>
            <a:lvl4pPr>
              <a:defRPr kumimoji="0" lang="de-DE" sz="4800" b="0" i="0" u="none" strike="noStrike" kern="0" cap="none" spc="0" normalizeH="0" baseline="0" dirty="0" smtClean="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4pPr>
            <a:lvl5pPr>
              <a:defRPr kumimoji="0" lang="de-DE" sz="4800" b="0" i="0" u="none" strike="noStrike" kern="0" cap="none" spc="0" normalizeH="0" baseline="0" dirty="0">
                <a:ln>
                  <a:noFill/>
                </a:ln>
                <a:solidFill>
                  <a:srgbClr val="CBEAEC"/>
                </a:solidFill>
                <a:effectLst/>
                <a:uLnTx/>
                <a:uFillTx/>
                <a:latin typeface="Arial" panose="020B0604020202020204" pitchFamily="34" charset="0"/>
                <a:ea typeface="Arial" panose="020B0604020202020204" pitchFamily="34" charset="0"/>
                <a:cs typeface="Arial" panose="020B0604020202020204" pitchFamily="34" charset="0"/>
              </a:defRPr>
            </a:lvl5pPr>
          </a:lstStyle>
          <a:p>
            <a:pPr marR="0" lvl="0" fontAlgn="auto">
              <a:spcAft>
                <a:spcPts val="0"/>
              </a:spcAft>
              <a:buClrTx/>
              <a:buSzTx/>
              <a:tabLst/>
            </a:pPr>
            <a:r>
              <a:rPr lang="de-DE" dirty="0"/>
              <a:t>Titel</a:t>
            </a:r>
          </a:p>
        </p:txBody>
      </p:sp>
      <p:sp>
        <p:nvSpPr>
          <p:cNvPr id="6" name="Textplatzhalter 14">
            <a:extLst>
              <a:ext uri="{FF2B5EF4-FFF2-40B4-BE49-F238E27FC236}">
                <a16:creationId xmlns:a16="http://schemas.microsoft.com/office/drawing/2014/main" id="{BB378DE6-CCE8-F60F-AFA8-278A81840B56}"/>
              </a:ext>
            </a:extLst>
          </p:cNvPr>
          <p:cNvSpPr>
            <a:spLocks noGrp="1"/>
          </p:cNvSpPr>
          <p:nvPr>
            <p:ph type="body" sz="quarter" idx="13" hasCustomPrompt="1"/>
          </p:nvPr>
        </p:nvSpPr>
        <p:spPr>
          <a:xfrm>
            <a:off x="850491" y="3011563"/>
            <a:ext cx="4637482" cy="904875"/>
          </a:xfrm>
          <a:ln w="12700">
            <a:miter lim="400000"/>
          </a:ln>
        </p:spPr>
        <p:txBody>
          <a:bodyPr lIns="45719" rIns="45719">
            <a:normAutofit/>
          </a:bodyPr>
          <a:lstStyle>
            <a:lvl1pPr>
              <a:lnSpc>
                <a:spcPct val="100000"/>
              </a:lnSpc>
              <a:defRPr kumimoji="0" lang="de-DE" sz="3300" b="0" i="0" u="none" strike="noStrike" kern="0" cap="none" spc="0" normalizeH="0" baseline="0" smtClean="0">
                <a:ln>
                  <a:noFill/>
                </a:ln>
                <a:solidFill>
                  <a:srgbClr val="CBEAEC"/>
                </a:solidFill>
                <a:effectLst/>
                <a:uLnTx/>
                <a:uFillTx/>
                <a:latin typeface="Arial" panose="020B0604020202020204" pitchFamily="34" charset="0"/>
                <a:ea typeface="Open Sans Regular Regular"/>
                <a:cs typeface="Arial" panose="020B0604020202020204" pitchFamily="34" charset="0"/>
              </a:defRPr>
            </a:lvl1pPr>
            <a:lvl2pPr>
              <a:defRPr lang="de-DE" sz="2800" b="0" i="0" u="none" strike="noStrike" cap="none" spc="0" baseline="0" smtClean="0">
                <a:uFillTx/>
                <a:latin typeface="Open Sans Regular Regular"/>
                <a:ea typeface="Open Sans Regular Regular"/>
                <a:cs typeface="Open Sans Regular Regular"/>
              </a:defRPr>
            </a:lvl2pPr>
            <a:lvl3pPr>
              <a:defRPr lang="de-DE" sz="2800" b="0" i="0" u="none" strike="noStrike" cap="none" spc="0" baseline="0" smtClean="0">
                <a:uFillTx/>
                <a:latin typeface="Open Sans Regular Regular"/>
                <a:ea typeface="Open Sans Regular Regular"/>
                <a:cs typeface="Open Sans Regular Regular"/>
              </a:defRPr>
            </a:lvl3pPr>
            <a:lvl4pPr>
              <a:defRPr lang="de-DE" sz="2800" b="0" i="0" u="none" strike="noStrike" cap="none" spc="0" baseline="0" smtClean="0">
                <a:uFillTx/>
                <a:latin typeface="Open Sans Regular Regular"/>
                <a:ea typeface="Open Sans Regular Regular"/>
                <a:cs typeface="Open Sans Regular Regular"/>
              </a:defRPr>
            </a:lvl4pPr>
            <a:lvl5pPr>
              <a:defRPr lang="de-DE" sz="2800" b="0" i="0" u="none" strike="noStrike" cap="none" spc="0" baseline="0">
                <a:uFillTx/>
                <a:latin typeface="Open Sans Regular Regular"/>
                <a:ea typeface="Open Sans Regular Regular"/>
                <a:cs typeface="Open Sans Regular Regular"/>
              </a:defRPr>
            </a:lvl5pPr>
          </a:lstStyle>
          <a:p>
            <a:pPr marR="0" lvl="0" fontAlgn="auto">
              <a:spcAft>
                <a:spcPts val="0"/>
              </a:spcAft>
              <a:buClrTx/>
              <a:buSzTx/>
              <a:tabLst/>
            </a:pPr>
            <a:r>
              <a:rPr lang="de-DE" dirty="0" err="1"/>
              <a:t>Subtitle</a:t>
            </a:r>
            <a:endParaRPr lang="de-DE" dirty="0"/>
          </a:p>
        </p:txBody>
      </p:sp>
      <p:sp>
        <p:nvSpPr>
          <p:cNvPr id="8" name="Textplatzhalter 17">
            <a:extLst>
              <a:ext uri="{FF2B5EF4-FFF2-40B4-BE49-F238E27FC236}">
                <a16:creationId xmlns:a16="http://schemas.microsoft.com/office/drawing/2014/main" id="{0F0ADED2-AD16-F89F-45B7-84A298308FD6}"/>
              </a:ext>
            </a:extLst>
          </p:cNvPr>
          <p:cNvSpPr>
            <a:spLocks noGrp="1"/>
          </p:cNvSpPr>
          <p:nvPr>
            <p:ph type="body" sz="quarter" idx="14" hasCustomPrompt="1"/>
          </p:nvPr>
        </p:nvSpPr>
        <p:spPr>
          <a:xfrm>
            <a:off x="850490" y="4194811"/>
            <a:ext cx="4637481" cy="656548"/>
          </a:xfrm>
          <a:ln w="12700">
            <a:miter lim="400000"/>
          </a:ln>
        </p:spPr>
        <p:txBody>
          <a:bodyPr lIns="45719" rIns="45719">
            <a:noAutofit/>
          </a:bodyPr>
          <a:lstStyle>
            <a:lvl1pPr>
              <a:defRPr kumimoji="0" lang="de-DE" b="0" i="0" u="none" strike="noStrike" kern="0" cap="none" spc="0" normalizeH="0" baseline="0" smtClean="0">
                <a:ln>
                  <a:noFill/>
                </a:ln>
                <a:solidFill>
                  <a:srgbClr val="CBEAEC"/>
                </a:solidFill>
                <a:effectLst/>
                <a:uLnTx/>
                <a:uFillTx/>
                <a:latin typeface="Arial" panose="020B0604020202020204" pitchFamily="34" charset="0"/>
                <a:ea typeface="Open Sans Regular Regular"/>
                <a:cs typeface="Arial" panose="020B0604020202020204" pitchFamily="34" charset="0"/>
              </a:defRPr>
            </a:lvl1pPr>
            <a:lvl2pPr>
              <a:defRPr lang="de-DE" sz="2800" b="0" i="0" u="none" strike="noStrike" cap="none" spc="0" baseline="0" smtClean="0">
                <a:uFillTx/>
                <a:latin typeface="Open Sans Regular Regular"/>
                <a:ea typeface="Open Sans Regular Regular"/>
                <a:cs typeface="Open Sans Regular Regular"/>
              </a:defRPr>
            </a:lvl2pPr>
            <a:lvl3pPr>
              <a:defRPr lang="de-DE" sz="2800" b="0" i="0" u="none" strike="noStrike" cap="none" spc="0" baseline="0" smtClean="0">
                <a:uFillTx/>
                <a:latin typeface="Open Sans Regular Regular"/>
                <a:ea typeface="Open Sans Regular Regular"/>
                <a:cs typeface="Open Sans Regular Regular"/>
              </a:defRPr>
            </a:lvl3pPr>
            <a:lvl4pPr>
              <a:defRPr lang="de-DE" sz="2800" b="0" i="0" u="none" strike="noStrike" cap="none" spc="0" baseline="0" smtClean="0">
                <a:uFillTx/>
                <a:latin typeface="Open Sans Regular Regular"/>
                <a:ea typeface="Open Sans Regular Regular"/>
                <a:cs typeface="Open Sans Regular Regular"/>
              </a:defRPr>
            </a:lvl4pPr>
            <a:lvl5pPr>
              <a:defRPr lang="de-DE" sz="2800" b="0" i="0" u="none" strike="noStrike" cap="none" spc="0" baseline="0">
                <a:uFillTx/>
                <a:latin typeface="Open Sans Regular Regular"/>
                <a:ea typeface="Open Sans Regular Regular"/>
                <a:cs typeface="Open Sans Regular Regular"/>
              </a:defRPr>
            </a:lvl5pPr>
          </a:lstStyle>
          <a:p>
            <a:pPr marR="0" lvl="0" fontAlgn="auto">
              <a:spcAft>
                <a:spcPts val="0"/>
              </a:spcAft>
              <a:buClrTx/>
              <a:buSzTx/>
              <a:tabLst/>
            </a:pPr>
            <a:r>
              <a:rPr lang="de-DE" dirty="0"/>
              <a:t>Beschreibung</a:t>
            </a:r>
          </a:p>
        </p:txBody>
      </p:sp>
    </p:spTree>
    <p:extLst>
      <p:ext uri="{BB962C8B-B14F-4D97-AF65-F5344CB8AC3E}">
        <p14:creationId xmlns:p14="http://schemas.microsoft.com/office/powerpoint/2010/main" val="154725032"/>
      </p:ext>
    </p:extLst>
  </p:cSld>
  <p:clrMapOvr>
    <a:masterClrMapping/>
  </p:clrMapOvr>
  <p:extLst>
    <p:ext uri="{DCECCB84-F9BA-43D5-87BE-67443E8EF086}">
      <p15:sldGuideLst xmlns:p15="http://schemas.microsoft.com/office/powerpoint/2012/main">
        <p15:guide id="1" orient="horz" pos="3984"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hat">
    <p:spTree>
      <p:nvGrpSpPr>
        <p:cNvPr id="1" name=""/>
        <p:cNvGrpSpPr/>
        <p:nvPr/>
      </p:nvGrpSpPr>
      <p:grpSpPr>
        <a:xfrm>
          <a:off x="0" y="0"/>
          <a:ext cx="0" cy="0"/>
          <a:chOff x="0" y="0"/>
          <a:chExt cx="0" cy="0"/>
        </a:xfrm>
      </p:grpSpPr>
      <p:sp>
        <p:nvSpPr>
          <p:cNvPr id="89" name="Rechteck 88">
            <a:extLst>
              <a:ext uri="{FF2B5EF4-FFF2-40B4-BE49-F238E27FC236}">
                <a16:creationId xmlns:a16="http://schemas.microsoft.com/office/drawing/2014/main" id="{6795310C-2FC9-E703-5BDB-AAE1E40A3852}"/>
              </a:ext>
            </a:extLst>
          </p:cNvPr>
          <p:cNvSpPr>
            <a:spLocks noGrp="1" noRot="1" noMove="1" noResize="1" noEditPoints="1" noAdjustHandles="1" noChangeArrowheads="1" noChangeShapeType="1"/>
          </p:cNvSpPr>
          <p:nvPr userDrawn="1"/>
        </p:nvSpPr>
        <p:spPr>
          <a:xfrm>
            <a:off x="0" y="762000"/>
            <a:ext cx="12192000" cy="6096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66" name="Textplatzhalter 65">
            <a:extLst>
              <a:ext uri="{FF2B5EF4-FFF2-40B4-BE49-F238E27FC236}">
                <a16:creationId xmlns:a16="http://schemas.microsoft.com/office/drawing/2014/main" id="{160B682C-8BAA-CB57-34C9-5B4AA3E3BD43}"/>
              </a:ext>
            </a:extLst>
          </p:cNvPr>
          <p:cNvSpPr>
            <a:spLocks noGrp="1"/>
          </p:cNvSpPr>
          <p:nvPr>
            <p:ph type="body" sz="quarter" idx="10" hasCustomPrompt="1"/>
          </p:nvPr>
        </p:nvSpPr>
        <p:spPr>
          <a:xfrm>
            <a:off x="857693" y="13715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1</a:t>
            </a:r>
          </a:p>
        </p:txBody>
      </p:sp>
      <p:sp>
        <p:nvSpPr>
          <p:cNvPr id="71" name="Textplatzhalter 70">
            <a:extLst>
              <a:ext uri="{FF2B5EF4-FFF2-40B4-BE49-F238E27FC236}">
                <a16:creationId xmlns:a16="http://schemas.microsoft.com/office/drawing/2014/main" id="{EF13C968-583D-F71E-827A-E3F2A0C3D7DD}"/>
              </a:ext>
            </a:extLst>
          </p:cNvPr>
          <p:cNvSpPr>
            <a:spLocks noGrp="1"/>
          </p:cNvSpPr>
          <p:nvPr>
            <p:ph type="body" sz="quarter" idx="11" hasCustomPrompt="1"/>
          </p:nvPr>
        </p:nvSpPr>
        <p:spPr>
          <a:xfrm>
            <a:off x="1772093" y="13715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2" name="Textplatzhalter 65">
            <a:extLst>
              <a:ext uri="{FF2B5EF4-FFF2-40B4-BE49-F238E27FC236}">
                <a16:creationId xmlns:a16="http://schemas.microsoft.com/office/drawing/2014/main" id="{AB741820-9379-07E2-FB30-C5E0E4A1FD39}"/>
              </a:ext>
            </a:extLst>
          </p:cNvPr>
          <p:cNvSpPr>
            <a:spLocks noGrp="1"/>
          </p:cNvSpPr>
          <p:nvPr>
            <p:ph type="body" sz="quarter" idx="12" hasCustomPrompt="1"/>
          </p:nvPr>
        </p:nvSpPr>
        <p:spPr>
          <a:xfrm>
            <a:off x="867525" y="19811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2</a:t>
            </a:r>
          </a:p>
        </p:txBody>
      </p:sp>
      <p:sp>
        <p:nvSpPr>
          <p:cNvPr id="73" name="Textplatzhalter 70">
            <a:extLst>
              <a:ext uri="{FF2B5EF4-FFF2-40B4-BE49-F238E27FC236}">
                <a16:creationId xmlns:a16="http://schemas.microsoft.com/office/drawing/2014/main" id="{FCD5209A-5C7D-6254-D436-877E1451B70E}"/>
              </a:ext>
            </a:extLst>
          </p:cNvPr>
          <p:cNvSpPr>
            <a:spLocks noGrp="1"/>
          </p:cNvSpPr>
          <p:nvPr>
            <p:ph type="body" sz="quarter" idx="13" hasCustomPrompt="1"/>
          </p:nvPr>
        </p:nvSpPr>
        <p:spPr>
          <a:xfrm>
            <a:off x="1781925" y="19811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4" name="Textplatzhalter 65">
            <a:extLst>
              <a:ext uri="{FF2B5EF4-FFF2-40B4-BE49-F238E27FC236}">
                <a16:creationId xmlns:a16="http://schemas.microsoft.com/office/drawing/2014/main" id="{E21D8006-24BD-EA37-95DD-243B62556299}"/>
              </a:ext>
            </a:extLst>
          </p:cNvPr>
          <p:cNvSpPr>
            <a:spLocks noGrp="1"/>
          </p:cNvSpPr>
          <p:nvPr>
            <p:ph type="body" sz="quarter" idx="14" hasCustomPrompt="1"/>
          </p:nvPr>
        </p:nvSpPr>
        <p:spPr>
          <a:xfrm>
            <a:off x="872441" y="2590798"/>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3</a:t>
            </a:r>
          </a:p>
        </p:txBody>
      </p:sp>
      <p:sp>
        <p:nvSpPr>
          <p:cNvPr id="75" name="Textplatzhalter 70">
            <a:extLst>
              <a:ext uri="{FF2B5EF4-FFF2-40B4-BE49-F238E27FC236}">
                <a16:creationId xmlns:a16="http://schemas.microsoft.com/office/drawing/2014/main" id="{A1A5FE3A-9FA7-D4F9-3CC5-76874F48FBD3}"/>
              </a:ext>
            </a:extLst>
          </p:cNvPr>
          <p:cNvSpPr>
            <a:spLocks noGrp="1"/>
          </p:cNvSpPr>
          <p:nvPr>
            <p:ph type="body" sz="quarter" idx="15" hasCustomPrompt="1"/>
          </p:nvPr>
        </p:nvSpPr>
        <p:spPr>
          <a:xfrm>
            <a:off x="1786841" y="2590798"/>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6" name="Textplatzhalter 65">
            <a:extLst>
              <a:ext uri="{FF2B5EF4-FFF2-40B4-BE49-F238E27FC236}">
                <a16:creationId xmlns:a16="http://schemas.microsoft.com/office/drawing/2014/main" id="{1E5EBA11-0531-F6C3-56A3-8D8545D2254A}"/>
              </a:ext>
            </a:extLst>
          </p:cNvPr>
          <p:cNvSpPr>
            <a:spLocks noGrp="1"/>
          </p:cNvSpPr>
          <p:nvPr>
            <p:ph type="body" sz="quarter" idx="16" hasCustomPrompt="1"/>
          </p:nvPr>
        </p:nvSpPr>
        <p:spPr>
          <a:xfrm>
            <a:off x="869983" y="32384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4</a:t>
            </a:r>
          </a:p>
        </p:txBody>
      </p:sp>
      <p:sp>
        <p:nvSpPr>
          <p:cNvPr id="77" name="Textplatzhalter 70">
            <a:extLst>
              <a:ext uri="{FF2B5EF4-FFF2-40B4-BE49-F238E27FC236}">
                <a16:creationId xmlns:a16="http://schemas.microsoft.com/office/drawing/2014/main" id="{A84E6EA4-62BE-DBDC-C27A-CBD5EC1B51BB}"/>
              </a:ext>
            </a:extLst>
          </p:cNvPr>
          <p:cNvSpPr>
            <a:spLocks noGrp="1"/>
          </p:cNvSpPr>
          <p:nvPr>
            <p:ph type="body" sz="quarter" idx="17" hasCustomPrompt="1"/>
          </p:nvPr>
        </p:nvSpPr>
        <p:spPr>
          <a:xfrm>
            <a:off x="1784383" y="32384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78" name="Textplatzhalter 65">
            <a:extLst>
              <a:ext uri="{FF2B5EF4-FFF2-40B4-BE49-F238E27FC236}">
                <a16:creationId xmlns:a16="http://schemas.microsoft.com/office/drawing/2014/main" id="{C2886185-9642-FDB1-F912-CA918DD200DF}"/>
              </a:ext>
            </a:extLst>
          </p:cNvPr>
          <p:cNvSpPr>
            <a:spLocks noGrp="1"/>
          </p:cNvSpPr>
          <p:nvPr>
            <p:ph type="body" sz="quarter" idx="18" hasCustomPrompt="1"/>
          </p:nvPr>
        </p:nvSpPr>
        <p:spPr>
          <a:xfrm>
            <a:off x="879815" y="38480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5</a:t>
            </a:r>
          </a:p>
        </p:txBody>
      </p:sp>
      <p:sp>
        <p:nvSpPr>
          <p:cNvPr id="79" name="Textplatzhalter 70">
            <a:extLst>
              <a:ext uri="{FF2B5EF4-FFF2-40B4-BE49-F238E27FC236}">
                <a16:creationId xmlns:a16="http://schemas.microsoft.com/office/drawing/2014/main" id="{D6B0BF4A-E545-1763-E245-D6305EC2F88B}"/>
              </a:ext>
            </a:extLst>
          </p:cNvPr>
          <p:cNvSpPr>
            <a:spLocks noGrp="1"/>
          </p:cNvSpPr>
          <p:nvPr>
            <p:ph type="body" sz="quarter" idx="19" hasCustomPrompt="1"/>
          </p:nvPr>
        </p:nvSpPr>
        <p:spPr>
          <a:xfrm>
            <a:off x="1794215" y="38480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0" name="Textplatzhalter 65">
            <a:extLst>
              <a:ext uri="{FF2B5EF4-FFF2-40B4-BE49-F238E27FC236}">
                <a16:creationId xmlns:a16="http://schemas.microsoft.com/office/drawing/2014/main" id="{ADA145ED-2296-4158-BF39-A33910298D52}"/>
              </a:ext>
            </a:extLst>
          </p:cNvPr>
          <p:cNvSpPr>
            <a:spLocks noGrp="1"/>
          </p:cNvSpPr>
          <p:nvPr>
            <p:ph type="body" sz="quarter" idx="20" hasCustomPrompt="1"/>
          </p:nvPr>
        </p:nvSpPr>
        <p:spPr>
          <a:xfrm>
            <a:off x="884731" y="4457699"/>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6</a:t>
            </a:r>
          </a:p>
        </p:txBody>
      </p:sp>
      <p:sp>
        <p:nvSpPr>
          <p:cNvPr id="81" name="Textplatzhalter 70">
            <a:extLst>
              <a:ext uri="{FF2B5EF4-FFF2-40B4-BE49-F238E27FC236}">
                <a16:creationId xmlns:a16="http://schemas.microsoft.com/office/drawing/2014/main" id="{742F63B3-5E50-A834-0349-3CDEB5F3C46D}"/>
              </a:ext>
            </a:extLst>
          </p:cNvPr>
          <p:cNvSpPr>
            <a:spLocks noGrp="1"/>
          </p:cNvSpPr>
          <p:nvPr>
            <p:ph type="body" sz="quarter" idx="21" hasCustomPrompt="1"/>
          </p:nvPr>
        </p:nvSpPr>
        <p:spPr>
          <a:xfrm>
            <a:off x="1799131" y="4457699"/>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2" name="Textplatzhalter 65">
            <a:extLst>
              <a:ext uri="{FF2B5EF4-FFF2-40B4-BE49-F238E27FC236}">
                <a16:creationId xmlns:a16="http://schemas.microsoft.com/office/drawing/2014/main" id="{5DC0753C-23CB-8AB8-6858-D0D928A52267}"/>
              </a:ext>
            </a:extLst>
          </p:cNvPr>
          <p:cNvSpPr>
            <a:spLocks noGrp="1"/>
          </p:cNvSpPr>
          <p:nvPr>
            <p:ph type="body" sz="quarter" idx="22" hasCustomPrompt="1"/>
          </p:nvPr>
        </p:nvSpPr>
        <p:spPr>
          <a:xfrm>
            <a:off x="874899" y="5105400"/>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7</a:t>
            </a:r>
          </a:p>
        </p:txBody>
      </p:sp>
      <p:sp>
        <p:nvSpPr>
          <p:cNvPr id="83" name="Textplatzhalter 70">
            <a:extLst>
              <a:ext uri="{FF2B5EF4-FFF2-40B4-BE49-F238E27FC236}">
                <a16:creationId xmlns:a16="http://schemas.microsoft.com/office/drawing/2014/main" id="{D2428D57-EB9D-5ACF-AD67-D2F8A2F3B2CC}"/>
              </a:ext>
            </a:extLst>
          </p:cNvPr>
          <p:cNvSpPr>
            <a:spLocks noGrp="1"/>
          </p:cNvSpPr>
          <p:nvPr>
            <p:ph type="body" sz="quarter" idx="23" hasCustomPrompt="1"/>
          </p:nvPr>
        </p:nvSpPr>
        <p:spPr>
          <a:xfrm>
            <a:off x="1789299" y="5105400"/>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sp>
        <p:nvSpPr>
          <p:cNvPr id="84" name="Textplatzhalter 65">
            <a:extLst>
              <a:ext uri="{FF2B5EF4-FFF2-40B4-BE49-F238E27FC236}">
                <a16:creationId xmlns:a16="http://schemas.microsoft.com/office/drawing/2014/main" id="{30B1108D-6917-FE20-979A-1057353AD5E2}"/>
              </a:ext>
            </a:extLst>
          </p:cNvPr>
          <p:cNvSpPr>
            <a:spLocks noGrp="1"/>
          </p:cNvSpPr>
          <p:nvPr>
            <p:ph type="body" sz="quarter" idx="24" hasCustomPrompt="1"/>
          </p:nvPr>
        </p:nvSpPr>
        <p:spPr>
          <a:xfrm>
            <a:off x="879815" y="5715000"/>
            <a:ext cx="762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de-DE" dirty="0"/>
              <a:t>8</a:t>
            </a:r>
          </a:p>
        </p:txBody>
      </p:sp>
      <p:sp>
        <p:nvSpPr>
          <p:cNvPr id="85" name="Textplatzhalter 70">
            <a:extLst>
              <a:ext uri="{FF2B5EF4-FFF2-40B4-BE49-F238E27FC236}">
                <a16:creationId xmlns:a16="http://schemas.microsoft.com/office/drawing/2014/main" id="{3D290B68-E708-7F29-DC75-FB9EC59CB4E9}"/>
              </a:ext>
            </a:extLst>
          </p:cNvPr>
          <p:cNvSpPr>
            <a:spLocks noGrp="1"/>
          </p:cNvSpPr>
          <p:nvPr>
            <p:ph type="body" sz="quarter" idx="25" hasCustomPrompt="1"/>
          </p:nvPr>
        </p:nvSpPr>
        <p:spPr>
          <a:xfrm>
            <a:off x="1794215" y="5715000"/>
            <a:ext cx="7239000" cy="381000"/>
          </a:xfrm>
        </p:spPr>
        <p:txBody>
          <a:bodyPr/>
          <a:lstStyle>
            <a:lvl1pPr>
              <a:defRPr>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r>
              <a:rPr lang="de-DE" dirty="0"/>
              <a:t>Thema</a:t>
            </a:r>
          </a:p>
        </p:txBody>
      </p:sp>
      <p:pic>
        <p:nvPicPr>
          <p:cNvPr id="88" name="Grafik 87">
            <a:extLst>
              <a:ext uri="{FF2B5EF4-FFF2-40B4-BE49-F238E27FC236}">
                <a16:creationId xmlns:a16="http://schemas.microsoft.com/office/drawing/2014/main" id="{8595A25F-93F0-3A97-2497-4B667BA69E12}"/>
              </a:ext>
            </a:extLst>
          </p:cNvPr>
          <p:cNvPicPr>
            <a:picLocks noChangeAspect="1"/>
          </p:cNvPicPr>
          <p:nvPr userDrawn="1"/>
        </p:nvPicPr>
        <p:blipFill>
          <a:blip r:embed="rId2">
            <a:alphaModFix/>
            <a:extLst>
              <a:ext uri="{28A0092B-C50C-407E-A947-70E740481C1C}">
                <a14:useLocalDpi xmlns:a14="http://schemas.microsoft.com/office/drawing/2010/main" val="0"/>
              </a:ext>
            </a:extLst>
          </a:blip>
          <a:srcRect r="830" b="90288"/>
          <a:stretch>
            <a:fillRect/>
          </a:stretch>
        </p:blipFill>
        <p:spPr>
          <a:xfrm>
            <a:off x="0" y="-11946"/>
            <a:ext cx="12192000" cy="671605"/>
          </a:xfrm>
          <a:prstGeom prst="rect">
            <a:avLst/>
          </a:prstGeom>
        </p:spPr>
      </p:pic>
    </p:spTree>
    <p:extLst>
      <p:ext uri="{BB962C8B-B14F-4D97-AF65-F5344CB8AC3E}">
        <p14:creationId xmlns:p14="http://schemas.microsoft.com/office/powerpoint/2010/main" val="3383102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pic>
        <p:nvPicPr>
          <p:cNvPr id="11" name="Grafik 10" descr="Ein Bild, das Screenshot, Text, Software, Betriebssystem enthält.&#10;&#10;KI-generierte Inhalte können fehlerhaft sein.">
            <a:extLst>
              <a:ext uri="{FF2B5EF4-FFF2-40B4-BE49-F238E27FC236}">
                <a16:creationId xmlns:a16="http://schemas.microsoft.com/office/drawing/2014/main" id="{ED8E95D5-78AE-E31B-0831-9943F581DA4B}"/>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Tree>
    <p:extLst>
      <p:ext uri="{BB962C8B-B14F-4D97-AF65-F5344CB8AC3E}">
        <p14:creationId xmlns:p14="http://schemas.microsoft.com/office/powerpoint/2010/main" val="175364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pic>
        <p:nvPicPr>
          <p:cNvPr id="11" name="Grafik 10" descr="Ein Bild, das Screenshot, Text, Software, Betriebssystem enthält.&#10;&#10;KI-generierte Inhalte können fehlerhaft sein.">
            <a:extLst>
              <a:ext uri="{FF2B5EF4-FFF2-40B4-BE49-F238E27FC236}">
                <a16:creationId xmlns:a16="http://schemas.microsoft.com/office/drawing/2014/main" id="{ED8E95D5-78AE-E31B-0831-9943F581DA4B}"/>
              </a:ext>
            </a:extLst>
          </p:cNvPr>
          <p:cNvPicPr>
            <a:picLocks noChangeAspect="1"/>
          </p:cNvPicPr>
          <p:nvPr userDrawn="1"/>
        </p:nvPicPr>
        <p:blipFill>
          <a:blip r:embed="rId3">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Tree>
    <p:extLst>
      <p:ext uri="{BB962C8B-B14F-4D97-AF65-F5344CB8AC3E}">
        <p14:creationId xmlns:p14="http://schemas.microsoft.com/office/powerpoint/2010/main" val="898378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E50B5517-37C0-4226-FC70-FEB1E085BCD1}"/>
              </a:ext>
            </a:extLst>
          </p:cNvPr>
          <p:cNvPicPr>
            <a:picLocks noChangeAspect="1"/>
          </p:cNvPicPr>
          <p:nvPr userDrawn="1"/>
        </p:nvPicPr>
        <p:blipFill>
          <a:blip r:embed="rId2">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3" name="Textplatzhalter 12">
            <a:extLst>
              <a:ext uri="{FF2B5EF4-FFF2-40B4-BE49-F238E27FC236}">
                <a16:creationId xmlns:a16="http://schemas.microsoft.com/office/drawing/2014/main" id="{0515B767-F434-5EFE-A550-57B4B797800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2876770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BI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Screenshot, Text, Software, Betriebssystem enthält.&#10;&#10;KI-generierte Inhalte können fehlerhaft sein.">
            <a:extLst>
              <a:ext uri="{FF2B5EF4-FFF2-40B4-BE49-F238E27FC236}">
                <a16:creationId xmlns:a16="http://schemas.microsoft.com/office/drawing/2014/main" id="{68C35C11-CF50-3790-418D-179093554CD5}"/>
              </a:ext>
            </a:extLst>
          </p:cNvPr>
          <p:cNvPicPr>
            <a:picLocks noChangeAspect="1"/>
          </p:cNvPicPr>
          <p:nvPr userDrawn="1"/>
        </p:nvPicPr>
        <p:blipFill>
          <a:blip r:embed="rId3">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Tree>
    <p:extLst>
      <p:ext uri="{BB962C8B-B14F-4D97-AF65-F5344CB8AC3E}">
        <p14:creationId xmlns:p14="http://schemas.microsoft.com/office/powerpoint/2010/main" val="1661788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BI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76A30B38-AE1D-297E-7553-CA049636B28F}"/>
              </a:ext>
            </a:extLst>
          </p:cNvPr>
          <p:cNvPicPr>
            <a:picLocks noChangeAspect="1"/>
          </p:cNvPicPr>
          <p:nvPr userDrawn="1"/>
        </p:nvPicPr>
        <p:blipFill>
          <a:blip r:embed="rId3">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
        <p:nvSpPr>
          <p:cNvPr id="3" name="Textplatzhalter 12">
            <a:extLst>
              <a:ext uri="{FF2B5EF4-FFF2-40B4-BE49-F238E27FC236}">
                <a16:creationId xmlns:a16="http://schemas.microsoft.com/office/drawing/2014/main" id="{8D507E73-2554-9966-5F18-D1B42E5F08C7}"/>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6" name="Textplatzhalter 12">
            <a:extLst>
              <a:ext uri="{FF2B5EF4-FFF2-40B4-BE49-F238E27FC236}">
                <a16:creationId xmlns:a16="http://schemas.microsoft.com/office/drawing/2014/main" id="{F2B1DAFD-E6F5-8EF3-0EA5-C4EF9674EE59}"/>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6981776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BI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Screenshot, Text, Software, Betriebssystem enthält.&#10;&#10;KI-generierte Inhalte können fehlerhaft sein.">
            <a:extLst>
              <a:ext uri="{FF2B5EF4-FFF2-40B4-BE49-F238E27FC236}">
                <a16:creationId xmlns:a16="http://schemas.microsoft.com/office/drawing/2014/main" id="{C9D1AD3A-0877-3087-9154-FF0D2A79B449}"/>
              </a:ext>
            </a:extLst>
          </p:cNvPr>
          <p:cNvPicPr>
            <a:picLocks noChangeAspect="1"/>
          </p:cNvPicPr>
          <p:nvPr userDrawn="1"/>
        </p:nvPicPr>
        <p:blipFill>
          <a:blip r:embed="rId2">
            <a:extLst>
              <a:ext uri="{28A0092B-C50C-407E-A947-70E740481C1C}">
                <a14:useLocalDpi xmlns:a14="http://schemas.microsoft.com/office/drawing/2010/main" val="0"/>
              </a:ext>
            </a:extLst>
          </a:blip>
          <a:srcRect r="77091" b="90219"/>
          <a:stretch>
            <a:fillRect/>
          </a:stretch>
        </p:blipFill>
        <p:spPr>
          <a:xfrm>
            <a:off x="9372600" y="-12489"/>
            <a:ext cx="2819400" cy="677108"/>
          </a:xfrm>
          <a:prstGeom prst="rect">
            <a:avLst/>
          </a:prstGeom>
        </p:spPr>
      </p:pic>
      <p:sp>
        <p:nvSpPr>
          <p:cNvPr id="2" name="Textplatzhalter 12">
            <a:extLst>
              <a:ext uri="{FF2B5EF4-FFF2-40B4-BE49-F238E27FC236}">
                <a16:creationId xmlns:a16="http://schemas.microsoft.com/office/drawing/2014/main" id="{C9CA9EF5-268D-C624-9FF8-5FE2EA42AE4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2547754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Bi_Kleve_Wesel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descr="Ein Bild, das Screenshot, Text, Software, Betriebssystem enthält.&#10;&#10;KI-generierte Inhalte können fehlerhaft sein.">
            <a:extLst>
              <a:ext uri="{FF2B5EF4-FFF2-40B4-BE49-F238E27FC236}">
                <a16:creationId xmlns:a16="http://schemas.microsoft.com/office/drawing/2014/main" id="{68C35C11-CF50-3790-418D-179093554CD5}"/>
              </a:ext>
            </a:extLst>
          </p:cNvPr>
          <p:cNvPicPr>
            <a:picLocks noChangeAspect="1"/>
          </p:cNvPicPr>
          <p:nvPr userDrawn="1"/>
        </p:nvPicPr>
        <p:blipFill>
          <a:blip r:embed="rId3">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Tree>
    <p:extLst>
      <p:ext uri="{BB962C8B-B14F-4D97-AF65-F5344CB8AC3E}">
        <p14:creationId xmlns:p14="http://schemas.microsoft.com/office/powerpoint/2010/main" val="3082617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BI_Kleve_Wesel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descr="Ein Bild, das Screenshot, Text, Software, Betriebssystem enthält.&#10;&#10;KI-generierte Inhalte können fehlerhaft sein.">
            <a:extLst>
              <a:ext uri="{FF2B5EF4-FFF2-40B4-BE49-F238E27FC236}">
                <a16:creationId xmlns:a16="http://schemas.microsoft.com/office/drawing/2014/main" id="{B35E5E6D-4032-7B0C-C73D-269F91DCB9FF}"/>
              </a:ext>
            </a:extLst>
          </p:cNvPr>
          <p:cNvPicPr>
            <a:picLocks noChangeAspect="1"/>
          </p:cNvPicPr>
          <p:nvPr userDrawn="1"/>
        </p:nvPicPr>
        <p:blipFill>
          <a:blip r:embed="rId3">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
        <p:nvSpPr>
          <p:cNvPr id="6" name="Textplatzhalter 12">
            <a:extLst>
              <a:ext uri="{FF2B5EF4-FFF2-40B4-BE49-F238E27FC236}">
                <a16:creationId xmlns:a16="http://schemas.microsoft.com/office/drawing/2014/main" id="{4A6487C4-1467-1325-5EE8-1B6ED7498F1E}"/>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D604B747-810E-C7E6-7EF4-5E96D49BEA2F}"/>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532827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BI_Kleve_Wesel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6D5F2E56-CAB6-4FC2-A553-55BB9B95067B}"/>
              </a:ext>
            </a:extLst>
          </p:cNvPr>
          <p:cNvPicPr>
            <a:picLocks noChangeAspect="1"/>
          </p:cNvPicPr>
          <p:nvPr userDrawn="1"/>
        </p:nvPicPr>
        <p:blipFill>
          <a:blip r:embed="rId2">
            <a:extLst>
              <a:ext uri="{28A0092B-C50C-407E-A947-70E740481C1C}">
                <a14:useLocalDpi xmlns:a14="http://schemas.microsoft.com/office/drawing/2010/main" val="0"/>
              </a:ext>
            </a:extLst>
          </a:blip>
          <a:srcRect r="45514" b="90219"/>
          <a:stretch>
            <a:fillRect/>
          </a:stretch>
        </p:blipFill>
        <p:spPr>
          <a:xfrm>
            <a:off x="5486400" y="-12489"/>
            <a:ext cx="6705600" cy="677108"/>
          </a:xfrm>
          <a:prstGeom prst="rect">
            <a:avLst/>
          </a:prstGeom>
        </p:spPr>
      </p:pic>
      <p:sp>
        <p:nvSpPr>
          <p:cNvPr id="5" name="Textplatzhalter 12">
            <a:extLst>
              <a:ext uri="{FF2B5EF4-FFF2-40B4-BE49-F238E27FC236}">
                <a16:creationId xmlns:a16="http://schemas.microsoft.com/office/drawing/2014/main" id="{3D3F1ECB-FF9D-5B9B-F809-55FCE436325B}"/>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41830090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UDE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logo_claim_vorschau_png.png">
            <a:extLst>
              <a:ext uri="{FF2B5EF4-FFF2-40B4-BE49-F238E27FC236}">
                <a16:creationId xmlns:a16="http://schemas.microsoft.com/office/drawing/2014/main" id="{E1FDB0BD-636A-16F1-6294-DFB5F77C500C}"/>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Tree>
    <p:extLst>
      <p:ext uri="{BB962C8B-B14F-4D97-AF65-F5344CB8AC3E}">
        <p14:creationId xmlns:p14="http://schemas.microsoft.com/office/powerpoint/2010/main" val="232920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DE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6" name="logo_claim_vorschau_png.png">
            <a:extLst>
              <a:ext uri="{FF2B5EF4-FFF2-40B4-BE49-F238E27FC236}">
                <a16:creationId xmlns:a16="http://schemas.microsoft.com/office/drawing/2014/main" id="{D83FF166-373C-D6F3-291E-A9C70F1F6A09}"/>
              </a:ext>
            </a:extLst>
          </p:cNvPr>
          <p:cNvPicPr/>
          <p:nvPr userDrawn="1"/>
        </p:nvPicPr>
        <p:blipFill>
          <a:blip r:embed="rId3"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
        <p:nvSpPr>
          <p:cNvPr id="7" name="Textplatzhalter 12">
            <a:extLst>
              <a:ext uri="{FF2B5EF4-FFF2-40B4-BE49-F238E27FC236}">
                <a16:creationId xmlns:a16="http://schemas.microsoft.com/office/drawing/2014/main" id="{2DCF2CA3-9B31-1F84-D423-994006DF13A1}"/>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9" name="Textplatzhalter 12">
            <a:extLst>
              <a:ext uri="{FF2B5EF4-FFF2-40B4-BE49-F238E27FC236}">
                <a16:creationId xmlns:a16="http://schemas.microsoft.com/office/drawing/2014/main" id="{A29E7F47-EBAB-DBDF-D9E1-F9E93A95D238}"/>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8847625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DE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logo_claim_vorschau_png.png">
            <a:extLst>
              <a:ext uri="{FF2B5EF4-FFF2-40B4-BE49-F238E27FC236}">
                <a16:creationId xmlns:a16="http://schemas.microsoft.com/office/drawing/2014/main" id="{DEF69894-E344-AEBC-7DFF-8CB7296C7CD7}"/>
              </a:ext>
            </a:extLst>
          </p:cNvPr>
          <p:cNvPicPr/>
          <p:nvPr userDrawn="1"/>
        </p:nvPicPr>
        <p:blipFill>
          <a:blip r:embed="rId2" cstate="screen">
            <a:extLst>
              <a:ext uri="{28A0092B-C50C-407E-A947-70E740481C1C}">
                <a14:useLocalDpi xmlns:a14="http://schemas.microsoft.com/office/drawing/2010/main"/>
              </a:ext>
            </a:extLst>
          </a:blip>
          <a:stretch>
            <a:fillRect/>
          </a:stretch>
        </p:blipFill>
        <p:spPr>
          <a:xfrm>
            <a:off x="10392000" y="0"/>
            <a:ext cx="1800000" cy="692696"/>
          </a:xfrm>
          <a:prstGeom prst="rect">
            <a:avLst/>
          </a:prstGeom>
          <a:ln w="3175">
            <a:miter lim="400000"/>
          </a:ln>
        </p:spPr>
      </p:pic>
      <p:sp>
        <p:nvSpPr>
          <p:cNvPr id="7" name="Textplatzhalter 12">
            <a:extLst>
              <a:ext uri="{FF2B5EF4-FFF2-40B4-BE49-F238E27FC236}">
                <a16:creationId xmlns:a16="http://schemas.microsoft.com/office/drawing/2014/main" id="{5F67D8BB-A92A-82AD-BDC1-416166DAA7E6}"/>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606212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SRW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Tree>
    <p:extLst>
      <p:ext uri="{BB962C8B-B14F-4D97-AF65-F5344CB8AC3E}">
        <p14:creationId xmlns:p14="http://schemas.microsoft.com/office/powerpoint/2010/main" val="3678946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SRW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3" name="Grafik 2" descr="Ein Bild, das Screenshot, Text, Software, Betriebssystem enthält.&#10;&#10;KI-generierte Inhalte können fehlerhaft sein.">
            <a:extLst>
              <a:ext uri="{FF2B5EF4-FFF2-40B4-BE49-F238E27FC236}">
                <a16:creationId xmlns:a16="http://schemas.microsoft.com/office/drawing/2014/main" id="{C6EF630A-1EAC-4F00-91C5-1AE1ACAFAA1A}"/>
              </a:ext>
            </a:extLst>
          </p:cNvPr>
          <p:cNvPicPr>
            <a:picLocks noChangeAspect="1"/>
          </p:cNvPicPr>
          <p:nvPr userDrawn="1"/>
        </p:nvPicPr>
        <p:blipFill>
          <a:blip r:embed="rId3">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
        <p:nvSpPr>
          <p:cNvPr id="5" name="Textplatzhalter 12">
            <a:extLst>
              <a:ext uri="{FF2B5EF4-FFF2-40B4-BE49-F238E27FC236}">
                <a16:creationId xmlns:a16="http://schemas.microsoft.com/office/drawing/2014/main" id="{AA0B4866-9CF9-4ED7-CDC4-D99431B19231}"/>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EE38E761-A36E-7594-B560-D57397A0D7FE}"/>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2131313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HSRW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2" name="Grafik 1" descr="Ein Bild, das Screenshot, Text, Software, Betriebssystem enthält.&#10;&#10;KI-generierte Inhalte können fehlerhaft sein.">
            <a:extLst>
              <a:ext uri="{FF2B5EF4-FFF2-40B4-BE49-F238E27FC236}">
                <a16:creationId xmlns:a16="http://schemas.microsoft.com/office/drawing/2014/main" id="{31FDEEC8-9420-0C31-D39A-7E33FA21185F}"/>
              </a:ext>
            </a:extLst>
          </p:cNvPr>
          <p:cNvPicPr>
            <a:picLocks noChangeAspect="1"/>
          </p:cNvPicPr>
          <p:nvPr userDrawn="1"/>
        </p:nvPicPr>
        <p:blipFill>
          <a:blip r:embed="rId2">
            <a:extLst>
              <a:ext uri="{28A0092B-C50C-407E-A947-70E740481C1C}">
                <a14:useLocalDpi xmlns:a14="http://schemas.microsoft.com/office/drawing/2010/main" val="0"/>
              </a:ext>
            </a:extLst>
          </a:blip>
          <a:srcRect l="65574" r="16413" b="90208"/>
          <a:stretch>
            <a:fillRect/>
          </a:stretch>
        </p:blipFill>
        <p:spPr>
          <a:xfrm>
            <a:off x="9975112" y="-12489"/>
            <a:ext cx="2216888" cy="677862"/>
          </a:xfrm>
          <a:prstGeom prst="rect">
            <a:avLst/>
          </a:prstGeom>
        </p:spPr>
      </p:pic>
      <p:sp>
        <p:nvSpPr>
          <p:cNvPr id="4" name="Textplatzhalter 12">
            <a:extLst>
              <a:ext uri="{FF2B5EF4-FFF2-40B4-BE49-F238E27FC236}">
                <a16:creationId xmlns:a16="http://schemas.microsoft.com/office/drawing/2014/main" id="{F331DDE3-EC64-B396-CC65-C0D73D52E023}"/>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16366775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HAN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ChangeAspect="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Tree>
    <p:extLst>
      <p:ext uri="{BB962C8B-B14F-4D97-AF65-F5344CB8AC3E}">
        <p14:creationId xmlns:p14="http://schemas.microsoft.com/office/powerpoint/2010/main" val="36407867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AN_Text">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2" name="Foliennummer">
            <a:extLst>
              <a:ext uri="{FF2B5EF4-FFF2-40B4-BE49-F238E27FC236}">
                <a16:creationId xmlns:a16="http://schemas.microsoft.com/office/drawing/2014/main" id="{E6BDE9D2-F032-EC10-4EC7-0A2593769016}"/>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7CE065F-5084-7405-317F-0D7F24BA6C25}"/>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619D5115-409A-6ED2-6556-F72412D279EC}"/>
              </a:ext>
            </a:extLst>
          </p:cNvPr>
          <p:cNvPicPr>
            <a:picLocks noChangeAspect="1"/>
          </p:cNvPicPr>
          <p:nvPr userDrawn="1"/>
        </p:nvPicPr>
        <p:blipFill>
          <a:blip r:embed="rId3">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
        <p:nvSpPr>
          <p:cNvPr id="6" name="Textplatzhalter 12">
            <a:extLst>
              <a:ext uri="{FF2B5EF4-FFF2-40B4-BE49-F238E27FC236}">
                <a16:creationId xmlns:a16="http://schemas.microsoft.com/office/drawing/2014/main" id="{5C4BA39F-0B27-C8D3-C439-E510D2B1D984}"/>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bg1"/>
                </a:solidFill>
              </a:defRPr>
            </a:lvl1pPr>
          </a:lstStyle>
          <a:p>
            <a:pPr lvl="0"/>
            <a:r>
              <a:rPr lang="de-DE" dirty="0"/>
              <a:t>Headline</a:t>
            </a:r>
          </a:p>
        </p:txBody>
      </p:sp>
      <p:sp>
        <p:nvSpPr>
          <p:cNvPr id="7" name="Textplatzhalter 12">
            <a:extLst>
              <a:ext uri="{FF2B5EF4-FFF2-40B4-BE49-F238E27FC236}">
                <a16:creationId xmlns:a16="http://schemas.microsoft.com/office/drawing/2014/main" id="{A5161A92-3246-82E5-EA8D-E99934AADFF5}"/>
              </a:ext>
            </a:extLst>
          </p:cNvPr>
          <p:cNvSpPr>
            <a:spLocks noGrp="1"/>
          </p:cNvSpPr>
          <p:nvPr>
            <p:ph type="body" sz="quarter" idx="11" hasCustomPrompt="1"/>
          </p:nvPr>
        </p:nvSpPr>
        <p:spPr>
          <a:xfrm>
            <a:off x="855406" y="2047710"/>
            <a:ext cx="9038304" cy="3895889"/>
          </a:xfrm>
        </p:spPr>
        <p:txBody>
          <a:bodyPr>
            <a:noAutofit/>
          </a:bodyPr>
          <a:lstStyle>
            <a:lvl1pPr algn="l">
              <a:defRPr sz="1800">
                <a:solidFill>
                  <a:schemeClr val="bg1"/>
                </a:solidFill>
              </a:defRPr>
            </a:lvl1pPr>
          </a:lstStyle>
          <a:p>
            <a:pPr lvl="0"/>
            <a:r>
              <a:rPr lang="de-DE" dirty="0"/>
              <a:t>Text</a:t>
            </a:r>
          </a:p>
        </p:txBody>
      </p:sp>
    </p:spTree>
    <p:extLst>
      <p:ext uri="{BB962C8B-B14F-4D97-AF65-F5344CB8AC3E}">
        <p14:creationId xmlns:p14="http://schemas.microsoft.com/office/powerpoint/2010/main" val="34823987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HAN_Bild">
    <p:spTree>
      <p:nvGrpSpPr>
        <p:cNvPr id="1" name=""/>
        <p:cNvGrpSpPr/>
        <p:nvPr/>
      </p:nvGrpSpPr>
      <p:grpSpPr>
        <a:xfrm>
          <a:off x="0" y="0"/>
          <a:ext cx="0" cy="0"/>
          <a:chOff x="0" y="0"/>
          <a:chExt cx="0" cy="0"/>
        </a:xfrm>
      </p:grpSpPr>
      <p:sp>
        <p:nvSpPr>
          <p:cNvPr id="63" name="Foliennummer">
            <a:extLst>
              <a:ext uri="{FF2B5EF4-FFF2-40B4-BE49-F238E27FC236}">
                <a16:creationId xmlns:a16="http://schemas.microsoft.com/office/drawing/2014/main" id="{FBE5EFCD-C859-254E-230E-3DF9094575B0}"/>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3" name="Rechteck 2">
            <a:extLst>
              <a:ext uri="{FF2B5EF4-FFF2-40B4-BE49-F238E27FC236}">
                <a16:creationId xmlns:a16="http://schemas.microsoft.com/office/drawing/2014/main" id="{5B96BF63-47EB-03EC-158E-C6DFA9F0F0DE}"/>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4" name="Grafik 3" descr="Ein Bild, das Screenshot, Text, Software, Betriebssystem enthält.&#10;&#10;KI-generierte Inhalte können fehlerhaft sein.">
            <a:extLst>
              <a:ext uri="{FF2B5EF4-FFF2-40B4-BE49-F238E27FC236}">
                <a16:creationId xmlns:a16="http://schemas.microsoft.com/office/drawing/2014/main" id="{8BBEBF3C-BF84-7E8C-68F1-7768628A2405}"/>
              </a:ext>
            </a:extLst>
          </p:cNvPr>
          <p:cNvPicPr>
            <a:picLocks noChangeAspect="1"/>
          </p:cNvPicPr>
          <p:nvPr userDrawn="1"/>
        </p:nvPicPr>
        <p:blipFill>
          <a:blip r:embed="rId2">
            <a:extLst>
              <a:ext uri="{28A0092B-C50C-407E-A947-70E740481C1C}">
                <a14:useLocalDpi xmlns:a14="http://schemas.microsoft.com/office/drawing/2010/main" val="0"/>
              </a:ext>
            </a:extLst>
          </a:blip>
          <a:srcRect l="51181" r="30806" b="90208"/>
          <a:stretch>
            <a:fillRect/>
          </a:stretch>
        </p:blipFill>
        <p:spPr>
          <a:xfrm>
            <a:off x="9975112" y="-12489"/>
            <a:ext cx="2216888" cy="677862"/>
          </a:xfrm>
          <a:prstGeom prst="rect">
            <a:avLst/>
          </a:prstGeom>
        </p:spPr>
      </p:pic>
      <p:sp>
        <p:nvSpPr>
          <p:cNvPr id="5" name="Textplatzhalter 12">
            <a:extLst>
              <a:ext uri="{FF2B5EF4-FFF2-40B4-BE49-F238E27FC236}">
                <a16:creationId xmlns:a16="http://schemas.microsoft.com/office/drawing/2014/main" id="{8EB30946-4AED-54CB-D38B-4439361B0C07}"/>
              </a:ext>
            </a:extLst>
          </p:cNvPr>
          <p:cNvSpPr>
            <a:spLocks noGrp="1"/>
          </p:cNvSpPr>
          <p:nvPr>
            <p:ph type="body" sz="quarter" idx="10" hasCustomPrompt="1"/>
          </p:nvPr>
        </p:nvSpPr>
        <p:spPr>
          <a:xfrm>
            <a:off x="838200" y="1295400"/>
            <a:ext cx="9055510" cy="533400"/>
          </a:xfrm>
        </p:spPr>
        <p:txBody>
          <a:bodyPr>
            <a:noAutofit/>
          </a:bodyPr>
          <a:lstStyle>
            <a:lvl1pPr algn="l">
              <a:lnSpc>
                <a:spcPct val="100000"/>
              </a:lnSpc>
              <a:spcAft>
                <a:spcPts val="1200"/>
              </a:spcAft>
              <a:defRPr sz="2200">
                <a:solidFill>
                  <a:schemeClr val="accent1"/>
                </a:solidFill>
              </a:defRPr>
            </a:lvl1pPr>
          </a:lstStyle>
          <a:p>
            <a:pPr lvl="0"/>
            <a:r>
              <a:rPr lang="de-DE" dirty="0"/>
              <a:t>Headline</a:t>
            </a:r>
          </a:p>
        </p:txBody>
      </p:sp>
    </p:spTree>
    <p:extLst>
      <p:ext uri="{BB962C8B-B14F-4D97-AF65-F5344CB8AC3E}">
        <p14:creationId xmlns:p14="http://schemas.microsoft.com/office/powerpoint/2010/main" val="33951336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S_Trenner">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EF57C748-C453-1E9C-A851-4BDFCCD7B3A4}"/>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B4634BD6-147D-75AB-452A-1DB4115CD1D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3700064" y="719093"/>
            <a:ext cx="4791871" cy="5419814"/>
          </a:xfrm>
          <a:prstGeom prst="rect">
            <a:avLst/>
          </a:prstGeom>
        </p:spPr>
      </p:pic>
      <p:sp>
        <p:nvSpPr>
          <p:cNvPr id="13" name="Textplatzhalter 12">
            <a:extLst>
              <a:ext uri="{FF2B5EF4-FFF2-40B4-BE49-F238E27FC236}">
                <a16:creationId xmlns:a16="http://schemas.microsoft.com/office/drawing/2014/main" id="{8E49C954-A3CC-76A3-BF9A-5DF0D0B8195D}"/>
              </a:ext>
            </a:extLst>
          </p:cNvPr>
          <p:cNvSpPr>
            <a:spLocks noGrp="1"/>
          </p:cNvSpPr>
          <p:nvPr>
            <p:ph type="body" sz="quarter" idx="10" hasCustomPrompt="1"/>
          </p:nvPr>
        </p:nvSpPr>
        <p:spPr>
          <a:xfrm>
            <a:off x="2202712" y="2615803"/>
            <a:ext cx="7772400" cy="575469"/>
          </a:xfrm>
        </p:spPr>
        <p:txBody>
          <a:bodyPr/>
          <a:lstStyle>
            <a:lvl1pPr algn="ctr">
              <a:defRPr sz="3000">
                <a:solidFill>
                  <a:schemeClr val="bg1"/>
                </a:solidFill>
              </a:defRPr>
            </a:lvl1pPr>
          </a:lstStyle>
          <a:p>
            <a:pPr lvl="0"/>
            <a:r>
              <a:rPr lang="de-DE" dirty="0"/>
              <a:t>Headline</a:t>
            </a:r>
          </a:p>
        </p:txBody>
      </p:sp>
      <p:sp>
        <p:nvSpPr>
          <p:cNvPr id="14" name="Textplatzhalter 12">
            <a:extLst>
              <a:ext uri="{FF2B5EF4-FFF2-40B4-BE49-F238E27FC236}">
                <a16:creationId xmlns:a16="http://schemas.microsoft.com/office/drawing/2014/main" id="{039F12AA-6C01-A770-857C-1095E38A5C4D}"/>
              </a:ext>
            </a:extLst>
          </p:cNvPr>
          <p:cNvSpPr>
            <a:spLocks noGrp="1"/>
          </p:cNvSpPr>
          <p:nvPr>
            <p:ph type="body" sz="quarter" idx="11" hasCustomPrompt="1"/>
          </p:nvPr>
        </p:nvSpPr>
        <p:spPr>
          <a:xfrm>
            <a:off x="2209800" y="3429000"/>
            <a:ext cx="7772400" cy="939403"/>
          </a:xfrm>
        </p:spPr>
        <p:txBody>
          <a:bodyPr/>
          <a:lstStyle>
            <a:lvl1pPr algn="ctr">
              <a:defRPr sz="1800">
                <a:solidFill>
                  <a:schemeClr val="bg1"/>
                </a:solidFill>
              </a:defRPr>
            </a:lvl1pPr>
          </a:lstStyle>
          <a:p>
            <a:pPr lvl="0"/>
            <a:r>
              <a:rPr lang="de-DE" dirty="0" err="1"/>
              <a:t>Subline</a:t>
            </a:r>
            <a:endParaRPr lang="de-DE" dirty="0"/>
          </a:p>
        </p:txBody>
      </p:sp>
      <p:sp>
        <p:nvSpPr>
          <p:cNvPr id="2" name="Foliennummer">
            <a:extLst>
              <a:ext uri="{FF2B5EF4-FFF2-40B4-BE49-F238E27FC236}">
                <a16:creationId xmlns:a16="http://schemas.microsoft.com/office/drawing/2014/main" id="{E145D566-34D3-E8E7-3B79-208C5937B70B}"/>
              </a:ext>
            </a:extLst>
          </p:cNvPr>
          <p:cNvSpPr txBox="1">
            <a:spLocks/>
          </p:cNvSpPr>
          <p:nvPr userDrawn="1"/>
        </p:nvSpPr>
        <p:spPr>
          <a:xfrm>
            <a:off x="10903999" y="6385024"/>
            <a:ext cx="449801" cy="307777"/>
          </a:xfrm>
          <a:prstGeom prst="rect">
            <a:avLst/>
          </a:prstGeom>
          <a:ln w="12700">
            <a:miter lim="400000"/>
          </a:ln>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chemeClr val="accent1"/>
                </a:solidFill>
                <a:effectLst/>
                <a:uFillTx/>
                <a:latin typeface="Arial" panose="020B0604020202020204" pitchFamily="34" charset="0"/>
                <a:ea typeface="Open Sans Regular Regular"/>
                <a:cs typeface="Arial" panose="020B0604020202020204" pitchFamily="34" charset="0"/>
                <a:sym typeface="Open Sans Regular Regular"/>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chemeClr val="accent1"/>
                </a:solidFill>
                <a:effectLst/>
                <a:uFillTx/>
                <a:latin typeface="Open Sans Regular Regular"/>
                <a:ea typeface="Open Sans Regular Regular"/>
                <a:cs typeface="Open Sans Regular Regular"/>
                <a:sym typeface="Open Sans Regular Regular"/>
              </a:defRPr>
            </a:lvl9pPr>
          </a:lstStyle>
          <a:p>
            <a:pPr marL="0" marR="0" lvl="0" indent="0" algn="r" defTabSz="914400" rtl="0" eaLnBrk="1" fontAlgn="auto" latinLnBrk="0" hangingPunct="0">
              <a:lnSpc>
                <a:spcPct val="100000"/>
              </a:lnSpc>
              <a:spcBef>
                <a:spcPts val="0"/>
              </a:spcBef>
              <a:spcAft>
                <a:spcPts val="0"/>
              </a:spcAft>
              <a:buClrTx/>
              <a:buSzTx/>
              <a:buFontTx/>
              <a:buNone/>
              <a:tabLst/>
              <a:defRPr/>
            </a:pPr>
            <a:fld id="{86CB4B4D-7CA3-9044-876B-883B54F8677D}" type="slidenum">
              <a:rPr kumimoji="0" lang="de-DE" sz="1400" b="0" i="0" u="none" strike="noStrike" kern="0" cap="none" spc="0" normalizeH="0" baseline="0" noProof="0" smtClean="0">
                <a:ln>
                  <a:noFill/>
                </a:ln>
                <a:solidFill>
                  <a:srgbClr val="002D61"/>
                </a:solidFill>
                <a:effectLst/>
                <a:uLnTx/>
                <a:uFillTx/>
                <a:latin typeface="Arial" panose="020B0604020202020204" pitchFamily="34" charset="0"/>
                <a:cs typeface="Arial" panose="020B0604020202020204" pitchFamily="34" charset="0"/>
                <a:sym typeface="Open Sans Regular Regular"/>
              </a:rPr>
              <a:pPr marL="0" marR="0" lvl="0" indent="0" algn="r" defTabSz="914400" rtl="0" eaLnBrk="1" fontAlgn="auto" latinLnBrk="0" hangingPunct="0">
                <a:lnSpc>
                  <a:spcPct val="100000"/>
                </a:lnSpc>
                <a:spcBef>
                  <a:spcPts val="0"/>
                </a:spcBef>
                <a:spcAft>
                  <a:spcPts val="0"/>
                </a:spcAft>
                <a:buClrTx/>
                <a:buSzTx/>
                <a:buFontTx/>
                <a:buNone/>
                <a:tabLst/>
                <a:defRPr/>
              </a:pPr>
              <a:t>‹#›</a:t>
            </a:fld>
            <a:endParaRPr kumimoji="0" lang="de-DE" sz="1400" b="0" i="0" u="none" strike="noStrike" kern="0" cap="none" spc="0" normalizeH="0" baseline="0" noProof="0" dirty="0">
              <a:ln>
                <a:noFill/>
              </a:ln>
              <a:solidFill>
                <a:srgbClr val="002D61"/>
              </a:solidFill>
              <a:effectLst/>
              <a:uLnTx/>
              <a:uFillTx/>
              <a:latin typeface="Arial" panose="020B0604020202020204" pitchFamily="34" charset="0"/>
              <a:cs typeface="Arial" panose="020B0604020202020204" pitchFamily="34" charset="0"/>
              <a:sym typeface="Open Sans Regular Regular"/>
            </a:endParaRPr>
          </a:p>
        </p:txBody>
      </p:sp>
      <p:sp>
        <p:nvSpPr>
          <p:cNvPr id="4" name="Rechteck 3">
            <a:extLst>
              <a:ext uri="{FF2B5EF4-FFF2-40B4-BE49-F238E27FC236}">
                <a16:creationId xmlns:a16="http://schemas.microsoft.com/office/drawing/2014/main" id="{3969379B-8033-C4C5-8C1D-ADAC0BAA7BA6}"/>
              </a:ext>
            </a:extLst>
          </p:cNvPr>
          <p:cNvSpPr/>
          <p:nvPr userDrawn="1"/>
        </p:nvSpPr>
        <p:spPr>
          <a:xfrm>
            <a:off x="0" y="0"/>
            <a:ext cx="12192000" cy="677862"/>
          </a:xfrm>
          <a:prstGeom prst="rect">
            <a:avLst/>
          </a:prstGeom>
          <a:solidFill>
            <a:schemeClr val="accent3"/>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descr="Ein Bild, das Screenshot, Text, Software, Betriebssystem enthält.&#10;&#10;KI-generierte Inhalte können fehlerhaft sein.">
            <a:extLst>
              <a:ext uri="{FF2B5EF4-FFF2-40B4-BE49-F238E27FC236}">
                <a16:creationId xmlns:a16="http://schemas.microsoft.com/office/drawing/2014/main" id="{D4A46FE5-6327-8A8F-3BC4-FC1116BFAC91}"/>
              </a:ext>
            </a:extLst>
          </p:cNvPr>
          <p:cNvPicPr>
            <a:picLocks noChangeAspect="1"/>
          </p:cNvPicPr>
          <p:nvPr userDrawn="1"/>
        </p:nvPicPr>
        <p:blipFill>
          <a:blip r:embed="rId3">
            <a:extLst>
              <a:ext uri="{28A0092B-C50C-407E-A947-70E740481C1C}">
                <a14:useLocalDpi xmlns:a14="http://schemas.microsoft.com/office/drawing/2010/main" val="0"/>
              </a:ext>
            </a:extLst>
          </a:blip>
          <a:srcRect l="51182" t="-1" r="4182" b="90028"/>
          <a:stretch>
            <a:fillRect/>
          </a:stretch>
        </p:blipFill>
        <p:spPr>
          <a:xfrm>
            <a:off x="6660981" y="-12490"/>
            <a:ext cx="5493488" cy="690351"/>
          </a:xfrm>
          <a:prstGeom prst="rect">
            <a:avLst/>
          </a:prstGeom>
        </p:spPr>
      </p:pic>
    </p:spTree>
    <p:extLst>
      <p:ext uri="{BB962C8B-B14F-4D97-AF65-F5344CB8AC3E}">
        <p14:creationId xmlns:p14="http://schemas.microsoft.com/office/powerpoint/2010/main" val="41175184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anks">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8FDDA4EA-B9B8-EE7B-C004-D565A5216F85}"/>
              </a:ext>
            </a:extLst>
          </p:cNvPr>
          <p:cNvSpPr>
            <a:spLocks noGrp="1" noRot="1" noMove="1" noResize="1" noEditPoints="1" noAdjustHandles="1" noChangeArrowheads="1" noChangeShapeType="1"/>
          </p:cNvSpPr>
          <p:nvPr userDrawn="1"/>
        </p:nvSpPr>
        <p:spPr>
          <a:xfrm>
            <a:off x="0" y="0"/>
            <a:ext cx="12192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9" name="Grafik 8" descr="Ein Bild, das Screenshot, Text, Software, Betriebssystem enthält.&#10;&#10;KI-generierte Inhalte können fehlerhaft sein.">
            <a:extLst>
              <a:ext uri="{FF2B5EF4-FFF2-40B4-BE49-F238E27FC236}">
                <a16:creationId xmlns:a16="http://schemas.microsoft.com/office/drawing/2014/main" id="{DB261F60-79C7-A249-1744-51B62E90B35C}"/>
              </a:ext>
            </a:extLst>
          </p:cNvPr>
          <p:cNvPicPr>
            <a:picLocks noChangeAspect="1"/>
          </p:cNvPicPr>
          <p:nvPr userDrawn="1"/>
        </p:nvPicPr>
        <p:blipFill>
          <a:blip r:embed="rId2">
            <a:extLst>
              <a:ext uri="{28A0092B-C50C-407E-A947-70E740481C1C}">
                <a14:useLocalDpi xmlns:a14="http://schemas.microsoft.com/office/drawing/2010/main" val="0"/>
              </a:ext>
            </a:extLst>
          </a:blip>
          <a:srcRect t="174" r="933" b="90034"/>
          <a:stretch>
            <a:fillRect/>
          </a:stretch>
        </p:blipFill>
        <p:spPr>
          <a:xfrm>
            <a:off x="0" y="0"/>
            <a:ext cx="12192001" cy="677862"/>
          </a:xfrm>
          <a:prstGeom prst="rect">
            <a:avLst/>
          </a:prstGeom>
        </p:spPr>
      </p:pic>
      <p:sp>
        <p:nvSpPr>
          <p:cNvPr id="2" name="Google Shape;104;p11">
            <a:extLst>
              <a:ext uri="{FF2B5EF4-FFF2-40B4-BE49-F238E27FC236}">
                <a16:creationId xmlns:a16="http://schemas.microsoft.com/office/drawing/2014/main" id="{F465557D-4C9B-B280-F35B-5EE1352DDF3E}"/>
              </a:ext>
            </a:extLst>
          </p:cNvPr>
          <p:cNvSpPr txBox="1"/>
          <p:nvPr userDrawn="1"/>
        </p:nvSpPr>
        <p:spPr>
          <a:xfrm>
            <a:off x="821598" y="4676304"/>
            <a:ext cx="3331451"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Helen Dutzi</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Projektleitung</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Duisburg Business &amp; Innovation GmbH</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+49 171 21 13 567</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a:t>
            </a:r>
            <a:r>
              <a:rPr lang="de-DE" sz="1200" dirty="0" err="1">
                <a:latin typeface="Roboto" panose="02000000000000000000" pitchFamily="2" charset="0"/>
                <a:ea typeface="Roboto" panose="02000000000000000000" pitchFamily="2" charset="0"/>
                <a:cs typeface="Roboto" panose="02000000000000000000" pitchFamily="2" charset="0"/>
              </a:rPr>
              <a:t>dutzi@duisburg.business</a:t>
            </a:r>
            <a:endParaRPr sz="1200" dirty="0">
              <a:latin typeface="Roboto" panose="02000000000000000000" pitchFamily="2" charset="0"/>
              <a:ea typeface="Roboto" panose="02000000000000000000" pitchFamily="2" charset="0"/>
              <a:cs typeface="Roboto" panose="02000000000000000000" pitchFamily="2" charset="0"/>
            </a:endParaRPr>
          </a:p>
        </p:txBody>
      </p:sp>
      <p:sp>
        <p:nvSpPr>
          <p:cNvPr id="3" name="Google Shape;103;p11">
            <a:extLst>
              <a:ext uri="{FF2B5EF4-FFF2-40B4-BE49-F238E27FC236}">
                <a16:creationId xmlns:a16="http://schemas.microsoft.com/office/drawing/2014/main" id="{A6DD31AA-EA14-3C53-E8BA-47F184B071D2}"/>
              </a:ext>
            </a:extLst>
          </p:cNvPr>
          <p:cNvSpPr txBox="1"/>
          <p:nvPr userDrawn="1"/>
        </p:nvSpPr>
        <p:spPr>
          <a:xfrm>
            <a:off x="846999" y="1397599"/>
            <a:ext cx="4004401" cy="162515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91424" tIns="91424" rIns="91424" bIns="91424">
            <a:spAutoFit/>
          </a:bodyPr>
          <a:lstStyle/>
          <a:p>
            <a:pPr>
              <a:lnSpc>
                <a:spcPct val="70000"/>
              </a:lnSpc>
              <a:defRPr sz="6500">
                <a:solidFill>
                  <a:srgbClr val="FFFFFF"/>
                </a:solidFill>
                <a:latin typeface="Open Sans Regular Bold"/>
                <a:ea typeface="Open Sans Regular Bold"/>
                <a:cs typeface="Open Sans Regular Bold"/>
                <a:sym typeface="Open Sans Regular Bold"/>
              </a:defRPr>
            </a:pPr>
            <a:r>
              <a:rPr lang="de-DE" dirty="0">
                <a:latin typeface="Roboto" panose="02000000000000000000" pitchFamily="2" charset="0"/>
                <a:ea typeface="Roboto" panose="02000000000000000000" pitchFamily="2" charset="0"/>
                <a:cs typeface="Roboto" panose="02000000000000000000" pitchFamily="2" charset="0"/>
              </a:rPr>
              <a:t>Vielen Dank</a:t>
            </a:r>
            <a:r>
              <a:rPr dirty="0">
                <a:latin typeface="Roboto" panose="02000000000000000000" pitchFamily="2" charset="0"/>
                <a:ea typeface="Roboto" panose="02000000000000000000" pitchFamily="2" charset="0"/>
                <a:cs typeface="Roboto" panose="02000000000000000000" pitchFamily="2" charset="0"/>
              </a:rPr>
              <a:t>!</a:t>
            </a:r>
          </a:p>
        </p:txBody>
      </p:sp>
      <p:sp>
        <p:nvSpPr>
          <p:cNvPr id="4" name="Google Shape;104;p11">
            <a:extLst>
              <a:ext uri="{FF2B5EF4-FFF2-40B4-BE49-F238E27FC236}">
                <a16:creationId xmlns:a16="http://schemas.microsoft.com/office/drawing/2014/main" id="{8E826662-C620-DD4A-B030-9DFE4A072686}"/>
              </a:ext>
            </a:extLst>
          </p:cNvPr>
          <p:cNvSpPr txBox="1"/>
          <p:nvPr userDrawn="1"/>
        </p:nvSpPr>
        <p:spPr>
          <a:xfrm>
            <a:off x="796198" y="4038600"/>
            <a:ext cx="4055202" cy="4308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defRPr sz="1600">
                <a:solidFill>
                  <a:srgbClr val="FFFFFF"/>
                </a:solidFill>
                <a:latin typeface="Roboto"/>
                <a:ea typeface="Roboto"/>
                <a:cs typeface="Roboto"/>
                <a:sym typeface="Roboto"/>
              </a:defRPr>
            </a:pPr>
            <a:r>
              <a:rPr lang="de-DE" dirty="0">
                <a:latin typeface="Roboto" panose="02000000000000000000" pitchFamily="2" charset="0"/>
                <a:ea typeface="Roboto" panose="02000000000000000000" pitchFamily="2" charset="0"/>
                <a:cs typeface="Roboto" panose="02000000000000000000" pitchFamily="2" charset="0"/>
              </a:rPr>
              <a:t>Fragen? Sprechen Sie uns an!</a:t>
            </a:r>
            <a:endParaRPr dirty="0">
              <a:latin typeface="Roboto" panose="02000000000000000000" pitchFamily="2" charset="0"/>
              <a:ea typeface="Roboto" panose="02000000000000000000" pitchFamily="2" charset="0"/>
              <a:cs typeface="Roboto" panose="02000000000000000000" pitchFamily="2" charset="0"/>
            </a:endParaRPr>
          </a:p>
        </p:txBody>
      </p:sp>
      <p:pic>
        <p:nvPicPr>
          <p:cNvPr id="5" name="Förderlogos EU Landesregierung_white.png" descr="Förderlogos EU Landesregierung_white.png">
            <a:extLst>
              <a:ext uri="{FF2B5EF4-FFF2-40B4-BE49-F238E27FC236}">
                <a16:creationId xmlns:a16="http://schemas.microsoft.com/office/drawing/2014/main" id="{98A65A3A-C8C9-0667-F1EC-1A29403A290C}"/>
              </a:ext>
            </a:extLst>
          </p:cNvPr>
          <p:cNvPicPr>
            <a:picLocks noChangeAspect="1"/>
          </p:cNvPicPr>
          <p:nvPr userDrawn="1"/>
        </p:nvPicPr>
        <p:blipFill>
          <a:blip r:embed="rId3"/>
          <a:stretch>
            <a:fillRect/>
          </a:stretch>
        </p:blipFill>
        <p:spPr>
          <a:xfrm>
            <a:off x="692072" y="6098941"/>
            <a:ext cx="4513493" cy="681421"/>
          </a:xfrm>
          <a:prstGeom prst="rect">
            <a:avLst/>
          </a:prstGeom>
          <a:ln w="12700">
            <a:miter lim="400000"/>
          </a:ln>
        </p:spPr>
      </p:pic>
      <p:pic>
        <p:nvPicPr>
          <p:cNvPr id="8" name="Grafik 7">
            <a:extLst>
              <a:ext uri="{FF2B5EF4-FFF2-40B4-BE49-F238E27FC236}">
                <a16:creationId xmlns:a16="http://schemas.microsoft.com/office/drawing/2014/main" id="{7BBA8F97-2053-1DBF-2BE4-43A7B3CCDEB7}"/>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3700064" y="719093"/>
            <a:ext cx="4791871" cy="5419814"/>
          </a:xfrm>
          <a:prstGeom prst="rect">
            <a:avLst/>
          </a:prstGeom>
        </p:spPr>
      </p:pic>
      <p:sp>
        <p:nvSpPr>
          <p:cNvPr id="11" name="Google Shape;104;p11">
            <a:extLst>
              <a:ext uri="{FF2B5EF4-FFF2-40B4-BE49-F238E27FC236}">
                <a16:creationId xmlns:a16="http://schemas.microsoft.com/office/drawing/2014/main" id="{E9284B26-9B0F-897B-F5A6-3970EEEA9516}"/>
              </a:ext>
            </a:extLst>
          </p:cNvPr>
          <p:cNvSpPr txBox="1"/>
          <p:nvPr userDrawn="1"/>
        </p:nvSpPr>
        <p:spPr>
          <a:xfrm>
            <a:off x="8305800" y="4675552"/>
            <a:ext cx="3331451"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Julian Hüsken</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Projektmanagement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Kreis Wesel </a:t>
            </a:r>
            <a:r>
              <a:rPr lang="de-DE" sz="1200" dirty="0" err="1">
                <a:latin typeface="Roboto" panose="02000000000000000000" pitchFamily="2" charset="0"/>
                <a:ea typeface="Roboto" panose="02000000000000000000" pitchFamily="2" charset="0"/>
                <a:cs typeface="Roboto" panose="02000000000000000000" pitchFamily="2" charset="0"/>
              </a:rPr>
              <a:t>EntwicklungsAgentur</a:t>
            </a:r>
            <a:r>
              <a:rPr lang="de-DE" sz="1200" dirty="0">
                <a:latin typeface="Roboto" panose="02000000000000000000" pitchFamily="2" charset="0"/>
                <a:ea typeface="Roboto" panose="02000000000000000000" pitchFamily="2" charset="0"/>
                <a:cs typeface="Roboto" panose="02000000000000000000" pitchFamily="2" charset="0"/>
              </a:rPr>
              <a:t> Wirtschaft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+49 281 / 207 3022</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julian.huesken@kreis-wesel.de</a:t>
            </a:r>
            <a:endParaRPr sz="1200" dirty="0">
              <a:latin typeface="Roboto" panose="02000000000000000000" pitchFamily="2" charset="0"/>
              <a:ea typeface="Roboto" panose="02000000000000000000" pitchFamily="2" charset="0"/>
              <a:cs typeface="Roboto" panose="02000000000000000000" pitchFamily="2" charset="0"/>
            </a:endParaRPr>
          </a:p>
        </p:txBody>
      </p:sp>
      <p:sp>
        <p:nvSpPr>
          <p:cNvPr id="12" name="Google Shape;104;p11">
            <a:extLst>
              <a:ext uri="{FF2B5EF4-FFF2-40B4-BE49-F238E27FC236}">
                <a16:creationId xmlns:a16="http://schemas.microsoft.com/office/drawing/2014/main" id="{FCB945A6-AAC1-08F6-F3C6-DF1170B9AD43}"/>
              </a:ext>
            </a:extLst>
          </p:cNvPr>
          <p:cNvSpPr txBox="1"/>
          <p:nvPr userDrawn="1"/>
        </p:nvSpPr>
        <p:spPr>
          <a:xfrm>
            <a:off x="4575006" y="4675552"/>
            <a:ext cx="3041985" cy="1107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24" tIns="91424" rIns="91424" bIns="91424">
            <a:spAutoFit/>
          </a:bodyPr>
          <a:lstStyle/>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Paul Langfahl</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Projektmanagement</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Wirtschaftsförderung Kreis Kleve GmbH</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Tel.: +49 2821 / 72 8120</a:t>
            </a:r>
          </a:p>
          <a:p>
            <a:pPr>
              <a:tabLst>
                <a:tab pos="358775" algn="l"/>
              </a:tabLst>
              <a:defRPr sz="1600">
                <a:solidFill>
                  <a:srgbClr val="FFFFFF"/>
                </a:solidFill>
                <a:latin typeface="Roboto"/>
                <a:ea typeface="Roboto"/>
                <a:cs typeface="Roboto"/>
                <a:sym typeface="Roboto"/>
              </a:defRPr>
            </a:pPr>
            <a:r>
              <a:rPr lang="de-DE" sz="1200" dirty="0">
                <a:latin typeface="Roboto" panose="02000000000000000000" pitchFamily="2" charset="0"/>
                <a:ea typeface="Roboto" panose="02000000000000000000" pitchFamily="2" charset="0"/>
                <a:cs typeface="Roboto" panose="02000000000000000000" pitchFamily="2" charset="0"/>
              </a:rPr>
              <a:t>Mail: p.langfahl@wfg-kreis-kleve.de</a:t>
            </a:r>
            <a:endParaRPr sz="12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951481739"/>
      </p:ext>
    </p:extLst>
  </p:cSld>
  <p:clrMapOvr>
    <a:masterClrMapping/>
  </p:clrMapOvr>
  <p:extLst>
    <p:ext uri="{DCECCB84-F9BA-43D5-87BE-67443E8EF086}">
      <p15:sldGuideLst xmlns:p15="http://schemas.microsoft.com/office/powerpoint/2012/main">
        <p15:guide id="1" orient="horz" pos="3984"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oogle Shape;60;p6" descr="Google Shape;60;p6">
            <a:extLst>
              <a:ext uri="{FF2B5EF4-FFF2-40B4-BE49-F238E27FC236}">
                <a16:creationId xmlns:a16="http://schemas.microsoft.com/office/drawing/2014/main" id="{D3BCFF5B-C91C-34DE-8115-CCA088D2B522}"/>
              </a:ext>
            </a:extLst>
          </p:cNvPr>
          <p:cNvPicPr>
            <a:picLocks noChangeAspect="1"/>
          </p:cNvPicPr>
          <p:nvPr userDrawn="1"/>
        </p:nvPicPr>
        <p:blipFill>
          <a:blip r:embed="rId24">
            <a:alphaModFix amt="10000"/>
          </a:blip>
          <a:stretch>
            <a:fillRect/>
          </a:stretch>
        </p:blipFill>
        <p:spPr>
          <a:xfrm>
            <a:off x="3699619" y="820625"/>
            <a:ext cx="4792762" cy="5424143"/>
          </a:xfrm>
          <a:prstGeom prst="rect">
            <a:avLst/>
          </a:prstGeom>
          <a:ln w="12700">
            <a:miter lim="400000"/>
          </a:ln>
        </p:spPr>
      </p:pic>
      <p:sp>
        <p:nvSpPr>
          <p:cNvPr id="2" name="Titelplatzhalter 1">
            <a:extLst>
              <a:ext uri="{FF2B5EF4-FFF2-40B4-BE49-F238E27FC236}">
                <a16:creationId xmlns:a16="http://schemas.microsoft.com/office/drawing/2014/main" id="{DE57A77C-DD24-FACC-1D5F-C496318D1E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a16="http://schemas.microsoft.com/office/drawing/2014/main" id="{79EAA1CF-CB17-AD9B-2591-12CF806E36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a:extLst>
              <a:ext uri="{FF2B5EF4-FFF2-40B4-BE49-F238E27FC236}">
                <a16:creationId xmlns:a16="http://schemas.microsoft.com/office/drawing/2014/main" id="{F4FF2D70-DBE9-3161-4185-C5EF328AA8C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3F3E3BC-98DD-41EE-9C48-48F535956578}" type="datetimeFigureOut">
              <a:rPr lang="de-DE" smtClean="0"/>
              <a:t>14.10.2026</a:t>
            </a:fld>
            <a:endParaRPr lang="de-DE"/>
          </a:p>
        </p:txBody>
      </p:sp>
      <p:sp>
        <p:nvSpPr>
          <p:cNvPr id="5" name="Fußzeilenplatzhalter 4">
            <a:extLst>
              <a:ext uri="{FF2B5EF4-FFF2-40B4-BE49-F238E27FC236}">
                <a16:creationId xmlns:a16="http://schemas.microsoft.com/office/drawing/2014/main" id="{6BB0BA34-3C8E-CBD1-EB79-D1E2CFCC45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2C2A35D8-CF22-6C75-1B38-E47BE13B90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E70882-9F88-48A5-AAB8-90B40D16CB51}" type="slidenum">
              <a:rPr lang="de-DE" smtClean="0"/>
              <a:t>‹#›</a:t>
            </a:fld>
            <a:endParaRPr lang="de-DE"/>
          </a:p>
        </p:txBody>
      </p:sp>
    </p:spTree>
    <p:extLst>
      <p:ext uri="{BB962C8B-B14F-4D97-AF65-F5344CB8AC3E}">
        <p14:creationId xmlns:p14="http://schemas.microsoft.com/office/powerpoint/2010/main" val="3355087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2" r:id="rId12"/>
    <p:sldLayoutId id="2147483683" r:id="rId13"/>
    <p:sldLayoutId id="2147483681"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Lst>
  <p:txStyles>
    <p:titleStyle>
      <a:lvl1pPr algn="l" defTabSz="914400" rtl="0" eaLnBrk="1" latinLnBrk="0" hangingPunct="1">
        <a:lnSpc>
          <a:spcPct val="150000"/>
        </a:lnSpc>
        <a:spcBef>
          <a:spcPct val="0"/>
        </a:spcBef>
        <a:buNone/>
        <a:defRPr sz="1800" kern="1200">
          <a:solidFill>
            <a:srgbClr val="002060"/>
          </a:solidFill>
          <a:latin typeface="Roboto" panose="02000000000000000000" pitchFamily="2" charset="0"/>
          <a:ea typeface="Roboto" panose="02000000000000000000" pitchFamily="2" charset="0"/>
          <a:cs typeface="Roboto" panose="02000000000000000000" pitchFamily="2" charset="0"/>
        </a:defRPr>
      </a:lvl1pPr>
    </p:titleStyle>
    <p:bodyStyle>
      <a:lvl1pPr marL="0" indent="0" algn="l" defTabSz="914400" rtl="0" eaLnBrk="1" latinLnBrk="0" hangingPunct="1">
        <a:lnSpc>
          <a:spcPct val="90000"/>
        </a:lnSpc>
        <a:spcBef>
          <a:spcPts val="1000"/>
        </a:spcBef>
        <a:buFontTx/>
        <a:buNone/>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68" userDrawn="1">
          <p15:clr>
            <a:srgbClr val="F26B43"/>
          </p15:clr>
        </p15:guide>
        <p15:guide id="2" pos="52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1.png"/><Relationship Id="rId6"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4.png"/><Relationship Id="rId5" Type="http://schemas.openxmlformats.org/officeDocument/2006/relationships/image" Target="../media/image16.png"/><Relationship Id="rId6" Type="http://schemas.openxmlformats.org/officeDocument/2006/relationships/image" Target="../media/image12.png"/><Relationship Id="rId7"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23.png"/><Relationship Id="rId6"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25.png"/><Relationship Id="rId5" Type="http://schemas.openxmlformats.org/officeDocument/2006/relationships/image" Target="../media/image8.png"/><Relationship Id="rId6" Type="http://schemas.openxmlformats.org/officeDocument/2006/relationships/image" Target="../media/image23.png"/><Relationship Id="rId7"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28.png"/><Relationship Id="rId6"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22.png"/><Relationship Id="rId6" Type="http://schemas.openxmlformats.org/officeDocument/2006/relationships/image" Target="../media/image31.png"/><Relationship Id="rId7" Type="http://schemas.openxmlformats.org/officeDocument/2006/relationships/image" Target="../media/image32.png"/><Relationship Id="rId8"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15.png"/><Relationship Id="rId6" Type="http://schemas.openxmlformats.org/officeDocument/2006/relationships/image" Target="../media/image41.png"/><Relationship Id="rId7" Type="http://schemas.openxmlformats.org/officeDocument/2006/relationships/image" Target="../media/image13.png"/><Relationship Id="rId8"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chart" Target="../charts/char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 Id="rId3"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14.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15.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4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25.png"/><Relationship Id="rId5" Type="http://schemas.openxmlformats.org/officeDocument/2006/relationships/image" Target="../media/image44.png"/><Relationship Id="rId6"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22.png"/><Relationship Id="rId7" Type="http://schemas.openxmlformats.org/officeDocument/2006/relationships/image" Target="../media/image47.png"/><Relationship Id="rId8"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4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11.png"/><Relationship Id="rId4" Type="http://schemas.openxmlformats.org/officeDocument/2006/relationships/image" Target="../media/image48.png"/><Relationship Id="rId5" Type="http://schemas.openxmlformats.org/officeDocument/2006/relationships/image" Target="../media/image4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 Id="rId3"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10.png"/><Relationship Id="rId4" Type="http://schemas.openxmlformats.org/officeDocument/2006/relationships/image" Target="../media/image50.png"/><Relationship Id="rId5" Type="http://schemas.openxmlformats.org/officeDocument/2006/relationships/image" Target="../media/image39.png"/><Relationship Id="rId6" Type="http://schemas.openxmlformats.org/officeDocument/2006/relationships/image" Target="../media/image5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 Id="rId3" Type="http://schemas.openxmlformats.org/officeDocument/2006/relationships/image" Target="../media/image10.png"/><Relationship Id="rId4" Type="http://schemas.openxmlformats.org/officeDocument/2006/relationships/image" Target="../media/image42.png"/><Relationship Id="rId5" Type="http://schemas.openxmlformats.org/officeDocument/2006/relationships/image" Target="../media/image27.png"/><Relationship Id="rId6" Type="http://schemas.openxmlformats.org/officeDocument/2006/relationships/image" Target="../media/image53.png"/><Relationship Id="rId7" Type="http://schemas.openxmlformats.org/officeDocument/2006/relationships/image" Target="../media/image4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27.png"/><Relationship Id="rId8" Type="http://schemas.openxmlformats.org/officeDocument/2006/relationships/image" Target="../media/image13.png"/><Relationship Id="rId9" Type="http://schemas.openxmlformats.org/officeDocument/2006/relationships/image" Target="../media/image17.png"/><Relationship Id="rId10" Type="http://schemas.openxmlformats.org/officeDocument/2006/relationships/image" Target="../media/image44.png"/><Relationship Id="rId11" Type="http://schemas.openxmlformats.org/officeDocument/2006/relationships/image" Target="../media/image1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14.png"/><Relationship Id="rId4"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19.png"/><Relationship Id="rId7" Type="http://schemas.openxmlformats.org/officeDocument/2006/relationships/image" Target="../media/image27.png"/><Relationship Id="rId8" Type="http://schemas.openxmlformats.org/officeDocument/2006/relationships/image" Target="../media/image13.png"/><Relationship Id="rId9" Type="http://schemas.openxmlformats.org/officeDocument/2006/relationships/image" Target="../media/image17.png"/><Relationship Id="rId10" Type="http://schemas.openxmlformats.org/officeDocument/2006/relationships/image" Target="../media/image44.png"/><Relationship Id="rId11" Type="http://schemas.openxmlformats.org/officeDocument/2006/relationships/image" Target="../media/image1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 Id="rId3" Type="http://schemas.openxmlformats.org/officeDocument/2006/relationships/image" Target="../media/image55.png"/><Relationship Id="rId4" Type="http://schemas.openxmlformats.org/officeDocument/2006/relationships/image" Target="../media/image22.png"/><Relationship Id="rId5" Type="http://schemas.openxmlformats.org/officeDocument/2006/relationships/image" Target="../media/image45.png"/><Relationship Id="rId6" Type="http://schemas.openxmlformats.org/officeDocument/2006/relationships/image" Target="../media/image56.png"/><Relationship Id="rId7" Type="http://schemas.openxmlformats.org/officeDocument/2006/relationships/image" Target="../media/image5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0.xml"/><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image" Target="../media/image29.png"/><Relationship Id="rId6" Type="http://schemas.openxmlformats.org/officeDocument/2006/relationships/image" Target="../media/image41.png"/><Relationship Id="rId7" Type="http://schemas.openxmlformats.org/officeDocument/2006/relationships/image" Target="../media/image60.png"/><Relationship Id="rId8" Type="http://schemas.openxmlformats.org/officeDocument/2006/relationships/image" Target="../media/image6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1.xml"/><Relationship Id="rId3" Type="http://schemas.openxmlformats.org/officeDocument/2006/relationships/image" Target="../media/image62.png"/><Relationship Id="rId4" Type="http://schemas.openxmlformats.org/officeDocument/2006/relationships/image" Target="../media/image4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20.11.2026</a:t>
            </a:r>
          </a:p>
        </p:txBody>
      </p:sp>
      <p:sp>
        <p:nvSpPr>
          <p:cNvPr id="3" name="Text Placeholder 2"/>
          <p:cNvSpPr>
            <a:spLocks noGrp="1"/>
          </p:cNvSpPr>
          <p:nvPr>
            <p:ph type="body" idx="12" sz="quarter"/>
          </p:nvPr>
        </p:nvSpPr>
        <p:spPr/>
        <p:txBody>
          <a:bodyPr/>
          <a:lstStyle/>
          <a:p>
            <a:r>
              <a:rPr b="1" sz="2000"/>
              <a:t>KI.INNOVATION</a:t>
            </a:r>
          </a:p>
          <a:p>
            <a:r>
              <a:rPr b="1" sz="2000"/>
              <a:t>Von der Idee zum Prototyp</a:t>
            </a:r>
          </a:p>
        </p:txBody>
      </p:sp>
      <p:sp>
        <p:nvSpPr>
          <p:cNvPr id="4" name="Text Placeholder 3"/>
          <p:cNvSpPr>
            <a:spLocks noGrp="1"/>
          </p:cNvSpPr>
          <p:nvPr>
            <p:ph type="body" idx="13" sz="quarter"/>
          </p:nvPr>
        </p:nvSpPr>
        <p:spPr/>
        <p:txBody>
          <a:bodyPr/>
          <a:lstStyle/>
          <a:p>
            <a:r>
              <a:rPr b="0" sz="2800"/>
              <a:t>Workshop Teil 3</a:t>
            </a:r>
          </a:p>
        </p:txBody>
      </p:sp>
      <p:sp>
        <p:nvSpPr>
          <p:cNvPr id="5" name="Text Placeholder 4"/>
          <p:cNvSpPr>
            <a:spLocks noGrp="1"/>
          </p:cNvSpPr>
          <p:nvPr>
            <p:ph type="body" idx="14" sz="quarter"/>
          </p:nvPr>
        </p:nvSpPr>
        <p:spPr/>
        <p:txBody>
          <a:bodyPr/>
          <a:lstStyle/>
          <a:p>
            <a:r>
              <a:rPr b="0" sz="1600"/>
              <a:t>Prof. Dr. Kathrin Weidner</a:t>
            </a:r>
          </a:p>
          <a:p>
            <a:r>
              <a:rPr b="0" sz="1600"/>
              <a:t>Nina Nüchter</a:t>
            </a:r>
          </a:p>
          <a:p>
            <a:r>
              <a:rPr b="0" sz="1600"/>
              <a:t>- Hochschule Rhein-Waal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2000"/>
              <a:t>01</a:t>
            </a:r>
          </a:p>
        </p:txBody>
      </p:sp>
      <p:sp>
        <p:nvSpPr>
          <p:cNvPr id="3" name="Text Placeholder 2"/>
          <p:cNvSpPr>
            <a:spLocks noGrp="1"/>
          </p:cNvSpPr>
          <p:nvPr>
            <p:ph type="body" idx="11" sz="quarter"/>
          </p:nvPr>
        </p:nvSpPr>
        <p:spPr/>
        <p:txBody>
          <a:bodyPr/>
          <a:lstStyle/>
          <a:p>
            <a:r>
              <a:rPr b="0" sz="1900"/>
              <a:t>Rückblick und Status-Runde</a:t>
            </a:r>
          </a:p>
        </p:txBody>
      </p:sp>
      <p:sp>
        <p:nvSpPr>
          <p:cNvPr id="4" name="Text Placeholder 3"/>
          <p:cNvSpPr>
            <a:spLocks noGrp="1"/>
          </p:cNvSpPr>
          <p:nvPr>
            <p:ph type="body" idx="12" sz="quarter"/>
          </p:nvPr>
        </p:nvSpPr>
        <p:spPr/>
        <p:txBody>
          <a:bodyPr/>
          <a:lstStyle/>
          <a:p>
            <a:r>
              <a:rPr b="1" sz="2000"/>
              <a:t>02</a:t>
            </a:r>
          </a:p>
        </p:txBody>
      </p:sp>
      <p:sp>
        <p:nvSpPr>
          <p:cNvPr id="5" name="Text Placeholder 4"/>
          <p:cNvSpPr>
            <a:spLocks noGrp="1"/>
          </p:cNvSpPr>
          <p:nvPr>
            <p:ph type="body" idx="13" sz="quarter"/>
          </p:nvPr>
        </p:nvSpPr>
        <p:spPr/>
        <p:txBody>
          <a:bodyPr/>
          <a:lstStyle/>
          <a:p>
            <a:r>
              <a:rPr b="0" sz="1900"/>
              <a:t>Prototyping: Ideen greifbar machen</a:t>
            </a:r>
          </a:p>
        </p:txBody>
      </p:sp>
      <p:sp>
        <p:nvSpPr>
          <p:cNvPr id="6" name="Text Placeholder 5"/>
          <p:cNvSpPr>
            <a:spLocks noGrp="1"/>
          </p:cNvSpPr>
          <p:nvPr>
            <p:ph type="body" idx="14" sz="quarter"/>
          </p:nvPr>
        </p:nvSpPr>
        <p:spPr/>
        <p:txBody>
          <a:bodyPr/>
          <a:lstStyle/>
          <a:p>
            <a:r>
              <a:rPr b="1" sz="2000"/>
              <a:t>03</a:t>
            </a:r>
          </a:p>
        </p:txBody>
      </p:sp>
      <p:sp>
        <p:nvSpPr>
          <p:cNvPr id="7" name="Text Placeholder 6"/>
          <p:cNvSpPr>
            <a:spLocks noGrp="1"/>
          </p:cNvSpPr>
          <p:nvPr>
            <p:ph type="body" idx="15" sz="quarter"/>
          </p:nvPr>
        </p:nvSpPr>
        <p:spPr/>
        <p:txBody>
          <a:bodyPr/>
          <a:lstStyle/>
          <a:p>
            <a:r>
              <a:rPr b="0" sz="1900"/>
              <a:t>Prototyp-Werkstatt</a:t>
            </a:r>
          </a:p>
        </p:txBody>
      </p:sp>
      <p:sp>
        <p:nvSpPr>
          <p:cNvPr id="8" name="Text Placeholder 7"/>
          <p:cNvSpPr>
            <a:spLocks noGrp="1"/>
          </p:cNvSpPr>
          <p:nvPr>
            <p:ph type="body" idx="16" sz="quarter"/>
          </p:nvPr>
        </p:nvSpPr>
        <p:spPr/>
        <p:txBody>
          <a:bodyPr/>
          <a:lstStyle/>
          <a:p>
            <a:r>
              <a:rPr b="1" sz="2000"/>
              <a:t>04</a:t>
            </a:r>
          </a:p>
        </p:txBody>
      </p:sp>
      <p:sp>
        <p:nvSpPr>
          <p:cNvPr id="9" name="Text Placeholder 8"/>
          <p:cNvSpPr>
            <a:spLocks noGrp="1"/>
          </p:cNvSpPr>
          <p:nvPr>
            <p:ph type="body" idx="17" sz="quarter"/>
          </p:nvPr>
        </p:nvSpPr>
        <p:spPr/>
        <p:txBody>
          <a:bodyPr/>
          <a:lstStyle/>
          <a:p>
            <a:r>
              <a:rPr b="0" sz="1900"/>
              <a:t>KI-Ansatz bewerten: sechs Dimensionen</a:t>
            </a:r>
          </a:p>
        </p:txBody>
      </p:sp>
      <p:sp>
        <p:nvSpPr>
          <p:cNvPr id="10" name="Text Placeholder 9"/>
          <p:cNvSpPr>
            <a:spLocks noGrp="1"/>
          </p:cNvSpPr>
          <p:nvPr>
            <p:ph type="body" idx="18" sz="quarter"/>
          </p:nvPr>
        </p:nvSpPr>
        <p:spPr/>
        <p:txBody>
          <a:bodyPr/>
          <a:lstStyle/>
          <a:p>
            <a:r>
              <a:rPr b="1" sz="2000"/>
              <a:t>05</a:t>
            </a:r>
          </a:p>
        </p:txBody>
      </p:sp>
      <p:sp>
        <p:nvSpPr>
          <p:cNvPr id="11" name="Text Placeholder 10"/>
          <p:cNvSpPr>
            <a:spLocks noGrp="1"/>
          </p:cNvSpPr>
          <p:nvPr>
            <p:ph type="body" idx="19" sz="quarter"/>
          </p:nvPr>
        </p:nvSpPr>
        <p:spPr/>
        <p:txBody>
          <a:bodyPr/>
          <a:lstStyle/>
          <a:p>
            <a:r>
              <a:rPr b="0" sz="1900"/>
              <a:t>Pitch und Feedback</a:t>
            </a:r>
          </a:p>
        </p:txBody>
      </p:sp>
      <p:sp>
        <p:nvSpPr>
          <p:cNvPr id="12" name="Text Placeholder 11"/>
          <p:cNvSpPr>
            <a:spLocks noGrp="1"/>
          </p:cNvSpPr>
          <p:nvPr>
            <p:ph type="body" idx="20" sz="quarter"/>
          </p:nvPr>
        </p:nvSpPr>
        <p:spPr/>
        <p:txBody>
          <a:bodyPr/>
          <a:lstStyle/>
          <a:p>
            <a:r>
              <a:rPr b="1" sz="2000"/>
              <a:t>06</a:t>
            </a:r>
          </a:p>
        </p:txBody>
      </p:sp>
      <p:sp>
        <p:nvSpPr>
          <p:cNvPr id="13" name="Text Placeholder 12"/>
          <p:cNvSpPr>
            <a:spLocks noGrp="1"/>
          </p:cNvSpPr>
          <p:nvPr>
            <p:ph type="body" idx="21" sz="quarter"/>
          </p:nvPr>
        </p:nvSpPr>
        <p:spPr/>
        <p:txBody>
          <a:bodyPr/>
          <a:lstStyle/>
          <a:p>
            <a:r>
              <a:rPr b="0" sz="1900"/>
              <a:t>Testen und Iterieren</a:t>
            </a:r>
          </a:p>
        </p:txBody>
      </p:sp>
      <p:sp>
        <p:nvSpPr>
          <p:cNvPr id="14" name="Text Placeholder 13"/>
          <p:cNvSpPr>
            <a:spLocks noGrp="1"/>
          </p:cNvSpPr>
          <p:nvPr>
            <p:ph type="body" idx="22" sz="quarter"/>
          </p:nvPr>
        </p:nvSpPr>
        <p:spPr/>
        <p:txBody>
          <a:bodyPr/>
          <a:lstStyle/>
          <a:p>
            <a:r>
              <a:rPr b="1" sz="2000"/>
              <a:t>07</a:t>
            </a:r>
          </a:p>
        </p:txBody>
      </p:sp>
      <p:sp>
        <p:nvSpPr>
          <p:cNvPr id="15" name="Text Placeholder 14"/>
          <p:cNvSpPr>
            <a:spLocks noGrp="1"/>
          </p:cNvSpPr>
          <p:nvPr>
            <p:ph type="body" idx="23" sz="quarter"/>
          </p:nvPr>
        </p:nvSpPr>
        <p:spPr/>
        <p:txBody>
          <a:bodyPr/>
          <a:lstStyle/>
          <a:p>
            <a:r>
              <a:rPr b="0" sz="1900"/>
              <a:t>Agenten im Dauerbetrieb</a:t>
            </a:r>
          </a:p>
        </p:txBody>
      </p:sp>
      <p:sp>
        <p:nvSpPr>
          <p:cNvPr id="16" name="Text Placeholder 15"/>
          <p:cNvSpPr>
            <a:spLocks noGrp="1"/>
          </p:cNvSpPr>
          <p:nvPr>
            <p:ph type="body" idx="24" sz="quarter"/>
          </p:nvPr>
        </p:nvSpPr>
        <p:spPr/>
        <p:txBody>
          <a:bodyPr/>
          <a:lstStyle/>
          <a:p>
            <a:r>
              <a:rPr b="1" sz="2000"/>
              <a:t>08</a:t>
            </a:r>
          </a:p>
        </p:txBody>
      </p:sp>
      <p:sp>
        <p:nvSpPr>
          <p:cNvPr id="17" name="Text Placeholder 16"/>
          <p:cNvSpPr>
            <a:spLocks noGrp="1"/>
          </p:cNvSpPr>
          <p:nvPr>
            <p:ph type="body" idx="25" sz="quarter"/>
          </p:nvPr>
        </p:nvSpPr>
        <p:spPr/>
        <p:txBody>
          <a:bodyPr/>
          <a:lstStyle/>
          <a:p>
            <a:r>
              <a:rPr b="0" sz="1900"/>
              <a:t>Innovation Canvas und Transfer</a:t>
            </a:r>
          </a:p>
        </p:txBody>
      </p:sp>
      <p:sp>
        <p:nvSpPr>
          <p:cNvPr id="18" name="TextBox 17"/>
          <p:cNvSpPr txBox="1"/>
          <p:nvPr/>
        </p:nvSpPr>
        <p:spPr>
          <a:xfrm>
            <a:off x="9326880" y="1371600"/>
            <a:ext cx="2103120" cy="384048"/>
          </a:xfrm>
          <a:prstGeom prst="rect">
            <a:avLst/>
          </a:prstGeom>
          <a:noFill/>
        </p:spPr>
        <p:txBody>
          <a:bodyPr wrap="square" lIns="0" rIns="0" tIns="0" bIns="0" anchor="t"/>
          <a:lstStyle/>
          <a:p>
            <a:pPr algn="r">
              <a:spcAft>
                <a:spcPts val="400"/>
              </a:spcAft>
              <a:buNone/>
            </a:pPr>
            <a:r>
              <a:rPr sz="2800" b="1" i="0">
                <a:solidFill>
                  <a:srgbClr val="0E1F53"/>
                </a:solidFill>
                <a:latin typeface="Roboto"/>
              </a:rPr>
              <a:t>Agenda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Die Workshop-Reihe KI.INNOVATION</a:t>
            </a:r>
          </a:p>
        </p:txBody>
      </p:sp>
      <p:sp>
        <p:nvSpPr>
          <p:cNvPr id="3" name="Rounded Rectangle 2"/>
          <p:cNvSpPr/>
          <p:nvPr/>
        </p:nvSpPr>
        <p:spPr>
          <a:xfrm>
            <a:off x="841248" y="850392"/>
            <a:ext cx="145206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WORKSHOP-REIHE</a:t>
            </a:r>
          </a:p>
        </p:txBody>
      </p:sp>
      <p:cxnSp>
        <p:nvCxnSpPr>
          <p:cNvPr id="4" name="Connector 3"/>
          <p:cNvCxnSpPr/>
          <p:nvPr/>
        </p:nvCxnSpPr>
        <p:spPr>
          <a:xfrm>
            <a:off x="1115568" y="2395728"/>
            <a:ext cx="9957816" cy="0"/>
          </a:xfrm>
          <a:prstGeom prst="line">
            <a:avLst/>
          </a:prstGeom>
          <a:ln w="25400">
            <a:solidFill>
              <a:srgbClr val="8FA3C8"/>
            </a:solidFill>
            <a:prstDash val="dash"/>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668780" y="2029968"/>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Users_w.png"/>
          <p:cNvPicPr>
            <a:picLocks noChangeAspect="1"/>
          </p:cNvPicPr>
          <p:nvPr/>
        </p:nvPicPr>
        <p:blipFill>
          <a:blip r:embed="rId3"/>
          <a:stretch>
            <a:fillRect/>
          </a:stretch>
        </p:blipFill>
        <p:spPr>
          <a:xfrm>
            <a:off x="1844344" y="2205532"/>
            <a:ext cx="380390" cy="380390"/>
          </a:xfrm>
          <a:prstGeom prst="rect">
            <a:avLst/>
          </a:prstGeom>
        </p:spPr>
      </p:pic>
      <p:sp>
        <p:nvSpPr>
          <p:cNvPr id="7" name="Rounded Rectangle 6"/>
          <p:cNvSpPr/>
          <p:nvPr/>
        </p:nvSpPr>
        <p:spPr>
          <a:xfrm>
            <a:off x="841248" y="2926080"/>
            <a:ext cx="2386584"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42416" y="3063240"/>
            <a:ext cx="1984248" cy="2834640"/>
          </a:xfrm>
          <a:prstGeom prst="rect">
            <a:avLst/>
          </a:prstGeom>
          <a:noFill/>
        </p:spPr>
        <p:txBody>
          <a:bodyPr wrap="square" lIns="0" rIns="0" tIns="0" bIns="0" anchor="t"/>
          <a:lstStyle/>
          <a:p>
            <a:pPr algn="l">
              <a:spcAft>
                <a:spcPts val="800"/>
              </a:spcAft>
              <a:buNone/>
            </a:pPr>
            <a:r>
              <a:rPr sz="1500" b="1" i="0">
                <a:solidFill>
                  <a:srgbClr val="0E1F53"/>
                </a:solidFill>
                <a:latin typeface="Roboto"/>
              </a:rPr>
              <a:t>Teil 1 · Workshop</a:t>
            </a:r>
          </a:p>
          <a:p>
            <a:pPr algn="l">
              <a:spcAft>
                <a:spcPts val="200"/>
              </a:spcAft>
              <a:buNone/>
            </a:pPr>
            <a:r>
              <a:rPr sz="1700" b="1" i="0">
                <a:solidFill>
                  <a:srgbClr val="FB2762"/>
                </a:solidFill>
                <a:latin typeface="Roboto"/>
              </a:rPr>
              <a:t>Di, 03.11.2026</a:t>
            </a:r>
          </a:p>
          <a:p>
            <a:pPr algn="l">
              <a:spcAft>
                <a:spcPts val="200"/>
              </a:spcAft>
              <a:buNone/>
            </a:pPr>
            <a:r>
              <a:rPr sz="1350" b="0" i="0">
                <a:solidFill>
                  <a:srgbClr val="0E1F53"/>
                </a:solidFill>
                <a:latin typeface="Roboto"/>
              </a:rPr>
              <a:t>16:00–19:00 Uhr</a:t>
            </a:r>
          </a:p>
          <a:p>
            <a:pPr algn="l">
              <a:spcAft>
                <a:spcPts val="1200"/>
              </a:spcAft>
              <a:buNone/>
            </a:pPr>
            <a:r>
              <a:rPr sz="1250" b="0" i="0">
                <a:solidFill>
                  <a:srgbClr val="5A6684"/>
                </a:solidFill>
                <a:latin typeface="Roboto"/>
              </a:rPr>
              <a:t>Präsenz, HSRW Kamp-Lintfort</a:t>
            </a:r>
          </a:p>
          <a:p>
            <a:pPr algn="l">
              <a:spcAft>
                <a:spcPts val="400"/>
              </a:spcAft>
              <a:buNone/>
            </a:pPr>
            <a:r>
              <a:rPr sz="1350" b="0" i="0">
                <a:solidFill>
                  <a:srgbClr val="0E1F53"/>
                </a:solidFill>
                <a:latin typeface="Roboto"/>
              </a:rPr>
              <a:t>Empathie, Definieren, erste Ideen</a:t>
            </a:r>
          </a:p>
        </p:txBody>
      </p:sp>
      <p:sp>
        <p:nvSpPr>
          <p:cNvPr id="9" name="Oval 8"/>
          <p:cNvSpPr/>
          <p:nvPr/>
        </p:nvSpPr>
        <p:spPr>
          <a:xfrm>
            <a:off x="4375404" y="2029968"/>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uMessagesSquare_w.png"/>
          <p:cNvPicPr>
            <a:picLocks noChangeAspect="1"/>
          </p:cNvPicPr>
          <p:nvPr/>
        </p:nvPicPr>
        <p:blipFill>
          <a:blip r:embed="rId4"/>
          <a:stretch>
            <a:fillRect/>
          </a:stretch>
        </p:blipFill>
        <p:spPr>
          <a:xfrm>
            <a:off x="4550968" y="2205532"/>
            <a:ext cx="380390" cy="380390"/>
          </a:xfrm>
          <a:prstGeom prst="rect">
            <a:avLst/>
          </a:prstGeom>
        </p:spPr>
      </p:pic>
      <p:sp>
        <p:nvSpPr>
          <p:cNvPr id="11" name="Rounded Rectangle 10"/>
          <p:cNvSpPr/>
          <p:nvPr/>
        </p:nvSpPr>
        <p:spPr>
          <a:xfrm>
            <a:off x="3547872" y="2926080"/>
            <a:ext cx="2386584"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749040" y="3063240"/>
            <a:ext cx="1984248" cy="2834640"/>
          </a:xfrm>
          <a:prstGeom prst="rect">
            <a:avLst/>
          </a:prstGeom>
          <a:noFill/>
        </p:spPr>
        <p:txBody>
          <a:bodyPr wrap="square" lIns="0" rIns="0" tIns="0" bIns="0" anchor="t"/>
          <a:lstStyle/>
          <a:p>
            <a:pPr algn="l">
              <a:spcAft>
                <a:spcPts val="800"/>
              </a:spcAft>
              <a:buNone/>
            </a:pPr>
            <a:r>
              <a:rPr sz="1500" b="1" i="0">
                <a:solidFill>
                  <a:srgbClr val="0E1F53"/>
                </a:solidFill>
                <a:latin typeface="Roboto"/>
              </a:rPr>
              <a:t>Teil 2 · Remote-Beratung</a:t>
            </a:r>
          </a:p>
          <a:p>
            <a:pPr algn="l">
              <a:spcAft>
                <a:spcPts val="200"/>
              </a:spcAft>
              <a:buNone/>
            </a:pPr>
            <a:r>
              <a:rPr sz="1700" b="1" i="0">
                <a:solidFill>
                  <a:srgbClr val="FB2762"/>
                </a:solidFill>
                <a:latin typeface="Roboto"/>
              </a:rPr>
              <a:t>Di, 10.11.2026</a:t>
            </a:r>
          </a:p>
          <a:p>
            <a:pPr algn="l">
              <a:spcAft>
                <a:spcPts val="200"/>
              </a:spcAft>
              <a:buNone/>
            </a:pPr>
            <a:r>
              <a:rPr sz="1350" b="0" i="0">
                <a:solidFill>
                  <a:srgbClr val="0E1F53"/>
                </a:solidFill>
                <a:latin typeface="Roboto"/>
              </a:rPr>
              <a:t>17:00–19:00 Uhr</a:t>
            </a:r>
          </a:p>
          <a:p>
            <a:pPr algn="l">
              <a:spcAft>
                <a:spcPts val="1200"/>
              </a:spcAft>
              <a:buNone/>
            </a:pPr>
            <a:r>
              <a:rPr sz="1250" b="0" i="0">
                <a:solidFill>
                  <a:srgbClr val="5A6684"/>
                </a:solidFill>
                <a:latin typeface="Roboto"/>
              </a:rPr>
              <a:t>online</a:t>
            </a:r>
          </a:p>
          <a:p>
            <a:pPr algn="l">
              <a:spcAft>
                <a:spcPts val="400"/>
              </a:spcAft>
              <a:buNone/>
            </a:pPr>
            <a:r>
              <a:rPr sz="1350" b="0" i="0">
                <a:solidFill>
                  <a:srgbClr val="0E1F53"/>
                </a:solidFill>
                <a:latin typeface="Roboto"/>
              </a:rPr>
              <a:t>Interviews, Methoden, Fragen klären</a:t>
            </a:r>
          </a:p>
        </p:txBody>
      </p:sp>
      <p:sp>
        <p:nvSpPr>
          <p:cNvPr id="13" name="Oval 12"/>
          <p:cNvSpPr/>
          <p:nvPr/>
        </p:nvSpPr>
        <p:spPr>
          <a:xfrm>
            <a:off x="7082028" y="2029968"/>
            <a:ext cx="731520" cy="7315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uCalendarClock_w.png"/>
          <p:cNvPicPr>
            <a:picLocks noChangeAspect="1"/>
          </p:cNvPicPr>
          <p:nvPr/>
        </p:nvPicPr>
        <p:blipFill>
          <a:blip r:embed="rId5"/>
          <a:stretch>
            <a:fillRect/>
          </a:stretch>
        </p:blipFill>
        <p:spPr>
          <a:xfrm>
            <a:off x="7257592" y="2205532"/>
            <a:ext cx="380390" cy="380390"/>
          </a:xfrm>
          <a:prstGeom prst="rect">
            <a:avLst/>
          </a:prstGeom>
        </p:spPr>
      </p:pic>
      <p:sp>
        <p:nvSpPr>
          <p:cNvPr id="15" name="Rounded Rectangle 14"/>
          <p:cNvSpPr/>
          <p:nvPr/>
        </p:nvSpPr>
        <p:spPr>
          <a:xfrm>
            <a:off x="6254496" y="2926080"/>
            <a:ext cx="2386584"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55664" y="3063240"/>
            <a:ext cx="1984248" cy="2834640"/>
          </a:xfrm>
          <a:prstGeom prst="rect">
            <a:avLst/>
          </a:prstGeom>
          <a:noFill/>
        </p:spPr>
        <p:txBody>
          <a:bodyPr wrap="square" lIns="0" rIns="0" tIns="0" bIns="0" anchor="t"/>
          <a:lstStyle/>
          <a:p>
            <a:pPr algn="l">
              <a:spcAft>
                <a:spcPts val="800"/>
              </a:spcAft>
              <a:buNone/>
            </a:pPr>
            <a:r>
              <a:rPr sz="1500" b="1" i="0">
                <a:solidFill>
                  <a:srgbClr val="0E1F53"/>
                </a:solidFill>
                <a:latin typeface="Roboto"/>
              </a:rPr>
              <a:t>Optionale Beratung</a:t>
            </a:r>
          </a:p>
          <a:p>
            <a:pPr algn="l">
              <a:spcAft>
                <a:spcPts val="200"/>
              </a:spcAft>
              <a:buNone/>
            </a:pPr>
            <a:r>
              <a:rPr sz="1700" b="1" i="0">
                <a:solidFill>
                  <a:srgbClr val="FB2762"/>
                </a:solidFill>
                <a:latin typeface="Roboto"/>
              </a:rPr>
              <a:t>13. und 16.11.2026</a:t>
            </a:r>
          </a:p>
          <a:p>
            <a:pPr algn="l">
              <a:spcAft>
                <a:spcPts val="200"/>
              </a:spcAft>
              <a:buNone/>
            </a:pPr>
            <a:r>
              <a:rPr sz="1350" b="0" i="0">
                <a:solidFill>
                  <a:srgbClr val="0E1F53"/>
                </a:solidFill>
                <a:latin typeface="Roboto"/>
              </a:rPr>
              <a:t>je 17:00–19:00 Uhr</a:t>
            </a:r>
          </a:p>
          <a:p>
            <a:pPr algn="l">
              <a:spcAft>
                <a:spcPts val="1200"/>
              </a:spcAft>
              <a:buNone/>
            </a:pPr>
            <a:r>
              <a:rPr sz="1250" b="0" i="0">
                <a:solidFill>
                  <a:srgbClr val="5A6684"/>
                </a:solidFill>
                <a:latin typeface="Roboto"/>
              </a:rPr>
              <a:t>online, nach Bedarf</a:t>
            </a:r>
          </a:p>
          <a:p>
            <a:pPr algn="l">
              <a:spcAft>
                <a:spcPts val="400"/>
              </a:spcAft>
              <a:buNone/>
            </a:pPr>
            <a:r>
              <a:rPr sz="1350" b="0" i="0">
                <a:solidFill>
                  <a:srgbClr val="0E1F53"/>
                </a:solidFill>
                <a:latin typeface="Roboto"/>
              </a:rPr>
              <a:t>Individuelle Unterstützung</a:t>
            </a:r>
          </a:p>
        </p:txBody>
      </p:sp>
      <p:sp>
        <p:nvSpPr>
          <p:cNvPr id="17" name="Oval 16"/>
          <p:cNvSpPr/>
          <p:nvPr/>
        </p:nvSpPr>
        <p:spPr>
          <a:xfrm>
            <a:off x="9788652" y="2029968"/>
            <a:ext cx="731520" cy="7315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Rocket_w.png"/>
          <p:cNvPicPr>
            <a:picLocks noChangeAspect="1"/>
          </p:cNvPicPr>
          <p:nvPr/>
        </p:nvPicPr>
        <p:blipFill>
          <a:blip r:embed="rId6"/>
          <a:stretch>
            <a:fillRect/>
          </a:stretch>
        </p:blipFill>
        <p:spPr>
          <a:xfrm>
            <a:off x="9964216" y="2205532"/>
            <a:ext cx="380390" cy="380390"/>
          </a:xfrm>
          <a:prstGeom prst="rect">
            <a:avLst/>
          </a:prstGeom>
        </p:spPr>
      </p:pic>
      <p:sp>
        <p:nvSpPr>
          <p:cNvPr id="19" name="Rounded Rectangle 18"/>
          <p:cNvSpPr/>
          <p:nvPr/>
        </p:nvSpPr>
        <p:spPr>
          <a:xfrm>
            <a:off x="8961120" y="2926080"/>
            <a:ext cx="2386584" cy="301752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62288" y="3063240"/>
            <a:ext cx="1984248" cy="2834640"/>
          </a:xfrm>
          <a:prstGeom prst="rect">
            <a:avLst/>
          </a:prstGeom>
          <a:noFill/>
        </p:spPr>
        <p:txBody>
          <a:bodyPr wrap="square" lIns="0" rIns="0" tIns="0" bIns="0" anchor="t"/>
          <a:lstStyle/>
          <a:p>
            <a:pPr algn="l">
              <a:spcAft>
                <a:spcPts val="800"/>
              </a:spcAft>
              <a:buNone/>
            </a:pPr>
            <a:r>
              <a:rPr sz="1500" b="1" i="0">
                <a:solidFill>
                  <a:srgbClr val="FFFFFF"/>
                </a:solidFill>
                <a:latin typeface="Roboto"/>
              </a:rPr>
              <a:t>Teil 3 · Workshop</a:t>
            </a:r>
          </a:p>
          <a:p>
            <a:pPr algn="l">
              <a:spcAft>
                <a:spcPts val="200"/>
              </a:spcAft>
              <a:buNone/>
            </a:pPr>
            <a:r>
              <a:rPr sz="1700" b="1" i="0">
                <a:solidFill>
                  <a:srgbClr val="9FD0FF"/>
                </a:solidFill>
                <a:latin typeface="Roboto"/>
              </a:rPr>
              <a:t>Fr, 20.11.2026</a:t>
            </a:r>
          </a:p>
          <a:p>
            <a:pPr algn="l">
              <a:spcAft>
                <a:spcPts val="200"/>
              </a:spcAft>
              <a:buNone/>
            </a:pPr>
            <a:r>
              <a:rPr sz="1350" b="0" i="0">
                <a:solidFill>
                  <a:srgbClr val="FFFFFF"/>
                </a:solidFill>
                <a:latin typeface="Roboto"/>
              </a:rPr>
              <a:t>12:00–18:00 Uhr</a:t>
            </a:r>
          </a:p>
          <a:p>
            <a:pPr algn="l">
              <a:spcAft>
                <a:spcPts val="1200"/>
              </a:spcAft>
              <a:buNone/>
            </a:pPr>
            <a:r>
              <a:rPr sz="1250" b="0" i="0">
                <a:solidFill>
                  <a:srgbClr val="C9D6EE"/>
                </a:solidFill>
                <a:latin typeface="Roboto"/>
              </a:rPr>
              <a:t>Präsenz, HSRW Kamp-Lintfort</a:t>
            </a:r>
          </a:p>
          <a:p>
            <a:pPr algn="l">
              <a:spcAft>
                <a:spcPts val="400"/>
              </a:spcAft>
              <a:buNone/>
            </a:pPr>
            <a:r>
              <a:rPr sz="1350" b="0" i="0">
                <a:solidFill>
                  <a:srgbClr val="FFFFFF"/>
                </a:solidFill>
                <a:latin typeface="Roboto"/>
              </a:rPr>
              <a:t>Prototyp, Bewertung, Pitch, Canvas</a:t>
            </a:r>
          </a:p>
        </p:txBody>
      </p:sp>
      <p:sp>
        <p:nvSpPr>
          <p:cNvPr id="21" name="Rounded Rectangle 20"/>
          <p:cNvSpPr/>
          <p:nvPr/>
        </p:nvSpPr>
        <p:spPr>
          <a:xfrm>
            <a:off x="10479024" y="2542032"/>
            <a:ext cx="640080" cy="292608"/>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HEUTE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Ablauf heute: 12:00 bis 18:00 Uhr</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ABLAUF</a:t>
            </a:r>
          </a:p>
        </p:txBody>
      </p:sp>
      <p:cxnSp>
        <p:nvCxnSpPr>
          <p:cNvPr id="4" name="Connector 3"/>
          <p:cNvCxnSpPr/>
          <p:nvPr/>
        </p:nvCxnSpPr>
        <p:spPr>
          <a:xfrm>
            <a:off x="1298448" y="3611880"/>
            <a:ext cx="9592056" cy="0"/>
          </a:xfrm>
          <a:prstGeom prst="line">
            <a:avLst/>
          </a:prstGeom>
          <a:ln w="25400">
            <a:solidFill>
              <a:srgbClr val="0E1F5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179576"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12:00</a:t>
            </a:r>
          </a:p>
        </p:txBody>
      </p:sp>
      <p:sp>
        <p:nvSpPr>
          <p:cNvPr id="7" name="TextBox 6"/>
          <p:cNvSpPr txBox="1"/>
          <p:nvPr/>
        </p:nvSpPr>
        <p:spPr>
          <a:xfrm>
            <a:off x="658368"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Begrüßung &amp; Rückblick</a:t>
            </a:r>
          </a:p>
        </p:txBody>
      </p:sp>
      <p:sp>
        <p:nvSpPr>
          <p:cNvPr id="8" name="Oval 7"/>
          <p:cNvSpPr/>
          <p:nvPr/>
        </p:nvSpPr>
        <p:spPr>
          <a:xfrm>
            <a:off x="2051581"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1813"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12:15</a:t>
            </a:r>
          </a:p>
        </p:txBody>
      </p:sp>
      <p:sp>
        <p:nvSpPr>
          <p:cNvPr id="10" name="TextBox 9"/>
          <p:cNvSpPr txBox="1"/>
          <p:nvPr/>
        </p:nvSpPr>
        <p:spPr>
          <a:xfrm>
            <a:off x="1530373"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Status-Runde</a:t>
            </a:r>
          </a:p>
        </p:txBody>
      </p:sp>
      <p:sp>
        <p:nvSpPr>
          <p:cNvPr id="11" name="Oval 10"/>
          <p:cNvSpPr/>
          <p:nvPr/>
        </p:nvSpPr>
        <p:spPr>
          <a:xfrm>
            <a:off x="2923586"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49381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13:00</a:t>
            </a:r>
          </a:p>
        </p:txBody>
      </p:sp>
      <p:sp>
        <p:nvSpPr>
          <p:cNvPr id="13" name="TextBox 12"/>
          <p:cNvSpPr txBox="1"/>
          <p:nvPr/>
        </p:nvSpPr>
        <p:spPr>
          <a:xfrm>
            <a:off x="2402378"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Input Prototyping</a:t>
            </a:r>
          </a:p>
        </p:txBody>
      </p:sp>
      <p:sp>
        <p:nvSpPr>
          <p:cNvPr id="14" name="Oval 13"/>
          <p:cNvSpPr/>
          <p:nvPr/>
        </p:nvSpPr>
        <p:spPr>
          <a:xfrm>
            <a:off x="3795591"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365823"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13:30</a:t>
            </a:r>
          </a:p>
        </p:txBody>
      </p:sp>
      <p:sp>
        <p:nvSpPr>
          <p:cNvPr id="16" name="TextBox 15"/>
          <p:cNvSpPr txBox="1"/>
          <p:nvPr/>
        </p:nvSpPr>
        <p:spPr>
          <a:xfrm>
            <a:off x="3274383"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Prototyp-Werkstatt</a:t>
            </a:r>
          </a:p>
        </p:txBody>
      </p:sp>
      <p:sp>
        <p:nvSpPr>
          <p:cNvPr id="17" name="Oval 16"/>
          <p:cNvSpPr/>
          <p:nvPr/>
        </p:nvSpPr>
        <p:spPr>
          <a:xfrm>
            <a:off x="4667596" y="3493008"/>
            <a:ext cx="237744" cy="237744"/>
          </a:xfrm>
          <a:prstGeom prst="ellipse">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23782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14:30</a:t>
            </a:r>
          </a:p>
        </p:txBody>
      </p:sp>
      <p:sp>
        <p:nvSpPr>
          <p:cNvPr id="19" name="TextBox 18"/>
          <p:cNvSpPr txBox="1"/>
          <p:nvPr/>
        </p:nvSpPr>
        <p:spPr>
          <a:xfrm>
            <a:off x="4146388"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Pause</a:t>
            </a:r>
          </a:p>
        </p:txBody>
      </p:sp>
      <p:sp>
        <p:nvSpPr>
          <p:cNvPr id="20" name="Oval 19"/>
          <p:cNvSpPr/>
          <p:nvPr/>
        </p:nvSpPr>
        <p:spPr>
          <a:xfrm>
            <a:off x="5539601"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109833"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14:45</a:t>
            </a:r>
          </a:p>
        </p:txBody>
      </p:sp>
      <p:sp>
        <p:nvSpPr>
          <p:cNvPr id="22" name="TextBox 21"/>
          <p:cNvSpPr txBox="1"/>
          <p:nvPr/>
        </p:nvSpPr>
        <p:spPr>
          <a:xfrm>
            <a:off x="5018393"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6 Dimensionen</a:t>
            </a:r>
          </a:p>
        </p:txBody>
      </p:sp>
      <p:sp>
        <p:nvSpPr>
          <p:cNvPr id="23" name="Oval 22"/>
          <p:cNvSpPr/>
          <p:nvPr/>
        </p:nvSpPr>
        <p:spPr>
          <a:xfrm>
            <a:off x="6411606"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98183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15:15</a:t>
            </a:r>
          </a:p>
        </p:txBody>
      </p:sp>
      <p:sp>
        <p:nvSpPr>
          <p:cNvPr id="25" name="TextBox 24"/>
          <p:cNvSpPr txBox="1"/>
          <p:nvPr/>
        </p:nvSpPr>
        <p:spPr>
          <a:xfrm>
            <a:off x="5890398"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Pitch-Vorbereitung</a:t>
            </a:r>
          </a:p>
        </p:txBody>
      </p:sp>
      <p:sp>
        <p:nvSpPr>
          <p:cNvPr id="26" name="Oval 25"/>
          <p:cNvSpPr/>
          <p:nvPr/>
        </p:nvSpPr>
        <p:spPr>
          <a:xfrm>
            <a:off x="7283611"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853843"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15:35</a:t>
            </a:r>
          </a:p>
        </p:txBody>
      </p:sp>
      <p:sp>
        <p:nvSpPr>
          <p:cNvPr id="28" name="TextBox 27"/>
          <p:cNvSpPr txBox="1"/>
          <p:nvPr/>
        </p:nvSpPr>
        <p:spPr>
          <a:xfrm>
            <a:off x="6762403"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Pitches &amp; Feedback</a:t>
            </a:r>
          </a:p>
        </p:txBody>
      </p:sp>
      <p:sp>
        <p:nvSpPr>
          <p:cNvPr id="29" name="Oval 28"/>
          <p:cNvSpPr/>
          <p:nvPr/>
        </p:nvSpPr>
        <p:spPr>
          <a:xfrm>
            <a:off x="8155616" y="3493008"/>
            <a:ext cx="237744" cy="237744"/>
          </a:xfrm>
          <a:prstGeom prst="ellipse">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2584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16:20</a:t>
            </a:r>
          </a:p>
        </p:txBody>
      </p:sp>
      <p:sp>
        <p:nvSpPr>
          <p:cNvPr id="31" name="TextBox 30"/>
          <p:cNvSpPr txBox="1"/>
          <p:nvPr/>
        </p:nvSpPr>
        <p:spPr>
          <a:xfrm>
            <a:off x="7634408"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Pause</a:t>
            </a:r>
          </a:p>
        </p:txBody>
      </p:sp>
      <p:sp>
        <p:nvSpPr>
          <p:cNvPr id="32" name="Oval 31"/>
          <p:cNvSpPr/>
          <p:nvPr/>
        </p:nvSpPr>
        <p:spPr>
          <a:xfrm>
            <a:off x="9027621"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597853"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16:30</a:t>
            </a:r>
          </a:p>
        </p:txBody>
      </p:sp>
      <p:sp>
        <p:nvSpPr>
          <p:cNvPr id="34" name="TextBox 33"/>
          <p:cNvSpPr txBox="1"/>
          <p:nvPr/>
        </p:nvSpPr>
        <p:spPr>
          <a:xfrm>
            <a:off x="8506413"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Testen &amp; Iterieren</a:t>
            </a:r>
          </a:p>
        </p:txBody>
      </p:sp>
      <p:sp>
        <p:nvSpPr>
          <p:cNvPr id="35" name="Oval 34"/>
          <p:cNvSpPr/>
          <p:nvPr/>
        </p:nvSpPr>
        <p:spPr>
          <a:xfrm>
            <a:off x="9899626" y="3493008"/>
            <a:ext cx="237744" cy="23774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469858" y="306324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17:10</a:t>
            </a:r>
          </a:p>
        </p:txBody>
      </p:sp>
      <p:sp>
        <p:nvSpPr>
          <p:cNvPr id="37" name="TextBox 36"/>
          <p:cNvSpPr txBox="1"/>
          <p:nvPr/>
        </p:nvSpPr>
        <p:spPr>
          <a:xfrm>
            <a:off x="9378418" y="2148840"/>
            <a:ext cx="1280160" cy="868680"/>
          </a:xfrm>
          <a:prstGeom prst="rect">
            <a:avLst/>
          </a:prstGeom>
          <a:noFill/>
        </p:spPr>
        <p:txBody>
          <a:bodyPr wrap="square" lIns="0" rIns="0" tIns="0" bIns="0" anchor="b"/>
          <a:lstStyle/>
          <a:p>
            <a:pPr algn="ctr">
              <a:spcAft>
                <a:spcPts val="400"/>
              </a:spcAft>
              <a:buNone/>
            </a:pPr>
            <a:r>
              <a:rPr sz="1200" b="0" i="0">
                <a:solidFill>
                  <a:srgbClr val="0E1F53"/>
                </a:solidFill>
                <a:latin typeface="Roboto"/>
              </a:rPr>
              <a:t>Canvas &amp; Transfer</a:t>
            </a:r>
          </a:p>
        </p:txBody>
      </p:sp>
      <p:sp>
        <p:nvSpPr>
          <p:cNvPr id="38" name="Oval 37"/>
          <p:cNvSpPr/>
          <p:nvPr/>
        </p:nvSpPr>
        <p:spPr>
          <a:xfrm>
            <a:off x="10771632" y="3493008"/>
            <a:ext cx="237744" cy="237744"/>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341864" y="3840480"/>
            <a:ext cx="1097280" cy="320040"/>
          </a:xfrm>
          <a:prstGeom prst="rect">
            <a:avLst/>
          </a:prstGeom>
          <a:noFill/>
        </p:spPr>
        <p:txBody>
          <a:bodyPr wrap="square" lIns="0" rIns="0" tIns="0" bIns="0" anchor="t"/>
          <a:lstStyle/>
          <a:p>
            <a:pPr algn="ctr">
              <a:spcAft>
                <a:spcPts val="400"/>
              </a:spcAft>
              <a:buNone/>
            </a:pPr>
            <a:r>
              <a:rPr sz="1400" b="1" i="0">
                <a:solidFill>
                  <a:srgbClr val="0E1F53"/>
                </a:solidFill>
                <a:latin typeface="Roboto"/>
              </a:rPr>
              <a:t>17:50</a:t>
            </a:r>
          </a:p>
        </p:txBody>
      </p:sp>
      <p:sp>
        <p:nvSpPr>
          <p:cNvPr id="40" name="TextBox 39"/>
          <p:cNvSpPr txBox="1"/>
          <p:nvPr/>
        </p:nvSpPr>
        <p:spPr>
          <a:xfrm>
            <a:off x="10250424" y="4206240"/>
            <a:ext cx="1280160" cy="868680"/>
          </a:xfrm>
          <a:prstGeom prst="rect">
            <a:avLst/>
          </a:prstGeom>
          <a:noFill/>
        </p:spPr>
        <p:txBody>
          <a:bodyPr wrap="square" lIns="0" rIns="0" tIns="0" bIns="0" anchor="t"/>
          <a:lstStyle/>
          <a:p>
            <a:pPr algn="ctr">
              <a:spcAft>
                <a:spcPts val="400"/>
              </a:spcAft>
              <a:buNone/>
            </a:pPr>
            <a:r>
              <a:rPr sz="1200" b="0" i="0">
                <a:solidFill>
                  <a:srgbClr val="0E1F53"/>
                </a:solidFill>
                <a:latin typeface="Roboto"/>
              </a:rPr>
              <a:t>Abschluss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Was Sie mitnehmen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ZIELE</a:t>
            </a:r>
          </a:p>
        </p:txBody>
      </p:sp>
      <p:sp>
        <p:nvSpPr>
          <p:cNvPr id="4" name="Rounded Rectangle 3"/>
          <p:cNvSpPr/>
          <p:nvPr/>
        </p:nvSpPr>
        <p:spPr>
          <a:xfrm>
            <a:off x="841248" y="2011680"/>
            <a:ext cx="3319272"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PencilRuler_w.png"/>
          <p:cNvPicPr>
            <a:picLocks noChangeAspect="1"/>
          </p:cNvPicPr>
          <p:nvPr/>
        </p:nvPicPr>
        <p:blipFill>
          <a:blip r:embed="rId3"/>
          <a:stretch>
            <a:fillRect/>
          </a:stretch>
        </p:blipFill>
        <p:spPr>
          <a:xfrm>
            <a:off x="1201521" y="2344521"/>
            <a:ext cx="285292" cy="285292"/>
          </a:xfrm>
          <a:prstGeom prst="rect">
            <a:avLst/>
          </a:prstGeom>
        </p:spPr>
      </p:pic>
      <p:sp>
        <p:nvSpPr>
          <p:cNvPr id="7" name="TextBox 6"/>
          <p:cNvSpPr txBox="1"/>
          <p:nvPr/>
        </p:nvSpPr>
        <p:spPr>
          <a:xfrm>
            <a:off x="1755648" y="2212848"/>
            <a:ext cx="2221992" cy="548640"/>
          </a:xfrm>
          <a:prstGeom prst="rect">
            <a:avLst/>
          </a:prstGeom>
          <a:noFill/>
        </p:spPr>
        <p:txBody>
          <a:bodyPr wrap="square" lIns="0" rIns="0" tIns="0" bIns="0" anchor="ctr"/>
          <a:lstStyle/>
          <a:p>
            <a:pPr algn="l">
              <a:spcAft>
                <a:spcPts val="400"/>
              </a:spcAft>
              <a:buNone/>
            </a:pPr>
            <a:r>
              <a:rPr sz="1600" b="1" i="0">
                <a:solidFill>
                  <a:srgbClr val="0E1F53"/>
                </a:solidFill>
                <a:latin typeface="Roboto"/>
              </a:rPr>
              <a:t>Prototyp bauen</a:t>
            </a:r>
          </a:p>
        </p:txBody>
      </p:sp>
      <p:sp>
        <p:nvSpPr>
          <p:cNvPr id="8" name="TextBox 7"/>
          <p:cNvSpPr txBox="1"/>
          <p:nvPr/>
        </p:nvSpPr>
        <p:spPr>
          <a:xfrm>
            <a:off x="1069848" y="2880360"/>
            <a:ext cx="2862072" cy="1508760"/>
          </a:xfrm>
          <a:prstGeom prst="rect">
            <a:avLst/>
          </a:prstGeom>
          <a:noFill/>
        </p:spPr>
        <p:txBody>
          <a:bodyPr wrap="square" lIns="0" rIns="0" tIns="0" bIns="0" anchor="t"/>
          <a:lstStyle/>
          <a:p>
            <a:pPr algn="l">
              <a:spcAft>
                <a:spcPts val="400"/>
              </a:spcAft>
              <a:buNone/>
            </a:pPr>
            <a:r>
              <a:rPr sz="1350" b="0" i="0">
                <a:solidFill>
                  <a:srgbClr val="0E1F53"/>
                </a:solidFill>
                <a:latin typeface="Roboto"/>
              </a:rPr>
              <a:t>Ihre Top-Idee greifbar machen, analog oder mit KI.</a:t>
            </a:r>
          </a:p>
        </p:txBody>
      </p:sp>
      <p:sp>
        <p:nvSpPr>
          <p:cNvPr id="9" name="Rounded Rectangle 8"/>
          <p:cNvSpPr/>
          <p:nvPr/>
        </p:nvSpPr>
        <p:spPr>
          <a:xfrm>
            <a:off x="4434840" y="2011680"/>
            <a:ext cx="3319272"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63440" y="2212848"/>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Scale_w.png"/>
          <p:cNvPicPr>
            <a:picLocks noChangeAspect="1"/>
          </p:cNvPicPr>
          <p:nvPr/>
        </p:nvPicPr>
        <p:blipFill>
          <a:blip r:embed="rId4"/>
          <a:stretch>
            <a:fillRect/>
          </a:stretch>
        </p:blipFill>
        <p:spPr>
          <a:xfrm>
            <a:off x="4795113" y="2344521"/>
            <a:ext cx="285292" cy="285292"/>
          </a:xfrm>
          <a:prstGeom prst="rect">
            <a:avLst/>
          </a:prstGeom>
        </p:spPr>
      </p:pic>
      <p:sp>
        <p:nvSpPr>
          <p:cNvPr id="12" name="TextBox 11"/>
          <p:cNvSpPr txBox="1"/>
          <p:nvPr/>
        </p:nvSpPr>
        <p:spPr>
          <a:xfrm>
            <a:off x="5349240" y="2212848"/>
            <a:ext cx="2221992" cy="548640"/>
          </a:xfrm>
          <a:prstGeom prst="rect">
            <a:avLst/>
          </a:prstGeom>
          <a:noFill/>
        </p:spPr>
        <p:txBody>
          <a:bodyPr wrap="square" lIns="0" rIns="0" tIns="0" bIns="0" anchor="ctr"/>
          <a:lstStyle/>
          <a:p>
            <a:pPr algn="l">
              <a:spcAft>
                <a:spcPts val="400"/>
              </a:spcAft>
              <a:buNone/>
            </a:pPr>
            <a:r>
              <a:rPr sz="1600" b="1" i="0">
                <a:solidFill>
                  <a:srgbClr val="0E1F53"/>
                </a:solidFill>
                <a:latin typeface="Roboto"/>
              </a:rPr>
              <a:t>KI-Ansatz prüfen</a:t>
            </a:r>
          </a:p>
        </p:txBody>
      </p:sp>
      <p:sp>
        <p:nvSpPr>
          <p:cNvPr id="13" name="TextBox 12"/>
          <p:cNvSpPr txBox="1"/>
          <p:nvPr/>
        </p:nvSpPr>
        <p:spPr>
          <a:xfrm>
            <a:off x="4663440" y="2880360"/>
            <a:ext cx="2862072" cy="1508760"/>
          </a:xfrm>
          <a:prstGeom prst="rect">
            <a:avLst/>
          </a:prstGeom>
          <a:noFill/>
        </p:spPr>
        <p:txBody>
          <a:bodyPr wrap="square" lIns="0" rIns="0" tIns="0" bIns="0" anchor="t"/>
          <a:lstStyle/>
          <a:p>
            <a:pPr algn="l">
              <a:spcAft>
                <a:spcPts val="400"/>
              </a:spcAft>
              <a:buNone/>
            </a:pPr>
            <a:r>
              <a:rPr sz="1350" b="0" i="0">
                <a:solidFill>
                  <a:srgbClr val="0E1F53"/>
                </a:solidFill>
                <a:latin typeface="Roboto"/>
              </a:rPr>
              <a:t>Den eigenen Ansatz in sechs Dimensionen bewerten.</a:t>
            </a:r>
          </a:p>
        </p:txBody>
      </p:sp>
      <p:sp>
        <p:nvSpPr>
          <p:cNvPr id="14" name="Rounded Rectangle 13"/>
          <p:cNvSpPr/>
          <p:nvPr/>
        </p:nvSpPr>
        <p:spPr>
          <a:xfrm>
            <a:off x="8028432" y="2011680"/>
            <a:ext cx="3319272" cy="2468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57032" y="2212848"/>
            <a:ext cx="548640" cy="54864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Rocket_w.png"/>
          <p:cNvPicPr>
            <a:picLocks noChangeAspect="1"/>
          </p:cNvPicPr>
          <p:nvPr/>
        </p:nvPicPr>
        <p:blipFill>
          <a:blip r:embed="rId5"/>
          <a:stretch>
            <a:fillRect/>
          </a:stretch>
        </p:blipFill>
        <p:spPr>
          <a:xfrm>
            <a:off x="8388705" y="2344521"/>
            <a:ext cx="285292" cy="285292"/>
          </a:xfrm>
          <a:prstGeom prst="rect">
            <a:avLst/>
          </a:prstGeom>
        </p:spPr>
      </p:pic>
      <p:sp>
        <p:nvSpPr>
          <p:cNvPr id="17" name="TextBox 16"/>
          <p:cNvSpPr txBox="1"/>
          <p:nvPr/>
        </p:nvSpPr>
        <p:spPr>
          <a:xfrm>
            <a:off x="8942832" y="2212848"/>
            <a:ext cx="2221992" cy="548640"/>
          </a:xfrm>
          <a:prstGeom prst="rect">
            <a:avLst/>
          </a:prstGeom>
          <a:noFill/>
        </p:spPr>
        <p:txBody>
          <a:bodyPr wrap="square" lIns="0" rIns="0" tIns="0" bIns="0" anchor="ctr"/>
          <a:lstStyle/>
          <a:p>
            <a:pPr algn="l">
              <a:spcAft>
                <a:spcPts val="400"/>
              </a:spcAft>
              <a:buNone/>
            </a:pPr>
            <a:r>
              <a:rPr sz="1600" b="1" i="0">
                <a:solidFill>
                  <a:srgbClr val="0E1F53"/>
                </a:solidFill>
                <a:latin typeface="Roboto"/>
              </a:rPr>
              <a:t>Testen &amp; iterieren</a:t>
            </a:r>
          </a:p>
        </p:txBody>
      </p:sp>
      <p:sp>
        <p:nvSpPr>
          <p:cNvPr id="18" name="TextBox 17"/>
          <p:cNvSpPr txBox="1"/>
          <p:nvPr/>
        </p:nvSpPr>
        <p:spPr>
          <a:xfrm>
            <a:off x="8257032" y="2880360"/>
            <a:ext cx="2862072" cy="1508760"/>
          </a:xfrm>
          <a:prstGeom prst="rect">
            <a:avLst/>
          </a:prstGeom>
          <a:noFill/>
        </p:spPr>
        <p:txBody>
          <a:bodyPr wrap="square" lIns="0" rIns="0" tIns="0" bIns="0" anchor="t"/>
          <a:lstStyle/>
          <a:p>
            <a:pPr algn="l">
              <a:spcAft>
                <a:spcPts val="400"/>
              </a:spcAft>
              <a:buNone/>
            </a:pPr>
            <a:r>
              <a:rPr sz="1350" b="0" i="0">
                <a:solidFill>
                  <a:srgbClr val="0E1F53"/>
                </a:solidFill>
                <a:latin typeface="Roboto"/>
              </a:rPr>
              <a:t>Mit Pitch-Feedback, Testplan und Canvas in die Umsetzung gehen.</a:t>
            </a:r>
          </a:p>
        </p:txBody>
      </p:sp>
      <p:sp>
        <p:nvSpPr>
          <p:cNvPr id="19" name="Rounded Rectangle 18"/>
          <p:cNvSpPr/>
          <p:nvPr/>
        </p:nvSpPr>
        <p:spPr>
          <a:xfrm>
            <a:off x="841248" y="4800600"/>
            <a:ext cx="10506456" cy="118872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Target_w.png"/>
          <p:cNvPicPr>
            <a:picLocks noChangeAspect="1"/>
          </p:cNvPicPr>
          <p:nvPr/>
        </p:nvPicPr>
        <p:blipFill>
          <a:blip r:embed="rId6"/>
          <a:stretch>
            <a:fillRect/>
          </a:stretch>
        </p:blipFill>
        <p:spPr>
          <a:xfrm>
            <a:off x="1115568" y="5120640"/>
            <a:ext cx="548640" cy="548640"/>
          </a:xfrm>
          <a:prstGeom prst="rect">
            <a:avLst/>
          </a:prstGeom>
        </p:spPr>
      </p:pic>
      <p:sp>
        <p:nvSpPr>
          <p:cNvPr id="21" name="TextBox 20"/>
          <p:cNvSpPr txBox="1"/>
          <p:nvPr/>
        </p:nvSpPr>
        <p:spPr>
          <a:xfrm>
            <a:off x="1892807" y="4800600"/>
            <a:ext cx="9180576" cy="1188720"/>
          </a:xfrm>
          <a:prstGeom prst="rect">
            <a:avLst/>
          </a:prstGeom>
          <a:noFill/>
        </p:spPr>
        <p:txBody>
          <a:bodyPr wrap="square" lIns="0" rIns="0" tIns="0" bIns="0" anchor="ctr"/>
          <a:lstStyle/>
          <a:p>
            <a:pPr algn="l">
              <a:spcAft>
                <a:spcPts val="400"/>
              </a:spcAft>
              <a:buNone/>
            </a:pPr>
            <a:r>
              <a:rPr sz="1600" b="1" i="0">
                <a:solidFill>
                  <a:srgbClr val="FFFFFF"/>
                </a:solidFill>
                <a:latin typeface="Roboto"/>
              </a:rPr>
              <a:t>Heute Abend gehen Sie mit Prototyp, Testplan und Innovation Canvas nach Hause.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Rückblick</a:t>
            </a:r>
          </a:p>
        </p:txBody>
      </p:sp>
      <p:sp>
        <p:nvSpPr>
          <p:cNvPr id="3" name="Text Placeholder 2"/>
          <p:cNvSpPr>
            <a:spLocks noGrp="1"/>
          </p:cNvSpPr>
          <p:nvPr>
            <p:ph type="body" idx="11" sz="quarter"/>
          </p:nvPr>
        </p:nvSpPr>
        <p:spPr/>
        <p:txBody>
          <a:bodyPr/>
          <a:lstStyle/>
          <a:p>
            <a:r>
              <a:rPr b="0" sz="2000"/>
              <a:t>Wo wir stehen und was Sie in den letzten Wochen erlebt haben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Unser Prozess: Design Thinking in fünf Phasen</a:t>
            </a:r>
          </a:p>
        </p:txBody>
      </p:sp>
      <p:sp>
        <p:nvSpPr>
          <p:cNvPr id="3" name="Rounded Rectangle 2"/>
          <p:cNvSpPr/>
          <p:nvPr/>
        </p:nvSpPr>
        <p:spPr>
          <a:xfrm>
            <a:off x="841248" y="850392"/>
            <a:ext cx="103144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SCHAUBILD</a:t>
            </a:r>
          </a:p>
        </p:txBody>
      </p:sp>
      <p:sp>
        <p:nvSpPr>
          <p:cNvPr id="4" name="Rounded Rectangle 3"/>
          <p:cNvSpPr/>
          <p:nvPr/>
        </p:nvSpPr>
        <p:spPr>
          <a:xfrm>
            <a:off x="841248" y="1938528"/>
            <a:ext cx="4092854" cy="329184"/>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8" y="1938528"/>
            <a:ext cx="4092854" cy="329184"/>
          </a:xfrm>
          <a:prstGeom prst="rect">
            <a:avLst/>
          </a:prstGeom>
          <a:noFill/>
        </p:spPr>
        <p:txBody>
          <a:bodyPr wrap="square" lIns="0" rIns="0" tIns="0" bIns="0" anchor="ctr"/>
          <a:lstStyle/>
          <a:p>
            <a:pPr algn="ctr">
              <a:spcAft>
                <a:spcPts val="400"/>
              </a:spcAft>
              <a:buNone/>
            </a:pPr>
            <a:r>
              <a:rPr sz="1100" b="1" i="0">
                <a:solidFill>
                  <a:srgbClr val="FFFFFF"/>
                </a:solidFill>
                <a:latin typeface="Roboto"/>
              </a:rPr>
              <a:t>PROBLEMRAUM</a:t>
            </a:r>
          </a:p>
        </p:txBody>
      </p:sp>
      <p:sp>
        <p:nvSpPr>
          <p:cNvPr id="6" name="Rounded Rectangle 5"/>
          <p:cNvSpPr/>
          <p:nvPr/>
        </p:nvSpPr>
        <p:spPr>
          <a:xfrm>
            <a:off x="5116982" y="1938528"/>
            <a:ext cx="6230721" cy="329184"/>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16982" y="1938528"/>
            <a:ext cx="6230721" cy="329184"/>
          </a:xfrm>
          <a:prstGeom prst="rect">
            <a:avLst/>
          </a:prstGeom>
          <a:noFill/>
        </p:spPr>
        <p:txBody>
          <a:bodyPr wrap="square" lIns="0" rIns="0" tIns="0" bIns="0" anchor="ctr"/>
          <a:lstStyle/>
          <a:p>
            <a:pPr algn="ctr">
              <a:spcAft>
                <a:spcPts val="400"/>
              </a:spcAft>
              <a:buNone/>
            </a:pPr>
            <a:r>
              <a:rPr sz="1100" b="1" i="0">
                <a:solidFill>
                  <a:srgbClr val="FFFFFF"/>
                </a:solidFill>
                <a:latin typeface="Roboto"/>
              </a:rPr>
              <a:t>LÖSUNGSRAUM</a:t>
            </a:r>
          </a:p>
        </p:txBody>
      </p:sp>
      <p:sp>
        <p:nvSpPr>
          <p:cNvPr id="8" name="Rounded Rectangle 7"/>
          <p:cNvSpPr/>
          <p:nvPr/>
        </p:nvSpPr>
        <p:spPr>
          <a:xfrm>
            <a:off x="841248"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24128" y="2542032"/>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uEye_w.png"/>
          <p:cNvPicPr>
            <a:picLocks noChangeAspect="1"/>
          </p:cNvPicPr>
          <p:nvPr/>
        </p:nvPicPr>
        <p:blipFill>
          <a:blip r:embed="rId3"/>
          <a:stretch>
            <a:fillRect/>
          </a:stretch>
        </p:blipFill>
        <p:spPr>
          <a:xfrm>
            <a:off x="1160190" y="2678094"/>
            <a:ext cx="294802" cy="294802"/>
          </a:xfrm>
          <a:prstGeom prst="rect">
            <a:avLst/>
          </a:prstGeom>
        </p:spPr>
      </p:pic>
      <p:sp>
        <p:nvSpPr>
          <p:cNvPr id="11" name="TextBox 10"/>
          <p:cNvSpPr txBox="1"/>
          <p:nvPr/>
        </p:nvSpPr>
        <p:spPr>
          <a:xfrm>
            <a:off x="1709928" y="2542032"/>
            <a:ext cx="994867" cy="566928"/>
          </a:xfrm>
          <a:prstGeom prst="rect">
            <a:avLst/>
          </a:prstGeom>
          <a:noFill/>
        </p:spPr>
        <p:txBody>
          <a:bodyPr wrap="square" lIns="0" rIns="0" tIns="0" bIns="0" anchor="ctr"/>
          <a:lstStyle/>
          <a:p>
            <a:pPr algn="l">
              <a:spcAft>
                <a:spcPts val="400"/>
              </a:spcAft>
              <a:buNone/>
            </a:pPr>
            <a:r>
              <a:rPr sz="2200" b="1" i="0">
                <a:solidFill>
                  <a:srgbClr val="0E1F53"/>
                </a:solidFill>
                <a:latin typeface="Roboto"/>
              </a:rPr>
              <a:t>1</a:t>
            </a:r>
          </a:p>
        </p:txBody>
      </p:sp>
      <p:sp>
        <p:nvSpPr>
          <p:cNvPr id="12" name="TextBox 11"/>
          <p:cNvSpPr txBox="1"/>
          <p:nvPr/>
        </p:nvSpPr>
        <p:spPr>
          <a:xfrm>
            <a:off x="1024128"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Empathie</a:t>
            </a:r>
          </a:p>
          <a:p>
            <a:pPr algn="l">
              <a:spcAft>
                <a:spcPts val="0"/>
              </a:spcAft>
              <a:buNone/>
            </a:pPr>
            <a:r>
              <a:rPr sz="1150" b="0" i="0">
                <a:solidFill>
                  <a:srgbClr val="5A6684"/>
                </a:solidFill>
                <a:latin typeface="Roboto"/>
              </a:rPr>
              <a:t>Verstehen · Beobachten</a:t>
            </a:r>
          </a:p>
        </p:txBody>
      </p:sp>
      <p:sp>
        <p:nvSpPr>
          <p:cNvPr id="13" name="Right Arrow 12"/>
          <p:cNvSpPr/>
          <p:nvPr/>
        </p:nvSpPr>
        <p:spPr>
          <a:xfrm>
            <a:off x="2787091"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ounded Rectangle 13"/>
          <p:cNvSpPr/>
          <p:nvPr/>
        </p:nvSpPr>
        <p:spPr>
          <a:xfrm>
            <a:off x="2979115"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161995" y="2542032"/>
            <a:ext cx="566928" cy="56692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Target_w.png"/>
          <p:cNvPicPr>
            <a:picLocks noChangeAspect="1"/>
          </p:cNvPicPr>
          <p:nvPr/>
        </p:nvPicPr>
        <p:blipFill>
          <a:blip r:embed="rId4"/>
          <a:stretch>
            <a:fillRect/>
          </a:stretch>
        </p:blipFill>
        <p:spPr>
          <a:xfrm>
            <a:off x="3298057" y="2678094"/>
            <a:ext cx="294802" cy="294802"/>
          </a:xfrm>
          <a:prstGeom prst="rect">
            <a:avLst/>
          </a:prstGeom>
        </p:spPr>
      </p:pic>
      <p:sp>
        <p:nvSpPr>
          <p:cNvPr id="17" name="TextBox 16"/>
          <p:cNvSpPr txBox="1"/>
          <p:nvPr/>
        </p:nvSpPr>
        <p:spPr>
          <a:xfrm>
            <a:off x="3847795" y="2542032"/>
            <a:ext cx="994867" cy="566928"/>
          </a:xfrm>
          <a:prstGeom prst="rect">
            <a:avLst/>
          </a:prstGeom>
          <a:noFill/>
        </p:spPr>
        <p:txBody>
          <a:bodyPr wrap="square" lIns="0" rIns="0" tIns="0" bIns="0" anchor="ctr"/>
          <a:lstStyle/>
          <a:p>
            <a:pPr algn="l">
              <a:spcAft>
                <a:spcPts val="400"/>
              </a:spcAft>
              <a:buNone/>
            </a:pPr>
            <a:r>
              <a:rPr sz="2200" b="1" i="0">
                <a:solidFill>
                  <a:srgbClr val="0E1F53"/>
                </a:solidFill>
                <a:latin typeface="Roboto"/>
              </a:rPr>
              <a:t>2</a:t>
            </a:r>
          </a:p>
        </p:txBody>
      </p:sp>
      <p:sp>
        <p:nvSpPr>
          <p:cNvPr id="18" name="TextBox 17"/>
          <p:cNvSpPr txBox="1"/>
          <p:nvPr/>
        </p:nvSpPr>
        <p:spPr>
          <a:xfrm>
            <a:off x="3161995"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Definieren</a:t>
            </a:r>
          </a:p>
          <a:p>
            <a:pPr algn="l">
              <a:spcAft>
                <a:spcPts val="0"/>
              </a:spcAft>
              <a:buNone/>
            </a:pPr>
            <a:r>
              <a:rPr sz="1150" b="0" i="0">
                <a:solidFill>
                  <a:srgbClr val="5A6684"/>
                </a:solidFill>
                <a:latin typeface="Roboto"/>
              </a:rPr>
              <a:t>Erkenntnisse zu einer Sichtweise verdichten</a:t>
            </a:r>
          </a:p>
        </p:txBody>
      </p:sp>
      <p:sp>
        <p:nvSpPr>
          <p:cNvPr id="19" name="Right Arrow 18"/>
          <p:cNvSpPr/>
          <p:nvPr/>
        </p:nvSpPr>
        <p:spPr>
          <a:xfrm>
            <a:off x="4924958"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5116982"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299862"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Lightbulb_w.png"/>
          <p:cNvPicPr>
            <a:picLocks noChangeAspect="1"/>
          </p:cNvPicPr>
          <p:nvPr/>
        </p:nvPicPr>
        <p:blipFill>
          <a:blip r:embed="rId5"/>
          <a:stretch>
            <a:fillRect/>
          </a:stretch>
        </p:blipFill>
        <p:spPr>
          <a:xfrm>
            <a:off x="5435925" y="2678094"/>
            <a:ext cx="294802" cy="294802"/>
          </a:xfrm>
          <a:prstGeom prst="rect">
            <a:avLst/>
          </a:prstGeom>
        </p:spPr>
      </p:pic>
      <p:sp>
        <p:nvSpPr>
          <p:cNvPr id="23" name="TextBox 22"/>
          <p:cNvSpPr txBox="1"/>
          <p:nvPr/>
        </p:nvSpPr>
        <p:spPr>
          <a:xfrm>
            <a:off x="5985662"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3</a:t>
            </a:r>
          </a:p>
        </p:txBody>
      </p:sp>
      <p:sp>
        <p:nvSpPr>
          <p:cNvPr id="24" name="TextBox 23"/>
          <p:cNvSpPr txBox="1"/>
          <p:nvPr/>
        </p:nvSpPr>
        <p:spPr>
          <a:xfrm>
            <a:off x="5299862"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Ideen finden</a:t>
            </a:r>
          </a:p>
          <a:p>
            <a:pPr algn="l">
              <a:spcAft>
                <a:spcPts val="0"/>
              </a:spcAft>
              <a:buNone/>
            </a:pPr>
            <a:r>
              <a:rPr sz="1150" b="0" i="0">
                <a:solidFill>
                  <a:srgbClr val="5A6684"/>
                </a:solidFill>
                <a:latin typeface="Roboto"/>
              </a:rPr>
              <a:t>Viele Lösungsideen entwickeln</a:t>
            </a:r>
          </a:p>
        </p:txBody>
      </p:sp>
      <p:sp>
        <p:nvSpPr>
          <p:cNvPr id="25" name="Right Arrow 24"/>
          <p:cNvSpPr/>
          <p:nvPr/>
        </p:nvSpPr>
        <p:spPr>
          <a:xfrm>
            <a:off x="7062825"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7254849"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37729"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uPencilRuler_w.png"/>
          <p:cNvPicPr>
            <a:picLocks noChangeAspect="1"/>
          </p:cNvPicPr>
          <p:nvPr/>
        </p:nvPicPr>
        <p:blipFill>
          <a:blip r:embed="rId6"/>
          <a:stretch>
            <a:fillRect/>
          </a:stretch>
        </p:blipFill>
        <p:spPr>
          <a:xfrm>
            <a:off x="7573792" y="2678094"/>
            <a:ext cx="294802" cy="294802"/>
          </a:xfrm>
          <a:prstGeom prst="rect">
            <a:avLst/>
          </a:prstGeom>
        </p:spPr>
      </p:pic>
      <p:sp>
        <p:nvSpPr>
          <p:cNvPr id="29" name="TextBox 28"/>
          <p:cNvSpPr txBox="1"/>
          <p:nvPr/>
        </p:nvSpPr>
        <p:spPr>
          <a:xfrm>
            <a:off x="8123529"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4</a:t>
            </a:r>
          </a:p>
        </p:txBody>
      </p:sp>
      <p:sp>
        <p:nvSpPr>
          <p:cNvPr id="30" name="TextBox 29"/>
          <p:cNvSpPr txBox="1"/>
          <p:nvPr/>
        </p:nvSpPr>
        <p:spPr>
          <a:xfrm>
            <a:off x="7437729"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Prototypen</a:t>
            </a:r>
          </a:p>
          <a:p>
            <a:pPr algn="l">
              <a:spcAft>
                <a:spcPts val="0"/>
              </a:spcAft>
              <a:buNone/>
            </a:pPr>
            <a:r>
              <a:rPr sz="1150" b="0" i="0">
                <a:solidFill>
                  <a:srgbClr val="5A6684"/>
                </a:solidFill>
                <a:latin typeface="Roboto"/>
              </a:rPr>
              <a:t>Ideen schnell greifbar machen</a:t>
            </a:r>
          </a:p>
        </p:txBody>
      </p:sp>
      <p:sp>
        <p:nvSpPr>
          <p:cNvPr id="31" name="Right Arrow 30"/>
          <p:cNvSpPr/>
          <p:nvPr/>
        </p:nvSpPr>
        <p:spPr>
          <a:xfrm>
            <a:off x="9200692" y="2743200"/>
            <a:ext cx="201168" cy="201168"/>
          </a:xfrm>
          <a:prstGeom prst="rightArrow">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392716" y="2395728"/>
            <a:ext cx="1954987" cy="1737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575596" y="2542032"/>
            <a:ext cx="566928" cy="56692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FlaskConical_w.png"/>
          <p:cNvPicPr>
            <a:picLocks noChangeAspect="1"/>
          </p:cNvPicPr>
          <p:nvPr/>
        </p:nvPicPr>
        <p:blipFill>
          <a:blip r:embed="rId7"/>
          <a:stretch>
            <a:fillRect/>
          </a:stretch>
        </p:blipFill>
        <p:spPr>
          <a:xfrm>
            <a:off x="9711659" y="2678094"/>
            <a:ext cx="294802" cy="294802"/>
          </a:xfrm>
          <a:prstGeom prst="rect">
            <a:avLst/>
          </a:prstGeom>
        </p:spPr>
      </p:pic>
      <p:sp>
        <p:nvSpPr>
          <p:cNvPr id="35" name="TextBox 34"/>
          <p:cNvSpPr txBox="1"/>
          <p:nvPr/>
        </p:nvSpPr>
        <p:spPr>
          <a:xfrm>
            <a:off x="10261396" y="2542032"/>
            <a:ext cx="994867" cy="566928"/>
          </a:xfrm>
          <a:prstGeom prst="rect">
            <a:avLst/>
          </a:prstGeom>
          <a:noFill/>
        </p:spPr>
        <p:txBody>
          <a:bodyPr wrap="square" lIns="0" rIns="0" tIns="0" bIns="0" anchor="ctr"/>
          <a:lstStyle/>
          <a:p>
            <a:pPr algn="l">
              <a:spcAft>
                <a:spcPts val="400"/>
              </a:spcAft>
              <a:buNone/>
            </a:pPr>
            <a:r>
              <a:rPr sz="2200" b="1" i="0">
                <a:solidFill>
                  <a:srgbClr val="FB2762"/>
                </a:solidFill>
                <a:latin typeface="Roboto"/>
              </a:rPr>
              <a:t>5</a:t>
            </a:r>
          </a:p>
        </p:txBody>
      </p:sp>
      <p:sp>
        <p:nvSpPr>
          <p:cNvPr id="36" name="TextBox 35"/>
          <p:cNvSpPr txBox="1"/>
          <p:nvPr/>
        </p:nvSpPr>
        <p:spPr>
          <a:xfrm>
            <a:off x="9575596" y="3200400"/>
            <a:ext cx="1589227" cy="868680"/>
          </a:xfrm>
          <a:prstGeom prst="rect">
            <a:avLst/>
          </a:prstGeom>
          <a:noFill/>
        </p:spPr>
        <p:txBody>
          <a:bodyPr wrap="square" lIns="0" rIns="0" tIns="0" bIns="0" anchor="t"/>
          <a:lstStyle/>
          <a:p>
            <a:pPr algn="l">
              <a:spcAft>
                <a:spcPts val="200"/>
              </a:spcAft>
              <a:buNone/>
            </a:pPr>
            <a:r>
              <a:rPr sz="1550" b="1" i="0">
                <a:solidFill>
                  <a:srgbClr val="0E1F53"/>
                </a:solidFill>
                <a:latin typeface="Roboto"/>
              </a:rPr>
              <a:t>Testen</a:t>
            </a:r>
          </a:p>
          <a:p>
            <a:pPr algn="l">
              <a:spcAft>
                <a:spcPts val="0"/>
              </a:spcAft>
              <a:buNone/>
            </a:pPr>
            <a:r>
              <a:rPr sz="1150" b="0" i="0">
                <a:solidFill>
                  <a:srgbClr val="5A6684"/>
                </a:solidFill>
                <a:latin typeface="Roboto"/>
              </a:rPr>
              <a:t>Mit echten Nutzer:innen prüfen</a:t>
            </a:r>
          </a:p>
        </p:txBody>
      </p:sp>
      <p:cxnSp>
        <p:nvCxnSpPr>
          <p:cNvPr id="37" name="Connector 36"/>
          <p:cNvCxnSpPr/>
          <p:nvPr/>
        </p:nvCxnSpPr>
        <p:spPr>
          <a:xfrm>
            <a:off x="10370210" y="4133087"/>
            <a:ext cx="0" cy="237745"/>
          </a:xfrm>
          <a:prstGeom prst="line">
            <a:avLst/>
          </a:prstGeom>
          <a:ln w="22225">
            <a:solidFill>
              <a:srgbClr val="FB276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818741" y="4370832"/>
            <a:ext cx="8551469" cy="0"/>
          </a:xfrm>
          <a:prstGeom prst="line">
            <a:avLst/>
          </a:prstGeom>
          <a:ln w="22225">
            <a:solidFill>
              <a:srgbClr val="FB276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1818741"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956608"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094476"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8232343" y="4151376"/>
            <a:ext cx="0" cy="219456"/>
          </a:xfrm>
          <a:prstGeom prst="line">
            <a:avLst/>
          </a:prstGeom>
          <a:ln w="15875">
            <a:solidFill>
              <a:srgbClr val="FB2762"/>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157569" y="4242816"/>
            <a:ext cx="2011680" cy="256032"/>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B2762"/>
                </a:solidFill>
                <a:latin typeface="Roboto"/>
              </a:rPr>
              <a:t>Iterieren: zurück in jede Phase</a:t>
            </a:r>
          </a:p>
        </p:txBody>
      </p:sp>
      <p:sp>
        <p:nvSpPr>
          <p:cNvPr id="44" name="Rounded Rectangle 43"/>
          <p:cNvSpPr/>
          <p:nvPr/>
        </p:nvSpPr>
        <p:spPr>
          <a:xfrm>
            <a:off x="841248" y="4736592"/>
            <a:ext cx="6303873" cy="246888"/>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50976" y="4736592"/>
            <a:ext cx="6120993"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03.11.  </a:t>
            </a:r>
            <a:r>
              <a:rPr sz="1050" b="0" i="0">
                <a:solidFill>
                  <a:srgbClr val="FFFFFF"/>
                </a:solidFill>
                <a:latin typeface="Roboto"/>
              </a:rPr>
              <a:t>Workshop Teil 1: Phasen 1–3</a:t>
            </a:r>
          </a:p>
        </p:txBody>
      </p:sp>
      <p:sp>
        <p:nvSpPr>
          <p:cNvPr id="46" name="Rounded Rectangle 45"/>
          <p:cNvSpPr/>
          <p:nvPr/>
        </p:nvSpPr>
        <p:spPr>
          <a:xfrm>
            <a:off x="841248" y="5047488"/>
            <a:ext cx="8405164" cy="246888"/>
          </a:xfrm>
          <a:prstGeom prst="roundRect">
            <a:avLst>
              <a:gd name="adj" fmla="val 50000"/>
            </a:avLst>
          </a:prstGeom>
          <a:solidFill>
            <a:srgbClr val="8FA3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50976" y="5047488"/>
            <a:ext cx="8222284"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bis 20.11.  </a:t>
            </a:r>
            <a:r>
              <a:rPr sz="1050" b="0" i="0">
                <a:solidFill>
                  <a:srgbClr val="FFFFFF"/>
                </a:solidFill>
                <a:latin typeface="Roboto"/>
              </a:rPr>
              <a:t>Remote: Interviews, Methoden, Prototyp ausprobieren</a:t>
            </a:r>
          </a:p>
        </p:txBody>
      </p:sp>
      <p:sp>
        <p:nvSpPr>
          <p:cNvPr id="48" name="Rounded Rectangle 47"/>
          <p:cNvSpPr/>
          <p:nvPr/>
        </p:nvSpPr>
        <p:spPr>
          <a:xfrm>
            <a:off x="7145121" y="5358383"/>
            <a:ext cx="4202582" cy="246888"/>
          </a:xfrm>
          <a:prstGeom prst="roundRect">
            <a:avLst>
              <a:gd name="adj" fmla="val 50000"/>
            </a:avLst>
          </a:prstGeom>
          <a:solidFill>
            <a:srgbClr val="FB2762"/>
          </a:solidFill>
          <a:ln w="25400">
            <a:solidFill>
              <a:srgbClr val="FB27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7254849" y="5358383"/>
            <a:ext cx="4019702"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20.11.  </a:t>
            </a:r>
            <a:r>
              <a:rPr sz="1050" b="0" i="0">
                <a:solidFill>
                  <a:srgbClr val="FFFFFF"/>
                </a:solidFill>
                <a:latin typeface="Roboto"/>
              </a:rPr>
              <a:t>Workshop Teil 3: Phasen 4–5</a:t>
            </a:r>
          </a:p>
        </p:txBody>
      </p:sp>
      <p:sp>
        <p:nvSpPr>
          <p:cNvPr id="50" name="Rounded Rectangle 49"/>
          <p:cNvSpPr/>
          <p:nvPr/>
        </p:nvSpPr>
        <p:spPr>
          <a:xfrm>
            <a:off x="9246412" y="5669279"/>
            <a:ext cx="2101291" cy="246888"/>
          </a:xfrm>
          <a:prstGeom prst="roundRect">
            <a:avLst>
              <a:gd name="adj" fmla="val 50000"/>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356140" y="5669279"/>
            <a:ext cx="1918411" cy="246888"/>
          </a:xfrm>
          <a:prstGeom prst="rect">
            <a:avLst/>
          </a:prstGeom>
          <a:noFill/>
        </p:spPr>
        <p:txBody>
          <a:bodyPr wrap="square" lIns="0" rIns="0" tIns="0" bIns="0" anchor="ctr"/>
          <a:lstStyle/>
          <a:p>
            <a:pPr algn="l">
              <a:spcAft>
                <a:spcPts val="400"/>
              </a:spcAft>
              <a:buNone/>
            </a:pPr>
            <a:r>
              <a:rPr sz="1050" b="1" i="0">
                <a:solidFill>
                  <a:srgbClr val="FFFFFF"/>
                </a:solidFill>
                <a:latin typeface="Roboto"/>
              </a:rPr>
              <a:t>danach  </a:t>
            </a:r>
            <a:r>
              <a:rPr sz="1050" b="0" i="0">
                <a:solidFill>
                  <a:srgbClr val="FFFFFF"/>
                </a:solidFill>
                <a:latin typeface="Roboto"/>
              </a:rPr>
              <a:t>testen &amp; iterieren</a:t>
            </a:r>
          </a:p>
        </p:txBody>
      </p:sp>
      <p:sp>
        <p:nvSpPr>
          <p:cNvPr id="52" name="TextBox 51"/>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Prozessmodell nach Hasso Plattner Institute of Design at Stanford (d.school)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Wo stehen Sie? Status-Runde</a:t>
            </a:r>
          </a:p>
        </p:txBody>
      </p:sp>
      <p:sp>
        <p:nvSpPr>
          <p:cNvPr id="3" name="Rounded Rectangle 2"/>
          <p:cNvSpPr/>
          <p:nvPr/>
        </p:nvSpPr>
        <p:spPr>
          <a:xfrm>
            <a:off x="841248" y="850392"/>
            <a:ext cx="1620316"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STATUS · 45 MIN.</a:t>
            </a:r>
          </a:p>
        </p:txBody>
      </p:sp>
      <p:sp>
        <p:nvSpPr>
          <p:cNvPr id="4" name="Rounded Rectangle 3"/>
          <p:cNvSpPr/>
          <p:nvPr/>
        </p:nvSpPr>
        <p:spPr>
          <a:xfrm>
            <a:off x="841248" y="2011680"/>
            <a:ext cx="1918411"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480413" y="2176272"/>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arget_w.png"/>
          <p:cNvPicPr>
            <a:picLocks noChangeAspect="1"/>
          </p:cNvPicPr>
          <p:nvPr/>
        </p:nvPicPr>
        <p:blipFill>
          <a:blip r:embed="rId3"/>
          <a:stretch>
            <a:fillRect/>
          </a:stretch>
        </p:blipFill>
        <p:spPr>
          <a:xfrm>
            <a:off x="1634032" y="2329891"/>
            <a:ext cx="332841" cy="332841"/>
          </a:xfrm>
          <a:prstGeom prst="rect">
            <a:avLst/>
          </a:prstGeom>
        </p:spPr>
      </p:pic>
      <p:sp>
        <p:nvSpPr>
          <p:cNvPr id="7" name="TextBox 6"/>
          <p:cNvSpPr txBox="1"/>
          <p:nvPr/>
        </p:nvSpPr>
        <p:spPr>
          <a:xfrm>
            <a:off x="978408" y="2926080"/>
            <a:ext cx="1644091" cy="411480"/>
          </a:xfrm>
          <a:prstGeom prst="rect">
            <a:avLst/>
          </a:prstGeom>
          <a:noFill/>
        </p:spPr>
        <p:txBody>
          <a:bodyPr wrap="square" lIns="0" rIns="0" tIns="0" bIns="0" anchor="t"/>
          <a:lstStyle/>
          <a:p>
            <a:pPr algn="ctr">
              <a:spcAft>
                <a:spcPts val="400"/>
              </a:spcAft>
              <a:buNone/>
            </a:pPr>
            <a:r>
              <a:rPr sz="1450" b="1" i="0">
                <a:solidFill>
                  <a:srgbClr val="0E1F53"/>
                </a:solidFill>
                <a:latin typeface="Roboto"/>
              </a:rPr>
              <a:t>Challenge</a:t>
            </a:r>
          </a:p>
        </p:txBody>
      </p:sp>
      <p:sp>
        <p:nvSpPr>
          <p:cNvPr id="8" name="TextBox 7"/>
          <p:cNvSpPr txBox="1"/>
          <p:nvPr/>
        </p:nvSpPr>
        <p:spPr>
          <a:xfrm>
            <a:off x="978408" y="3337560"/>
            <a:ext cx="1644091" cy="731520"/>
          </a:xfrm>
          <a:prstGeom prst="rect">
            <a:avLst/>
          </a:prstGeom>
          <a:noFill/>
        </p:spPr>
        <p:txBody>
          <a:bodyPr wrap="square" lIns="0" rIns="0" tIns="0" bIns="0" anchor="t"/>
          <a:lstStyle/>
          <a:p>
            <a:pPr algn="ctr">
              <a:spcAft>
                <a:spcPts val="400"/>
              </a:spcAft>
              <a:buNone/>
            </a:pPr>
            <a:r>
              <a:rPr sz="1250" b="0" i="0">
                <a:solidFill>
                  <a:srgbClr val="5A6684"/>
                </a:solidFill>
                <a:latin typeface="Roboto"/>
              </a:rPr>
              <a:t>Hat sie sich verändert?</a:t>
            </a:r>
          </a:p>
        </p:txBody>
      </p:sp>
      <p:sp>
        <p:nvSpPr>
          <p:cNvPr id="9" name="Rounded Rectangle 8"/>
          <p:cNvSpPr/>
          <p:nvPr/>
        </p:nvSpPr>
        <p:spPr>
          <a:xfrm>
            <a:off x="2988259" y="2011680"/>
            <a:ext cx="1918411"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3627424" y="2176272"/>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Mic_w.png"/>
          <p:cNvPicPr>
            <a:picLocks noChangeAspect="1"/>
          </p:cNvPicPr>
          <p:nvPr/>
        </p:nvPicPr>
        <p:blipFill>
          <a:blip r:embed="rId4"/>
          <a:stretch>
            <a:fillRect/>
          </a:stretch>
        </p:blipFill>
        <p:spPr>
          <a:xfrm>
            <a:off x="3781044" y="2329891"/>
            <a:ext cx="332841" cy="332841"/>
          </a:xfrm>
          <a:prstGeom prst="rect">
            <a:avLst/>
          </a:prstGeom>
        </p:spPr>
      </p:pic>
      <p:sp>
        <p:nvSpPr>
          <p:cNvPr id="12" name="TextBox 11"/>
          <p:cNvSpPr txBox="1"/>
          <p:nvPr/>
        </p:nvSpPr>
        <p:spPr>
          <a:xfrm>
            <a:off x="3125419" y="2926080"/>
            <a:ext cx="1644091" cy="411480"/>
          </a:xfrm>
          <a:prstGeom prst="rect">
            <a:avLst/>
          </a:prstGeom>
          <a:noFill/>
        </p:spPr>
        <p:txBody>
          <a:bodyPr wrap="square" lIns="0" rIns="0" tIns="0" bIns="0" anchor="t"/>
          <a:lstStyle/>
          <a:p>
            <a:pPr algn="ctr">
              <a:spcAft>
                <a:spcPts val="400"/>
              </a:spcAft>
              <a:buNone/>
            </a:pPr>
            <a:r>
              <a:rPr sz="1450" b="1" i="0">
                <a:solidFill>
                  <a:srgbClr val="0E1F53"/>
                </a:solidFill>
                <a:latin typeface="Roboto"/>
              </a:rPr>
              <a:t>Interviews</a:t>
            </a:r>
          </a:p>
        </p:txBody>
      </p:sp>
      <p:sp>
        <p:nvSpPr>
          <p:cNvPr id="13" name="TextBox 12"/>
          <p:cNvSpPr txBox="1"/>
          <p:nvPr/>
        </p:nvSpPr>
        <p:spPr>
          <a:xfrm>
            <a:off x="3125419" y="3337560"/>
            <a:ext cx="1644091" cy="731520"/>
          </a:xfrm>
          <a:prstGeom prst="rect">
            <a:avLst/>
          </a:prstGeom>
          <a:noFill/>
        </p:spPr>
        <p:txBody>
          <a:bodyPr wrap="square" lIns="0" rIns="0" tIns="0" bIns="0" anchor="t"/>
          <a:lstStyle/>
          <a:p>
            <a:pPr algn="ctr">
              <a:spcAft>
                <a:spcPts val="400"/>
              </a:spcAft>
              <a:buNone/>
            </a:pPr>
            <a:r>
              <a:rPr sz="1250" b="0" i="0">
                <a:solidFill>
                  <a:srgbClr val="5A6684"/>
                </a:solidFill>
                <a:latin typeface="Roboto"/>
              </a:rPr>
              <a:t>Wie viele, mit wem?</a:t>
            </a:r>
          </a:p>
        </p:txBody>
      </p:sp>
      <p:sp>
        <p:nvSpPr>
          <p:cNvPr id="14" name="Rounded Rectangle 13"/>
          <p:cNvSpPr/>
          <p:nvPr/>
        </p:nvSpPr>
        <p:spPr>
          <a:xfrm>
            <a:off x="5135270" y="2011680"/>
            <a:ext cx="1918411"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774436" y="2176272"/>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Lightbulb_w.png"/>
          <p:cNvPicPr>
            <a:picLocks noChangeAspect="1"/>
          </p:cNvPicPr>
          <p:nvPr/>
        </p:nvPicPr>
        <p:blipFill>
          <a:blip r:embed="rId5"/>
          <a:stretch>
            <a:fillRect/>
          </a:stretch>
        </p:blipFill>
        <p:spPr>
          <a:xfrm>
            <a:off x="5928055" y="2329891"/>
            <a:ext cx="332841" cy="332841"/>
          </a:xfrm>
          <a:prstGeom prst="rect">
            <a:avLst/>
          </a:prstGeom>
        </p:spPr>
      </p:pic>
      <p:sp>
        <p:nvSpPr>
          <p:cNvPr id="17" name="TextBox 16"/>
          <p:cNvSpPr txBox="1"/>
          <p:nvPr/>
        </p:nvSpPr>
        <p:spPr>
          <a:xfrm>
            <a:off x="5272430" y="2926080"/>
            <a:ext cx="1644091" cy="411480"/>
          </a:xfrm>
          <a:prstGeom prst="rect">
            <a:avLst/>
          </a:prstGeom>
          <a:noFill/>
        </p:spPr>
        <p:txBody>
          <a:bodyPr wrap="square" lIns="0" rIns="0" tIns="0" bIns="0" anchor="t"/>
          <a:lstStyle/>
          <a:p>
            <a:pPr algn="ctr">
              <a:spcAft>
                <a:spcPts val="400"/>
              </a:spcAft>
              <a:buNone/>
            </a:pPr>
            <a:r>
              <a:rPr sz="1450" b="1" i="0">
                <a:solidFill>
                  <a:srgbClr val="0E1F53"/>
                </a:solidFill>
                <a:latin typeface="Roboto"/>
              </a:rPr>
              <a:t>Erkenntnis &amp; POV</a:t>
            </a:r>
          </a:p>
        </p:txBody>
      </p:sp>
      <p:sp>
        <p:nvSpPr>
          <p:cNvPr id="18" name="TextBox 17"/>
          <p:cNvSpPr txBox="1"/>
          <p:nvPr/>
        </p:nvSpPr>
        <p:spPr>
          <a:xfrm>
            <a:off x="5272430" y="3337560"/>
            <a:ext cx="1644091" cy="731520"/>
          </a:xfrm>
          <a:prstGeom prst="rect">
            <a:avLst/>
          </a:prstGeom>
          <a:noFill/>
        </p:spPr>
        <p:txBody>
          <a:bodyPr wrap="square" lIns="0" rIns="0" tIns="0" bIns="0" anchor="t"/>
          <a:lstStyle/>
          <a:p>
            <a:pPr algn="ctr">
              <a:spcAft>
                <a:spcPts val="400"/>
              </a:spcAft>
              <a:buNone/>
            </a:pPr>
            <a:r>
              <a:rPr sz="1250" b="0" i="0">
                <a:solidFill>
                  <a:srgbClr val="5A6684"/>
                </a:solidFill>
                <a:latin typeface="Roboto"/>
              </a:rPr>
              <a:t>Was hat Sie überrascht?</a:t>
            </a:r>
          </a:p>
        </p:txBody>
      </p:sp>
      <p:sp>
        <p:nvSpPr>
          <p:cNvPr id="19" name="Rounded Rectangle 18"/>
          <p:cNvSpPr/>
          <p:nvPr/>
        </p:nvSpPr>
        <p:spPr>
          <a:xfrm>
            <a:off x="7282281" y="2011680"/>
            <a:ext cx="1918411"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921447" y="2176272"/>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Sparkles_w.png"/>
          <p:cNvPicPr>
            <a:picLocks noChangeAspect="1"/>
          </p:cNvPicPr>
          <p:nvPr/>
        </p:nvPicPr>
        <p:blipFill>
          <a:blip r:embed="rId6"/>
          <a:stretch>
            <a:fillRect/>
          </a:stretch>
        </p:blipFill>
        <p:spPr>
          <a:xfrm>
            <a:off x="8075066" y="2329891"/>
            <a:ext cx="332841" cy="332841"/>
          </a:xfrm>
          <a:prstGeom prst="rect">
            <a:avLst/>
          </a:prstGeom>
        </p:spPr>
      </p:pic>
      <p:sp>
        <p:nvSpPr>
          <p:cNvPr id="22" name="TextBox 21"/>
          <p:cNvSpPr txBox="1"/>
          <p:nvPr/>
        </p:nvSpPr>
        <p:spPr>
          <a:xfrm>
            <a:off x="7419441" y="2926080"/>
            <a:ext cx="1644091" cy="411480"/>
          </a:xfrm>
          <a:prstGeom prst="rect">
            <a:avLst/>
          </a:prstGeom>
          <a:noFill/>
        </p:spPr>
        <p:txBody>
          <a:bodyPr wrap="square" lIns="0" rIns="0" tIns="0" bIns="0" anchor="t"/>
          <a:lstStyle/>
          <a:p>
            <a:pPr algn="ctr">
              <a:spcAft>
                <a:spcPts val="400"/>
              </a:spcAft>
              <a:buNone/>
            </a:pPr>
            <a:r>
              <a:rPr sz="1450" b="1" i="0">
                <a:solidFill>
                  <a:srgbClr val="0E1F53"/>
                </a:solidFill>
                <a:latin typeface="Roboto"/>
              </a:rPr>
              <a:t>Top-Idee</a:t>
            </a:r>
          </a:p>
        </p:txBody>
      </p:sp>
      <p:sp>
        <p:nvSpPr>
          <p:cNvPr id="23" name="TextBox 22"/>
          <p:cNvSpPr txBox="1"/>
          <p:nvPr/>
        </p:nvSpPr>
        <p:spPr>
          <a:xfrm>
            <a:off x="7419441" y="3337560"/>
            <a:ext cx="1644091" cy="731520"/>
          </a:xfrm>
          <a:prstGeom prst="rect">
            <a:avLst/>
          </a:prstGeom>
          <a:noFill/>
        </p:spPr>
        <p:txBody>
          <a:bodyPr wrap="square" lIns="0" rIns="0" tIns="0" bIns="0" anchor="t"/>
          <a:lstStyle/>
          <a:p>
            <a:pPr algn="ctr">
              <a:spcAft>
                <a:spcPts val="400"/>
              </a:spcAft>
              <a:buNone/>
            </a:pPr>
            <a:r>
              <a:rPr sz="1250" b="0" i="0">
                <a:solidFill>
                  <a:srgbClr val="5A6684"/>
                </a:solidFill>
                <a:latin typeface="Roboto"/>
              </a:rPr>
              <a:t>Welche, und warum?</a:t>
            </a:r>
          </a:p>
        </p:txBody>
      </p:sp>
      <p:sp>
        <p:nvSpPr>
          <p:cNvPr id="24" name="Rounded Rectangle 23"/>
          <p:cNvSpPr/>
          <p:nvPr/>
        </p:nvSpPr>
        <p:spPr>
          <a:xfrm>
            <a:off x="9429292" y="2011680"/>
            <a:ext cx="1918411" cy="21488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068458" y="2176272"/>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PencilRuler_w.png"/>
          <p:cNvPicPr>
            <a:picLocks noChangeAspect="1"/>
          </p:cNvPicPr>
          <p:nvPr/>
        </p:nvPicPr>
        <p:blipFill>
          <a:blip r:embed="rId7"/>
          <a:stretch>
            <a:fillRect/>
          </a:stretch>
        </p:blipFill>
        <p:spPr>
          <a:xfrm>
            <a:off x="10222077" y="2329891"/>
            <a:ext cx="332841" cy="332841"/>
          </a:xfrm>
          <a:prstGeom prst="rect">
            <a:avLst/>
          </a:prstGeom>
        </p:spPr>
      </p:pic>
      <p:sp>
        <p:nvSpPr>
          <p:cNvPr id="27" name="TextBox 26"/>
          <p:cNvSpPr txBox="1"/>
          <p:nvPr/>
        </p:nvSpPr>
        <p:spPr>
          <a:xfrm>
            <a:off x="9566452" y="2926080"/>
            <a:ext cx="1644091" cy="411480"/>
          </a:xfrm>
          <a:prstGeom prst="rect">
            <a:avLst/>
          </a:prstGeom>
          <a:noFill/>
        </p:spPr>
        <p:txBody>
          <a:bodyPr wrap="square" lIns="0" rIns="0" tIns="0" bIns="0" anchor="t"/>
          <a:lstStyle/>
          <a:p>
            <a:pPr algn="ctr">
              <a:spcAft>
                <a:spcPts val="400"/>
              </a:spcAft>
              <a:buNone/>
            </a:pPr>
            <a:r>
              <a:rPr sz="1450" b="1" i="0">
                <a:solidFill>
                  <a:srgbClr val="0E1F53"/>
                </a:solidFill>
                <a:latin typeface="Roboto"/>
              </a:rPr>
              <a:t>Prototyp-Versuch</a:t>
            </a:r>
          </a:p>
        </p:txBody>
      </p:sp>
      <p:sp>
        <p:nvSpPr>
          <p:cNvPr id="28" name="TextBox 27"/>
          <p:cNvSpPr txBox="1"/>
          <p:nvPr/>
        </p:nvSpPr>
        <p:spPr>
          <a:xfrm>
            <a:off x="9566452" y="3337560"/>
            <a:ext cx="1644091" cy="731520"/>
          </a:xfrm>
          <a:prstGeom prst="rect">
            <a:avLst/>
          </a:prstGeom>
          <a:noFill/>
        </p:spPr>
        <p:txBody>
          <a:bodyPr wrap="square" lIns="0" rIns="0" tIns="0" bIns="0" anchor="t"/>
          <a:lstStyle/>
          <a:p>
            <a:pPr algn="ctr">
              <a:spcAft>
                <a:spcPts val="400"/>
              </a:spcAft>
              <a:buNone/>
            </a:pPr>
            <a:r>
              <a:rPr sz="1250" b="0" i="0">
                <a:solidFill>
                  <a:srgbClr val="5A6684"/>
                </a:solidFill>
                <a:latin typeface="Roboto"/>
              </a:rPr>
              <a:t>Was haben Sie ausprobiert?</a:t>
            </a:r>
          </a:p>
        </p:txBody>
      </p:sp>
      <p:sp>
        <p:nvSpPr>
          <p:cNvPr id="29" name="Rounded Rectangle 28"/>
          <p:cNvSpPr/>
          <p:nvPr/>
        </p:nvSpPr>
        <p:spPr>
          <a:xfrm>
            <a:off x="841248" y="4389120"/>
            <a:ext cx="10506456" cy="1600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15568" y="4480560"/>
            <a:ext cx="3657600"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Ampel: Wo stehe ich?</a:t>
            </a:r>
          </a:p>
        </p:txBody>
      </p:sp>
      <p:sp>
        <p:nvSpPr>
          <p:cNvPr id="31" name="Oval 30"/>
          <p:cNvSpPr/>
          <p:nvPr/>
        </p:nvSpPr>
        <p:spPr>
          <a:xfrm>
            <a:off x="1115568" y="5029200"/>
            <a:ext cx="502920" cy="50292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755648" y="4956048"/>
            <a:ext cx="2450592" cy="685800"/>
          </a:xfrm>
          <a:prstGeom prst="rect">
            <a:avLst/>
          </a:prstGeom>
          <a:noFill/>
        </p:spPr>
        <p:txBody>
          <a:bodyPr wrap="square" lIns="0" rIns="0" tIns="0" bIns="0" anchor="ctr"/>
          <a:lstStyle/>
          <a:p>
            <a:pPr algn="l">
              <a:spcAft>
                <a:spcPts val="0"/>
              </a:spcAft>
              <a:buNone/>
            </a:pPr>
            <a:r>
              <a:rPr sz="1400" b="1" i="0">
                <a:solidFill>
                  <a:srgbClr val="0E1F53"/>
                </a:solidFill>
                <a:latin typeface="Roboto"/>
              </a:rPr>
              <a:t>Grün</a:t>
            </a:r>
          </a:p>
          <a:p>
            <a:pPr algn="l">
              <a:spcAft>
                <a:spcPts val="0"/>
              </a:spcAft>
              <a:buNone/>
            </a:pPr>
            <a:r>
              <a:rPr sz="1250" b="0" i="0">
                <a:solidFill>
                  <a:srgbClr val="5A6684"/>
                </a:solidFill>
                <a:latin typeface="Roboto"/>
              </a:rPr>
              <a:t>Erledigt, ich bin sicher</a:t>
            </a:r>
          </a:p>
        </p:txBody>
      </p:sp>
      <p:sp>
        <p:nvSpPr>
          <p:cNvPr id="33" name="Oval 32"/>
          <p:cNvSpPr/>
          <p:nvPr/>
        </p:nvSpPr>
        <p:spPr>
          <a:xfrm>
            <a:off x="4526280" y="5029200"/>
            <a:ext cx="502920" cy="502920"/>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166360" y="4956048"/>
            <a:ext cx="2450592" cy="685800"/>
          </a:xfrm>
          <a:prstGeom prst="rect">
            <a:avLst/>
          </a:prstGeom>
          <a:noFill/>
        </p:spPr>
        <p:txBody>
          <a:bodyPr wrap="square" lIns="0" rIns="0" tIns="0" bIns="0" anchor="ctr"/>
          <a:lstStyle/>
          <a:p>
            <a:pPr algn="l">
              <a:spcAft>
                <a:spcPts val="0"/>
              </a:spcAft>
              <a:buNone/>
            </a:pPr>
            <a:r>
              <a:rPr sz="1400" b="1" i="0">
                <a:solidFill>
                  <a:srgbClr val="0E1F53"/>
                </a:solidFill>
                <a:latin typeface="Roboto"/>
              </a:rPr>
              <a:t>Gelb</a:t>
            </a:r>
          </a:p>
          <a:p>
            <a:pPr algn="l">
              <a:spcAft>
                <a:spcPts val="0"/>
              </a:spcAft>
              <a:buNone/>
            </a:pPr>
            <a:r>
              <a:rPr sz="1250" b="0" i="0">
                <a:solidFill>
                  <a:srgbClr val="5A6684"/>
                </a:solidFill>
                <a:latin typeface="Roboto"/>
              </a:rPr>
              <a:t>Begonnen, offene Fragen</a:t>
            </a:r>
          </a:p>
        </p:txBody>
      </p:sp>
      <p:sp>
        <p:nvSpPr>
          <p:cNvPr id="35" name="Oval 34"/>
          <p:cNvSpPr/>
          <p:nvPr/>
        </p:nvSpPr>
        <p:spPr>
          <a:xfrm>
            <a:off x="7936992" y="5029200"/>
            <a:ext cx="502920" cy="50292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577072" y="4956048"/>
            <a:ext cx="2450592" cy="685800"/>
          </a:xfrm>
          <a:prstGeom prst="rect">
            <a:avLst/>
          </a:prstGeom>
          <a:noFill/>
        </p:spPr>
        <p:txBody>
          <a:bodyPr wrap="square" lIns="0" rIns="0" tIns="0" bIns="0" anchor="ctr"/>
          <a:lstStyle/>
          <a:p>
            <a:pPr algn="l">
              <a:spcAft>
                <a:spcPts val="0"/>
              </a:spcAft>
              <a:buNone/>
            </a:pPr>
            <a:r>
              <a:rPr sz="1400" b="1" i="0">
                <a:solidFill>
                  <a:srgbClr val="0E1F53"/>
                </a:solidFill>
                <a:latin typeface="Roboto"/>
              </a:rPr>
              <a:t>Rot</a:t>
            </a:r>
          </a:p>
          <a:p>
            <a:pPr algn="l">
              <a:spcAft>
                <a:spcPts val="0"/>
              </a:spcAft>
              <a:buNone/>
            </a:pPr>
            <a:r>
              <a:rPr sz="1250" b="0" i="0">
                <a:solidFill>
                  <a:srgbClr val="5A6684"/>
                </a:solidFill>
                <a:latin typeface="Roboto"/>
              </a:rPr>
              <a:t>Noch nicht geschafft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Wo das Beispiel steht</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Rounded Rectangle 9"/>
          <p:cNvSpPr/>
          <p:nvPr/>
        </p:nvSpPr>
        <p:spPr>
          <a:xfrm>
            <a:off x="841248" y="2011680"/>
            <a:ext cx="10506456" cy="868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15568" y="2011680"/>
            <a:ext cx="2194560" cy="868680"/>
          </a:xfrm>
          <a:prstGeom prst="rect">
            <a:avLst/>
          </a:prstGeom>
          <a:noFill/>
        </p:spPr>
        <p:txBody>
          <a:bodyPr wrap="square" lIns="0" rIns="0" tIns="0" bIns="0" anchor="ctr"/>
          <a:lstStyle/>
          <a:p>
            <a:pPr algn="l">
              <a:spcAft>
                <a:spcPts val="400"/>
              </a:spcAft>
              <a:buNone/>
            </a:pPr>
            <a:r>
              <a:rPr sz="1500" b="1" i="0">
                <a:solidFill>
                  <a:srgbClr val="0E1F53"/>
                </a:solidFill>
                <a:latin typeface="Roboto"/>
              </a:rPr>
              <a:t>Challenge</a:t>
            </a:r>
          </a:p>
        </p:txBody>
      </p:sp>
      <p:sp>
        <p:nvSpPr>
          <p:cNvPr id="12" name="TextBox 11"/>
          <p:cNvSpPr txBox="1"/>
          <p:nvPr/>
        </p:nvSpPr>
        <p:spPr>
          <a:xfrm>
            <a:off x="3401568" y="2011680"/>
            <a:ext cx="7671816" cy="868680"/>
          </a:xfrm>
          <a:prstGeom prst="rect">
            <a:avLst/>
          </a:prstGeom>
          <a:noFill/>
        </p:spPr>
        <p:txBody>
          <a:bodyPr wrap="square" lIns="0" rIns="0" tIns="0" bIns="0" anchor="ctr"/>
          <a:lstStyle/>
          <a:p>
            <a:pPr algn="l">
              <a:spcAft>
                <a:spcPts val="400"/>
              </a:spcAft>
              <a:buNone/>
            </a:pPr>
            <a:r>
              <a:rPr sz="1450" b="0" i="0">
                <a:solidFill>
                  <a:srgbClr val="0E1F53"/>
                </a:solidFill>
                <a:latin typeface="Roboto"/>
              </a:rPr>
              <a:t>Wie können wir die HSRW zu einem Ort machen, für den sich junge Menschen entscheiden und an den sie gern kommen?</a:t>
            </a:r>
          </a:p>
        </p:txBody>
      </p:sp>
      <p:sp>
        <p:nvSpPr>
          <p:cNvPr id="13" name="Rounded Rectangle 12"/>
          <p:cNvSpPr/>
          <p:nvPr/>
        </p:nvSpPr>
        <p:spPr>
          <a:xfrm>
            <a:off x="841248" y="3017520"/>
            <a:ext cx="10506456" cy="868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15568" y="3017520"/>
            <a:ext cx="2194560" cy="868680"/>
          </a:xfrm>
          <a:prstGeom prst="rect">
            <a:avLst/>
          </a:prstGeom>
          <a:noFill/>
        </p:spPr>
        <p:txBody>
          <a:bodyPr wrap="square" lIns="0" rIns="0" tIns="0" bIns="0" anchor="ctr"/>
          <a:lstStyle/>
          <a:p>
            <a:pPr algn="l">
              <a:spcAft>
                <a:spcPts val="400"/>
              </a:spcAft>
              <a:buNone/>
            </a:pPr>
            <a:r>
              <a:rPr sz="1500" b="1" i="0">
                <a:solidFill>
                  <a:srgbClr val="0E1F53"/>
                </a:solidFill>
                <a:latin typeface="Roboto"/>
              </a:rPr>
              <a:t>Persona</a:t>
            </a:r>
          </a:p>
        </p:txBody>
      </p:sp>
      <p:sp>
        <p:nvSpPr>
          <p:cNvPr id="15" name="TextBox 14"/>
          <p:cNvSpPr txBox="1"/>
          <p:nvPr/>
        </p:nvSpPr>
        <p:spPr>
          <a:xfrm>
            <a:off x="3401568" y="3017520"/>
            <a:ext cx="7671816" cy="868680"/>
          </a:xfrm>
          <a:prstGeom prst="rect">
            <a:avLst/>
          </a:prstGeom>
          <a:noFill/>
        </p:spPr>
        <p:txBody>
          <a:bodyPr wrap="square" lIns="0" rIns="0" tIns="0" bIns="0" anchor="ctr"/>
          <a:lstStyle/>
          <a:p>
            <a:pPr algn="l">
              <a:spcAft>
                <a:spcPts val="400"/>
              </a:spcAft>
              <a:buNone/>
            </a:pPr>
            <a:r>
              <a:rPr sz="1450" b="0" i="0">
                <a:solidFill>
                  <a:srgbClr val="0E1F53"/>
                </a:solidFill>
                <a:latin typeface="Roboto"/>
              </a:rPr>
              <a:t>Jonas, 20, pendelt 55 Minuten und kommt nur zu Pflichtterminen.</a:t>
            </a:r>
          </a:p>
        </p:txBody>
      </p:sp>
      <p:sp>
        <p:nvSpPr>
          <p:cNvPr id="16" name="Rounded Rectangle 15"/>
          <p:cNvSpPr/>
          <p:nvPr/>
        </p:nvSpPr>
        <p:spPr>
          <a:xfrm>
            <a:off x="841248" y="4023360"/>
            <a:ext cx="10506456" cy="868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15568" y="4023360"/>
            <a:ext cx="2194560" cy="868680"/>
          </a:xfrm>
          <a:prstGeom prst="rect">
            <a:avLst/>
          </a:prstGeom>
          <a:noFill/>
        </p:spPr>
        <p:txBody>
          <a:bodyPr wrap="square" lIns="0" rIns="0" tIns="0" bIns="0" anchor="ctr"/>
          <a:lstStyle/>
          <a:p>
            <a:pPr algn="l">
              <a:spcAft>
                <a:spcPts val="400"/>
              </a:spcAft>
              <a:buNone/>
            </a:pPr>
            <a:r>
              <a:rPr sz="1500" b="1" i="0">
                <a:solidFill>
                  <a:srgbClr val="0E1F53"/>
                </a:solidFill>
                <a:latin typeface="Roboto"/>
              </a:rPr>
              <a:t>Point of View</a:t>
            </a:r>
          </a:p>
        </p:txBody>
      </p:sp>
      <p:sp>
        <p:nvSpPr>
          <p:cNvPr id="18" name="TextBox 17"/>
          <p:cNvSpPr txBox="1"/>
          <p:nvPr/>
        </p:nvSpPr>
        <p:spPr>
          <a:xfrm>
            <a:off x="3401568" y="4023360"/>
            <a:ext cx="7671816" cy="868680"/>
          </a:xfrm>
          <a:prstGeom prst="rect">
            <a:avLst/>
          </a:prstGeom>
          <a:noFill/>
        </p:spPr>
        <p:txBody>
          <a:bodyPr wrap="square" lIns="0" rIns="0" tIns="0" bIns="0" anchor="ctr"/>
          <a:lstStyle/>
          <a:p>
            <a:pPr algn="l">
              <a:spcAft>
                <a:spcPts val="400"/>
              </a:spcAft>
              <a:buNone/>
            </a:pPr>
            <a:r>
              <a:rPr sz="1450" b="0" i="0">
                <a:solidFill>
                  <a:srgbClr val="0E1F53"/>
                </a:solidFill>
                <a:latin typeface="Roboto"/>
              </a:rPr>
              <a:t>Jonas braucht einen Grund für den Campus, der mehr bietet als eine Vorlesung.</a:t>
            </a:r>
          </a:p>
        </p:txBody>
      </p:sp>
      <p:sp>
        <p:nvSpPr>
          <p:cNvPr id="19" name="Rounded Rectangle 18"/>
          <p:cNvSpPr/>
          <p:nvPr/>
        </p:nvSpPr>
        <p:spPr>
          <a:xfrm>
            <a:off x="841248" y="5029200"/>
            <a:ext cx="10506456" cy="86868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15568" y="5029200"/>
            <a:ext cx="2194560" cy="868680"/>
          </a:xfrm>
          <a:prstGeom prst="rect">
            <a:avLst/>
          </a:prstGeom>
          <a:noFill/>
        </p:spPr>
        <p:txBody>
          <a:bodyPr wrap="square" lIns="0" rIns="0" tIns="0" bIns="0" anchor="ctr"/>
          <a:lstStyle/>
          <a:p>
            <a:pPr algn="l">
              <a:spcAft>
                <a:spcPts val="400"/>
              </a:spcAft>
              <a:buNone/>
            </a:pPr>
            <a:r>
              <a:rPr sz="1500" b="1" i="0">
                <a:solidFill>
                  <a:srgbClr val="9FD0FF"/>
                </a:solidFill>
                <a:latin typeface="Roboto"/>
              </a:rPr>
              <a:t>Top-Idee</a:t>
            </a:r>
          </a:p>
        </p:txBody>
      </p:sp>
      <p:sp>
        <p:nvSpPr>
          <p:cNvPr id="21" name="TextBox 20"/>
          <p:cNvSpPr txBox="1"/>
          <p:nvPr/>
        </p:nvSpPr>
        <p:spPr>
          <a:xfrm>
            <a:off x="3401568" y="5029200"/>
            <a:ext cx="7671816" cy="868680"/>
          </a:xfrm>
          <a:prstGeom prst="rect">
            <a:avLst/>
          </a:prstGeom>
          <a:noFill/>
        </p:spPr>
        <p:txBody>
          <a:bodyPr wrap="square" lIns="0" rIns="0" tIns="0" bIns="0" anchor="ctr"/>
          <a:lstStyle/>
          <a:p>
            <a:pPr algn="l">
              <a:spcAft>
                <a:spcPts val="400"/>
              </a:spcAft>
              <a:buNone/>
            </a:pPr>
            <a:r>
              <a:rPr sz="1450" b="0" i="0">
                <a:solidFill>
                  <a:srgbClr val="FFFFFF"/>
                </a:solidFill>
                <a:latin typeface="Roboto"/>
              </a:rPr>
              <a:t>Campus-Mittwoch: Studierende lösen jeden Mittwoch echte Aufgaben regionaler Unternehmen.</a:t>
            </a:r>
          </a:p>
        </p:txBody>
      </p:sp>
      <p:sp>
        <p:nvSpPr>
          <p:cNvPr id="22" name="TextBox 21"/>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Illustratives Beispiel für den Workshop: Interviewaussagen und Testergebnisse sind fiktiv.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Phase 4 · Prototypen</a:t>
            </a:r>
          </a:p>
        </p:txBody>
      </p:sp>
      <p:sp>
        <p:nvSpPr>
          <p:cNvPr id="3" name="Text Placeholder 2"/>
          <p:cNvSpPr>
            <a:spLocks noGrp="1"/>
          </p:cNvSpPr>
          <p:nvPr>
            <p:ph type="body" idx="11" sz="quarter"/>
          </p:nvPr>
        </p:nvSpPr>
        <p:spPr/>
        <p:txBody>
          <a:bodyPr/>
          <a:lstStyle/>
          <a:p>
            <a:r>
              <a:rPr b="0" sz="2000"/>
              <a:t>Ideen greifbar machen, schnell und günstig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Phase 4 · Prototypen</a:t>
            </a:r>
          </a:p>
        </p:txBody>
      </p:sp>
      <p:sp>
        <p:nvSpPr>
          <p:cNvPr id="3" name="Oval 2"/>
          <p:cNvSpPr/>
          <p:nvPr/>
        </p:nvSpPr>
        <p:spPr>
          <a:xfrm>
            <a:off x="961034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4" name="Oval 3"/>
          <p:cNvSpPr/>
          <p:nvPr/>
        </p:nvSpPr>
        <p:spPr>
          <a:xfrm>
            <a:off x="997610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5" name="Oval 4"/>
          <p:cNvSpPr/>
          <p:nvPr/>
        </p:nvSpPr>
        <p:spPr>
          <a:xfrm>
            <a:off x="1034186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6" name="Oval 5"/>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7" name="Oval 6"/>
          <p:cNvSpPr/>
          <p:nvPr/>
        </p:nvSpPr>
        <p:spPr>
          <a:xfrm>
            <a:off x="1107338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8" name="TextBox 7"/>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FFFFFF"/>
                </a:solidFill>
                <a:latin typeface="Roboto"/>
              </a:rPr>
              <a:t>Phase 4: Prototypen</a:t>
            </a:r>
          </a:p>
        </p:txBody>
      </p:sp>
      <p:sp>
        <p:nvSpPr>
          <p:cNvPr id="9" name="TextBox 8"/>
          <p:cNvSpPr txBox="1"/>
          <p:nvPr/>
        </p:nvSpPr>
        <p:spPr>
          <a:xfrm>
            <a:off x="841248" y="2011680"/>
            <a:ext cx="10506456" cy="914400"/>
          </a:xfrm>
          <a:prstGeom prst="rect">
            <a:avLst/>
          </a:prstGeom>
          <a:noFill/>
        </p:spPr>
        <p:txBody>
          <a:bodyPr wrap="square" lIns="0" rIns="0" tIns="0" bIns="0" anchor="t"/>
          <a:lstStyle/>
          <a:p>
            <a:pPr algn="l">
              <a:spcAft>
                <a:spcPts val="400"/>
              </a:spcAft>
              <a:buNone/>
            </a:pPr>
            <a:r>
              <a:rPr sz="2800" b="1" i="0">
                <a:solidFill>
                  <a:srgbClr val="9FD0FF"/>
                </a:solidFill>
                <a:latin typeface="Roboto"/>
              </a:rPr>
              <a:t>Wie machen wir die Idee schnell und günstig erlebbar?</a:t>
            </a:r>
          </a:p>
        </p:txBody>
      </p:sp>
      <p:sp>
        <p:nvSpPr>
          <p:cNvPr id="10" name="Rounded Rectangle 9"/>
          <p:cNvSpPr/>
          <p:nvPr/>
        </p:nvSpPr>
        <p:spPr>
          <a:xfrm>
            <a:off x="841248"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69848"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Target_w.png"/>
          <p:cNvPicPr>
            <a:picLocks noChangeAspect="1"/>
          </p:cNvPicPr>
          <p:nvPr/>
        </p:nvPicPr>
        <p:blipFill>
          <a:blip r:embed="rId3"/>
          <a:stretch>
            <a:fillRect/>
          </a:stretch>
        </p:blipFill>
        <p:spPr>
          <a:xfrm>
            <a:off x="1201521" y="3496665"/>
            <a:ext cx="285292" cy="285292"/>
          </a:xfrm>
          <a:prstGeom prst="rect">
            <a:avLst/>
          </a:prstGeom>
        </p:spPr>
      </p:pic>
      <p:sp>
        <p:nvSpPr>
          <p:cNvPr id="13" name="TextBox 12"/>
          <p:cNvSpPr txBox="1"/>
          <p:nvPr/>
        </p:nvSpPr>
        <p:spPr>
          <a:xfrm>
            <a:off x="1755648"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Ziel</a:t>
            </a:r>
          </a:p>
        </p:txBody>
      </p:sp>
      <p:sp>
        <p:nvSpPr>
          <p:cNvPr id="14" name="TextBox 13"/>
          <p:cNvSpPr txBox="1"/>
          <p:nvPr/>
        </p:nvSpPr>
        <p:spPr>
          <a:xfrm>
            <a:off x="1069848"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Ausgewählte Ideen so greifbar machen, dass echte Menschen sie ausprobieren können.</a:t>
            </a:r>
          </a:p>
        </p:txBody>
      </p:sp>
      <p:sp>
        <p:nvSpPr>
          <p:cNvPr id="15" name="Rounded Rectangle 14"/>
          <p:cNvSpPr/>
          <p:nvPr/>
        </p:nvSpPr>
        <p:spPr>
          <a:xfrm>
            <a:off x="4434840"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663440"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uListChecks_w.png"/>
          <p:cNvPicPr>
            <a:picLocks noChangeAspect="1"/>
          </p:cNvPicPr>
          <p:nvPr/>
        </p:nvPicPr>
        <p:blipFill>
          <a:blip r:embed="rId4"/>
          <a:stretch>
            <a:fillRect/>
          </a:stretch>
        </p:blipFill>
        <p:spPr>
          <a:xfrm>
            <a:off x="4795113" y="3496665"/>
            <a:ext cx="285292" cy="285292"/>
          </a:xfrm>
          <a:prstGeom prst="rect">
            <a:avLst/>
          </a:prstGeom>
        </p:spPr>
      </p:pic>
      <p:sp>
        <p:nvSpPr>
          <p:cNvPr id="18" name="TextBox 17"/>
          <p:cNvSpPr txBox="1"/>
          <p:nvPr/>
        </p:nvSpPr>
        <p:spPr>
          <a:xfrm>
            <a:off x="5349240"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Methoden</a:t>
            </a:r>
          </a:p>
        </p:txBody>
      </p:sp>
      <p:sp>
        <p:nvSpPr>
          <p:cNvPr id="19" name="TextBox 18"/>
          <p:cNvSpPr txBox="1"/>
          <p:nvPr/>
        </p:nvSpPr>
        <p:spPr>
          <a:xfrm>
            <a:off x="4663440"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Storyboard, Papier-Prototyp, Rollenspiel, Landingpage</a:t>
            </a:r>
          </a:p>
        </p:txBody>
      </p:sp>
      <p:sp>
        <p:nvSpPr>
          <p:cNvPr id="20" name="Rounded Rectangle 19"/>
          <p:cNvSpPr/>
          <p:nvPr/>
        </p:nvSpPr>
        <p:spPr>
          <a:xfrm>
            <a:off x="8028432"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57032"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Boxes_w.png"/>
          <p:cNvPicPr>
            <a:picLocks noChangeAspect="1"/>
          </p:cNvPicPr>
          <p:nvPr/>
        </p:nvPicPr>
        <p:blipFill>
          <a:blip r:embed="rId5"/>
          <a:stretch>
            <a:fillRect/>
          </a:stretch>
        </p:blipFill>
        <p:spPr>
          <a:xfrm>
            <a:off x="8388705" y="3496665"/>
            <a:ext cx="285292" cy="285292"/>
          </a:xfrm>
          <a:prstGeom prst="rect">
            <a:avLst/>
          </a:prstGeom>
        </p:spPr>
      </p:pic>
      <p:sp>
        <p:nvSpPr>
          <p:cNvPr id="23" name="TextBox 22"/>
          <p:cNvSpPr txBox="1"/>
          <p:nvPr/>
        </p:nvSpPr>
        <p:spPr>
          <a:xfrm>
            <a:off x="8942832"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Ergebnis</a:t>
            </a:r>
          </a:p>
        </p:txBody>
      </p:sp>
      <p:sp>
        <p:nvSpPr>
          <p:cNvPr id="24" name="TextBox 23"/>
          <p:cNvSpPr txBox="1"/>
          <p:nvPr/>
        </p:nvSpPr>
        <p:spPr>
          <a:xfrm>
            <a:off x="8257032"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Testbare Prototypen: Storyboard, Mock-up, Landingpage, Ablaufplan</a:t>
            </a:r>
          </a:p>
        </p:txBody>
      </p:sp>
      <p:sp>
        <p:nvSpPr>
          <p:cNvPr id="25" name="Rounded Rectangle 24"/>
          <p:cNvSpPr/>
          <p:nvPr/>
        </p:nvSpPr>
        <p:spPr>
          <a:xfrm>
            <a:off x="841248" y="5440680"/>
            <a:ext cx="10506456"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t_n.png"/>
          <p:cNvPicPr>
            <a:picLocks noChangeAspect="1"/>
          </p:cNvPicPr>
          <p:nvPr/>
        </p:nvPicPr>
        <p:blipFill>
          <a:blip r:embed="rId6"/>
          <a:stretch>
            <a:fillRect/>
          </a:stretch>
        </p:blipFill>
        <p:spPr>
          <a:xfrm>
            <a:off x="1069848" y="5577840"/>
            <a:ext cx="457200" cy="457200"/>
          </a:xfrm>
          <a:prstGeom prst="rect">
            <a:avLst/>
          </a:prstGeom>
        </p:spPr>
      </p:pic>
      <p:sp>
        <p:nvSpPr>
          <p:cNvPr id="27" name="TextBox 26"/>
          <p:cNvSpPr txBox="1"/>
          <p:nvPr/>
        </p:nvSpPr>
        <p:spPr>
          <a:xfrm>
            <a:off x="1709928" y="5440680"/>
            <a:ext cx="9409176" cy="73152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KI-Begleiter dieser Phase: </a:t>
            </a:r>
            <a:r>
              <a:rPr sz="1500" b="1" i="0">
                <a:solidFill>
                  <a:srgbClr val="FB2762"/>
                </a:solidFill>
                <a:latin typeface="Roboto"/>
              </a:rPr>
              <a:t>Prototyp-Werkstatt</a:t>
            </a:r>
            <a:r>
              <a:rPr sz="1500" b="0" i="0">
                <a:solidFill>
                  <a:srgbClr val="0E1F53"/>
                </a:solidFill>
                <a:latin typeface="Roboto"/>
              </a:rPr>
              <a:t> – baut Landingpages, Storyboards und Material in Minuten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Rounded Rectangle 9"/>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2" name="TextBox 11"/>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Welche Annahme ist die riskanteste, und muss zuerst getestet werden?</a:t>
            </a:r>
          </a:p>
          <a:p>
            <a:pPr algn="l" marL="164592" indent="-164592">
              <a:spcAft>
                <a:spcPts val="700"/>
              </a:spcAft>
              <a:buClr>
                <a:srgbClr val="FB2762"/>
              </a:buClr>
              <a:buFont typeface="Arial"/>
              <a:buChar char="?"/>
            </a:pPr>
            <a:r>
              <a:rPr sz="1350" b="0" i="0">
                <a:solidFill>
                  <a:srgbClr val="FFFFFF"/>
                </a:solidFill>
                <a:latin typeface="Roboto"/>
              </a:rPr>
              <a:t>Was ist die einfachste Form, die diese Annahme testbar macht?</a:t>
            </a:r>
          </a:p>
          <a:p>
            <a:pPr algn="l" marL="164592" indent="-164592">
              <a:spcAft>
                <a:spcPts val="700"/>
              </a:spcAft>
              <a:buClr>
                <a:srgbClr val="FB2762"/>
              </a:buClr>
              <a:buFont typeface="Arial"/>
              <a:buChar char="?"/>
            </a:pPr>
            <a:r>
              <a:rPr sz="1350" b="0" i="0">
                <a:solidFill>
                  <a:srgbClr val="FFFFFF"/>
                </a:solidFill>
                <a:latin typeface="Roboto"/>
              </a:rPr>
              <a:t>Was muss echt aussehen, was darf skizziert sein?</a:t>
            </a:r>
          </a:p>
          <a:p>
            <a:pPr algn="l" marL="164592" indent="-164592">
              <a:spcAft>
                <a:spcPts val="700"/>
              </a:spcAft>
              <a:buClr>
                <a:srgbClr val="FB2762"/>
              </a:buClr>
              <a:buFont typeface="Arial"/>
              <a:buChar char="?"/>
            </a:pPr>
            <a:r>
              <a:rPr sz="1350" b="0" i="0">
                <a:solidFill>
                  <a:srgbClr val="FFFFFF"/>
                </a:solidFill>
                <a:latin typeface="Roboto"/>
              </a:rPr>
              <a:t>Wie viel investieren wir maximal? Faustregel: Stunden, nicht Wochen.</a:t>
            </a:r>
          </a:p>
          <a:p>
            <a:pPr algn="l" marL="164592" indent="-164592">
              <a:spcAft>
                <a:spcPts val="700"/>
              </a:spcAft>
              <a:buClr>
                <a:srgbClr val="FB2762"/>
              </a:buClr>
              <a:buFont typeface="Arial"/>
              <a:buChar char="?"/>
            </a:pPr>
            <a:r>
              <a:rPr sz="1350" b="0" i="0">
                <a:solidFill>
                  <a:srgbClr val="FFFFFF"/>
                </a:solidFill>
                <a:latin typeface="Roboto"/>
              </a:rPr>
              <a:t>Wer baut was bis wann?</a:t>
            </a:r>
          </a:p>
        </p:txBody>
      </p:sp>
      <p:sp>
        <p:nvSpPr>
          <p:cNvPr id="13" name="Rounded Rectangle 12"/>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PencilRuler_w.png"/>
          <p:cNvPicPr>
            <a:picLocks noChangeAspect="1"/>
          </p:cNvPicPr>
          <p:nvPr/>
        </p:nvPicPr>
        <p:blipFill>
          <a:blip r:embed="rId3"/>
          <a:stretch>
            <a:fillRect/>
          </a:stretch>
        </p:blipFill>
        <p:spPr>
          <a:xfrm>
            <a:off x="5650260" y="2340132"/>
            <a:ext cx="275783" cy="275783"/>
          </a:xfrm>
          <a:prstGeom prst="rect">
            <a:avLst/>
          </a:prstGeom>
        </p:spPr>
      </p:pic>
      <p:sp>
        <p:nvSpPr>
          <p:cNvPr id="16" name="TextBox 15"/>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Storyboard &amp; Papier</a:t>
            </a:r>
          </a:p>
        </p:txBody>
      </p:sp>
      <p:sp>
        <p:nvSpPr>
          <p:cNvPr id="17" name="TextBox 16"/>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Die Idee als Comic in 4–6 Bildern oder als Papier-Modell.</a:t>
            </a:r>
          </a:p>
        </p:txBody>
      </p:sp>
      <p:sp>
        <p:nvSpPr>
          <p:cNvPr id="18" name="Rounded Rectangle 17"/>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Users_w.png"/>
          <p:cNvPicPr>
            <a:picLocks noChangeAspect="1"/>
          </p:cNvPicPr>
          <p:nvPr/>
        </p:nvPicPr>
        <p:blipFill>
          <a:blip r:embed="rId4"/>
          <a:stretch>
            <a:fillRect/>
          </a:stretch>
        </p:blipFill>
        <p:spPr>
          <a:xfrm>
            <a:off x="8800368" y="2340132"/>
            <a:ext cx="275783" cy="275783"/>
          </a:xfrm>
          <a:prstGeom prst="rect">
            <a:avLst/>
          </a:prstGeom>
        </p:spPr>
      </p:pic>
      <p:sp>
        <p:nvSpPr>
          <p:cNvPr id="21" name="TextBox 20"/>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Rollenspiel</a:t>
            </a:r>
          </a:p>
        </p:txBody>
      </p:sp>
      <p:sp>
        <p:nvSpPr>
          <p:cNvPr id="22" name="TextBox 21"/>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Den Service nachspielen: Wer sagt was, wann, wo?</a:t>
            </a:r>
          </a:p>
        </p:txBody>
      </p:sp>
      <p:sp>
        <p:nvSpPr>
          <p:cNvPr id="23" name="Rounded Rectangle 22"/>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Smartphone_w.png"/>
          <p:cNvPicPr>
            <a:picLocks noChangeAspect="1"/>
          </p:cNvPicPr>
          <p:nvPr/>
        </p:nvPicPr>
        <p:blipFill>
          <a:blip r:embed="rId5"/>
          <a:stretch>
            <a:fillRect/>
          </a:stretch>
        </p:blipFill>
        <p:spPr>
          <a:xfrm>
            <a:off x="5650260" y="4397532"/>
            <a:ext cx="275783" cy="275783"/>
          </a:xfrm>
          <a:prstGeom prst="rect">
            <a:avLst/>
          </a:prstGeom>
        </p:spPr>
      </p:pic>
      <p:sp>
        <p:nvSpPr>
          <p:cNvPr id="26" name="TextBox 25"/>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Landingpage &amp; Klick-Prototyp</a:t>
            </a:r>
          </a:p>
        </p:txBody>
      </p:sp>
      <p:sp>
        <p:nvSpPr>
          <p:cNvPr id="27" name="TextBox 26"/>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Eine Seite, die so tut, als gäbe es das Angebot schon.</a:t>
            </a:r>
          </a:p>
        </p:txBody>
      </p:sp>
      <p:sp>
        <p:nvSpPr>
          <p:cNvPr id="28" name="Rounded Rectangle 27"/>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WandSparkles_w.png"/>
          <p:cNvPicPr>
            <a:picLocks noChangeAspect="1"/>
          </p:cNvPicPr>
          <p:nvPr/>
        </p:nvPicPr>
        <p:blipFill>
          <a:blip r:embed="rId6"/>
          <a:stretch>
            <a:fillRect/>
          </a:stretch>
        </p:blipFill>
        <p:spPr>
          <a:xfrm>
            <a:off x="8800368" y="4397532"/>
            <a:ext cx="275783" cy="275783"/>
          </a:xfrm>
          <a:prstGeom prst="rect">
            <a:avLst/>
          </a:prstGeom>
        </p:spPr>
      </p:pic>
      <p:sp>
        <p:nvSpPr>
          <p:cNvPr id="31" name="TextBox 30"/>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Wizard of Oz</a:t>
            </a:r>
          </a:p>
        </p:txBody>
      </p:sp>
      <p:sp>
        <p:nvSpPr>
          <p:cNvPr id="32" name="TextBox 31"/>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Die Technik fehlt noch? Ein Mensch spielt sie im Hintergrund.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Wie viel Prototyp braucht es? So einfach wie möglich</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Rounded Rectangle 9"/>
          <p:cNvSpPr/>
          <p:nvPr/>
        </p:nvSpPr>
        <p:spPr>
          <a:xfrm>
            <a:off x="841248" y="4526279"/>
            <a:ext cx="1954987" cy="14630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24128" y="4690871"/>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PencilRuler_w.png"/>
          <p:cNvPicPr>
            <a:picLocks noChangeAspect="1"/>
          </p:cNvPicPr>
          <p:nvPr/>
        </p:nvPicPr>
        <p:blipFill>
          <a:blip r:embed="rId3"/>
          <a:stretch>
            <a:fillRect/>
          </a:stretch>
        </p:blipFill>
        <p:spPr>
          <a:xfrm>
            <a:off x="1144828" y="4811572"/>
            <a:ext cx="261518" cy="261518"/>
          </a:xfrm>
          <a:prstGeom prst="rect">
            <a:avLst/>
          </a:prstGeom>
        </p:spPr>
      </p:pic>
      <p:sp>
        <p:nvSpPr>
          <p:cNvPr id="13" name="TextBox 12"/>
          <p:cNvSpPr txBox="1"/>
          <p:nvPr/>
        </p:nvSpPr>
        <p:spPr>
          <a:xfrm>
            <a:off x="1024128" y="5276088"/>
            <a:ext cx="1589227" cy="685800"/>
          </a:xfrm>
          <a:prstGeom prst="rect">
            <a:avLst/>
          </a:prstGeom>
          <a:noFill/>
        </p:spPr>
        <p:txBody>
          <a:bodyPr wrap="square" lIns="0" rIns="0" tIns="0" bIns="0" anchor="t"/>
          <a:lstStyle/>
          <a:p>
            <a:pPr algn="l">
              <a:spcAft>
                <a:spcPts val="100"/>
              </a:spcAft>
              <a:buNone/>
            </a:pPr>
            <a:r>
              <a:rPr sz="1450" b="1" i="0">
                <a:solidFill>
                  <a:srgbClr val="0E1F53"/>
                </a:solidFill>
                <a:latin typeface="Roboto"/>
              </a:rPr>
              <a:t>Skizze &amp; Papier</a:t>
            </a:r>
          </a:p>
          <a:p>
            <a:pPr algn="l">
              <a:spcAft>
                <a:spcPts val="0"/>
              </a:spcAft>
              <a:buNone/>
            </a:pPr>
            <a:r>
              <a:rPr sz="1150" b="0" i="0">
                <a:solidFill>
                  <a:srgbClr val="5A6684"/>
                </a:solidFill>
                <a:latin typeface="Roboto"/>
              </a:rPr>
              <a:t>Minuten · Idee verstehen</a:t>
            </a:r>
          </a:p>
        </p:txBody>
      </p:sp>
      <p:sp>
        <p:nvSpPr>
          <p:cNvPr id="14" name="Rounded Rectangle 13"/>
          <p:cNvSpPr/>
          <p:nvPr/>
        </p:nvSpPr>
        <p:spPr>
          <a:xfrm>
            <a:off x="2979115" y="4069079"/>
            <a:ext cx="1954987" cy="19202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161995" y="4233671"/>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Layers_w.png"/>
          <p:cNvPicPr>
            <a:picLocks noChangeAspect="1"/>
          </p:cNvPicPr>
          <p:nvPr/>
        </p:nvPicPr>
        <p:blipFill>
          <a:blip r:embed="rId4"/>
          <a:stretch>
            <a:fillRect/>
          </a:stretch>
        </p:blipFill>
        <p:spPr>
          <a:xfrm>
            <a:off x="3282696" y="4354372"/>
            <a:ext cx="261518" cy="261518"/>
          </a:xfrm>
          <a:prstGeom prst="rect">
            <a:avLst/>
          </a:prstGeom>
        </p:spPr>
      </p:pic>
      <p:sp>
        <p:nvSpPr>
          <p:cNvPr id="17" name="TextBox 16"/>
          <p:cNvSpPr txBox="1"/>
          <p:nvPr/>
        </p:nvSpPr>
        <p:spPr>
          <a:xfrm>
            <a:off x="3161995" y="4818888"/>
            <a:ext cx="1589227" cy="685800"/>
          </a:xfrm>
          <a:prstGeom prst="rect">
            <a:avLst/>
          </a:prstGeom>
          <a:noFill/>
        </p:spPr>
        <p:txBody>
          <a:bodyPr wrap="square" lIns="0" rIns="0" tIns="0" bIns="0" anchor="t"/>
          <a:lstStyle/>
          <a:p>
            <a:pPr algn="l">
              <a:spcAft>
                <a:spcPts val="100"/>
              </a:spcAft>
              <a:buNone/>
            </a:pPr>
            <a:r>
              <a:rPr sz="1450" b="1" i="0">
                <a:solidFill>
                  <a:srgbClr val="0E1F53"/>
                </a:solidFill>
                <a:latin typeface="Roboto"/>
              </a:rPr>
              <a:t>Storyboard</a:t>
            </a:r>
          </a:p>
          <a:p>
            <a:pPr algn="l">
              <a:spcAft>
                <a:spcPts val="0"/>
              </a:spcAft>
              <a:buNone/>
            </a:pPr>
            <a:r>
              <a:rPr sz="1150" b="0" i="0">
                <a:solidFill>
                  <a:srgbClr val="5A6684"/>
                </a:solidFill>
                <a:latin typeface="Roboto"/>
              </a:rPr>
              <a:t>1 Stunde · Ablauf erleben</a:t>
            </a:r>
          </a:p>
        </p:txBody>
      </p:sp>
      <p:sp>
        <p:nvSpPr>
          <p:cNvPr id="18" name="Rounded Rectangle 17"/>
          <p:cNvSpPr/>
          <p:nvPr/>
        </p:nvSpPr>
        <p:spPr>
          <a:xfrm>
            <a:off x="5116982" y="3611879"/>
            <a:ext cx="1954987" cy="2377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299862" y="3776472"/>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Users_w.png"/>
          <p:cNvPicPr>
            <a:picLocks noChangeAspect="1"/>
          </p:cNvPicPr>
          <p:nvPr/>
        </p:nvPicPr>
        <p:blipFill>
          <a:blip r:embed="rId5"/>
          <a:stretch>
            <a:fillRect/>
          </a:stretch>
        </p:blipFill>
        <p:spPr>
          <a:xfrm>
            <a:off x="5420563" y="3897172"/>
            <a:ext cx="261518" cy="261518"/>
          </a:xfrm>
          <a:prstGeom prst="rect">
            <a:avLst/>
          </a:prstGeom>
        </p:spPr>
      </p:pic>
      <p:sp>
        <p:nvSpPr>
          <p:cNvPr id="21" name="TextBox 20"/>
          <p:cNvSpPr txBox="1"/>
          <p:nvPr/>
        </p:nvSpPr>
        <p:spPr>
          <a:xfrm>
            <a:off x="5299862" y="4361688"/>
            <a:ext cx="1589227" cy="685800"/>
          </a:xfrm>
          <a:prstGeom prst="rect">
            <a:avLst/>
          </a:prstGeom>
          <a:noFill/>
        </p:spPr>
        <p:txBody>
          <a:bodyPr wrap="square" lIns="0" rIns="0" tIns="0" bIns="0" anchor="t"/>
          <a:lstStyle/>
          <a:p>
            <a:pPr algn="l">
              <a:spcAft>
                <a:spcPts val="100"/>
              </a:spcAft>
              <a:buNone/>
            </a:pPr>
            <a:r>
              <a:rPr sz="1450" b="1" i="0">
                <a:solidFill>
                  <a:srgbClr val="0E1F53"/>
                </a:solidFill>
                <a:latin typeface="Roboto"/>
              </a:rPr>
              <a:t>Rollenspiel</a:t>
            </a:r>
          </a:p>
          <a:p>
            <a:pPr algn="l">
              <a:spcAft>
                <a:spcPts val="0"/>
              </a:spcAft>
              <a:buNone/>
            </a:pPr>
            <a:r>
              <a:rPr sz="1150" b="0" i="0">
                <a:solidFill>
                  <a:srgbClr val="5A6684"/>
                </a:solidFill>
                <a:latin typeface="Roboto"/>
              </a:rPr>
              <a:t>1 Stunde · Service durchspielen</a:t>
            </a:r>
          </a:p>
        </p:txBody>
      </p:sp>
      <p:sp>
        <p:nvSpPr>
          <p:cNvPr id="22" name="Rounded Rectangle 21"/>
          <p:cNvSpPr/>
          <p:nvPr/>
        </p:nvSpPr>
        <p:spPr>
          <a:xfrm>
            <a:off x="7254849" y="3154679"/>
            <a:ext cx="1954987" cy="283464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437729" y="3319272"/>
            <a:ext cx="502920" cy="502920"/>
          </a:xfrm>
          <a:prstGeom prst="ellipse">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Smartphone_w.png"/>
          <p:cNvPicPr>
            <a:picLocks noChangeAspect="1"/>
          </p:cNvPicPr>
          <p:nvPr/>
        </p:nvPicPr>
        <p:blipFill>
          <a:blip r:embed="rId6"/>
          <a:stretch>
            <a:fillRect/>
          </a:stretch>
        </p:blipFill>
        <p:spPr>
          <a:xfrm>
            <a:off x="7558430" y="3439972"/>
            <a:ext cx="261518" cy="261518"/>
          </a:xfrm>
          <a:prstGeom prst="rect">
            <a:avLst/>
          </a:prstGeom>
        </p:spPr>
      </p:pic>
      <p:sp>
        <p:nvSpPr>
          <p:cNvPr id="25" name="TextBox 24"/>
          <p:cNvSpPr txBox="1"/>
          <p:nvPr/>
        </p:nvSpPr>
        <p:spPr>
          <a:xfrm>
            <a:off x="7437729" y="3904487"/>
            <a:ext cx="1589227" cy="685800"/>
          </a:xfrm>
          <a:prstGeom prst="rect">
            <a:avLst/>
          </a:prstGeom>
          <a:noFill/>
        </p:spPr>
        <p:txBody>
          <a:bodyPr wrap="square" lIns="0" rIns="0" tIns="0" bIns="0" anchor="t"/>
          <a:lstStyle/>
          <a:p>
            <a:pPr algn="l">
              <a:spcAft>
                <a:spcPts val="100"/>
              </a:spcAft>
              <a:buNone/>
            </a:pPr>
            <a:r>
              <a:rPr sz="1450" b="1" i="0">
                <a:solidFill>
                  <a:srgbClr val="FFFFFF"/>
                </a:solidFill>
                <a:latin typeface="Roboto"/>
              </a:rPr>
              <a:t>Klick-Prototyp</a:t>
            </a:r>
          </a:p>
          <a:p>
            <a:pPr algn="l">
              <a:spcAft>
                <a:spcPts val="0"/>
              </a:spcAft>
              <a:buNone/>
            </a:pPr>
            <a:r>
              <a:rPr sz="1150" b="0" i="0">
                <a:solidFill>
                  <a:srgbClr val="C9D6EE"/>
                </a:solidFill>
                <a:latin typeface="Roboto"/>
              </a:rPr>
              <a:t>halber Tag · Bedienung testen</a:t>
            </a:r>
          </a:p>
        </p:txBody>
      </p:sp>
      <p:sp>
        <p:nvSpPr>
          <p:cNvPr id="26" name="Rounded Rectangle 25"/>
          <p:cNvSpPr/>
          <p:nvPr/>
        </p:nvSpPr>
        <p:spPr>
          <a:xfrm>
            <a:off x="9392716" y="2697479"/>
            <a:ext cx="1954987" cy="329184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575596" y="2862072"/>
            <a:ext cx="502920" cy="5029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uLink_w.png"/>
          <p:cNvPicPr>
            <a:picLocks noChangeAspect="1"/>
          </p:cNvPicPr>
          <p:nvPr/>
        </p:nvPicPr>
        <p:blipFill>
          <a:blip r:embed="rId7"/>
          <a:stretch>
            <a:fillRect/>
          </a:stretch>
        </p:blipFill>
        <p:spPr>
          <a:xfrm>
            <a:off x="9696297" y="2982772"/>
            <a:ext cx="261518" cy="261518"/>
          </a:xfrm>
          <a:prstGeom prst="rect">
            <a:avLst/>
          </a:prstGeom>
        </p:spPr>
      </p:pic>
      <p:sp>
        <p:nvSpPr>
          <p:cNvPr id="29" name="TextBox 28"/>
          <p:cNvSpPr txBox="1"/>
          <p:nvPr/>
        </p:nvSpPr>
        <p:spPr>
          <a:xfrm>
            <a:off x="9575596" y="3447287"/>
            <a:ext cx="1589227" cy="685800"/>
          </a:xfrm>
          <a:prstGeom prst="rect">
            <a:avLst/>
          </a:prstGeom>
          <a:noFill/>
        </p:spPr>
        <p:txBody>
          <a:bodyPr wrap="square" lIns="0" rIns="0" tIns="0" bIns="0" anchor="t"/>
          <a:lstStyle/>
          <a:p>
            <a:pPr algn="l">
              <a:spcAft>
                <a:spcPts val="100"/>
              </a:spcAft>
              <a:buNone/>
            </a:pPr>
            <a:r>
              <a:rPr sz="1450" b="1" i="0">
                <a:solidFill>
                  <a:srgbClr val="FFFFFF"/>
                </a:solidFill>
                <a:latin typeface="Roboto"/>
              </a:rPr>
              <a:t>Landingpage</a:t>
            </a:r>
          </a:p>
          <a:p>
            <a:pPr algn="l">
              <a:spcAft>
                <a:spcPts val="0"/>
              </a:spcAft>
              <a:buNone/>
            </a:pPr>
            <a:r>
              <a:rPr sz="1150" b="0" i="0">
                <a:solidFill>
                  <a:srgbClr val="C9D6EE"/>
                </a:solidFill>
                <a:latin typeface="Roboto"/>
              </a:rPr>
              <a:t>halber Tag · Nachfrage messen</a:t>
            </a:r>
          </a:p>
        </p:txBody>
      </p:sp>
      <p:sp>
        <p:nvSpPr>
          <p:cNvPr id="30" name="TextBox 29"/>
          <p:cNvSpPr txBox="1"/>
          <p:nvPr/>
        </p:nvSpPr>
        <p:spPr>
          <a:xfrm>
            <a:off x="841248" y="2011680"/>
            <a:ext cx="5669280" cy="822960"/>
          </a:xfrm>
          <a:prstGeom prst="rect">
            <a:avLst/>
          </a:prstGeom>
          <a:noFill/>
        </p:spPr>
        <p:txBody>
          <a:bodyPr wrap="square" lIns="0" rIns="0" tIns="0" bIns="0" anchor="t"/>
          <a:lstStyle/>
          <a:p>
            <a:pPr algn="l">
              <a:spcAft>
                <a:spcPts val="400"/>
              </a:spcAft>
              <a:buNone/>
            </a:pPr>
            <a:r>
              <a:rPr sz="1500" b="1" i="0">
                <a:solidFill>
                  <a:srgbClr val="FB2762"/>
                </a:solidFill>
                <a:latin typeface="Roboto"/>
              </a:rPr>
              <a:t>Faustregel: </a:t>
            </a:r>
            <a:r>
              <a:rPr sz="1500" b="0" i="0">
                <a:solidFill>
                  <a:srgbClr val="0E1F53"/>
                </a:solidFill>
                <a:latin typeface="Roboto"/>
              </a:rPr>
              <a:t>Bauen Sie nur so viel, wie Sie zum Testen Ihrer riskantesten Annahme brauchen.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Rounded Rectangle 9"/>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ot_w.png"/>
          <p:cNvPicPr>
            <a:picLocks noChangeAspect="1"/>
          </p:cNvPicPr>
          <p:nvPr/>
        </p:nvPicPr>
        <p:blipFill>
          <a:blip r:embed="rId3"/>
          <a:stretch>
            <a:fillRect/>
          </a:stretch>
        </p:blipFill>
        <p:spPr>
          <a:xfrm>
            <a:off x="1169700" y="2321844"/>
            <a:ext cx="275783" cy="275783"/>
          </a:xfrm>
          <a:prstGeom prst="rect">
            <a:avLst/>
          </a:prstGeom>
        </p:spPr>
      </p:pic>
      <p:sp>
        <p:nvSpPr>
          <p:cNvPr id="13" name="TextBox 12"/>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Prototyp-Werkstatt</a:t>
            </a:r>
          </a:p>
        </p:txBody>
      </p:sp>
      <p:sp>
        <p:nvSpPr>
          <p:cNvPr id="14" name="TextBox 13"/>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Landingpage oder Klick-Prototyp per Prompt</a:t>
            </a:r>
          </a:p>
        </p:txBody>
      </p:sp>
      <p:sp>
        <p:nvSpPr>
          <p:cNvPr id="15" name="Rounded Rectangle 14"/>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„Erstelle eine einfache Landingpage für [Idee] mit Nutzenversprechen und Anmeldeformular.“</a:t>
            </a:r>
          </a:p>
        </p:txBody>
      </p:sp>
      <p:sp>
        <p:nvSpPr>
          <p:cNvPr id="17" name="Rounded Rectangle 16"/>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WandSparkles_w.png"/>
          <p:cNvPicPr>
            <a:picLocks noChangeAspect="1"/>
          </p:cNvPicPr>
          <p:nvPr/>
        </p:nvPicPr>
        <p:blipFill>
          <a:blip r:embed="rId4"/>
          <a:stretch>
            <a:fillRect/>
          </a:stretch>
        </p:blipFill>
        <p:spPr>
          <a:xfrm>
            <a:off x="6560088" y="2321844"/>
            <a:ext cx="275783" cy="275783"/>
          </a:xfrm>
          <a:prstGeom prst="rect">
            <a:avLst/>
          </a:prstGeom>
        </p:spPr>
      </p:pic>
      <p:sp>
        <p:nvSpPr>
          <p:cNvPr id="20" name="TextBox 19"/>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Bild-KI für Storyboards</a:t>
            </a:r>
          </a:p>
        </p:txBody>
      </p:sp>
      <p:sp>
        <p:nvSpPr>
          <p:cNvPr id="21" name="TextBox 20"/>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Szenen in Minuten statt Stunden zeichnen</a:t>
            </a:r>
          </a:p>
        </p:txBody>
      </p:sp>
      <p:sp>
        <p:nvSpPr>
          <p:cNvPr id="22" name="Rounded Rectangle 21"/>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„Zeichne ein Storyboard in 4 Bildern: [Szenen], einfacher Skizzenstil.“</a:t>
            </a:r>
          </a:p>
        </p:txBody>
      </p:sp>
      <p:sp>
        <p:nvSpPr>
          <p:cNvPr id="24" name="Rounded Rectangle 23"/>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Megaphone_w.png"/>
          <p:cNvPicPr>
            <a:picLocks noChangeAspect="1"/>
          </p:cNvPicPr>
          <p:nvPr/>
        </p:nvPicPr>
        <p:blipFill>
          <a:blip r:embed="rId5"/>
          <a:stretch>
            <a:fillRect/>
          </a:stretch>
        </p:blipFill>
        <p:spPr>
          <a:xfrm>
            <a:off x="1169700" y="4351812"/>
            <a:ext cx="275783" cy="275783"/>
          </a:xfrm>
          <a:prstGeom prst="rect">
            <a:avLst/>
          </a:prstGeom>
        </p:spPr>
      </p:pic>
      <p:sp>
        <p:nvSpPr>
          <p:cNvPr id="27" name="TextBox 26"/>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Texte &amp; Material</a:t>
            </a:r>
          </a:p>
        </p:txBody>
      </p:sp>
      <p:sp>
        <p:nvSpPr>
          <p:cNvPr id="28" name="TextBox 27"/>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Flyer, Social-Post, Ablaufplan, FAQ</a:t>
            </a:r>
          </a:p>
        </p:txBody>
      </p:sp>
      <p:sp>
        <p:nvSpPr>
          <p:cNvPr id="29" name="Rounded Rectangle 28"/>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„Schreibe einen Flyer für [Idee], Zielgruppe [Persona], max. 80 Wörter.“</a:t>
            </a:r>
          </a:p>
        </p:txBody>
      </p:sp>
      <p:sp>
        <p:nvSpPr>
          <p:cNvPr id="31" name="Rounded Rectangle 30"/>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MessagesSquare_w.png"/>
          <p:cNvPicPr>
            <a:picLocks noChangeAspect="1"/>
          </p:cNvPicPr>
          <p:nvPr/>
        </p:nvPicPr>
        <p:blipFill>
          <a:blip r:embed="rId6"/>
          <a:stretch>
            <a:fillRect/>
          </a:stretch>
        </p:blipFill>
        <p:spPr>
          <a:xfrm>
            <a:off x="6560088" y="4351812"/>
            <a:ext cx="275783" cy="275783"/>
          </a:xfrm>
          <a:prstGeom prst="rect">
            <a:avLst/>
          </a:prstGeom>
        </p:spPr>
      </p:pic>
      <p:sp>
        <p:nvSpPr>
          <p:cNvPr id="34" name="TextBox 33"/>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Rollenspiel-Skript</a:t>
            </a:r>
          </a:p>
        </p:txBody>
      </p:sp>
      <p:sp>
        <p:nvSpPr>
          <p:cNvPr id="35" name="TextBox 34"/>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Dialog für die Service-Simulation</a:t>
            </a:r>
          </a:p>
        </p:txBody>
      </p:sp>
      <p:sp>
        <p:nvSpPr>
          <p:cNvPr id="36" name="Rounded Rectangle 35"/>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„Schreibe ein Skript für den Ablauf von [Service] aus Sicht der Kundin.“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Prototyp-Werkstatt</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Rounded Rectangle 9"/>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Prototyp-Werkstatt</a:t>
            </a:r>
          </a:p>
        </p:txBody>
      </p:sp>
      <p:sp>
        <p:nvSpPr>
          <p:cNvPr id="16" name="Rounded Rectangle 15"/>
          <p:cNvSpPr/>
          <p:nvPr/>
        </p:nvSpPr>
        <p:spPr>
          <a:xfrm>
            <a:off x="969264" y="2487168"/>
            <a:ext cx="7470648" cy="514916"/>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8" name="TextBox 17"/>
          <p:cNvSpPr txBox="1"/>
          <p:nvPr/>
        </p:nvSpPr>
        <p:spPr>
          <a:xfrm>
            <a:off x="2020824" y="2523744"/>
            <a:ext cx="6309360" cy="441764"/>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die Prototyp-Werkstatt: UX-Designerin und Texterin, spezialisiert auf schnelle, günstige Prototypen.</a:t>
            </a:r>
          </a:p>
        </p:txBody>
      </p:sp>
      <p:sp>
        <p:nvSpPr>
          <p:cNvPr id="19" name="Rounded Rectangle 18"/>
          <p:cNvSpPr/>
          <p:nvPr/>
        </p:nvSpPr>
        <p:spPr>
          <a:xfrm>
            <a:off x="969264" y="3066092"/>
            <a:ext cx="7470648" cy="662716"/>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3120956"/>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1" name="TextBox 20"/>
          <p:cNvSpPr txBox="1"/>
          <p:nvPr/>
        </p:nvSpPr>
        <p:spPr>
          <a:xfrm>
            <a:off x="2020824" y="3102668"/>
            <a:ext cx="6309360" cy="589564"/>
          </a:xfrm>
          <a:prstGeom prst="rect">
            <a:avLst/>
          </a:prstGeom>
          <a:noFill/>
        </p:spPr>
        <p:txBody>
          <a:bodyPr wrap="square" lIns="0" rIns="0" tIns="0" bIns="0" anchor="ctr"/>
          <a:lstStyle/>
          <a:p>
            <a:pPr algn="l">
              <a:spcAft>
                <a:spcPts val="0"/>
              </a:spcAft>
              <a:buNone/>
            </a:pPr>
            <a:r>
              <a:rPr sz="1150" b="0" i="0">
                <a:solidFill>
                  <a:srgbClr val="1B2440"/>
                </a:solidFill>
                <a:latin typeface="Roboto"/>
              </a:rPr>
              <a:t>Phase 4 „Prototypen“. Ausgewählte Idee: [Idee]. Persona: [Kurzprofil]. Riskanteste Annahme: [Annahme]. Corporate Design: [Farben, Schrift].</a:t>
            </a:r>
          </a:p>
        </p:txBody>
      </p:sp>
      <p:sp>
        <p:nvSpPr>
          <p:cNvPr id="22" name="Rounded Rectangle 21"/>
          <p:cNvSpPr/>
          <p:nvPr/>
        </p:nvSpPr>
        <p:spPr>
          <a:xfrm>
            <a:off x="969264" y="3792816"/>
            <a:ext cx="7470648" cy="452935"/>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3847680"/>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4" name="TextBox 23"/>
          <p:cNvSpPr txBox="1"/>
          <p:nvPr/>
        </p:nvSpPr>
        <p:spPr>
          <a:xfrm>
            <a:off x="2020824" y="3829392"/>
            <a:ext cx="6309360" cy="379783"/>
          </a:xfrm>
          <a:prstGeom prst="rect">
            <a:avLst/>
          </a:prstGeom>
          <a:noFill/>
        </p:spPr>
        <p:txBody>
          <a:bodyPr wrap="square" lIns="0" rIns="0" tIns="0" bIns="0" anchor="ctr"/>
          <a:lstStyle/>
          <a:p>
            <a:pPr algn="l">
              <a:spcAft>
                <a:spcPts val="0"/>
              </a:spcAft>
              <a:buNone/>
            </a:pPr>
            <a:r>
              <a:rPr sz="1150" b="0" i="0">
                <a:solidFill>
                  <a:srgbClr val="1B2440"/>
                </a:solidFill>
                <a:latin typeface="Roboto"/>
              </a:rPr>
              <a:t>Entwickle Prototypen, mit denen wir die Annahme mit echten Menschen testen können.</a:t>
            </a:r>
          </a:p>
        </p:txBody>
      </p:sp>
      <p:sp>
        <p:nvSpPr>
          <p:cNvPr id="25" name="Rounded Rectangle 24"/>
          <p:cNvSpPr/>
          <p:nvPr/>
        </p:nvSpPr>
        <p:spPr>
          <a:xfrm>
            <a:off x="969264" y="4309760"/>
            <a:ext cx="7470648" cy="581664"/>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4364624"/>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7" name="TextBox 26"/>
          <p:cNvSpPr txBox="1"/>
          <p:nvPr/>
        </p:nvSpPr>
        <p:spPr>
          <a:xfrm>
            <a:off x="2020824" y="4346336"/>
            <a:ext cx="6309360" cy="508512"/>
          </a:xfrm>
          <a:prstGeom prst="rect">
            <a:avLst/>
          </a:prstGeom>
          <a:noFill/>
        </p:spPr>
        <p:txBody>
          <a:bodyPr wrap="square" lIns="0" rIns="0" tIns="0" bIns="0" anchor="ctr"/>
          <a:lstStyle/>
          <a:p>
            <a:pPr algn="l">
              <a:spcAft>
                <a:spcPts val="0"/>
              </a:spcAft>
              <a:buNone/>
            </a:pPr>
            <a:r>
              <a:rPr sz="1150" b="0" i="0">
                <a:solidFill>
                  <a:srgbClr val="1B2440"/>
                </a:solidFill>
                <a:latin typeface="Roboto"/>
              </a:rPr>
              <a:t>1. Schlage 3 Prototyp-Formen mit Aufwand vor. 2. Baue die gewählte Form. 3. Liste auf, was im Test beobachtet werden soll.</a:t>
            </a:r>
          </a:p>
        </p:txBody>
      </p:sp>
      <p:sp>
        <p:nvSpPr>
          <p:cNvPr id="28" name="Rounded Rectangle 27"/>
          <p:cNvSpPr/>
          <p:nvPr/>
        </p:nvSpPr>
        <p:spPr>
          <a:xfrm>
            <a:off x="969264" y="4955432"/>
            <a:ext cx="7470648" cy="452935"/>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0704" y="5010296"/>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0" name="TextBox 29"/>
          <p:cNvSpPr txBox="1"/>
          <p:nvPr/>
        </p:nvSpPr>
        <p:spPr>
          <a:xfrm>
            <a:off x="2020824" y="4992008"/>
            <a:ext cx="6309360" cy="379783"/>
          </a:xfrm>
          <a:prstGeom prst="rect">
            <a:avLst/>
          </a:prstGeom>
          <a:noFill/>
        </p:spPr>
        <p:txBody>
          <a:bodyPr wrap="square" lIns="0" rIns="0" tIns="0" bIns="0" anchor="ctr"/>
          <a:lstStyle/>
          <a:p>
            <a:pPr algn="l">
              <a:spcAft>
                <a:spcPts val="0"/>
              </a:spcAft>
              <a:buNone/>
            </a:pPr>
            <a:r>
              <a:rPr sz="1150" b="0" i="0">
                <a:solidFill>
                  <a:srgbClr val="1B2440"/>
                </a:solidFill>
                <a:latin typeface="Roboto"/>
              </a:rPr>
              <a:t>Landingpage als eine HTML-Datei. Storyboard: 4–6 Szenen mit Bildbeschreibung und Text.</a:t>
            </a:r>
          </a:p>
        </p:txBody>
      </p:sp>
      <p:sp>
        <p:nvSpPr>
          <p:cNvPr id="31" name="Rounded Rectangle 30"/>
          <p:cNvSpPr/>
          <p:nvPr/>
        </p:nvSpPr>
        <p:spPr>
          <a:xfrm>
            <a:off x="969264" y="5472376"/>
            <a:ext cx="7470648" cy="452935"/>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0704" y="5527240"/>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3" name="TextBox 32"/>
          <p:cNvSpPr txBox="1"/>
          <p:nvPr/>
        </p:nvSpPr>
        <p:spPr>
          <a:xfrm>
            <a:off x="2020824" y="5508952"/>
            <a:ext cx="6309360" cy="379783"/>
          </a:xfrm>
          <a:prstGeom prst="rect">
            <a:avLst/>
          </a:prstGeom>
          <a:noFill/>
        </p:spPr>
        <p:txBody>
          <a:bodyPr wrap="square" lIns="0" rIns="0" tIns="0" bIns="0" anchor="ctr"/>
          <a:lstStyle/>
          <a:p>
            <a:pPr algn="l">
              <a:spcAft>
                <a:spcPts val="0"/>
              </a:spcAft>
              <a:buNone/>
            </a:pPr>
            <a:r>
              <a:rPr sz="1150" b="0" i="0">
                <a:solidFill>
                  <a:srgbClr val="1B2440"/>
                </a:solidFill>
                <a:latin typeface="Roboto"/>
              </a:rPr>
              <a:t>So einfach wie möglich. Keine echten Personendaten im Formular. Prototyp als Test kennzeichnen.</a:t>
            </a:r>
          </a:p>
        </p:txBody>
      </p:sp>
      <p:sp>
        <p:nvSpPr>
          <p:cNvPr id="34" name="Rounded Rectangle 33"/>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6" name="Oval 35"/>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8" name="Oval 37"/>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40" name="Oval 39"/>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42" name="Oval 41"/>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44" name="Oval 43"/>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6" name="Oval 45"/>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8" name="Rounded Rectangle 47"/>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Tipp: </a:t>
            </a:r>
            <a:r>
              <a:rPr sz="1150" b="0" i="0">
                <a:solidFill>
                  <a:srgbClr val="0E1F53"/>
                </a:solidFill>
                <a:latin typeface="Roboto"/>
              </a:rPr>
              <a:t>[Klammern] ausfüllen, 5 echte Fälle testen, nachschärfen.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Rounded Rectangle 9"/>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landingpage-prototyp/SKILL.md</a:t>
            </a:r>
          </a:p>
        </p:txBody>
      </p:sp>
      <p:sp>
        <p:nvSpPr>
          <p:cNvPr id="15" name="TextBox 14"/>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landingpage-prototyp</a:t>
            </a:r>
          </a:p>
          <a:p>
            <a:pPr algn="l">
              <a:spcAft>
                <a:spcPts val="150"/>
              </a:spcAft>
              <a:buNone/>
            </a:pPr>
            <a:r>
              <a:rPr sz="1050" b="0" i="0">
                <a:solidFill>
                  <a:srgbClr val="7FE0A7"/>
                </a:solidFill>
                <a:latin typeface="Roboto Mono"/>
              </a:rPr>
              <a:t>description: Baut einseitige</a:t>
            </a:r>
          </a:p>
          <a:p>
            <a:pPr algn="l">
              <a:spcAft>
                <a:spcPts val="150"/>
              </a:spcAft>
              <a:buNone/>
            </a:pPr>
            <a:r>
              <a:rPr sz="1050" b="0" i="0">
                <a:solidFill>
                  <a:srgbClr val="7FE0A7"/>
                </a:solidFill>
                <a:latin typeface="Roboto Mono"/>
              </a:rPr>
              <a:t>  Test-Landingpages im Corporate</a:t>
            </a:r>
          </a:p>
          <a:p>
            <a:pPr algn="l">
              <a:spcAft>
                <a:spcPts val="150"/>
              </a:spcAft>
              <a:buNone/>
            </a:pPr>
            <a:r>
              <a:rPr sz="1050" b="0" i="0">
                <a:solidFill>
                  <a:srgbClr val="7FE0A7"/>
                </a:solidFill>
                <a:latin typeface="Roboto Mono"/>
              </a:rPr>
              <a:t>  Design.</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Landingpage bauen</a:t>
            </a:r>
          </a:p>
          <a:p>
            <a:pPr algn="l">
              <a:spcAft>
                <a:spcPts val="150"/>
              </a:spcAft>
              <a:buNone/>
            </a:pPr>
            <a:r>
              <a:rPr sz="1050" b="0" i="0">
                <a:solidFill>
                  <a:srgbClr val="C9D6EE"/>
                </a:solidFill>
                <a:latin typeface="Roboto Mono"/>
              </a:rPr>
              <a:t>1. Überschrift = Nutzenversprechen</a:t>
            </a:r>
          </a:p>
          <a:p>
            <a:pPr algn="l">
              <a:spcAft>
                <a:spcPts val="150"/>
              </a:spcAft>
              <a:buNone/>
            </a:pPr>
            <a:r>
              <a:rPr sz="1050" b="0" i="0">
                <a:solidFill>
                  <a:srgbClr val="C9D6EE"/>
                </a:solidFill>
                <a:latin typeface="Roboto Mono"/>
              </a:rPr>
              <a:t>2. Drei Vorteile, kurz</a:t>
            </a:r>
          </a:p>
          <a:p>
            <a:pPr algn="l">
              <a:spcAft>
                <a:spcPts val="150"/>
              </a:spcAft>
              <a:buNone/>
            </a:pPr>
            <a:r>
              <a:rPr sz="1050" b="0" i="0">
                <a:solidFill>
                  <a:srgbClr val="C9D6EE"/>
                </a:solidFill>
                <a:latin typeface="Roboto Mono"/>
              </a:rPr>
              <a:t>3. Ein klarer Button</a:t>
            </a:r>
          </a:p>
          <a:p>
            <a:pPr algn="l">
              <a:spcAft>
                <a:spcPts val="150"/>
              </a:spcAft>
              <a:buNone/>
            </a:pPr>
            <a:r>
              <a:rPr sz="1050" b="0" i="0">
                <a:solidFill>
                  <a:srgbClr val="C9D6EE"/>
                </a:solidFill>
                <a:latin typeface="Roboto Mono"/>
              </a:rPr>
              <a:t>4. Hinweis „Pilotangebot“</a:t>
            </a:r>
          </a:p>
          <a:p>
            <a:pPr algn="l">
              <a:spcAft>
                <a:spcPts val="150"/>
              </a:spcAft>
              <a:buNone/>
            </a:pPr>
            <a:r>
              <a:rPr sz="1050" b="0" i="0">
                <a:solidFill>
                  <a:srgbClr val="C9D6EE"/>
                </a:solidFill>
                <a:latin typeface="Roboto Mono"/>
              </a:rPr>
              <a:t>5. Nur E-Mail abfragen</a:t>
            </a:r>
          </a:p>
          <a:p>
            <a:pPr algn="l">
              <a:spcAft>
                <a:spcPts val="150"/>
              </a:spcAft>
              <a:buNone/>
            </a:pPr>
            <a:r>
              <a:rPr sz="1050" b="0" i="0">
                <a:solidFill>
                  <a:srgbClr val="FFC56B"/>
                </a:solidFill>
                <a:latin typeface="Roboto Mono"/>
              </a:rPr>
              <a:t>Farben: references/ci.md</a:t>
            </a:r>
          </a:p>
        </p:txBody>
      </p:sp>
      <p:sp>
        <p:nvSpPr>
          <p:cNvPr id="16" name="Rounded Rectangle 15"/>
          <p:cNvSpPr/>
          <p:nvPr/>
        </p:nvSpPr>
        <p:spPr>
          <a:xfrm>
            <a:off x="5276088" y="2011680"/>
            <a:ext cx="6071616"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477255" y="2130552"/>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Workflow_w.png"/>
          <p:cNvPicPr>
            <a:picLocks noChangeAspect="1"/>
          </p:cNvPicPr>
          <p:nvPr/>
        </p:nvPicPr>
        <p:blipFill>
          <a:blip r:embed="rId3"/>
          <a:stretch>
            <a:fillRect/>
          </a:stretch>
        </p:blipFill>
        <p:spPr>
          <a:xfrm>
            <a:off x="5586983" y="2240280"/>
            <a:ext cx="237744" cy="237744"/>
          </a:xfrm>
          <a:prstGeom prst="rect">
            <a:avLst/>
          </a:prstGeom>
        </p:spPr>
      </p:pic>
      <p:sp>
        <p:nvSpPr>
          <p:cNvPr id="19" name="TextBox 18"/>
          <p:cNvSpPr txBox="1"/>
          <p:nvPr/>
        </p:nvSpPr>
        <p:spPr>
          <a:xfrm>
            <a:off x="6053327" y="213055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Varianten auf Knopfdruck</a:t>
            </a:r>
          </a:p>
        </p:txBody>
      </p:sp>
      <p:sp>
        <p:nvSpPr>
          <p:cNvPr id="20" name="Rounded Rectangle 19"/>
          <p:cNvSpPr/>
          <p:nvPr/>
        </p:nvSpPr>
        <p:spPr>
          <a:xfrm>
            <a:off x="54772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FileCode_n.png"/>
          <p:cNvPicPr>
            <a:picLocks noChangeAspect="1"/>
          </p:cNvPicPr>
          <p:nvPr/>
        </p:nvPicPr>
        <p:blipFill>
          <a:blip r:embed="rId4"/>
          <a:stretch>
            <a:fillRect/>
          </a:stretch>
        </p:blipFill>
        <p:spPr>
          <a:xfrm>
            <a:off x="5909309" y="2788920"/>
            <a:ext cx="347472" cy="347472"/>
          </a:xfrm>
          <a:prstGeom prst="rect">
            <a:avLst/>
          </a:prstGeom>
        </p:spPr>
      </p:pic>
      <p:sp>
        <p:nvSpPr>
          <p:cNvPr id="22" name="TextBox 21"/>
          <p:cNvSpPr txBox="1"/>
          <p:nvPr/>
        </p:nvSpPr>
        <p:spPr>
          <a:xfrm>
            <a:off x="55229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Vorlage</a:t>
            </a:r>
          </a:p>
          <a:p>
            <a:pPr algn="ctr">
              <a:spcAft>
                <a:spcPts val="0"/>
              </a:spcAft>
              <a:buNone/>
            </a:pPr>
            <a:r>
              <a:rPr sz="1150" b="1" i="0">
                <a:solidFill>
                  <a:srgbClr val="0E1F53"/>
                </a:solidFill>
                <a:latin typeface="Roboto"/>
              </a:rPr>
              <a:t>Landingpage</a:t>
            </a:r>
          </a:p>
        </p:txBody>
      </p:sp>
      <p:sp>
        <p:nvSpPr>
          <p:cNvPr id="23" name="Right Arrow 22"/>
          <p:cNvSpPr/>
          <p:nvPr/>
        </p:nvSpPr>
        <p:spPr>
          <a:xfrm>
            <a:off x="6734555"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9631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Bot_n.png"/>
          <p:cNvPicPr>
            <a:picLocks noChangeAspect="1"/>
          </p:cNvPicPr>
          <p:nvPr/>
        </p:nvPicPr>
        <p:blipFill>
          <a:blip r:embed="rId5"/>
          <a:stretch>
            <a:fillRect/>
          </a:stretch>
        </p:blipFill>
        <p:spPr>
          <a:xfrm>
            <a:off x="7395210" y="2788920"/>
            <a:ext cx="347472" cy="347472"/>
          </a:xfrm>
          <a:prstGeom prst="rect">
            <a:avLst/>
          </a:prstGeom>
        </p:spPr>
      </p:pic>
      <p:sp>
        <p:nvSpPr>
          <p:cNvPr id="26" name="TextBox 25"/>
          <p:cNvSpPr txBox="1"/>
          <p:nvPr/>
        </p:nvSpPr>
        <p:spPr>
          <a:xfrm>
            <a:off x="70088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Agent baut</a:t>
            </a:r>
          </a:p>
          <a:p>
            <a:pPr algn="ctr">
              <a:spcAft>
                <a:spcPts val="0"/>
              </a:spcAft>
              <a:buNone/>
            </a:pPr>
            <a:r>
              <a:rPr sz="1150" b="1" i="0">
                <a:solidFill>
                  <a:srgbClr val="0E1F53"/>
                </a:solidFill>
                <a:latin typeface="Roboto"/>
              </a:rPr>
              <a:t>3 Varianten</a:t>
            </a:r>
          </a:p>
        </p:txBody>
      </p:sp>
      <p:sp>
        <p:nvSpPr>
          <p:cNvPr id="27" name="Right Arrow 26"/>
          <p:cNvSpPr/>
          <p:nvPr/>
        </p:nvSpPr>
        <p:spPr>
          <a:xfrm>
            <a:off x="82204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4490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Link_n.png"/>
          <p:cNvPicPr>
            <a:picLocks noChangeAspect="1"/>
          </p:cNvPicPr>
          <p:nvPr/>
        </p:nvPicPr>
        <p:blipFill>
          <a:blip r:embed="rId6"/>
          <a:stretch>
            <a:fillRect/>
          </a:stretch>
        </p:blipFill>
        <p:spPr>
          <a:xfrm>
            <a:off x="8881110" y="2788920"/>
            <a:ext cx="347472" cy="347472"/>
          </a:xfrm>
          <a:prstGeom prst="rect">
            <a:avLst/>
          </a:prstGeom>
        </p:spPr>
      </p:pic>
      <p:sp>
        <p:nvSpPr>
          <p:cNvPr id="30" name="TextBox 29"/>
          <p:cNvSpPr txBox="1"/>
          <p:nvPr/>
        </p:nvSpPr>
        <p:spPr>
          <a:xfrm>
            <a:off x="84947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Varianten A/B/C</a:t>
            </a:r>
          </a:p>
          <a:p>
            <a:pPr algn="ctr">
              <a:spcAft>
                <a:spcPts val="0"/>
              </a:spcAft>
              <a:buNone/>
            </a:pPr>
            <a:r>
              <a:rPr sz="1150" b="1" i="0">
                <a:solidFill>
                  <a:srgbClr val="0E1F53"/>
                </a:solidFill>
                <a:latin typeface="Roboto"/>
              </a:rPr>
              <a:t>online</a:t>
            </a:r>
          </a:p>
        </p:txBody>
      </p:sp>
      <p:sp>
        <p:nvSpPr>
          <p:cNvPr id="31" name="Right Arrow 30"/>
          <p:cNvSpPr/>
          <p:nvPr/>
        </p:nvSpPr>
        <p:spPr>
          <a:xfrm>
            <a:off x="97063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9349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ChartColumn_n.png"/>
          <p:cNvPicPr>
            <a:picLocks noChangeAspect="1"/>
          </p:cNvPicPr>
          <p:nvPr/>
        </p:nvPicPr>
        <p:blipFill>
          <a:blip r:embed="rId7"/>
          <a:stretch>
            <a:fillRect/>
          </a:stretch>
        </p:blipFill>
        <p:spPr>
          <a:xfrm>
            <a:off x="10367010" y="2788920"/>
            <a:ext cx="347472" cy="347472"/>
          </a:xfrm>
          <a:prstGeom prst="rect">
            <a:avLst/>
          </a:prstGeom>
        </p:spPr>
      </p:pic>
      <p:sp>
        <p:nvSpPr>
          <p:cNvPr id="34" name="TextBox 33"/>
          <p:cNvSpPr txBox="1"/>
          <p:nvPr/>
        </p:nvSpPr>
        <p:spPr>
          <a:xfrm>
            <a:off x="99806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Anmeldungen</a:t>
            </a:r>
          </a:p>
          <a:p>
            <a:pPr algn="ctr">
              <a:spcAft>
                <a:spcPts val="0"/>
              </a:spcAft>
              <a:buNone/>
            </a:pPr>
            <a:r>
              <a:rPr sz="1150" b="1" i="0">
                <a:solidFill>
                  <a:srgbClr val="0E1F53"/>
                </a:solidFill>
                <a:latin typeface="Roboto"/>
              </a:rPr>
              <a:t>in Tabelle</a:t>
            </a:r>
          </a:p>
        </p:txBody>
      </p:sp>
      <p:sp>
        <p:nvSpPr>
          <p:cNvPr id="35" name="TextBox 34"/>
          <p:cNvSpPr txBox="1"/>
          <p:nvPr/>
        </p:nvSpPr>
        <p:spPr>
          <a:xfrm>
            <a:off x="5477255" y="3794760"/>
            <a:ext cx="5669280" cy="411480"/>
          </a:xfrm>
          <a:prstGeom prst="rect">
            <a:avLst/>
          </a:prstGeom>
          <a:noFill/>
        </p:spPr>
        <p:txBody>
          <a:bodyPr wrap="square" lIns="0" rIns="0" tIns="0" bIns="0" anchor="t"/>
          <a:lstStyle/>
          <a:p>
            <a:pPr algn="l">
              <a:spcAft>
                <a:spcPts val="400"/>
              </a:spcAft>
              <a:buNone/>
            </a:pPr>
            <a:r>
              <a:rPr sz="1100" b="0" i="0">
                <a:solidFill>
                  <a:srgbClr val="5A6684"/>
                </a:solidFill>
                <a:latin typeface="Roboto"/>
              </a:rPr>
              <a:t>Drei Überschriften, drei Zielgruppen: Der Agent baut die Varianten, die Formulare schreiben automatisch in eine Tabelle.</a:t>
            </a:r>
          </a:p>
        </p:txBody>
      </p:sp>
      <p:sp>
        <p:nvSpPr>
          <p:cNvPr id="36" name="Rounded Rectangle 35"/>
          <p:cNvSpPr/>
          <p:nvPr/>
        </p:nvSpPr>
        <p:spPr>
          <a:xfrm>
            <a:off x="5276088" y="4434840"/>
            <a:ext cx="6071616"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5477255" y="4553712"/>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uGithub_w.png"/>
          <p:cNvPicPr>
            <a:picLocks noChangeAspect="1"/>
          </p:cNvPicPr>
          <p:nvPr/>
        </p:nvPicPr>
        <p:blipFill>
          <a:blip r:embed="rId8"/>
          <a:stretch>
            <a:fillRect/>
          </a:stretch>
        </p:blipFill>
        <p:spPr>
          <a:xfrm>
            <a:off x="5586983" y="4663440"/>
            <a:ext cx="237744" cy="237744"/>
          </a:xfrm>
          <a:prstGeom prst="rect">
            <a:avLst/>
          </a:prstGeom>
        </p:spPr>
      </p:pic>
      <p:sp>
        <p:nvSpPr>
          <p:cNvPr id="39" name="TextBox 38"/>
          <p:cNvSpPr txBox="1"/>
          <p:nvPr/>
        </p:nvSpPr>
        <p:spPr>
          <a:xfrm>
            <a:off x="6053327" y="455371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Fertige Skills auf GitHub</a:t>
            </a:r>
          </a:p>
        </p:txBody>
      </p:sp>
      <p:sp>
        <p:nvSpPr>
          <p:cNvPr id="40" name="Rounded Rectangle 39"/>
          <p:cNvSpPr/>
          <p:nvPr/>
        </p:nvSpPr>
        <p:spPr>
          <a:xfrm>
            <a:off x="5477255" y="5047488"/>
            <a:ext cx="897774"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storyboard</a:t>
            </a:r>
          </a:p>
        </p:txBody>
      </p:sp>
      <p:sp>
        <p:nvSpPr>
          <p:cNvPr id="41" name="Rounded Rectangle 40"/>
          <p:cNvSpPr/>
          <p:nvPr/>
        </p:nvSpPr>
        <p:spPr>
          <a:xfrm>
            <a:off x="6466470" y="5047488"/>
            <a:ext cx="2019992"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design-sprint-prototype-plan</a:t>
            </a:r>
          </a:p>
        </p:txBody>
      </p:sp>
      <p:sp>
        <p:nvSpPr>
          <p:cNvPr id="42" name="Rounded Rectangle 41"/>
          <p:cNvSpPr/>
          <p:nvPr/>
        </p:nvSpPr>
        <p:spPr>
          <a:xfrm>
            <a:off x="8577903" y="5047488"/>
            <a:ext cx="1209501"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frontend-design</a:t>
            </a:r>
          </a:p>
        </p:txBody>
      </p:sp>
      <p:sp>
        <p:nvSpPr>
          <p:cNvPr id="43" name="Rounded Rectangle 42"/>
          <p:cNvSpPr/>
          <p:nvPr/>
        </p:nvSpPr>
        <p:spPr>
          <a:xfrm>
            <a:off x="9878845" y="5047488"/>
            <a:ext cx="1084810"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canvas-design</a:t>
            </a:r>
          </a:p>
        </p:txBody>
      </p:sp>
      <p:sp>
        <p:nvSpPr>
          <p:cNvPr id="44" name="TextBox 43"/>
          <p:cNvSpPr txBox="1"/>
          <p:nvPr/>
        </p:nvSpPr>
        <p:spPr>
          <a:xfrm>
            <a:off x="5477255" y="5724144"/>
            <a:ext cx="5669280" cy="237744"/>
          </a:xfrm>
          <a:prstGeom prst="rect">
            <a:avLst/>
          </a:prstGeom>
          <a:noFill/>
        </p:spPr>
        <p:txBody>
          <a:bodyPr wrap="square" lIns="0" rIns="0" tIns="0" bIns="0" anchor="t"/>
          <a:lstStyle/>
          <a:p>
            <a:pPr algn="l">
              <a:spcAft>
                <a:spcPts val="400"/>
              </a:spcAft>
              <a:buNone/>
            </a:pPr>
            <a:r>
              <a:rPr sz="950" b="0" i="0">
                <a:solidFill>
                  <a:srgbClr val="5A6684"/>
                </a:solidFill>
                <a:latin typeface="Roboto"/>
              </a:rPr>
              <a:t>GitHub: anthropics/skills · deanpeters/Product-Manager-Skills · product-on-purpose/pm-skills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 Der Prototyp-Werkstatt im Einsatz</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Rounded Rectangle 9"/>
          <p:cNvSpPr/>
          <p:nvPr/>
        </p:nvSpPr>
        <p:spPr>
          <a:xfrm>
            <a:off x="841248" y="2011680"/>
            <a:ext cx="74980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59536" y="2029968"/>
            <a:ext cx="74615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48256"/>
            <a:ext cx="65836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Prototyp-Werkstatt · Hochschule Rhein-Waal</a:t>
            </a:r>
          </a:p>
        </p:txBody>
      </p:sp>
      <p:sp>
        <p:nvSpPr>
          <p:cNvPr id="16" name="Rounded Rectangle 15"/>
          <p:cNvSpPr/>
          <p:nvPr/>
        </p:nvSpPr>
        <p:spPr>
          <a:xfrm>
            <a:off x="969264" y="2487168"/>
            <a:ext cx="7242047" cy="429927"/>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8" name="TextBox 17"/>
          <p:cNvSpPr txBox="1"/>
          <p:nvPr/>
        </p:nvSpPr>
        <p:spPr>
          <a:xfrm>
            <a:off x="2020824" y="2523744"/>
            <a:ext cx="6080759" cy="356775"/>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die Prototyp-Werkstatt der Hochschule Rhein-Waal: UX-Designerin und Texterin.</a:t>
            </a:r>
          </a:p>
        </p:txBody>
      </p:sp>
      <p:sp>
        <p:nvSpPr>
          <p:cNvPr id="19" name="Rounded Rectangle 18"/>
          <p:cNvSpPr/>
          <p:nvPr/>
        </p:nvSpPr>
        <p:spPr>
          <a:xfrm>
            <a:off x="969264" y="2981103"/>
            <a:ext cx="7242047" cy="859854"/>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3035967"/>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1" name="TextBox 20"/>
          <p:cNvSpPr txBox="1"/>
          <p:nvPr/>
        </p:nvSpPr>
        <p:spPr>
          <a:xfrm>
            <a:off x="2020824" y="3017679"/>
            <a:ext cx="6080759" cy="786702"/>
          </a:xfrm>
          <a:prstGeom prst="rect">
            <a:avLst/>
          </a:prstGeom>
          <a:noFill/>
        </p:spPr>
        <p:txBody>
          <a:bodyPr wrap="square" lIns="0" rIns="0" tIns="0" bIns="0" anchor="ctr"/>
          <a:lstStyle/>
          <a:p>
            <a:pPr algn="l">
              <a:spcAft>
                <a:spcPts val="0"/>
              </a:spcAft>
              <a:buNone/>
            </a:pPr>
            <a:r>
              <a:rPr sz="1150" b="0" i="0">
                <a:solidFill>
                  <a:srgbClr val="1B2440"/>
                </a:solidFill>
                <a:latin typeface="Roboto"/>
              </a:rPr>
              <a:t>Idee: Campus-Mittwoch, ein KMU-Challenge-Lab. Studierende lösen jeden Mittwoch echte Aufgaben regionaler Unternehmen. Riskanteste Annahme: Studierende kommen dafür freiwillig auf den Campus.</a:t>
            </a:r>
          </a:p>
        </p:txBody>
      </p:sp>
      <p:sp>
        <p:nvSpPr>
          <p:cNvPr id="22" name="Rounded Rectangle 21"/>
          <p:cNvSpPr/>
          <p:nvPr/>
        </p:nvSpPr>
        <p:spPr>
          <a:xfrm>
            <a:off x="969264" y="3904965"/>
            <a:ext cx="7242047" cy="429927"/>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3959829"/>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4" name="TextBox 23"/>
          <p:cNvSpPr txBox="1"/>
          <p:nvPr/>
        </p:nvSpPr>
        <p:spPr>
          <a:xfrm>
            <a:off x="2020824" y="3941541"/>
            <a:ext cx="6080759" cy="356775"/>
          </a:xfrm>
          <a:prstGeom prst="rect">
            <a:avLst/>
          </a:prstGeom>
          <a:noFill/>
        </p:spPr>
        <p:txBody>
          <a:bodyPr wrap="square" lIns="0" rIns="0" tIns="0" bIns="0" anchor="ctr"/>
          <a:lstStyle/>
          <a:p>
            <a:pPr algn="l">
              <a:spcAft>
                <a:spcPts val="0"/>
              </a:spcAft>
              <a:buNone/>
            </a:pPr>
            <a:r>
              <a:rPr sz="1150" b="0" i="0">
                <a:solidFill>
                  <a:srgbClr val="1B2440"/>
                </a:solidFill>
                <a:latin typeface="Roboto"/>
              </a:rPr>
              <a:t>Baue ein Storyboard und eine Landingpage für einen Fake-Door-Test.</a:t>
            </a:r>
          </a:p>
        </p:txBody>
      </p:sp>
      <p:sp>
        <p:nvSpPr>
          <p:cNvPr id="25" name="Rounded Rectangle 24"/>
          <p:cNvSpPr/>
          <p:nvPr/>
        </p:nvSpPr>
        <p:spPr>
          <a:xfrm>
            <a:off x="969264" y="4398901"/>
            <a:ext cx="7242047" cy="538540"/>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4453765"/>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7" name="TextBox 26"/>
          <p:cNvSpPr txBox="1"/>
          <p:nvPr/>
        </p:nvSpPr>
        <p:spPr>
          <a:xfrm>
            <a:off x="2020824" y="4435477"/>
            <a:ext cx="6080759" cy="465388"/>
          </a:xfrm>
          <a:prstGeom prst="rect">
            <a:avLst/>
          </a:prstGeom>
          <a:noFill/>
        </p:spPr>
        <p:txBody>
          <a:bodyPr wrap="square" lIns="0" rIns="0" tIns="0" bIns="0" anchor="ctr"/>
          <a:lstStyle/>
          <a:p>
            <a:pPr algn="l">
              <a:spcAft>
                <a:spcPts val="0"/>
              </a:spcAft>
              <a:buNone/>
            </a:pPr>
            <a:r>
              <a:rPr sz="1150" b="0" i="0">
                <a:solidFill>
                  <a:srgbClr val="1B2440"/>
                </a:solidFill>
                <a:latin typeface="Roboto"/>
              </a:rPr>
              <a:t>1. Storyboard aus Sicht der Persona Jonas. 2. Landingpage auf Deutsch und Englisch. 3. Beobachtungspunkte für den Test.</a:t>
            </a:r>
          </a:p>
        </p:txBody>
      </p:sp>
      <p:sp>
        <p:nvSpPr>
          <p:cNvPr id="28" name="Rounded Rectangle 27"/>
          <p:cNvSpPr/>
          <p:nvPr/>
        </p:nvSpPr>
        <p:spPr>
          <a:xfrm>
            <a:off x="969264" y="5001449"/>
            <a:ext cx="7242047" cy="429927"/>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0704" y="5056313"/>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0" name="TextBox 29"/>
          <p:cNvSpPr txBox="1"/>
          <p:nvPr/>
        </p:nvSpPr>
        <p:spPr>
          <a:xfrm>
            <a:off x="2020824" y="5038025"/>
            <a:ext cx="6080759" cy="356775"/>
          </a:xfrm>
          <a:prstGeom prst="rect">
            <a:avLst/>
          </a:prstGeom>
          <a:noFill/>
        </p:spPr>
        <p:txBody>
          <a:bodyPr wrap="square" lIns="0" rIns="0" tIns="0" bIns="0" anchor="ctr"/>
          <a:lstStyle/>
          <a:p>
            <a:pPr algn="l">
              <a:spcAft>
                <a:spcPts val="0"/>
              </a:spcAft>
              <a:buNone/>
            </a:pPr>
            <a:r>
              <a:rPr sz="1150" b="0" i="0">
                <a:solidFill>
                  <a:srgbClr val="1B2440"/>
                </a:solidFill>
                <a:latin typeface="Roboto"/>
              </a:rPr>
              <a:t>Storyboard mit 4 Szenen. Landingpage als HTML mit Button „Platz sichern“.</a:t>
            </a:r>
          </a:p>
        </p:txBody>
      </p:sp>
      <p:sp>
        <p:nvSpPr>
          <p:cNvPr id="31" name="Rounded Rectangle 30"/>
          <p:cNvSpPr/>
          <p:nvPr/>
        </p:nvSpPr>
        <p:spPr>
          <a:xfrm>
            <a:off x="969264" y="5495384"/>
            <a:ext cx="7242047" cy="429927"/>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0704" y="5550248"/>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3" name="TextBox 32"/>
          <p:cNvSpPr txBox="1"/>
          <p:nvPr/>
        </p:nvSpPr>
        <p:spPr>
          <a:xfrm>
            <a:off x="2020824" y="5531960"/>
            <a:ext cx="6080759" cy="356775"/>
          </a:xfrm>
          <a:prstGeom prst="rect">
            <a:avLst/>
          </a:prstGeom>
          <a:noFill/>
        </p:spPr>
        <p:txBody>
          <a:bodyPr wrap="square" lIns="0" rIns="0" tIns="0" bIns="0" anchor="ctr"/>
          <a:lstStyle/>
          <a:p>
            <a:pPr algn="l">
              <a:spcAft>
                <a:spcPts val="0"/>
              </a:spcAft>
              <a:buNone/>
            </a:pPr>
            <a:r>
              <a:rPr sz="1150" b="0" i="0">
                <a:solidFill>
                  <a:srgbClr val="1B2440"/>
                </a:solidFill>
                <a:latin typeface="Roboto"/>
              </a:rPr>
              <a:t>HSRW-Farben nutzen. Deutlich als Pilotangebot kennzeichnen. Nur E-Mail-Adresse abfragen.</a:t>
            </a:r>
          </a:p>
        </p:txBody>
      </p:sp>
      <p:sp>
        <p:nvSpPr>
          <p:cNvPr id="34" name="Rounded Rectangle 33"/>
          <p:cNvSpPr/>
          <p:nvPr/>
        </p:nvSpPr>
        <p:spPr>
          <a:xfrm>
            <a:off x="8613648" y="2011680"/>
            <a:ext cx="27340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842248"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PencilRuler_w.png"/>
          <p:cNvPicPr>
            <a:picLocks noChangeAspect="1"/>
          </p:cNvPicPr>
          <p:nvPr/>
        </p:nvPicPr>
        <p:blipFill>
          <a:blip r:embed="rId3"/>
          <a:stretch>
            <a:fillRect/>
          </a:stretch>
        </p:blipFill>
        <p:spPr>
          <a:xfrm>
            <a:off x="8995867" y="2348179"/>
            <a:ext cx="332841" cy="332841"/>
          </a:xfrm>
          <a:prstGeom prst="rect">
            <a:avLst/>
          </a:prstGeom>
        </p:spPr>
      </p:pic>
      <p:sp>
        <p:nvSpPr>
          <p:cNvPr id="37" name="TextBox 36"/>
          <p:cNvSpPr txBox="1"/>
          <p:nvPr/>
        </p:nvSpPr>
        <p:spPr>
          <a:xfrm>
            <a:off x="9619488" y="2194560"/>
            <a:ext cx="1591056" cy="640080"/>
          </a:xfrm>
          <a:prstGeom prst="rect">
            <a:avLst/>
          </a:prstGeom>
          <a:noFill/>
        </p:spPr>
        <p:txBody>
          <a:bodyPr wrap="square" lIns="0" rIns="0" tIns="0" bIns="0" anchor="ctr"/>
          <a:lstStyle/>
          <a:p>
            <a:pPr algn="l">
              <a:spcAft>
                <a:spcPts val="0"/>
              </a:spcAft>
              <a:buNone/>
            </a:pPr>
            <a:r>
              <a:rPr sz="1500" b="1" i="0">
                <a:solidFill>
                  <a:srgbClr val="0E1F53"/>
                </a:solidFill>
                <a:latin typeface="Roboto"/>
              </a:rPr>
              <a:t>Prototyp-Werkstatt</a:t>
            </a:r>
          </a:p>
          <a:p>
            <a:pPr algn="l">
              <a:spcAft>
                <a:spcPts val="0"/>
              </a:spcAft>
              <a:buNone/>
            </a:pPr>
            <a:r>
              <a:rPr sz="1100" b="0" i="0">
                <a:solidFill>
                  <a:srgbClr val="5A6684"/>
                </a:solidFill>
                <a:latin typeface="Roboto"/>
              </a:rPr>
              <a:t>Phase 4 · Prototypen</a:t>
            </a:r>
          </a:p>
        </p:txBody>
      </p:sp>
      <p:sp>
        <p:nvSpPr>
          <p:cNvPr id="38" name="TextBox 37"/>
          <p:cNvSpPr txBox="1"/>
          <p:nvPr/>
        </p:nvSpPr>
        <p:spPr>
          <a:xfrm>
            <a:off x="8842248" y="3063240"/>
            <a:ext cx="2276856"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Im Einsatz</a:t>
            </a:r>
          </a:p>
        </p:txBody>
      </p:sp>
      <p:sp>
        <p:nvSpPr>
          <p:cNvPr id="39" name="Rounded Rectangle 38"/>
          <p:cNvSpPr/>
          <p:nvPr/>
        </p:nvSpPr>
        <p:spPr>
          <a:xfrm>
            <a:off x="8842248" y="3429000"/>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uCheck_p.png"/>
          <p:cNvPicPr>
            <a:picLocks noChangeAspect="1"/>
          </p:cNvPicPr>
          <p:nvPr/>
        </p:nvPicPr>
        <p:blipFill>
          <a:blip r:embed="rId4"/>
          <a:stretch>
            <a:fillRect/>
          </a:stretch>
        </p:blipFill>
        <p:spPr>
          <a:xfrm>
            <a:off x="8933688" y="3502152"/>
            <a:ext cx="237744" cy="237744"/>
          </a:xfrm>
          <a:prstGeom prst="rect">
            <a:avLst/>
          </a:prstGeom>
        </p:spPr>
      </p:pic>
      <p:sp>
        <p:nvSpPr>
          <p:cNvPr id="41" name="TextBox 40"/>
          <p:cNvSpPr txBox="1"/>
          <p:nvPr/>
        </p:nvSpPr>
        <p:spPr>
          <a:xfrm>
            <a:off x="9253728" y="3429000"/>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landingpage-prototyp</a:t>
            </a:r>
          </a:p>
        </p:txBody>
      </p:sp>
      <p:sp>
        <p:nvSpPr>
          <p:cNvPr id="42" name="Rounded Rectangle 41"/>
          <p:cNvSpPr/>
          <p:nvPr/>
        </p:nvSpPr>
        <p:spPr>
          <a:xfrm>
            <a:off x="8842248" y="3904487"/>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LuCheck_p.png"/>
          <p:cNvPicPr>
            <a:picLocks noChangeAspect="1"/>
          </p:cNvPicPr>
          <p:nvPr/>
        </p:nvPicPr>
        <p:blipFill>
          <a:blip r:embed="rId4"/>
          <a:stretch>
            <a:fillRect/>
          </a:stretch>
        </p:blipFill>
        <p:spPr>
          <a:xfrm>
            <a:off x="8933688" y="3977639"/>
            <a:ext cx="237744" cy="237744"/>
          </a:xfrm>
          <a:prstGeom prst="rect">
            <a:avLst/>
          </a:prstGeom>
        </p:spPr>
      </p:pic>
      <p:sp>
        <p:nvSpPr>
          <p:cNvPr id="44" name="TextBox 43"/>
          <p:cNvSpPr txBox="1"/>
          <p:nvPr/>
        </p:nvSpPr>
        <p:spPr>
          <a:xfrm>
            <a:off x="9253728" y="3904487"/>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Bild-KI</a:t>
            </a:r>
          </a:p>
        </p:txBody>
      </p:sp>
      <p:sp>
        <p:nvSpPr>
          <p:cNvPr id="45" name="Rounded Rectangle 44"/>
          <p:cNvSpPr/>
          <p:nvPr/>
        </p:nvSpPr>
        <p:spPr>
          <a:xfrm>
            <a:off x="8842248" y="4379976"/>
            <a:ext cx="2276856" cy="384048"/>
          </a:xfrm>
          <a:prstGeom prst="roundRect">
            <a:avLst>
              <a:gd name="adj" fmla="val 3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LuCheck_p.png"/>
          <p:cNvPicPr>
            <a:picLocks noChangeAspect="1"/>
          </p:cNvPicPr>
          <p:nvPr/>
        </p:nvPicPr>
        <p:blipFill>
          <a:blip r:embed="rId4"/>
          <a:stretch>
            <a:fillRect/>
          </a:stretch>
        </p:blipFill>
        <p:spPr>
          <a:xfrm>
            <a:off x="8933688" y="4453128"/>
            <a:ext cx="237744" cy="237744"/>
          </a:xfrm>
          <a:prstGeom prst="rect">
            <a:avLst/>
          </a:prstGeom>
        </p:spPr>
      </p:pic>
      <p:sp>
        <p:nvSpPr>
          <p:cNvPr id="47" name="TextBox 46"/>
          <p:cNvSpPr txBox="1"/>
          <p:nvPr/>
        </p:nvSpPr>
        <p:spPr>
          <a:xfrm>
            <a:off x="9253728" y="4379976"/>
            <a:ext cx="1819656" cy="384048"/>
          </a:xfrm>
          <a:prstGeom prst="rect">
            <a:avLst/>
          </a:prstGeom>
          <a:noFill/>
        </p:spPr>
        <p:txBody>
          <a:bodyPr wrap="square" lIns="0" rIns="0" tIns="0" bIns="0" anchor="ctr"/>
          <a:lstStyle/>
          <a:p>
            <a:pPr algn="l">
              <a:spcAft>
                <a:spcPts val="400"/>
              </a:spcAft>
              <a:buNone/>
            </a:pPr>
            <a:r>
              <a:rPr sz="1150" b="1" i="0">
                <a:solidFill>
                  <a:srgbClr val="0E1F53"/>
                </a:solidFill>
                <a:latin typeface="Roboto"/>
              </a:rPr>
              <a:t>Skill: frontend-design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Prototypen: Storyboard und Landingpage</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TextBox 9"/>
          <p:cNvSpPr txBox="1"/>
          <p:nvPr/>
        </p:nvSpPr>
        <p:spPr>
          <a:xfrm>
            <a:off x="841248" y="1965960"/>
            <a:ext cx="5486400" cy="320040"/>
          </a:xfrm>
          <a:prstGeom prst="rect">
            <a:avLst/>
          </a:prstGeom>
          <a:noFill/>
        </p:spPr>
        <p:txBody>
          <a:bodyPr wrap="square" lIns="0" rIns="0" tIns="0" bIns="0" anchor="t"/>
          <a:lstStyle/>
          <a:p>
            <a:pPr algn="l">
              <a:spcAft>
                <a:spcPts val="400"/>
              </a:spcAft>
              <a:buNone/>
            </a:pPr>
            <a:r>
              <a:rPr sz="1400" b="1" i="0">
                <a:solidFill>
                  <a:srgbClr val="0E1F53"/>
                </a:solidFill>
                <a:latin typeface="Roboto"/>
              </a:rPr>
              <a:t>Storyboard aus Sicht von Jonas</a:t>
            </a:r>
          </a:p>
        </p:txBody>
      </p:sp>
      <p:sp>
        <p:nvSpPr>
          <p:cNvPr id="11" name="Rounded Rectangle 10"/>
          <p:cNvSpPr/>
          <p:nvPr/>
        </p:nvSpPr>
        <p:spPr>
          <a:xfrm>
            <a:off x="841248" y="2377440"/>
            <a:ext cx="283464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514600"/>
            <a:ext cx="329184" cy="32918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1</a:t>
            </a:r>
          </a:p>
        </p:txBody>
      </p:sp>
      <p:pic>
        <p:nvPicPr>
          <p:cNvPr id="13" name="Picture 12" descr="LuSmartphone_n.png"/>
          <p:cNvPicPr>
            <a:picLocks noChangeAspect="1"/>
          </p:cNvPicPr>
          <p:nvPr/>
        </p:nvPicPr>
        <p:blipFill>
          <a:blip r:embed="rId3"/>
          <a:stretch>
            <a:fillRect/>
          </a:stretch>
        </p:blipFill>
        <p:spPr>
          <a:xfrm>
            <a:off x="3127248" y="2514600"/>
            <a:ext cx="384048" cy="384048"/>
          </a:xfrm>
          <a:prstGeom prst="rect">
            <a:avLst/>
          </a:prstGeom>
        </p:spPr>
      </p:pic>
      <p:sp>
        <p:nvSpPr>
          <p:cNvPr id="14" name="TextBox 13"/>
          <p:cNvSpPr txBox="1"/>
          <p:nvPr/>
        </p:nvSpPr>
        <p:spPr>
          <a:xfrm>
            <a:off x="1408176" y="2514600"/>
            <a:ext cx="1645920" cy="329184"/>
          </a:xfrm>
          <a:prstGeom prst="rect">
            <a:avLst/>
          </a:prstGeom>
          <a:noFill/>
        </p:spPr>
        <p:txBody>
          <a:bodyPr wrap="square" lIns="0" rIns="0" tIns="0" bIns="0" anchor="ctr"/>
          <a:lstStyle/>
          <a:p>
            <a:pPr algn="l">
              <a:spcAft>
                <a:spcPts val="400"/>
              </a:spcAft>
              <a:buNone/>
            </a:pPr>
            <a:r>
              <a:rPr sz="1250" b="1" i="0">
                <a:solidFill>
                  <a:srgbClr val="0E1F53"/>
                </a:solidFill>
                <a:latin typeface="Roboto"/>
              </a:rPr>
              <a:t>Montag</a:t>
            </a:r>
          </a:p>
        </p:txBody>
      </p:sp>
      <p:sp>
        <p:nvSpPr>
          <p:cNvPr id="15" name="TextBox 14"/>
          <p:cNvSpPr txBox="1"/>
          <p:nvPr/>
        </p:nvSpPr>
        <p:spPr>
          <a:xfrm>
            <a:off x="978408" y="2944368"/>
            <a:ext cx="2560320" cy="1097280"/>
          </a:xfrm>
          <a:prstGeom prst="rect">
            <a:avLst/>
          </a:prstGeom>
          <a:noFill/>
        </p:spPr>
        <p:txBody>
          <a:bodyPr wrap="square" lIns="0" rIns="0" tIns="0" bIns="0" anchor="t"/>
          <a:lstStyle/>
          <a:p>
            <a:pPr algn="l">
              <a:spcAft>
                <a:spcPts val="400"/>
              </a:spcAft>
              <a:buNone/>
            </a:pPr>
            <a:r>
              <a:rPr sz="1200" b="0" i="0">
                <a:solidFill>
                  <a:srgbClr val="0E1F53"/>
                </a:solidFill>
                <a:latin typeface="Roboto"/>
              </a:rPr>
              <a:t>Jonas sieht im Newsletter: Bäckerei Hoffmann sucht Ideen, um Azubis zu gewinnen.</a:t>
            </a:r>
          </a:p>
        </p:txBody>
      </p:sp>
      <p:sp>
        <p:nvSpPr>
          <p:cNvPr id="16" name="Rounded Rectangle 15"/>
          <p:cNvSpPr/>
          <p:nvPr/>
        </p:nvSpPr>
        <p:spPr>
          <a:xfrm>
            <a:off x="3858768" y="2377440"/>
            <a:ext cx="283464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3995928" y="2514600"/>
            <a:ext cx="329184" cy="32918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2</a:t>
            </a:r>
          </a:p>
        </p:txBody>
      </p:sp>
      <p:pic>
        <p:nvPicPr>
          <p:cNvPr id="18" name="Picture 17" descr="LuUsers_n.png"/>
          <p:cNvPicPr>
            <a:picLocks noChangeAspect="1"/>
          </p:cNvPicPr>
          <p:nvPr/>
        </p:nvPicPr>
        <p:blipFill>
          <a:blip r:embed="rId4"/>
          <a:stretch>
            <a:fillRect/>
          </a:stretch>
        </p:blipFill>
        <p:spPr>
          <a:xfrm>
            <a:off x="6144768" y="2514600"/>
            <a:ext cx="384048" cy="384048"/>
          </a:xfrm>
          <a:prstGeom prst="rect">
            <a:avLst/>
          </a:prstGeom>
        </p:spPr>
      </p:pic>
      <p:sp>
        <p:nvSpPr>
          <p:cNvPr id="19" name="TextBox 18"/>
          <p:cNvSpPr txBox="1"/>
          <p:nvPr/>
        </p:nvSpPr>
        <p:spPr>
          <a:xfrm>
            <a:off x="4425696" y="2514600"/>
            <a:ext cx="1645920" cy="329184"/>
          </a:xfrm>
          <a:prstGeom prst="rect">
            <a:avLst/>
          </a:prstGeom>
          <a:noFill/>
        </p:spPr>
        <p:txBody>
          <a:bodyPr wrap="square" lIns="0" rIns="0" tIns="0" bIns="0" anchor="ctr"/>
          <a:lstStyle/>
          <a:p>
            <a:pPr algn="l">
              <a:spcAft>
                <a:spcPts val="400"/>
              </a:spcAft>
              <a:buNone/>
            </a:pPr>
            <a:r>
              <a:rPr sz="1250" b="1" i="0">
                <a:solidFill>
                  <a:srgbClr val="0E1F53"/>
                </a:solidFill>
                <a:latin typeface="Roboto"/>
              </a:rPr>
              <a:t>Mittwoch, 14 Uhr</a:t>
            </a:r>
          </a:p>
        </p:txBody>
      </p:sp>
      <p:sp>
        <p:nvSpPr>
          <p:cNvPr id="20" name="TextBox 19"/>
          <p:cNvSpPr txBox="1"/>
          <p:nvPr/>
        </p:nvSpPr>
        <p:spPr>
          <a:xfrm>
            <a:off x="3995928" y="2944368"/>
            <a:ext cx="2560320" cy="1097280"/>
          </a:xfrm>
          <a:prstGeom prst="rect">
            <a:avLst/>
          </a:prstGeom>
          <a:noFill/>
        </p:spPr>
        <p:txBody>
          <a:bodyPr wrap="square" lIns="0" rIns="0" tIns="0" bIns="0" anchor="t"/>
          <a:lstStyle/>
          <a:p>
            <a:pPr algn="l">
              <a:spcAft>
                <a:spcPts val="400"/>
              </a:spcAft>
              <a:buNone/>
            </a:pPr>
            <a:r>
              <a:rPr sz="1200" b="0" i="0">
                <a:solidFill>
                  <a:srgbClr val="0E1F53"/>
                </a:solidFill>
                <a:latin typeface="Roboto"/>
              </a:rPr>
              <a:t>Vier Studierende arbeiten im Lab mit der Inhaberin an der Aufgabe.</a:t>
            </a:r>
          </a:p>
        </p:txBody>
      </p:sp>
      <p:sp>
        <p:nvSpPr>
          <p:cNvPr id="21" name="Rounded Rectangle 20"/>
          <p:cNvSpPr/>
          <p:nvPr/>
        </p:nvSpPr>
        <p:spPr>
          <a:xfrm>
            <a:off x="841248" y="4206240"/>
            <a:ext cx="283464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78408" y="4343400"/>
            <a:ext cx="329184" cy="32918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3</a:t>
            </a:r>
          </a:p>
        </p:txBody>
      </p:sp>
      <p:pic>
        <p:nvPicPr>
          <p:cNvPr id="23" name="Picture 22" descr="LuCoffee_n.png"/>
          <p:cNvPicPr>
            <a:picLocks noChangeAspect="1"/>
          </p:cNvPicPr>
          <p:nvPr/>
        </p:nvPicPr>
        <p:blipFill>
          <a:blip r:embed="rId5"/>
          <a:stretch>
            <a:fillRect/>
          </a:stretch>
        </p:blipFill>
        <p:spPr>
          <a:xfrm>
            <a:off x="3127248" y="4343400"/>
            <a:ext cx="384048" cy="384048"/>
          </a:xfrm>
          <a:prstGeom prst="rect">
            <a:avLst/>
          </a:prstGeom>
        </p:spPr>
      </p:pic>
      <p:sp>
        <p:nvSpPr>
          <p:cNvPr id="24" name="TextBox 23"/>
          <p:cNvSpPr txBox="1"/>
          <p:nvPr/>
        </p:nvSpPr>
        <p:spPr>
          <a:xfrm>
            <a:off x="1408176" y="4343400"/>
            <a:ext cx="1645920" cy="329184"/>
          </a:xfrm>
          <a:prstGeom prst="rect">
            <a:avLst/>
          </a:prstGeom>
          <a:noFill/>
        </p:spPr>
        <p:txBody>
          <a:bodyPr wrap="square" lIns="0" rIns="0" tIns="0" bIns="0" anchor="ctr"/>
          <a:lstStyle/>
          <a:p>
            <a:pPr algn="l">
              <a:spcAft>
                <a:spcPts val="400"/>
              </a:spcAft>
              <a:buNone/>
            </a:pPr>
            <a:r>
              <a:rPr sz="1250" b="1" i="0">
                <a:solidFill>
                  <a:srgbClr val="0E1F53"/>
                </a:solidFill>
                <a:latin typeface="Roboto"/>
              </a:rPr>
              <a:t>Mittwoch, 17 Uhr</a:t>
            </a:r>
          </a:p>
        </p:txBody>
      </p:sp>
      <p:sp>
        <p:nvSpPr>
          <p:cNvPr id="25" name="TextBox 24"/>
          <p:cNvSpPr txBox="1"/>
          <p:nvPr/>
        </p:nvSpPr>
        <p:spPr>
          <a:xfrm>
            <a:off x="978408" y="4773168"/>
            <a:ext cx="2560320" cy="1097280"/>
          </a:xfrm>
          <a:prstGeom prst="rect">
            <a:avLst/>
          </a:prstGeom>
          <a:noFill/>
        </p:spPr>
        <p:txBody>
          <a:bodyPr wrap="square" lIns="0" rIns="0" tIns="0" bIns="0" anchor="t"/>
          <a:lstStyle/>
          <a:p>
            <a:pPr algn="l">
              <a:spcAft>
                <a:spcPts val="400"/>
              </a:spcAft>
              <a:buNone/>
            </a:pPr>
            <a:r>
              <a:rPr sz="1200" b="0" i="0">
                <a:solidFill>
                  <a:srgbClr val="0E1F53"/>
                </a:solidFill>
                <a:latin typeface="Roboto"/>
              </a:rPr>
              <a:t>Pitch, Feedback, Pizza. Jonas lernt Priya und die Inhaberin kennen.</a:t>
            </a:r>
          </a:p>
        </p:txBody>
      </p:sp>
      <p:sp>
        <p:nvSpPr>
          <p:cNvPr id="26" name="Rounded Rectangle 25"/>
          <p:cNvSpPr/>
          <p:nvPr/>
        </p:nvSpPr>
        <p:spPr>
          <a:xfrm>
            <a:off x="3858768" y="4206240"/>
            <a:ext cx="2834640" cy="16916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3995928" y="4343400"/>
            <a:ext cx="329184" cy="329184"/>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100" b="1" i="0">
                <a:solidFill>
                  <a:srgbClr val="FFFFFF"/>
                </a:solidFill>
                <a:latin typeface="Roboto"/>
              </a:rPr>
              <a:t>4</a:t>
            </a:r>
          </a:p>
        </p:txBody>
      </p:sp>
      <p:pic>
        <p:nvPicPr>
          <p:cNvPr id="28" name="Picture 27" descr="LuHandshake_n.png"/>
          <p:cNvPicPr>
            <a:picLocks noChangeAspect="1"/>
          </p:cNvPicPr>
          <p:nvPr/>
        </p:nvPicPr>
        <p:blipFill>
          <a:blip r:embed="rId6"/>
          <a:stretch>
            <a:fillRect/>
          </a:stretch>
        </p:blipFill>
        <p:spPr>
          <a:xfrm>
            <a:off x="6144768" y="4343400"/>
            <a:ext cx="384048" cy="384048"/>
          </a:xfrm>
          <a:prstGeom prst="rect">
            <a:avLst/>
          </a:prstGeom>
        </p:spPr>
      </p:pic>
      <p:sp>
        <p:nvSpPr>
          <p:cNvPr id="29" name="TextBox 28"/>
          <p:cNvSpPr txBox="1"/>
          <p:nvPr/>
        </p:nvSpPr>
        <p:spPr>
          <a:xfrm>
            <a:off x="4425696" y="4343400"/>
            <a:ext cx="1645920" cy="329184"/>
          </a:xfrm>
          <a:prstGeom prst="rect">
            <a:avLst/>
          </a:prstGeom>
          <a:noFill/>
        </p:spPr>
        <p:txBody>
          <a:bodyPr wrap="square" lIns="0" rIns="0" tIns="0" bIns="0" anchor="ctr"/>
          <a:lstStyle/>
          <a:p>
            <a:pPr algn="l">
              <a:spcAft>
                <a:spcPts val="400"/>
              </a:spcAft>
              <a:buNone/>
            </a:pPr>
            <a:r>
              <a:rPr sz="1250" b="1" i="0">
                <a:solidFill>
                  <a:srgbClr val="0E1F53"/>
                </a:solidFill>
                <a:latin typeface="Roboto"/>
              </a:rPr>
              <a:t>Danach</a:t>
            </a:r>
          </a:p>
        </p:txBody>
      </p:sp>
      <p:sp>
        <p:nvSpPr>
          <p:cNvPr id="30" name="TextBox 29"/>
          <p:cNvSpPr txBox="1"/>
          <p:nvPr/>
        </p:nvSpPr>
        <p:spPr>
          <a:xfrm>
            <a:off x="3995928" y="4773168"/>
            <a:ext cx="2560320" cy="1097280"/>
          </a:xfrm>
          <a:prstGeom prst="rect">
            <a:avLst/>
          </a:prstGeom>
          <a:noFill/>
        </p:spPr>
        <p:txBody>
          <a:bodyPr wrap="square" lIns="0" rIns="0" tIns="0" bIns="0" anchor="t"/>
          <a:lstStyle/>
          <a:p>
            <a:pPr algn="l">
              <a:spcAft>
                <a:spcPts val="400"/>
              </a:spcAft>
              <a:buNone/>
            </a:pPr>
            <a:r>
              <a:rPr sz="1200" b="0" i="0">
                <a:solidFill>
                  <a:srgbClr val="0E1F53"/>
                </a:solidFill>
                <a:latin typeface="Roboto"/>
              </a:rPr>
              <a:t>Credits im Wahlmodul und ein Angebot für einen Werkstudentenjob.</a:t>
            </a:r>
          </a:p>
        </p:txBody>
      </p:sp>
      <p:sp>
        <p:nvSpPr>
          <p:cNvPr id="31" name="TextBox 30"/>
          <p:cNvSpPr txBox="1"/>
          <p:nvPr/>
        </p:nvSpPr>
        <p:spPr>
          <a:xfrm>
            <a:off x="6967728" y="1965960"/>
            <a:ext cx="4379976" cy="320040"/>
          </a:xfrm>
          <a:prstGeom prst="rect">
            <a:avLst/>
          </a:prstGeom>
          <a:noFill/>
        </p:spPr>
        <p:txBody>
          <a:bodyPr wrap="square" lIns="0" rIns="0" tIns="0" bIns="0" anchor="t"/>
          <a:lstStyle/>
          <a:p>
            <a:pPr algn="l">
              <a:spcAft>
                <a:spcPts val="400"/>
              </a:spcAft>
              <a:buNone/>
            </a:pPr>
            <a:r>
              <a:rPr sz="1400" b="1" i="0">
                <a:solidFill>
                  <a:srgbClr val="0E1F53"/>
                </a:solidFill>
                <a:latin typeface="Roboto"/>
              </a:rPr>
              <a:t>Landingpage für den Fake-Door-Test</a:t>
            </a:r>
          </a:p>
        </p:txBody>
      </p:sp>
      <p:sp>
        <p:nvSpPr>
          <p:cNvPr id="32" name="Rounded Rectangle 31"/>
          <p:cNvSpPr/>
          <p:nvPr/>
        </p:nvSpPr>
        <p:spPr>
          <a:xfrm>
            <a:off x="6967728" y="2377440"/>
            <a:ext cx="4379976" cy="352044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986016" y="2395728"/>
            <a:ext cx="4343400" cy="292608"/>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150608" y="2395728"/>
            <a:ext cx="4014215" cy="292608"/>
          </a:xfrm>
          <a:prstGeom prst="rect">
            <a:avLst/>
          </a:prstGeom>
          <a:noFill/>
        </p:spPr>
        <p:txBody>
          <a:bodyPr wrap="square" lIns="0" rIns="0" tIns="0" bIns="0" anchor="ctr"/>
          <a:lstStyle/>
          <a:p>
            <a:pPr algn="l">
              <a:spcAft>
                <a:spcPts val="400"/>
              </a:spcAft>
              <a:buNone/>
            </a:pPr>
            <a:r>
              <a:rPr sz="1000" b="0" i="0">
                <a:solidFill>
                  <a:srgbClr val="5A6684"/>
                </a:solidFill>
                <a:latin typeface="Roboto"/>
              </a:rPr>
              <a:t>campus-mittwoch.hsrw.example</a:t>
            </a:r>
          </a:p>
        </p:txBody>
      </p:sp>
      <p:sp>
        <p:nvSpPr>
          <p:cNvPr id="35" name="Rectangle 34"/>
          <p:cNvSpPr/>
          <p:nvPr/>
        </p:nvSpPr>
        <p:spPr>
          <a:xfrm>
            <a:off x="6986016" y="2688336"/>
            <a:ext cx="4343400" cy="1325880"/>
          </a:xfrm>
          <a:prstGeom prst="rect">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242048" y="2743200"/>
            <a:ext cx="3831336" cy="1234440"/>
          </a:xfrm>
          <a:prstGeom prst="rect">
            <a:avLst/>
          </a:prstGeom>
          <a:noFill/>
        </p:spPr>
        <p:txBody>
          <a:bodyPr wrap="square" lIns="0" rIns="0" tIns="0" bIns="0" anchor="ctr"/>
          <a:lstStyle/>
          <a:p>
            <a:pPr algn="l">
              <a:spcAft>
                <a:spcPts val="400"/>
              </a:spcAft>
              <a:buNone/>
            </a:pPr>
            <a:r>
              <a:rPr sz="1000" b="1" i="0">
                <a:solidFill>
                  <a:srgbClr val="9FD0FF"/>
                </a:solidFill>
                <a:latin typeface="Roboto"/>
              </a:rPr>
              <a:t>CAMPUS-MITTWOCH · PILOT</a:t>
            </a:r>
          </a:p>
          <a:p>
            <a:pPr algn="l">
              <a:spcAft>
                <a:spcPts val="400"/>
              </a:spcAft>
              <a:buNone/>
            </a:pPr>
            <a:r>
              <a:rPr sz="1600" b="1" i="0">
                <a:solidFill>
                  <a:srgbClr val="FFFFFF"/>
                </a:solidFill>
                <a:latin typeface="Roboto"/>
              </a:rPr>
              <a:t>Echte Aufgaben. Echte Unternehmen. Jeden Mittwoch am Campus.</a:t>
            </a:r>
          </a:p>
        </p:txBody>
      </p:sp>
      <p:pic>
        <p:nvPicPr>
          <p:cNvPr id="37" name="Picture 36" descr="LuCheck_p.png"/>
          <p:cNvPicPr>
            <a:picLocks noChangeAspect="1"/>
          </p:cNvPicPr>
          <p:nvPr/>
        </p:nvPicPr>
        <p:blipFill>
          <a:blip r:embed="rId7"/>
          <a:stretch>
            <a:fillRect/>
          </a:stretch>
        </p:blipFill>
        <p:spPr>
          <a:xfrm>
            <a:off x="7242048" y="4197096"/>
            <a:ext cx="237744" cy="237744"/>
          </a:xfrm>
          <a:prstGeom prst="rect">
            <a:avLst/>
          </a:prstGeom>
        </p:spPr>
      </p:pic>
      <p:sp>
        <p:nvSpPr>
          <p:cNvPr id="38" name="TextBox 37"/>
          <p:cNvSpPr txBox="1"/>
          <p:nvPr/>
        </p:nvSpPr>
        <p:spPr>
          <a:xfrm>
            <a:off x="7562088" y="4160520"/>
            <a:ext cx="3557016" cy="310896"/>
          </a:xfrm>
          <a:prstGeom prst="rect">
            <a:avLst/>
          </a:prstGeom>
          <a:noFill/>
        </p:spPr>
        <p:txBody>
          <a:bodyPr wrap="square" lIns="0" rIns="0" tIns="0" bIns="0" anchor="ctr"/>
          <a:lstStyle/>
          <a:p>
            <a:pPr algn="l">
              <a:spcAft>
                <a:spcPts val="400"/>
              </a:spcAft>
              <a:buNone/>
            </a:pPr>
            <a:r>
              <a:rPr sz="1200" b="0" i="0">
                <a:solidFill>
                  <a:srgbClr val="0E1F53"/>
                </a:solidFill>
                <a:latin typeface="Roboto"/>
              </a:rPr>
              <a:t>Praxisprojekte mit Unternehmen vom Niederrhein</a:t>
            </a:r>
          </a:p>
        </p:txBody>
      </p:sp>
      <p:pic>
        <p:nvPicPr>
          <p:cNvPr id="39" name="Picture 38" descr="LuCheck_p.png"/>
          <p:cNvPicPr>
            <a:picLocks noChangeAspect="1"/>
          </p:cNvPicPr>
          <p:nvPr/>
        </p:nvPicPr>
        <p:blipFill>
          <a:blip r:embed="rId7"/>
          <a:stretch>
            <a:fillRect/>
          </a:stretch>
        </p:blipFill>
        <p:spPr>
          <a:xfrm>
            <a:off x="7242048" y="4544568"/>
            <a:ext cx="237744" cy="237744"/>
          </a:xfrm>
          <a:prstGeom prst="rect">
            <a:avLst/>
          </a:prstGeom>
        </p:spPr>
      </p:pic>
      <p:sp>
        <p:nvSpPr>
          <p:cNvPr id="40" name="TextBox 39"/>
          <p:cNvSpPr txBox="1"/>
          <p:nvPr/>
        </p:nvSpPr>
        <p:spPr>
          <a:xfrm>
            <a:off x="7562088" y="4507992"/>
            <a:ext cx="3557016" cy="310896"/>
          </a:xfrm>
          <a:prstGeom prst="rect">
            <a:avLst/>
          </a:prstGeom>
          <a:noFill/>
        </p:spPr>
        <p:txBody>
          <a:bodyPr wrap="square" lIns="0" rIns="0" tIns="0" bIns="0" anchor="ctr"/>
          <a:lstStyle/>
          <a:p>
            <a:pPr algn="l">
              <a:spcAft>
                <a:spcPts val="400"/>
              </a:spcAft>
              <a:buNone/>
            </a:pPr>
            <a:r>
              <a:rPr sz="1200" b="0" i="0">
                <a:solidFill>
                  <a:srgbClr val="0E1F53"/>
                </a:solidFill>
                <a:latin typeface="Roboto"/>
              </a:rPr>
              <a:t>Credits im Wahlmodul, Zertifikat</a:t>
            </a:r>
          </a:p>
        </p:txBody>
      </p:sp>
      <p:pic>
        <p:nvPicPr>
          <p:cNvPr id="41" name="Picture 40" descr="LuCheck_p.png"/>
          <p:cNvPicPr>
            <a:picLocks noChangeAspect="1"/>
          </p:cNvPicPr>
          <p:nvPr/>
        </p:nvPicPr>
        <p:blipFill>
          <a:blip r:embed="rId7"/>
          <a:stretch>
            <a:fillRect/>
          </a:stretch>
        </p:blipFill>
        <p:spPr>
          <a:xfrm>
            <a:off x="7242048" y="4892040"/>
            <a:ext cx="237744" cy="237744"/>
          </a:xfrm>
          <a:prstGeom prst="rect">
            <a:avLst/>
          </a:prstGeom>
        </p:spPr>
      </p:pic>
      <p:sp>
        <p:nvSpPr>
          <p:cNvPr id="42" name="TextBox 41"/>
          <p:cNvSpPr txBox="1"/>
          <p:nvPr/>
        </p:nvSpPr>
        <p:spPr>
          <a:xfrm>
            <a:off x="7562088" y="4855464"/>
            <a:ext cx="3557016" cy="310896"/>
          </a:xfrm>
          <a:prstGeom prst="rect">
            <a:avLst/>
          </a:prstGeom>
          <a:noFill/>
        </p:spPr>
        <p:txBody>
          <a:bodyPr wrap="square" lIns="0" rIns="0" tIns="0" bIns="0" anchor="ctr"/>
          <a:lstStyle/>
          <a:p>
            <a:pPr algn="l">
              <a:spcAft>
                <a:spcPts val="400"/>
              </a:spcAft>
              <a:buNone/>
            </a:pPr>
            <a:r>
              <a:rPr sz="1200" b="0" i="0">
                <a:solidFill>
                  <a:srgbClr val="0E1F53"/>
                </a:solidFill>
                <a:latin typeface="Roboto"/>
              </a:rPr>
              <a:t>Kontakte für Jobs und Abschlussarbeit</a:t>
            </a:r>
          </a:p>
        </p:txBody>
      </p:sp>
      <p:sp>
        <p:nvSpPr>
          <p:cNvPr id="43" name="Rounded Rectangle 42"/>
          <p:cNvSpPr/>
          <p:nvPr/>
        </p:nvSpPr>
        <p:spPr>
          <a:xfrm>
            <a:off x="7242048" y="5257800"/>
            <a:ext cx="2011680" cy="45720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Platz sichern</a:t>
            </a:r>
          </a:p>
        </p:txBody>
      </p:sp>
      <p:sp>
        <p:nvSpPr>
          <p:cNvPr id="44" name="TextBox 43"/>
          <p:cNvSpPr txBox="1"/>
          <p:nvPr/>
        </p:nvSpPr>
        <p:spPr>
          <a:xfrm>
            <a:off x="9390888" y="5257800"/>
            <a:ext cx="1773936" cy="457200"/>
          </a:xfrm>
          <a:prstGeom prst="rect">
            <a:avLst/>
          </a:prstGeom>
          <a:noFill/>
        </p:spPr>
        <p:txBody>
          <a:bodyPr wrap="square" lIns="0" rIns="0" tIns="0" bIns="0" anchor="ctr"/>
          <a:lstStyle/>
          <a:p>
            <a:pPr algn="l">
              <a:spcAft>
                <a:spcPts val="400"/>
              </a:spcAft>
              <a:buNone/>
            </a:pPr>
            <a:r>
              <a:rPr sz="1100" b="0" i="1">
                <a:solidFill>
                  <a:srgbClr val="5A6684"/>
                </a:solidFill>
                <a:latin typeface="Roboto"/>
              </a:rPr>
              <a:t>auch auf Englisch</a:t>
            </a:r>
          </a:p>
        </p:txBody>
      </p:sp>
      <p:sp>
        <p:nvSpPr>
          <p:cNvPr id="45" name="TextBox 44"/>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Prototypen zur Veranschaulichung, Unternehmensname fiktiv · Illustratives Beispiel für den Workshop: Interviewaussagen und Testergebnisse sind fiktiv.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Prototyp-Werkstatt: drei Stationen</a:t>
            </a:r>
          </a:p>
        </p:txBody>
      </p:sp>
      <p:sp>
        <p:nvSpPr>
          <p:cNvPr id="3" name="Rounded Rectangle 2"/>
          <p:cNvSpPr/>
          <p:nvPr/>
        </p:nvSpPr>
        <p:spPr>
          <a:xfrm>
            <a:off x="841248" y="850392"/>
            <a:ext cx="2125065"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ARBEITSPHASE · 60 MIN.</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8" name="Oval 7"/>
          <p:cNvSpPr/>
          <p:nvPr/>
        </p:nvSpPr>
        <p:spPr>
          <a:xfrm>
            <a:off x="1107338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4: Prototypen</a:t>
            </a:r>
          </a:p>
        </p:txBody>
      </p:sp>
      <p:sp>
        <p:nvSpPr>
          <p:cNvPr id="10" name="Rounded Rectangle 9"/>
          <p:cNvSpPr/>
          <p:nvPr/>
        </p:nvSpPr>
        <p:spPr>
          <a:xfrm>
            <a:off x="841248" y="2011680"/>
            <a:ext cx="3319272"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69848" y="2194560"/>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PencilRuler_w.png"/>
          <p:cNvPicPr>
            <a:picLocks noChangeAspect="1"/>
          </p:cNvPicPr>
          <p:nvPr/>
        </p:nvPicPr>
        <p:blipFill>
          <a:blip r:embed="rId3"/>
          <a:stretch>
            <a:fillRect/>
          </a:stretch>
        </p:blipFill>
        <p:spPr>
          <a:xfrm>
            <a:off x="1223467" y="2348179"/>
            <a:ext cx="332841" cy="332841"/>
          </a:xfrm>
          <a:prstGeom prst="rect">
            <a:avLst/>
          </a:prstGeom>
        </p:spPr>
      </p:pic>
      <p:sp>
        <p:nvSpPr>
          <p:cNvPr id="13" name="TextBox 12"/>
          <p:cNvSpPr txBox="1"/>
          <p:nvPr/>
        </p:nvSpPr>
        <p:spPr>
          <a:xfrm>
            <a:off x="1847088" y="2194560"/>
            <a:ext cx="2130552" cy="640080"/>
          </a:xfrm>
          <a:prstGeom prst="rect">
            <a:avLst/>
          </a:prstGeom>
          <a:noFill/>
        </p:spPr>
        <p:txBody>
          <a:bodyPr wrap="square" lIns="0" rIns="0" tIns="0" bIns="0" anchor="ctr"/>
          <a:lstStyle/>
          <a:p>
            <a:pPr algn="l">
              <a:spcAft>
                <a:spcPts val="400"/>
              </a:spcAft>
              <a:buNone/>
            </a:pPr>
            <a:r>
              <a:rPr sz="1600" b="1" i="0">
                <a:solidFill>
                  <a:srgbClr val="0E1F53"/>
                </a:solidFill>
                <a:latin typeface="Roboto"/>
              </a:rPr>
              <a:t>Station A · Analog</a:t>
            </a:r>
          </a:p>
        </p:txBody>
      </p:sp>
      <p:sp>
        <p:nvSpPr>
          <p:cNvPr id="14" name="TextBox 13"/>
          <p:cNvSpPr txBox="1"/>
          <p:nvPr/>
        </p:nvSpPr>
        <p:spPr>
          <a:xfrm>
            <a:off x="1069848" y="3063240"/>
            <a:ext cx="2862072" cy="1828800"/>
          </a:xfrm>
          <a:prstGeom prst="rect">
            <a:avLst/>
          </a:prstGeom>
          <a:noFill/>
        </p:spPr>
        <p:txBody>
          <a:bodyPr wrap="square" lIns="0" rIns="0" tIns="0" bIns="0" anchor="t"/>
          <a:lstStyle/>
          <a:p>
            <a:pPr algn="l" marL="164592" indent="-164592">
              <a:spcAft>
                <a:spcPts val="800"/>
              </a:spcAft>
              <a:buClr>
                <a:srgbClr val="0E1F53"/>
              </a:buClr>
              <a:buFont typeface="Arial"/>
              <a:buChar char="•"/>
            </a:pPr>
            <a:r>
              <a:rPr sz="1400" b="0" i="0">
                <a:solidFill>
                  <a:srgbClr val="0E1F53"/>
                </a:solidFill>
                <a:latin typeface="Roboto"/>
              </a:rPr>
              <a:t>Papier, Post-its, Schere</a:t>
            </a:r>
          </a:p>
          <a:p>
            <a:pPr algn="l" marL="164592" indent="-164592">
              <a:spcAft>
                <a:spcPts val="800"/>
              </a:spcAft>
              <a:buClr>
                <a:srgbClr val="0E1F53"/>
              </a:buClr>
              <a:buFont typeface="Arial"/>
              <a:buChar char="•"/>
            </a:pPr>
            <a:r>
              <a:rPr sz="1400" b="0" i="0">
                <a:solidFill>
                  <a:srgbClr val="0E1F53"/>
                </a:solidFill>
                <a:latin typeface="Roboto"/>
              </a:rPr>
              <a:t>Storyboard in 4–6 Bildern</a:t>
            </a:r>
          </a:p>
          <a:p>
            <a:pPr algn="l" marL="164592" indent="-164592">
              <a:spcAft>
                <a:spcPts val="800"/>
              </a:spcAft>
              <a:buClr>
                <a:srgbClr val="0E1F53"/>
              </a:buClr>
              <a:buFont typeface="Arial"/>
              <a:buChar char="•"/>
            </a:pPr>
            <a:r>
              <a:rPr sz="1400" b="0" i="0">
                <a:solidFill>
                  <a:srgbClr val="0E1F53"/>
                </a:solidFill>
                <a:latin typeface="Roboto"/>
              </a:rPr>
              <a:t>Rollenspiel für Services</a:t>
            </a:r>
          </a:p>
        </p:txBody>
      </p:sp>
      <p:sp>
        <p:nvSpPr>
          <p:cNvPr id="15" name="Rounded Rectangle 14"/>
          <p:cNvSpPr/>
          <p:nvPr/>
        </p:nvSpPr>
        <p:spPr>
          <a:xfrm>
            <a:off x="4434840" y="2011680"/>
            <a:ext cx="3319272"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663440" y="2194560"/>
            <a:ext cx="640080" cy="640080"/>
          </a:xfrm>
          <a:prstGeom prst="ellipse">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uWandSparkles_w.png"/>
          <p:cNvPicPr>
            <a:picLocks noChangeAspect="1"/>
          </p:cNvPicPr>
          <p:nvPr/>
        </p:nvPicPr>
        <p:blipFill>
          <a:blip r:embed="rId4"/>
          <a:stretch>
            <a:fillRect/>
          </a:stretch>
        </p:blipFill>
        <p:spPr>
          <a:xfrm>
            <a:off x="4817059" y="2348179"/>
            <a:ext cx="332841" cy="332841"/>
          </a:xfrm>
          <a:prstGeom prst="rect">
            <a:avLst/>
          </a:prstGeom>
        </p:spPr>
      </p:pic>
      <p:sp>
        <p:nvSpPr>
          <p:cNvPr id="18" name="TextBox 17"/>
          <p:cNvSpPr txBox="1"/>
          <p:nvPr/>
        </p:nvSpPr>
        <p:spPr>
          <a:xfrm>
            <a:off x="5440680" y="2194560"/>
            <a:ext cx="2130552" cy="640080"/>
          </a:xfrm>
          <a:prstGeom prst="rect">
            <a:avLst/>
          </a:prstGeom>
          <a:noFill/>
        </p:spPr>
        <p:txBody>
          <a:bodyPr wrap="square" lIns="0" rIns="0" tIns="0" bIns="0" anchor="ctr"/>
          <a:lstStyle/>
          <a:p>
            <a:pPr algn="l">
              <a:spcAft>
                <a:spcPts val="400"/>
              </a:spcAft>
              <a:buNone/>
            </a:pPr>
            <a:r>
              <a:rPr sz="1600" b="1" i="0">
                <a:solidFill>
                  <a:srgbClr val="0E1F53"/>
                </a:solidFill>
                <a:latin typeface="Roboto"/>
              </a:rPr>
              <a:t>Station B · KI-Visuals</a:t>
            </a:r>
          </a:p>
        </p:txBody>
      </p:sp>
      <p:sp>
        <p:nvSpPr>
          <p:cNvPr id="19" name="TextBox 18"/>
          <p:cNvSpPr txBox="1"/>
          <p:nvPr/>
        </p:nvSpPr>
        <p:spPr>
          <a:xfrm>
            <a:off x="4663440" y="3063240"/>
            <a:ext cx="2862072" cy="1828800"/>
          </a:xfrm>
          <a:prstGeom prst="rect">
            <a:avLst/>
          </a:prstGeom>
          <a:noFill/>
        </p:spPr>
        <p:txBody>
          <a:bodyPr wrap="square" lIns="0" rIns="0" tIns="0" bIns="0" anchor="t"/>
          <a:lstStyle/>
          <a:p>
            <a:pPr algn="l" marL="164592" indent="-164592">
              <a:spcAft>
                <a:spcPts val="800"/>
              </a:spcAft>
              <a:buClr>
                <a:srgbClr val="2B4A9B"/>
              </a:buClr>
              <a:buFont typeface="Arial"/>
              <a:buChar char="•"/>
            </a:pPr>
            <a:r>
              <a:rPr sz="1400" b="0" i="0">
                <a:solidFill>
                  <a:srgbClr val="0E1F53"/>
                </a:solidFill>
                <a:latin typeface="Roboto"/>
              </a:rPr>
              <a:t>Storyboard-Bilder per Bild-KI</a:t>
            </a:r>
          </a:p>
          <a:p>
            <a:pPr algn="l" marL="164592" indent="-164592">
              <a:spcAft>
                <a:spcPts val="800"/>
              </a:spcAft>
              <a:buClr>
                <a:srgbClr val="2B4A9B"/>
              </a:buClr>
              <a:buFont typeface="Arial"/>
              <a:buChar char="•"/>
            </a:pPr>
            <a:r>
              <a:rPr sz="1400" b="0" i="0">
                <a:solidFill>
                  <a:srgbClr val="0E1F53"/>
                </a:solidFill>
                <a:latin typeface="Roboto"/>
              </a:rPr>
              <a:t>Flyer und Social-Post</a:t>
            </a:r>
          </a:p>
          <a:p>
            <a:pPr algn="l" marL="164592" indent="-164592">
              <a:spcAft>
                <a:spcPts val="800"/>
              </a:spcAft>
              <a:buClr>
                <a:srgbClr val="2B4A9B"/>
              </a:buClr>
              <a:buFont typeface="Arial"/>
              <a:buChar char="•"/>
            </a:pPr>
            <a:r>
              <a:rPr sz="1400" b="0" i="0">
                <a:solidFill>
                  <a:srgbClr val="0E1F53"/>
                </a:solidFill>
                <a:latin typeface="Roboto"/>
              </a:rPr>
              <a:t>Persona-Poster</a:t>
            </a:r>
          </a:p>
        </p:txBody>
      </p:sp>
      <p:sp>
        <p:nvSpPr>
          <p:cNvPr id="20" name="Rounded Rectangle 19"/>
          <p:cNvSpPr/>
          <p:nvPr/>
        </p:nvSpPr>
        <p:spPr>
          <a:xfrm>
            <a:off x="8028432" y="2011680"/>
            <a:ext cx="3319272" cy="3017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57032" y="2194560"/>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Smartphone_w.png"/>
          <p:cNvPicPr>
            <a:picLocks noChangeAspect="1"/>
          </p:cNvPicPr>
          <p:nvPr/>
        </p:nvPicPr>
        <p:blipFill>
          <a:blip r:embed="rId5"/>
          <a:stretch>
            <a:fillRect/>
          </a:stretch>
        </p:blipFill>
        <p:spPr>
          <a:xfrm>
            <a:off x="8410651" y="2348179"/>
            <a:ext cx="332841" cy="332841"/>
          </a:xfrm>
          <a:prstGeom prst="rect">
            <a:avLst/>
          </a:prstGeom>
        </p:spPr>
      </p:pic>
      <p:sp>
        <p:nvSpPr>
          <p:cNvPr id="23" name="TextBox 22"/>
          <p:cNvSpPr txBox="1"/>
          <p:nvPr/>
        </p:nvSpPr>
        <p:spPr>
          <a:xfrm>
            <a:off x="9034272" y="2194560"/>
            <a:ext cx="2130552" cy="640080"/>
          </a:xfrm>
          <a:prstGeom prst="rect">
            <a:avLst/>
          </a:prstGeom>
          <a:noFill/>
        </p:spPr>
        <p:txBody>
          <a:bodyPr wrap="square" lIns="0" rIns="0" tIns="0" bIns="0" anchor="ctr"/>
          <a:lstStyle/>
          <a:p>
            <a:pPr algn="l">
              <a:spcAft>
                <a:spcPts val="400"/>
              </a:spcAft>
              <a:buNone/>
            </a:pPr>
            <a:r>
              <a:rPr sz="1600" b="1" i="0">
                <a:solidFill>
                  <a:srgbClr val="0E1F53"/>
                </a:solidFill>
                <a:latin typeface="Roboto"/>
              </a:rPr>
              <a:t>Station C · KI-Klickdummy</a:t>
            </a:r>
          </a:p>
        </p:txBody>
      </p:sp>
      <p:sp>
        <p:nvSpPr>
          <p:cNvPr id="24" name="TextBox 23"/>
          <p:cNvSpPr txBox="1"/>
          <p:nvPr/>
        </p:nvSpPr>
        <p:spPr>
          <a:xfrm>
            <a:off x="8257032" y="3063240"/>
            <a:ext cx="2862072" cy="1828800"/>
          </a:xfrm>
          <a:prstGeom prst="rect">
            <a:avLst/>
          </a:prstGeom>
          <a:noFill/>
        </p:spPr>
        <p:txBody>
          <a:bodyPr wrap="square" lIns="0" rIns="0" tIns="0" bIns="0" anchor="t"/>
          <a:lstStyle/>
          <a:p>
            <a:pPr algn="l" marL="164592" indent="-164592">
              <a:spcAft>
                <a:spcPts val="800"/>
              </a:spcAft>
              <a:buClr>
                <a:srgbClr val="FB2762"/>
              </a:buClr>
              <a:buFont typeface="Arial"/>
              <a:buChar char="•"/>
            </a:pPr>
            <a:r>
              <a:rPr sz="1400" b="0" i="0">
                <a:solidFill>
                  <a:srgbClr val="0E1F53"/>
                </a:solidFill>
                <a:latin typeface="Roboto"/>
              </a:rPr>
              <a:t>Landingpage per Prompt</a:t>
            </a:r>
          </a:p>
          <a:p>
            <a:pPr algn="l" marL="164592" indent="-164592">
              <a:spcAft>
                <a:spcPts val="800"/>
              </a:spcAft>
              <a:buClr>
                <a:srgbClr val="FB2762"/>
              </a:buClr>
              <a:buFont typeface="Arial"/>
              <a:buChar char="•"/>
            </a:pPr>
            <a:r>
              <a:rPr sz="1400" b="0" i="0">
                <a:solidFill>
                  <a:srgbClr val="0E1F53"/>
                </a:solidFill>
                <a:latin typeface="Roboto"/>
              </a:rPr>
              <a:t>Klick-Prototyp einer App</a:t>
            </a:r>
          </a:p>
          <a:p>
            <a:pPr algn="l" marL="164592" indent="-164592">
              <a:spcAft>
                <a:spcPts val="800"/>
              </a:spcAft>
              <a:buClr>
                <a:srgbClr val="FB2762"/>
              </a:buClr>
              <a:buFont typeface="Arial"/>
              <a:buChar char="•"/>
            </a:pPr>
            <a:r>
              <a:rPr sz="1400" b="0" i="0">
                <a:solidFill>
                  <a:srgbClr val="0E1F53"/>
                </a:solidFill>
                <a:latin typeface="Roboto"/>
              </a:rPr>
              <a:t>Skill: landingpage-prototyp</a:t>
            </a:r>
          </a:p>
        </p:txBody>
      </p:sp>
      <p:sp>
        <p:nvSpPr>
          <p:cNvPr id="25" name="Rounded Rectangle 24"/>
          <p:cNvSpPr/>
          <p:nvPr/>
        </p:nvSpPr>
        <p:spPr>
          <a:xfrm>
            <a:off x="841248" y="5257800"/>
            <a:ext cx="10506456" cy="73152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115568" y="5257800"/>
            <a:ext cx="3319272" cy="731520"/>
          </a:xfrm>
          <a:prstGeom prst="rect">
            <a:avLst/>
          </a:prstGeom>
          <a:noFill/>
        </p:spPr>
        <p:txBody>
          <a:bodyPr wrap="square" lIns="0" rIns="0" tIns="0" bIns="0" anchor="ctr"/>
          <a:lstStyle/>
          <a:p>
            <a:pPr algn="l">
              <a:spcAft>
                <a:spcPts val="400"/>
              </a:spcAft>
              <a:buNone/>
            </a:pPr>
            <a:r>
              <a:rPr sz="1500" b="1" i="0">
                <a:solidFill>
                  <a:srgbClr val="9FD0FF"/>
                </a:solidFill>
                <a:latin typeface="Roboto"/>
              </a:rPr>
              <a:t>0–40 Min.  </a:t>
            </a:r>
            <a:r>
              <a:rPr sz="1500" b="0" i="0">
                <a:solidFill>
                  <a:srgbClr val="FFFFFF"/>
                </a:solidFill>
                <a:latin typeface="Roboto"/>
              </a:rPr>
              <a:t>bauen</a:t>
            </a:r>
          </a:p>
        </p:txBody>
      </p:sp>
      <p:sp>
        <p:nvSpPr>
          <p:cNvPr id="27" name="TextBox 26"/>
          <p:cNvSpPr txBox="1"/>
          <p:nvPr/>
        </p:nvSpPr>
        <p:spPr>
          <a:xfrm>
            <a:off x="4434840" y="5257800"/>
            <a:ext cx="3319272" cy="731520"/>
          </a:xfrm>
          <a:prstGeom prst="rect">
            <a:avLst/>
          </a:prstGeom>
          <a:noFill/>
        </p:spPr>
        <p:txBody>
          <a:bodyPr wrap="square" lIns="0" rIns="0" tIns="0" bIns="0" anchor="ctr"/>
          <a:lstStyle/>
          <a:p>
            <a:pPr algn="l">
              <a:spcAft>
                <a:spcPts val="400"/>
              </a:spcAft>
              <a:buNone/>
            </a:pPr>
            <a:r>
              <a:rPr sz="1500" b="1" i="0">
                <a:solidFill>
                  <a:srgbClr val="9FD0FF"/>
                </a:solidFill>
                <a:latin typeface="Roboto"/>
              </a:rPr>
              <a:t>40–50 Min.  </a:t>
            </a:r>
            <a:r>
              <a:rPr sz="1500" b="0" i="0">
                <a:solidFill>
                  <a:srgbClr val="FFFFFF"/>
                </a:solidFill>
                <a:latin typeface="Roboto"/>
              </a:rPr>
              <a:t>kurz testen</a:t>
            </a:r>
          </a:p>
        </p:txBody>
      </p:sp>
      <p:sp>
        <p:nvSpPr>
          <p:cNvPr id="28" name="TextBox 27"/>
          <p:cNvSpPr txBox="1"/>
          <p:nvPr/>
        </p:nvSpPr>
        <p:spPr>
          <a:xfrm>
            <a:off x="7754112" y="5257800"/>
            <a:ext cx="3319272" cy="731520"/>
          </a:xfrm>
          <a:prstGeom prst="rect">
            <a:avLst/>
          </a:prstGeom>
          <a:noFill/>
        </p:spPr>
        <p:txBody>
          <a:bodyPr wrap="square" lIns="0" rIns="0" tIns="0" bIns="0" anchor="ctr"/>
          <a:lstStyle/>
          <a:p>
            <a:pPr algn="l">
              <a:spcAft>
                <a:spcPts val="400"/>
              </a:spcAft>
              <a:buNone/>
            </a:pPr>
            <a:r>
              <a:rPr sz="1500" b="1" i="0">
                <a:solidFill>
                  <a:srgbClr val="9FD0FF"/>
                </a:solidFill>
                <a:latin typeface="Roboto"/>
              </a:rPr>
              <a:t>50–60 Min.  </a:t>
            </a:r>
            <a:r>
              <a:rPr sz="1500" b="0" i="0">
                <a:solidFill>
                  <a:srgbClr val="FFFFFF"/>
                </a:solidFill>
                <a:latin typeface="Roboto"/>
              </a:rPr>
              <a:t>verbessern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KI-Ansatz bewerten</a:t>
            </a:r>
          </a:p>
        </p:txBody>
      </p:sp>
      <p:sp>
        <p:nvSpPr>
          <p:cNvPr id="3" name="Text Placeholder 2"/>
          <p:cNvSpPr>
            <a:spLocks noGrp="1"/>
          </p:cNvSpPr>
          <p:nvPr>
            <p:ph type="body" idx="11" sz="quarter"/>
          </p:nvPr>
        </p:nvSpPr>
        <p:spPr/>
        <p:txBody>
          <a:bodyPr/>
          <a:lstStyle/>
          <a:p>
            <a:r>
              <a:rPr b="0" sz="2000"/>
              <a:t>Nutzen, Datenqualität, Transparenz, Robustheit, Ethik &amp; Datenschutz, Nachhaltigkeit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Den eigenen KI-Ansatz bewerten: sechs Dimensionen</a:t>
            </a:r>
          </a:p>
        </p:txBody>
      </p:sp>
      <p:sp>
        <p:nvSpPr>
          <p:cNvPr id="3" name="Rounded Rectangle 2"/>
          <p:cNvSpPr/>
          <p:nvPr/>
        </p:nvSpPr>
        <p:spPr>
          <a:xfrm>
            <a:off x="841248" y="850392"/>
            <a:ext cx="103144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BEWERTUNG</a:t>
            </a:r>
          </a:p>
        </p:txBody>
      </p:sp>
      <p:sp>
        <p:nvSpPr>
          <p:cNvPr id="4" name="Rounded Rectangle 3"/>
          <p:cNvSpPr/>
          <p:nvPr/>
        </p:nvSpPr>
        <p:spPr>
          <a:xfrm>
            <a:off x="841248"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42416" y="2194560"/>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rendingUp_w.png"/>
          <p:cNvPicPr>
            <a:picLocks noChangeAspect="1"/>
          </p:cNvPicPr>
          <p:nvPr/>
        </p:nvPicPr>
        <p:blipFill>
          <a:blip r:embed="rId3"/>
          <a:stretch>
            <a:fillRect/>
          </a:stretch>
        </p:blipFill>
        <p:spPr>
          <a:xfrm>
            <a:off x="1163116" y="2315260"/>
            <a:ext cx="261518" cy="261518"/>
          </a:xfrm>
          <a:prstGeom prst="rect">
            <a:avLst/>
          </a:prstGeom>
        </p:spPr>
      </p:pic>
      <p:sp>
        <p:nvSpPr>
          <p:cNvPr id="7" name="TextBox 6"/>
          <p:cNvSpPr txBox="1"/>
          <p:nvPr/>
        </p:nvSpPr>
        <p:spPr>
          <a:xfrm>
            <a:off x="1664208" y="2194560"/>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1 · Nutzen</a:t>
            </a:r>
          </a:p>
        </p:txBody>
      </p:sp>
      <p:sp>
        <p:nvSpPr>
          <p:cNvPr id="8" name="TextBox 7"/>
          <p:cNvSpPr txBox="1"/>
          <p:nvPr/>
        </p:nvSpPr>
        <p:spPr>
          <a:xfrm>
            <a:off x="1042416" y="2788920"/>
            <a:ext cx="2916936"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Welchen messbaren Mehrwert bringt der KI-Einsatz für Kundschaft und Betrieb?</a:t>
            </a:r>
          </a:p>
          <a:p>
            <a:pPr algn="l" marL="164592" indent="-164592">
              <a:spcAft>
                <a:spcPts val="200"/>
              </a:spcAft>
              <a:buClr>
                <a:srgbClr val="FB2762"/>
              </a:buClr>
              <a:buFont typeface="Arial"/>
              <a:buChar char="?"/>
            </a:pPr>
            <a:r>
              <a:rPr sz="1150" b="0" i="0">
                <a:solidFill>
                  <a:srgbClr val="5A6684"/>
                </a:solidFill>
                <a:latin typeface="Roboto"/>
              </a:rPr>
              <a:t>Was kann KI hier besser als ohne?</a:t>
            </a:r>
          </a:p>
          <a:p>
            <a:pPr algn="l" marL="164592" indent="-164592">
              <a:spcAft>
                <a:spcPts val="200"/>
              </a:spcAft>
              <a:buClr>
                <a:srgbClr val="FB2762"/>
              </a:buClr>
              <a:buFont typeface="Arial"/>
              <a:buChar char="?"/>
            </a:pPr>
            <a:r>
              <a:rPr sz="1150" b="0" i="0">
                <a:solidFill>
                  <a:srgbClr val="5A6684"/>
                </a:solidFill>
                <a:latin typeface="Roboto"/>
              </a:rPr>
              <a:t>Woran messen wir den Nutzen?</a:t>
            </a:r>
          </a:p>
        </p:txBody>
      </p:sp>
      <p:sp>
        <p:nvSpPr>
          <p:cNvPr id="9" name="Rounded Rectangle 8"/>
          <p:cNvSpPr/>
          <p:nvPr/>
        </p:nvSpPr>
        <p:spPr>
          <a:xfrm>
            <a:off x="4434840"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36008" y="2194560"/>
            <a:ext cx="502920" cy="5029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Folder_w.png"/>
          <p:cNvPicPr>
            <a:picLocks noChangeAspect="1"/>
          </p:cNvPicPr>
          <p:nvPr/>
        </p:nvPicPr>
        <p:blipFill>
          <a:blip r:embed="rId4"/>
          <a:stretch>
            <a:fillRect/>
          </a:stretch>
        </p:blipFill>
        <p:spPr>
          <a:xfrm>
            <a:off x="4756708" y="2315260"/>
            <a:ext cx="261518" cy="261518"/>
          </a:xfrm>
          <a:prstGeom prst="rect">
            <a:avLst/>
          </a:prstGeom>
        </p:spPr>
      </p:pic>
      <p:sp>
        <p:nvSpPr>
          <p:cNvPr id="12" name="TextBox 11"/>
          <p:cNvSpPr txBox="1"/>
          <p:nvPr/>
        </p:nvSpPr>
        <p:spPr>
          <a:xfrm>
            <a:off x="5257800" y="2194560"/>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2 · Datenqualität</a:t>
            </a:r>
          </a:p>
        </p:txBody>
      </p:sp>
      <p:sp>
        <p:nvSpPr>
          <p:cNvPr id="13" name="TextBox 12"/>
          <p:cNvSpPr txBox="1"/>
          <p:nvPr/>
        </p:nvSpPr>
        <p:spPr>
          <a:xfrm>
            <a:off x="4636008" y="2788920"/>
            <a:ext cx="2916936"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Sind die Daten richtig, aktuell, vollständig und dürfen wir sie nutzen?</a:t>
            </a:r>
          </a:p>
          <a:p>
            <a:pPr algn="l" marL="164592" indent="-164592">
              <a:spcAft>
                <a:spcPts val="200"/>
              </a:spcAft>
              <a:buClr>
                <a:srgbClr val="FB2762"/>
              </a:buClr>
              <a:buFont typeface="Arial"/>
              <a:buChar char="?"/>
            </a:pPr>
            <a:r>
              <a:rPr sz="1150" b="0" i="0">
                <a:solidFill>
                  <a:srgbClr val="5A6684"/>
                </a:solidFill>
                <a:latin typeface="Roboto"/>
              </a:rPr>
              <a:t>Woher kommen die Daten?</a:t>
            </a:r>
          </a:p>
          <a:p>
            <a:pPr algn="l" marL="164592" indent="-164592">
              <a:spcAft>
                <a:spcPts val="200"/>
              </a:spcAft>
              <a:buClr>
                <a:srgbClr val="FB2762"/>
              </a:buClr>
              <a:buFont typeface="Arial"/>
              <a:buChar char="?"/>
            </a:pPr>
            <a:r>
              <a:rPr sz="1150" b="0" i="0">
                <a:solidFill>
                  <a:srgbClr val="5A6684"/>
                </a:solidFill>
                <a:latin typeface="Roboto"/>
              </a:rPr>
              <a:t>Wer pflegt sie, wie oft?</a:t>
            </a:r>
          </a:p>
        </p:txBody>
      </p:sp>
      <p:sp>
        <p:nvSpPr>
          <p:cNvPr id="14" name="Rounded Rectangle 13"/>
          <p:cNvSpPr/>
          <p:nvPr/>
        </p:nvSpPr>
        <p:spPr>
          <a:xfrm>
            <a:off x="8028432"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600" y="2194560"/>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Eye_w.png"/>
          <p:cNvPicPr>
            <a:picLocks noChangeAspect="1"/>
          </p:cNvPicPr>
          <p:nvPr/>
        </p:nvPicPr>
        <p:blipFill>
          <a:blip r:embed="rId5"/>
          <a:stretch>
            <a:fillRect/>
          </a:stretch>
        </p:blipFill>
        <p:spPr>
          <a:xfrm>
            <a:off x="8350300" y="2315260"/>
            <a:ext cx="261518" cy="261518"/>
          </a:xfrm>
          <a:prstGeom prst="rect">
            <a:avLst/>
          </a:prstGeom>
        </p:spPr>
      </p:pic>
      <p:sp>
        <p:nvSpPr>
          <p:cNvPr id="17" name="TextBox 16"/>
          <p:cNvSpPr txBox="1"/>
          <p:nvPr/>
        </p:nvSpPr>
        <p:spPr>
          <a:xfrm>
            <a:off x="8851392" y="2194560"/>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3 · Transparenz</a:t>
            </a:r>
          </a:p>
        </p:txBody>
      </p:sp>
      <p:sp>
        <p:nvSpPr>
          <p:cNvPr id="18" name="TextBox 17"/>
          <p:cNvSpPr txBox="1"/>
          <p:nvPr/>
        </p:nvSpPr>
        <p:spPr>
          <a:xfrm>
            <a:off x="8229600" y="2788920"/>
            <a:ext cx="2916936"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Ist nachvollziehbar, wie Ergebnisse entstehen und dass KI beteiligt ist?</a:t>
            </a:r>
          </a:p>
          <a:p>
            <a:pPr algn="l" marL="164592" indent="-164592">
              <a:spcAft>
                <a:spcPts val="200"/>
              </a:spcAft>
              <a:buClr>
                <a:srgbClr val="FB2762"/>
              </a:buClr>
              <a:buFont typeface="Arial"/>
              <a:buChar char="?"/>
            </a:pPr>
            <a:r>
              <a:rPr sz="1150" b="0" i="0">
                <a:solidFill>
                  <a:srgbClr val="5A6684"/>
                </a:solidFill>
                <a:latin typeface="Roboto"/>
              </a:rPr>
              <a:t>Können wir Ergebnisse erklären?</a:t>
            </a:r>
          </a:p>
          <a:p>
            <a:pPr algn="l" marL="164592" indent="-164592">
              <a:spcAft>
                <a:spcPts val="200"/>
              </a:spcAft>
              <a:buClr>
                <a:srgbClr val="FB2762"/>
              </a:buClr>
              <a:buFont typeface="Arial"/>
              <a:buChar char="?"/>
            </a:pPr>
            <a:r>
              <a:rPr sz="1150" b="0" i="0">
                <a:solidFill>
                  <a:srgbClr val="5A6684"/>
                </a:solidFill>
                <a:latin typeface="Roboto"/>
              </a:rPr>
              <a:t>Wissen Betroffene, dass KI mitarbeitet?</a:t>
            </a:r>
          </a:p>
        </p:txBody>
      </p:sp>
      <p:sp>
        <p:nvSpPr>
          <p:cNvPr id="19" name="Rounded Rectangle 18"/>
          <p:cNvSpPr/>
          <p:nvPr/>
        </p:nvSpPr>
        <p:spPr>
          <a:xfrm>
            <a:off x="841248"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42416" y="4224528"/>
            <a:ext cx="502920" cy="5029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ShieldCheck_w.png"/>
          <p:cNvPicPr>
            <a:picLocks noChangeAspect="1"/>
          </p:cNvPicPr>
          <p:nvPr/>
        </p:nvPicPr>
        <p:blipFill>
          <a:blip r:embed="rId6"/>
          <a:stretch>
            <a:fillRect/>
          </a:stretch>
        </p:blipFill>
        <p:spPr>
          <a:xfrm>
            <a:off x="1163116" y="4345228"/>
            <a:ext cx="261518" cy="261518"/>
          </a:xfrm>
          <a:prstGeom prst="rect">
            <a:avLst/>
          </a:prstGeom>
        </p:spPr>
      </p:pic>
      <p:sp>
        <p:nvSpPr>
          <p:cNvPr id="22" name="TextBox 21"/>
          <p:cNvSpPr txBox="1"/>
          <p:nvPr/>
        </p:nvSpPr>
        <p:spPr>
          <a:xfrm>
            <a:off x="1664208" y="422452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4 · Robustheit</a:t>
            </a:r>
          </a:p>
        </p:txBody>
      </p:sp>
      <p:sp>
        <p:nvSpPr>
          <p:cNvPr id="23" name="TextBox 22"/>
          <p:cNvSpPr txBox="1"/>
          <p:nvPr/>
        </p:nvSpPr>
        <p:spPr>
          <a:xfrm>
            <a:off x="1042416" y="4818888"/>
            <a:ext cx="2916936"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Wie zuverlässig ist das Ergebnis, auch bei ungewöhnlichen Fällen?</a:t>
            </a:r>
          </a:p>
          <a:p>
            <a:pPr algn="l" marL="164592" indent="-164592">
              <a:spcAft>
                <a:spcPts val="200"/>
              </a:spcAft>
              <a:buClr>
                <a:srgbClr val="FB2762"/>
              </a:buClr>
              <a:buFont typeface="Arial"/>
              <a:buChar char="?"/>
            </a:pPr>
            <a:r>
              <a:rPr sz="1150" b="0" i="0">
                <a:solidFill>
                  <a:srgbClr val="5A6684"/>
                </a:solidFill>
                <a:latin typeface="Roboto"/>
              </a:rPr>
              <a:t>Was passiert, wenn die KI irrt?</a:t>
            </a:r>
          </a:p>
          <a:p>
            <a:pPr algn="l" marL="164592" indent="-164592">
              <a:spcAft>
                <a:spcPts val="200"/>
              </a:spcAft>
              <a:buClr>
                <a:srgbClr val="FB2762"/>
              </a:buClr>
              <a:buFont typeface="Arial"/>
              <a:buChar char="?"/>
            </a:pPr>
            <a:r>
              <a:rPr sz="1150" b="0" i="0">
                <a:solidFill>
                  <a:srgbClr val="5A6684"/>
                </a:solidFill>
                <a:latin typeface="Roboto"/>
              </a:rPr>
              <a:t>Wo prüft ein Mensch?</a:t>
            </a:r>
          </a:p>
        </p:txBody>
      </p:sp>
      <p:sp>
        <p:nvSpPr>
          <p:cNvPr id="24" name="Rounded Rectangle 23"/>
          <p:cNvSpPr/>
          <p:nvPr/>
        </p:nvSpPr>
        <p:spPr>
          <a:xfrm>
            <a:off x="4434840"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636008" y="4224528"/>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Scale_w.png"/>
          <p:cNvPicPr>
            <a:picLocks noChangeAspect="1"/>
          </p:cNvPicPr>
          <p:nvPr/>
        </p:nvPicPr>
        <p:blipFill>
          <a:blip r:embed="rId7"/>
          <a:stretch>
            <a:fillRect/>
          </a:stretch>
        </p:blipFill>
        <p:spPr>
          <a:xfrm>
            <a:off x="4756708" y="4345228"/>
            <a:ext cx="261518" cy="261518"/>
          </a:xfrm>
          <a:prstGeom prst="rect">
            <a:avLst/>
          </a:prstGeom>
        </p:spPr>
      </p:pic>
      <p:sp>
        <p:nvSpPr>
          <p:cNvPr id="27" name="TextBox 26"/>
          <p:cNvSpPr txBox="1"/>
          <p:nvPr/>
        </p:nvSpPr>
        <p:spPr>
          <a:xfrm>
            <a:off x="5257800" y="422452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5 · Ethik &amp; Datenschutz</a:t>
            </a:r>
          </a:p>
        </p:txBody>
      </p:sp>
      <p:sp>
        <p:nvSpPr>
          <p:cNvPr id="28" name="TextBox 27"/>
          <p:cNvSpPr txBox="1"/>
          <p:nvPr/>
        </p:nvSpPr>
        <p:spPr>
          <a:xfrm>
            <a:off x="4636008" y="4818888"/>
            <a:ext cx="2916936"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Werden Rechte, Fairness und DSGVO gewahrt?</a:t>
            </a:r>
          </a:p>
          <a:p>
            <a:pPr algn="l" marL="164592" indent="-164592">
              <a:spcAft>
                <a:spcPts val="200"/>
              </a:spcAft>
              <a:buClr>
                <a:srgbClr val="FB2762"/>
              </a:buClr>
              <a:buFont typeface="Arial"/>
              <a:buChar char="?"/>
            </a:pPr>
            <a:r>
              <a:rPr sz="1150" b="0" i="0">
                <a:solidFill>
                  <a:srgbClr val="5A6684"/>
                </a:solidFill>
                <a:latin typeface="Roboto"/>
              </a:rPr>
              <a:t>Werden personenbezogene Daten verarbeitet?</a:t>
            </a:r>
          </a:p>
          <a:p>
            <a:pPr algn="l" marL="164592" indent="-164592">
              <a:spcAft>
                <a:spcPts val="200"/>
              </a:spcAft>
              <a:buClr>
                <a:srgbClr val="FB2762"/>
              </a:buClr>
              <a:buFont typeface="Arial"/>
              <a:buChar char="?"/>
            </a:pPr>
            <a:r>
              <a:rPr sz="1150" b="0" i="0">
                <a:solidFill>
                  <a:srgbClr val="5A6684"/>
                </a:solidFill>
                <a:latin typeface="Roboto"/>
              </a:rPr>
              <a:t>Kann jemand benachteiligt werden?</a:t>
            </a:r>
          </a:p>
        </p:txBody>
      </p:sp>
      <p:sp>
        <p:nvSpPr>
          <p:cNvPr id="29" name="Rounded Rectangle 28"/>
          <p:cNvSpPr/>
          <p:nvPr/>
        </p:nvSpPr>
        <p:spPr>
          <a:xfrm>
            <a:off x="8028432"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29600" y="4224528"/>
            <a:ext cx="502920" cy="5029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Globe_w.png"/>
          <p:cNvPicPr>
            <a:picLocks noChangeAspect="1"/>
          </p:cNvPicPr>
          <p:nvPr/>
        </p:nvPicPr>
        <p:blipFill>
          <a:blip r:embed="rId8"/>
          <a:stretch>
            <a:fillRect/>
          </a:stretch>
        </p:blipFill>
        <p:spPr>
          <a:xfrm>
            <a:off x="8350300" y="4345228"/>
            <a:ext cx="261518" cy="261518"/>
          </a:xfrm>
          <a:prstGeom prst="rect">
            <a:avLst/>
          </a:prstGeom>
        </p:spPr>
      </p:pic>
      <p:sp>
        <p:nvSpPr>
          <p:cNvPr id="32" name="TextBox 31"/>
          <p:cNvSpPr txBox="1"/>
          <p:nvPr/>
        </p:nvSpPr>
        <p:spPr>
          <a:xfrm>
            <a:off x="8851392" y="422452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6 · Nachhaltigkeit</a:t>
            </a:r>
          </a:p>
        </p:txBody>
      </p:sp>
      <p:sp>
        <p:nvSpPr>
          <p:cNvPr id="33" name="TextBox 32"/>
          <p:cNvSpPr txBox="1"/>
          <p:nvPr/>
        </p:nvSpPr>
        <p:spPr>
          <a:xfrm>
            <a:off x="8229600" y="4818888"/>
            <a:ext cx="2916936" cy="1005840"/>
          </a:xfrm>
          <a:prstGeom prst="rect">
            <a:avLst/>
          </a:prstGeom>
          <a:noFill/>
        </p:spPr>
        <p:txBody>
          <a:bodyPr wrap="square" lIns="0" rIns="0" tIns="0" bIns="0" anchor="t"/>
          <a:lstStyle/>
          <a:p>
            <a:pPr algn="l">
              <a:spcAft>
                <a:spcPts val="400"/>
              </a:spcAft>
              <a:buNone/>
            </a:pPr>
            <a:r>
              <a:rPr sz="1250" b="0" i="0">
                <a:solidFill>
                  <a:srgbClr val="0E1F53"/>
                </a:solidFill>
                <a:latin typeface="Roboto"/>
              </a:rPr>
              <a:t>Ist der Einsatz ökologisch, ökonomisch und organisatorisch dauerhaft tragfähig?</a:t>
            </a:r>
          </a:p>
          <a:p>
            <a:pPr algn="l" marL="164592" indent="-164592">
              <a:spcAft>
                <a:spcPts val="200"/>
              </a:spcAft>
              <a:buClr>
                <a:srgbClr val="FB2762"/>
              </a:buClr>
              <a:buFont typeface="Arial"/>
              <a:buChar char="?"/>
            </a:pPr>
            <a:r>
              <a:rPr sz="1150" b="0" i="0">
                <a:solidFill>
                  <a:srgbClr val="5A6684"/>
                </a:solidFill>
                <a:latin typeface="Roboto"/>
              </a:rPr>
              <a:t>Lohnt sich der Aufwand langfristig?</a:t>
            </a:r>
          </a:p>
          <a:p>
            <a:pPr algn="l" marL="164592" indent="-164592">
              <a:spcAft>
                <a:spcPts val="200"/>
              </a:spcAft>
              <a:buClr>
                <a:srgbClr val="FB2762"/>
              </a:buClr>
              <a:buFont typeface="Arial"/>
              <a:buChar char="?"/>
            </a:pPr>
            <a:r>
              <a:rPr sz="1150" b="0" i="0">
                <a:solidFill>
                  <a:srgbClr val="5A6684"/>
                </a:solidFill>
                <a:latin typeface="Roboto"/>
              </a:rPr>
              <a:t>Wie abhängig sind wir vom Anbieter?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KI-Bewertungs-Check</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Rounded Rectangle 3"/>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KI-Bewertungs-Check</a:t>
            </a:r>
          </a:p>
        </p:txBody>
      </p:sp>
      <p:sp>
        <p:nvSpPr>
          <p:cNvPr id="10" name="Rounded Rectangle 9"/>
          <p:cNvSpPr/>
          <p:nvPr/>
        </p:nvSpPr>
        <p:spPr>
          <a:xfrm>
            <a:off x="969264" y="2487168"/>
            <a:ext cx="7470648" cy="461284"/>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2" name="TextBox 11"/>
          <p:cNvSpPr txBox="1"/>
          <p:nvPr/>
        </p:nvSpPr>
        <p:spPr>
          <a:xfrm>
            <a:off x="2020824" y="2523744"/>
            <a:ext cx="6309360" cy="388132"/>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ein kritischer Berater für verantwortungsvollen KI-Einsatz in kleinen und mittleren Unternehmen.</a:t>
            </a:r>
          </a:p>
        </p:txBody>
      </p:sp>
      <p:sp>
        <p:nvSpPr>
          <p:cNvPr id="13" name="Rounded Rectangle 12"/>
          <p:cNvSpPr/>
          <p:nvPr/>
        </p:nvSpPr>
        <p:spPr>
          <a:xfrm>
            <a:off x="969264" y="3012460"/>
            <a:ext cx="7470648" cy="563299"/>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0704" y="3067324"/>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15" name="TextBox 14"/>
          <p:cNvSpPr txBox="1"/>
          <p:nvPr/>
        </p:nvSpPr>
        <p:spPr>
          <a:xfrm>
            <a:off x="2020824" y="3049036"/>
            <a:ext cx="6309360" cy="490147"/>
          </a:xfrm>
          <a:prstGeom prst="rect">
            <a:avLst/>
          </a:prstGeom>
          <a:noFill/>
        </p:spPr>
        <p:txBody>
          <a:bodyPr wrap="square" lIns="0" rIns="0" tIns="0" bIns="0" anchor="ctr"/>
          <a:lstStyle/>
          <a:p>
            <a:pPr algn="l">
              <a:spcAft>
                <a:spcPts val="0"/>
              </a:spcAft>
              <a:buNone/>
            </a:pPr>
            <a:r>
              <a:rPr sz="1150" b="0" i="0">
                <a:solidFill>
                  <a:srgbClr val="1B2440"/>
                </a:solidFill>
                <a:latin typeface="Roboto"/>
              </a:rPr>
              <a:t>Unser KI-Ansatz: [Beschreibung]. Genutzte Daten: [Quellen]. Betroffene Personen: [Kundschaft, Mitarbeitende]. Werkzeug: [Tool].</a:t>
            </a:r>
          </a:p>
        </p:txBody>
      </p:sp>
      <p:sp>
        <p:nvSpPr>
          <p:cNvPr id="16" name="Rounded Rectangle 15"/>
          <p:cNvSpPr/>
          <p:nvPr/>
        </p:nvSpPr>
        <p:spPr>
          <a:xfrm>
            <a:off x="969264" y="3639767"/>
            <a:ext cx="7470648" cy="554428"/>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3694631"/>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18" name="TextBox 17"/>
          <p:cNvSpPr txBox="1"/>
          <p:nvPr/>
        </p:nvSpPr>
        <p:spPr>
          <a:xfrm>
            <a:off x="2020824" y="3676343"/>
            <a:ext cx="6309360" cy="481276"/>
          </a:xfrm>
          <a:prstGeom prst="rect">
            <a:avLst/>
          </a:prstGeom>
          <a:noFill/>
        </p:spPr>
        <p:txBody>
          <a:bodyPr wrap="square" lIns="0" rIns="0" tIns="0" bIns="0" anchor="ctr"/>
          <a:lstStyle/>
          <a:p>
            <a:pPr algn="l">
              <a:spcAft>
                <a:spcPts val="0"/>
              </a:spcAft>
              <a:buNone/>
            </a:pPr>
            <a:r>
              <a:rPr sz="1150" b="0" i="0">
                <a:solidFill>
                  <a:srgbClr val="1B2440"/>
                </a:solidFill>
                <a:latin typeface="Roboto"/>
              </a:rPr>
              <a:t>Bewerte den Ansatz in sechs Dimensionen: Nutzen, Datenqualität, Transparenz, Robustheit, Ethik &amp; Datenschutz, Nachhaltigkeit.</a:t>
            </a:r>
          </a:p>
        </p:txBody>
      </p:sp>
      <p:sp>
        <p:nvSpPr>
          <p:cNvPr id="19" name="Rounded Rectangle 18"/>
          <p:cNvSpPr/>
          <p:nvPr/>
        </p:nvSpPr>
        <p:spPr>
          <a:xfrm>
            <a:off x="969264" y="4258203"/>
            <a:ext cx="7470648" cy="612088"/>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4313067"/>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1" name="TextBox 20"/>
          <p:cNvSpPr txBox="1"/>
          <p:nvPr/>
        </p:nvSpPr>
        <p:spPr>
          <a:xfrm>
            <a:off x="2020824" y="4294779"/>
            <a:ext cx="6309360" cy="538936"/>
          </a:xfrm>
          <a:prstGeom prst="rect">
            <a:avLst/>
          </a:prstGeom>
          <a:noFill/>
        </p:spPr>
        <p:txBody>
          <a:bodyPr wrap="square" lIns="0" rIns="0" tIns="0" bIns="0" anchor="ctr"/>
          <a:lstStyle/>
          <a:p>
            <a:pPr algn="l">
              <a:spcAft>
                <a:spcPts val="0"/>
              </a:spcAft>
              <a:buNone/>
            </a:pPr>
            <a:r>
              <a:rPr sz="1150" b="0" i="0">
                <a:solidFill>
                  <a:srgbClr val="1B2440"/>
                </a:solidFill>
                <a:latin typeface="Roboto"/>
              </a:rPr>
              <a:t>1. Je Dimension zwei Prüffragen beantworten. 2. Note von 1 bis 5 mit Begründung. 3. Je Dimension das größte Risiko und eine Gegenmaßnahme.</a:t>
            </a:r>
          </a:p>
        </p:txBody>
      </p:sp>
      <p:sp>
        <p:nvSpPr>
          <p:cNvPr id="22" name="Rounded Rectangle 21"/>
          <p:cNvSpPr/>
          <p:nvPr/>
        </p:nvSpPr>
        <p:spPr>
          <a:xfrm>
            <a:off x="969264" y="4934300"/>
            <a:ext cx="7470648" cy="421365"/>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4989164"/>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24" name="TextBox 23"/>
          <p:cNvSpPr txBox="1"/>
          <p:nvPr/>
        </p:nvSpPr>
        <p:spPr>
          <a:xfrm>
            <a:off x="2020824" y="4970876"/>
            <a:ext cx="6309360" cy="348213"/>
          </a:xfrm>
          <a:prstGeom prst="rect">
            <a:avLst/>
          </a:prstGeom>
          <a:noFill/>
        </p:spPr>
        <p:txBody>
          <a:bodyPr wrap="square" lIns="0" rIns="0" tIns="0" bIns="0" anchor="ctr"/>
          <a:lstStyle/>
          <a:p>
            <a:pPr algn="l">
              <a:spcAft>
                <a:spcPts val="0"/>
              </a:spcAft>
              <a:buNone/>
            </a:pPr>
            <a:r>
              <a:rPr sz="1150" b="0" i="0">
                <a:solidFill>
                  <a:srgbClr val="1B2440"/>
                </a:solidFill>
                <a:latin typeface="Roboto"/>
              </a:rPr>
              <a:t>Tabelle: Dimension | Note | Begründung | Risiko | Maßnahme. Danach ein Fazit in drei Sätzen.</a:t>
            </a:r>
          </a:p>
        </p:txBody>
      </p:sp>
      <p:sp>
        <p:nvSpPr>
          <p:cNvPr id="25" name="Rounded Rectangle 24"/>
          <p:cNvSpPr/>
          <p:nvPr/>
        </p:nvSpPr>
        <p:spPr>
          <a:xfrm>
            <a:off x="969264" y="5419673"/>
            <a:ext cx="7470648" cy="505638"/>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5474537"/>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27" name="TextBox 26"/>
          <p:cNvSpPr txBox="1"/>
          <p:nvPr/>
        </p:nvSpPr>
        <p:spPr>
          <a:xfrm>
            <a:off x="2020824" y="5456249"/>
            <a:ext cx="6309360" cy="432486"/>
          </a:xfrm>
          <a:prstGeom prst="rect">
            <a:avLst/>
          </a:prstGeom>
          <a:noFill/>
        </p:spPr>
        <p:txBody>
          <a:bodyPr wrap="square" lIns="0" rIns="0" tIns="0" bIns="0" anchor="ctr"/>
          <a:lstStyle/>
          <a:p>
            <a:pPr algn="l">
              <a:spcAft>
                <a:spcPts val="0"/>
              </a:spcAft>
              <a:buNone/>
            </a:pPr>
            <a:r>
              <a:rPr sz="1150" b="0" i="0">
                <a:solidFill>
                  <a:srgbClr val="1B2440"/>
                </a:solidFill>
                <a:latin typeface="Roboto"/>
              </a:rPr>
              <a:t>Kritisch statt gefällig. Fehlende Informationen benennen. Rechtsfragen als solche markieren, keine Rechtsberatung.</a:t>
            </a:r>
          </a:p>
        </p:txBody>
      </p:sp>
      <p:sp>
        <p:nvSpPr>
          <p:cNvPr id="28" name="Rounded Rectangle 27"/>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0" name="Oval 29"/>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2" name="Oval 31"/>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34" name="Oval 33"/>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36" name="Oval 35"/>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38" name="Oval 37"/>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0" name="Oval 39"/>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2" name="Rounded Rectangle 41"/>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Wichtig: </a:t>
            </a:r>
            <a:r>
              <a:rPr sz="1150" b="0" i="0">
                <a:solidFill>
                  <a:srgbClr val="0E1F53"/>
                </a:solidFill>
                <a:latin typeface="Roboto"/>
              </a:rPr>
              <a:t>Die KI schlägt vor, das Team bewertet.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HSRW-Beispiel: Bewertung des Challenge-Assistenten</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graphicFrame>
        <p:nvGraphicFramePr>
          <p:cNvPr id="4" name="Chart 3"/>
          <p:cNvGraphicFramePr>
            <a:graphicFrameLocks noGrp="1"/>
          </p:cNvGraphicFramePr>
          <p:nvPr/>
        </p:nvGraphicFramePr>
        <p:xfrm>
          <a:off x="841248" y="1965960"/>
          <a:ext cx="4937760" cy="4069080"/>
        </p:xfrm>
        <a:graphic>
          <a:graphicData uri="http://schemas.openxmlformats.org/drawingml/2006/chart">
            <c:chart xmlns:c="http://schemas.openxmlformats.org/drawingml/2006/chart" r:id="rId3"/>
          </a:graphicData>
        </a:graphic>
      </p:graphicFrame>
      <p:sp>
        <p:nvSpPr>
          <p:cNvPr id="5" name="Rounded Rectangle 4"/>
          <p:cNvSpPr/>
          <p:nvPr/>
        </p:nvSpPr>
        <p:spPr>
          <a:xfrm>
            <a:off x="6053328" y="2011680"/>
            <a:ext cx="529437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81928" y="2103120"/>
            <a:ext cx="4837176" cy="457200"/>
          </a:xfrm>
          <a:prstGeom prst="rect">
            <a:avLst/>
          </a:prstGeom>
          <a:noFill/>
        </p:spPr>
        <p:txBody>
          <a:bodyPr wrap="square" lIns="0" rIns="0" tIns="0" bIns="0" anchor="t"/>
          <a:lstStyle/>
          <a:p>
            <a:pPr algn="l">
              <a:spcAft>
                <a:spcPts val="400"/>
              </a:spcAft>
              <a:buNone/>
            </a:pPr>
            <a:r>
              <a:rPr sz="1250" b="1" i="0">
                <a:solidFill>
                  <a:srgbClr val="0E1F53"/>
                </a:solidFill>
                <a:latin typeface="Roboto"/>
              </a:rPr>
              <a:t>Challenge-Assistent: Aufgaben aufbereiten, Teams vorschlagen, Ergebnisse zusammenfassen</a:t>
            </a:r>
          </a:p>
        </p:txBody>
      </p:sp>
      <p:sp>
        <p:nvSpPr>
          <p:cNvPr id="7" name="Oval 6"/>
          <p:cNvSpPr/>
          <p:nvPr/>
        </p:nvSpPr>
        <p:spPr>
          <a:xfrm>
            <a:off x="6281928" y="2761488"/>
            <a:ext cx="347472" cy="347472"/>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FFFFFF"/>
                </a:solidFill>
                <a:latin typeface="Roboto"/>
              </a:rPr>
              <a:t>4</a:t>
            </a:r>
          </a:p>
        </p:txBody>
      </p:sp>
      <p:sp>
        <p:nvSpPr>
          <p:cNvPr id="8" name="TextBox 7"/>
          <p:cNvSpPr txBox="1"/>
          <p:nvPr/>
        </p:nvSpPr>
        <p:spPr>
          <a:xfrm>
            <a:off x="6739128" y="2697480"/>
            <a:ext cx="4379976" cy="475488"/>
          </a:xfrm>
          <a:prstGeom prst="rect">
            <a:avLst/>
          </a:prstGeom>
          <a:noFill/>
        </p:spPr>
        <p:txBody>
          <a:bodyPr wrap="square" lIns="0" rIns="0" tIns="0" bIns="0" anchor="ctr"/>
          <a:lstStyle/>
          <a:p>
            <a:pPr algn="l">
              <a:spcAft>
                <a:spcPts val="400"/>
              </a:spcAft>
              <a:buNone/>
            </a:pPr>
            <a:r>
              <a:rPr sz="1200" b="1" i="0">
                <a:solidFill>
                  <a:srgbClr val="0E1F53"/>
                </a:solidFill>
                <a:latin typeface="Roboto"/>
              </a:rPr>
              <a:t>Nutzen: </a:t>
            </a:r>
            <a:r>
              <a:rPr sz="1200" b="0" i="0">
                <a:solidFill>
                  <a:srgbClr val="0E1F53"/>
                </a:solidFill>
                <a:latin typeface="Roboto"/>
              </a:rPr>
              <a:t>Spart Zeit bei Vorbereitung und Dokumentation</a:t>
            </a:r>
          </a:p>
        </p:txBody>
      </p:sp>
      <p:sp>
        <p:nvSpPr>
          <p:cNvPr id="9" name="Oval 8"/>
          <p:cNvSpPr/>
          <p:nvPr/>
        </p:nvSpPr>
        <p:spPr>
          <a:xfrm>
            <a:off x="6281928" y="3291840"/>
            <a:ext cx="347472" cy="347472"/>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FFFFFF"/>
                </a:solidFill>
                <a:latin typeface="Roboto"/>
              </a:rPr>
              <a:t>3</a:t>
            </a:r>
          </a:p>
        </p:txBody>
      </p:sp>
      <p:sp>
        <p:nvSpPr>
          <p:cNvPr id="10" name="TextBox 9"/>
          <p:cNvSpPr txBox="1"/>
          <p:nvPr/>
        </p:nvSpPr>
        <p:spPr>
          <a:xfrm>
            <a:off x="6739128" y="3227832"/>
            <a:ext cx="4379976" cy="475488"/>
          </a:xfrm>
          <a:prstGeom prst="rect">
            <a:avLst/>
          </a:prstGeom>
          <a:noFill/>
        </p:spPr>
        <p:txBody>
          <a:bodyPr wrap="square" lIns="0" rIns="0" tIns="0" bIns="0" anchor="ctr"/>
          <a:lstStyle/>
          <a:p>
            <a:pPr algn="l">
              <a:spcAft>
                <a:spcPts val="400"/>
              </a:spcAft>
              <a:buNone/>
            </a:pPr>
            <a:r>
              <a:rPr sz="1200" b="1" i="0">
                <a:solidFill>
                  <a:srgbClr val="0E1F53"/>
                </a:solidFill>
                <a:latin typeface="Roboto"/>
              </a:rPr>
              <a:t>Datenqualität: </a:t>
            </a:r>
            <a:r>
              <a:rPr sz="1200" b="0" i="0">
                <a:solidFill>
                  <a:srgbClr val="0E1F53"/>
                </a:solidFill>
                <a:latin typeface="Roboto"/>
              </a:rPr>
              <a:t>Unternehmensdaten oft lückenhaft, Vorlage nötig</a:t>
            </a:r>
          </a:p>
        </p:txBody>
      </p:sp>
      <p:sp>
        <p:nvSpPr>
          <p:cNvPr id="11" name="Oval 10"/>
          <p:cNvSpPr/>
          <p:nvPr/>
        </p:nvSpPr>
        <p:spPr>
          <a:xfrm>
            <a:off x="6281928" y="3822192"/>
            <a:ext cx="347472" cy="347472"/>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FFFFFF"/>
                </a:solidFill>
                <a:latin typeface="Roboto"/>
              </a:rPr>
              <a:t>4</a:t>
            </a:r>
          </a:p>
        </p:txBody>
      </p:sp>
      <p:sp>
        <p:nvSpPr>
          <p:cNvPr id="12" name="TextBox 11"/>
          <p:cNvSpPr txBox="1"/>
          <p:nvPr/>
        </p:nvSpPr>
        <p:spPr>
          <a:xfrm>
            <a:off x="6739128" y="3758184"/>
            <a:ext cx="4379976" cy="475488"/>
          </a:xfrm>
          <a:prstGeom prst="rect">
            <a:avLst/>
          </a:prstGeom>
          <a:noFill/>
        </p:spPr>
        <p:txBody>
          <a:bodyPr wrap="square" lIns="0" rIns="0" tIns="0" bIns="0" anchor="ctr"/>
          <a:lstStyle/>
          <a:p>
            <a:pPr algn="l">
              <a:spcAft>
                <a:spcPts val="400"/>
              </a:spcAft>
              <a:buNone/>
            </a:pPr>
            <a:r>
              <a:rPr sz="1200" b="1" i="0">
                <a:solidFill>
                  <a:srgbClr val="0E1F53"/>
                </a:solidFill>
                <a:latin typeface="Roboto"/>
              </a:rPr>
              <a:t>Transparenz: </a:t>
            </a:r>
            <a:r>
              <a:rPr sz="1200" b="0" i="0">
                <a:solidFill>
                  <a:srgbClr val="0E1F53"/>
                </a:solidFill>
                <a:latin typeface="Roboto"/>
              </a:rPr>
              <a:t>Ergebnisse werden als KI-Entwurf gekennzeichnet</a:t>
            </a:r>
          </a:p>
        </p:txBody>
      </p:sp>
      <p:sp>
        <p:nvSpPr>
          <p:cNvPr id="13" name="Oval 12"/>
          <p:cNvSpPr/>
          <p:nvPr/>
        </p:nvSpPr>
        <p:spPr>
          <a:xfrm>
            <a:off x="6281928" y="4352544"/>
            <a:ext cx="347472" cy="347472"/>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FFFFFF"/>
                </a:solidFill>
                <a:latin typeface="Roboto"/>
              </a:rPr>
              <a:t>3</a:t>
            </a:r>
          </a:p>
        </p:txBody>
      </p:sp>
      <p:sp>
        <p:nvSpPr>
          <p:cNvPr id="14" name="TextBox 13"/>
          <p:cNvSpPr txBox="1"/>
          <p:nvPr/>
        </p:nvSpPr>
        <p:spPr>
          <a:xfrm>
            <a:off x="6739128" y="4288536"/>
            <a:ext cx="4379976" cy="475488"/>
          </a:xfrm>
          <a:prstGeom prst="rect">
            <a:avLst/>
          </a:prstGeom>
          <a:noFill/>
        </p:spPr>
        <p:txBody>
          <a:bodyPr wrap="square" lIns="0" rIns="0" tIns="0" bIns="0" anchor="ctr"/>
          <a:lstStyle/>
          <a:p>
            <a:pPr algn="l">
              <a:spcAft>
                <a:spcPts val="400"/>
              </a:spcAft>
              <a:buNone/>
            </a:pPr>
            <a:r>
              <a:rPr sz="1200" b="1" i="0">
                <a:solidFill>
                  <a:srgbClr val="0E1F53"/>
                </a:solidFill>
                <a:latin typeface="Roboto"/>
              </a:rPr>
              <a:t>Robustheit: </a:t>
            </a:r>
            <a:r>
              <a:rPr sz="1200" b="0" i="0">
                <a:solidFill>
                  <a:srgbClr val="0E1F53"/>
                </a:solidFill>
                <a:latin typeface="Roboto"/>
              </a:rPr>
              <a:t>Teamvorschläge prüft eine Lehrperson</a:t>
            </a:r>
          </a:p>
        </p:txBody>
      </p:sp>
      <p:sp>
        <p:nvSpPr>
          <p:cNvPr id="15" name="Oval 14"/>
          <p:cNvSpPr/>
          <p:nvPr/>
        </p:nvSpPr>
        <p:spPr>
          <a:xfrm>
            <a:off x="6281928" y="4882896"/>
            <a:ext cx="347472" cy="347472"/>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FFFFFF"/>
                </a:solidFill>
                <a:latin typeface="Roboto"/>
              </a:rPr>
              <a:t>4</a:t>
            </a:r>
          </a:p>
        </p:txBody>
      </p:sp>
      <p:sp>
        <p:nvSpPr>
          <p:cNvPr id="16" name="TextBox 15"/>
          <p:cNvSpPr txBox="1"/>
          <p:nvPr/>
        </p:nvSpPr>
        <p:spPr>
          <a:xfrm>
            <a:off x="6739128" y="4818888"/>
            <a:ext cx="4379976" cy="475488"/>
          </a:xfrm>
          <a:prstGeom prst="rect">
            <a:avLst/>
          </a:prstGeom>
          <a:noFill/>
        </p:spPr>
        <p:txBody>
          <a:bodyPr wrap="square" lIns="0" rIns="0" tIns="0" bIns="0" anchor="ctr"/>
          <a:lstStyle/>
          <a:p>
            <a:pPr algn="l">
              <a:spcAft>
                <a:spcPts val="400"/>
              </a:spcAft>
              <a:buNone/>
            </a:pPr>
            <a:r>
              <a:rPr sz="1200" b="1" i="0">
                <a:solidFill>
                  <a:srgbClr val="0E1F53"/>
                </a:solidFill>
                <a:latin typeface="Roboto"/>
              </a:rPr>
              <a:t>Ethik &amp; Datenschutz: </a:t>
            </a:r>
            <a:r>
              <a:rPr sz="1200" b="0" i="0">
                <a:solidFill>
                  <a:srgbClr val="0E1F53"/>
                </a:solidFill>
                <a:latin typeface="Roboto"/>
              </a:rPr>
              <a:t>Keine sensiblen Daten, Business-Lizenz mit AV-Vertrag</a:t>
            </a:r>
          </a:p>
        </p:txBody>
      </p:sp>
      <p:sp>
        <p:nvSpPr>
          <p:cNvPr id="17" name="Oval 16"/>
          <p:cNvSpPr/>
          <p:nvPr/>
        </p:nvSpPr>
        <p:spPr>
          <a:xfrm>
            <a:off x="6281928" y="5413248"/>
            <a:ext cx="347472" cy="347472"/>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200" b="1" i="0">
                <a:solidFill>
                  <a:srgbClr val="FFFFFF"/>
                </a:solidFill>
                <a:latin typeface="Roboto"/>
              </a:rPr>
              <a:t>3</a:t>
            </a:r>
          </a:p>
        </p:txBody>
      </p:sp>
      <p:sp>
        <p:nvSpPr>
          <p:cNvPr id="18" name="TextBox 17"/>
          <p:cNvSpPr txBox="1"/>
          <p:nvPr/>
        </p:nvSpPr>
        <p:spPr>
          <a:xfrm>
            <a:off x="6739128" y="5349240"/>
            <a:ext cx="4379976" cy="475488"/>
          </a:xfrm>
          <a:prstGeom prst="rect">
            <a:avLst/>
          </a:prstGeom>
          <a:noFill/>
        </p:spPr>
        <p:txBody>
          <a:bodyPr wrap="square" lIns="0" rIns="0" tIns="0" bIns="0" anchor="ctr"/>
          <a:lstStyle/>
          <a:p>
            <a:pPr algn="l">
              <a:spcAft>
                <a:spcPts val="400"/>
              </a:spcAft>
              <a:buNone/>
            </a:pPr>
            <a:r>
              <a:rPr sz="1200" b="1" i="0">
                <a:solidFill>
                  <a:srgbClr val="0E1F53"/>
                </a:solidFill>
                <a:latin typeface="Roboto"/>
              </a:rPr>
              <a:t>Nachhaltigkeit: </a:t>
            </a:r>
            <a:r>
              <a:rPr sz="1200" b="0" i="0">
                <a:solidFill>
                  <a:srgbClr val="0E1F53"/>
                </a:solidFill>
                <a:latin typeface="Roboto"/>
              </a:rPr>
              <a:t>Lizenzkosten und Pflegeaufwand noch offen</a:t>
            </a:r>
          </a:p>
        </p:txBody>
      </p:sp>
      <p:sp>
        <p:nvSpPr>
          <p:cNvPr id="19" name="TextBox 18"/>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Skala 1 = kritisch bis 5 = sehr gut · Illustratives Beispiel für den Workshop: Interviewaussagen und Testergebnisse sind fiktiv.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Sie: Bewerten Sie Ihren KI-Ansatz</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25 MIN.</a:t>
            </a:r>
          </a:p>
        </p:txBody>
      </p:sp>
      <p:sp>
        <p:nvSpPr>
          <p:cNvPr id="4" name="Rounded Rectangle 3"/>
          <p:cNvSpPr/>
          <p:nvPr/>
        </p:nvSpPr>
        <p:spPr>
          <a:xfrm>
            <a:off x="841248" y="2011680"/>
            <a:ext cx="1050645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2103120"/>
            <a:ext cx="2286000"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Dimension</a:t>
            </a:r>
          </a:p>
        </p:txBody>
      </p:sp>
      <p:sp>
        <p:nvSpPr>
          <p:cNvPr id="6" name="TextBox 5"/>
          <p:cNvSpPr txBox="1"/>
          <p:nvPr/>
        </p:nvSpPr>
        <p:spPr>
          <a:xfrm>
            <a:off x="3355848" y="2103120"/>
            <a:ext cx="457200" cy="320040"/>
          </a:xfrm>
          <a:prstGeom prst="rect">
            <a:avLst/>
          </a:prstGeom>
          <a:noFill/>
        </p:spPr>
        <p:txBody>
          <a:bodyPr wrap="square" lIns="0" rIns="0" tIns="0" bIns="0" anchor="t"/>
          <a:lstStyle/>
          <a:p>
            <a:pPr algn="ctr">
              <a:spcAft>
                <a:spcPts val="400"/>
              </a:spcAft>
              <a:buNone/>
            </a:pPr>
            <a:r>
              <a:rPr sz="1200" b="1" i="0">
                <a:solidFill>
                  <a:srgbClr val="5A6684"/>
                </a:solidFill>
                <a:latin typeface="Roboto"/>
              </a:rPr>
              <a:t>1</a:t>
            </a:r>
          </a:p>
        </p:txBody>
      </p:sp>
      <p:sp>
        <p:nvSpPr>
          <p:cNvPr id="7" name="TextBox 6"/>
          <p:cNvSpPr txBox="1"/>
          <p:nvPr/>
        </p:nvSpPr>
        <p:spPr>
          <a:xfrm>
            <a:off x="3858768" y="2103120"/>
            <a:ext cx="457200" cy="320040"/>
          </a:xfrm>
          <a:prstGeom prst="rect">
            <a:avLst/>
          </a:prstGeom>
          <a:noFill/>
        </p:spPr>
        <p:txBody>
          <a:bodyPr wrap="square" lIns="0" rIns="0" tIns="0" bIns="0" anchor="t"/>
          <a:lstStyle/>
          <a:p>
            <a:pPr algn="ctr">
              <a:spcAft>
                <a:spcPts val="400"/>
              </a:spcAft>
              <a:buNone/>
            </a:pPr>
            <a:r>
              <a:rPr sz="1200" b="1" i="0">
                <a:solidFill>
                  <a:srgbClr val="5A6684"/>
                </a:solidFill>
                <a:latin typeface="Roboto"/>
              </a:rPr>
              <a:t>2</a:t>
            </a:r>
          </a:p>
        </p:txBody>
      </p:sp>
      <p:sp>
        <p:nvSpPr>
          <p:cNvPr id="8" name="TextBox 7"/>
          <p:cNvSpPr txBox="1"/>
          <p:nvPr/>
        </p:nvSpPr>
        <p:spPr>
          <a:xfrm>
            <a:off x="4361688" y="2103120"/>
            <a:ext cx="457200" cy="320040"/>
          </a:xfrm>
          <a:prstGeom prst="rect">
            <a:avLst/>
          </a:prstGeom>
          <a:noFill/>
        </p:spPr>
        <p:txBody>
          <a:bodyPr wrap="square" lIns="0" rIns="0" tIns="0" bIns="0" anchor="t"/>
          <a:lstStyle/>
          <a:p>
            <a:pPr algn="ctr">
              <a:spcAft>
                <a:spcPts val="400"/>
              </a:spcAft>
              <a:buNone/>
            </a:pPr>
            <a:r>
              <a:rPr sz="1200" b="1" i="0">
                <a:solidFill>
                  <a:srgbClr val="5A6684"/>
                </a:solidFill>
                <a:latin typeface="Roboto"/>
              </a:rPr>
              <a:t>3</a:t>
            </a:r>
          </a:p>
        </p:txBody>
      </p:sp>
      <p:sp>
        <p:nvSpPr>
          <p:cNvPr id="9" name="TextBox 8"/>
          <p:cNvSpPr txBox="1"/>
          <p:nvPr/>
        </p:nvSpPr>
        <p:spPr>
          <a:xfrm>
            <a:off x="4864608" y="2103120"/>
            <a:ext cx="457200" cy="320040"/>
          </a:xfrm>
          <a:prstGeom prst="rect">
            <a:avLst/>
          </a:prstGeom>
          <a:noFill/>
        </p:spPr>
        <p:txBody>
          <a:bodyPr wrap="square" lIns="0" rIns="0" tIns="0" bIns="0" anchor="t"/>
          <a:lstStyle/>
          <a:p>
            <a:pPr algn="ctr">
              <a:spcAft>
                <a:spcPts val="400"/>
              </a:spcAft>
              <a:buNone/>
            </a:pPr>
            <a:r>
              <a:rPr sz="1200" b="1" i="0">
                <a:solidFill>
                  <a:srgbClr val="5A6684"/>
                </a:solidFill>
                <a:latin typeface="Roboto"/>
              </a:rPr>
              <a:t>4</a:t>
            </a:r>
          </a:p>
        </p:txBody>
      </p:sp>
      <p:sp>
        <p:nvSpPr>
          <p:cNvPr id="10" name="TextBox 9"/>
          <p:cNvSpPr txBox="1"/>
          <p:nvPr/>
        </p:nvSpPr>
        <p:spPr>
          <a:xfrm>
            <a:off x="5367528" y="2103120"/>
            <a:ext cx="457200" cy="320040"/>
          </a:xfrm>
          <a:prstGeom prst="rect">
            <a:avLst/>
          </a:prstGeom>
          <a:noFill/>
        </p:spPr>
        <p:txBody>
          <a:bodyPr wrap="square" lIns="0" rIns="0" tIns="0" bIns="0" anchor="t"/>
          <a:lstStyle/>
          <a:p>
            <a:pPr algn="ctr">
              <a:spcAft>
                <a:spcPts val="400"/>
              </a:spcAft>
              <a:buNone/>
            </a:pPr>
            <a:r>
              <a:rPr sz="1200" b="1" i="0">
                <a:solidFill>
                  <a:srgbClr val="5A6684"/>
                </a:solidFill>
                <a:latin typeface="Roboto"/>
              </a:rPr>
              <a:t>5</a:t>
            </a:r>
          </a:p>
        </p:txBody>
      </p:sp>
      <p:sp>
        <p:nvSpPr>
          <p:cNvPr id="11" name="TextBox 10"/>
          <p:cNvSpPr txBox="1"/>
          <p:nvPr/>
        </p:nvSpPr>
        <p:spPr>
          <a:xfrm>
            <a:off x="6007608" y="2103120"/>
            <a:ext cx="2286000" cy="320040"/>
          </a:xfrm>
          <a:prstGeom prst="rect">
            <a:avLst/>
          </a:prstGeom>
          <a:noFill/>
        </p:spPr>
        <p:txBody>
          <a:bodyPr wrap="square" lIns="0" rIns="0" tIns="0" bIns="0" anchor="t"/>
          <a:lstStyle/>
          <a:p>
            <a:pPr algn="l">
              <a:spcAft>
                <a:spcPts val="400"/>
              </a:spcAft>
              <a:buNone/>
            </a:pPr>
            <a:r>
              <a:rPr sz="1200" b="1" i="0">
                <a:solidFill>
                  <a:srgbClr val="5A6684"/>
                </a:solidFill>
                <a:latin typeface="Roboto"/>
              </a:rPr>
              <a:t>Größtes Risiko / Maßnahme</a:t>
            </a:r>
          </a:p>
        </p:txBody>
      </p:sp>
      <p:cxnSp>
        <p:nvCxnSpPr>
          <p:cNvPr id="12" name="Connector 11"/>
          <p:cNvCxnSpPr/>
          <p:nvPr/>
        </p:nvCxnSpPr>
        <p:spPr>
          <a:xfrm>
            <a:off x="978408" y="2514600"/>
            <a:ext cx="10232136" cy="0"/>
          </a:xfrm>
          <a:prstGeom prst="line">
            <a:avLst/>
          </a:prstGeom>
          <a:ln w="9525">
            <a:solidFill>
              <a:srgbClr val="D5DEEC"/>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78408" y="2514600"/>
            <a:ext cx="2194560" cy="566928"/>
          </a:xfrm>
          <a:prstGeom prst="rect">
            <a:avLst/>
          </a:prstGeom>
          <a:noFill/>
        </p:spPr>
        <p:txBody>
          <a:bodyPr wrap="square" lIns="0" rIns="0" tIns="0" bIns="0" anchor="ctr"/>
          <a:lstStyle/>
          <a:p>
            <a:pPr algn="l">
              <a:spcAft>
                <a:spcPts val="400"/>
              </a:spcAft>
              <a:buNone/>
            </a:pPr>
            <a:r>
              <a:rPr sz="1350" b="1" i="0">
                <a:solidFill>
                  <a:srgbClr val="0E1F53"/>
                </a:solidFill>
                <a:latin typeface="Roboto"/>
              </a:rPr>
              <a:t>Nutzen</a:t>
            </a:r>
          </a:p>
        </p:txBody>
      </p:sp>
      <p:sp>
        <p:nvSpPr>
          <p:cNvPr id="14" name="Oval 13"/>
          <p:cNvSpPr/>
          <p:nvPr/>
        </p:nvSpPr>
        <p:spPr>
          <a:xfrm>
            <a:off x="3337560" y="266090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840480" y="266090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343400" y="266090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46320" y="266090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349240" y="266090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9" name="Connector 18"/>
          <p:cNvCxnSpPr/>
          <p:nvPr/>
        </p:nvCxnSpPr>
        <p:spPr>
          <a:xfrm>
            <a:off x="6007608" y="2926080"/>
            <a:ext cx="5065776"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78408" y="3081528"/>
            <a:ext cx="10232136" cy="0"/>
          </a:xfrm>
          <a:prstGeom prst="line">
            <a:avLst/>
          </a:prstGeom>
          <a:ln w="9525">
            <a:solidFill>
              <a:srgbClr val="D5DEE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78408" y="3081528"/>
            <a:ext cx="2194560" cy="566928"/>
          </a:xfrm>
          <a:prstGeom prst="rect">
            <a:avLst/>
          </a:prstGeom>
          <a:noFill/>
        </p:spPr>
        <p:txBody>
          <a:bodyPr wrap="square" lIns="0" rIns="0" tIns="0" bIns="0" anchor="ctr"/>
          <a:lstStyle/>
          <a:p>
            <a:pPr algn="l">
              <a:spcAft>
                <a:spcPts val="400"/>
              </a:spcAft>
              <a:buNone/>
            </a:pPr>
            <a:r>
              <a:rPr sz="1350" b="1" i="0">
                <a:solidFill>
                  <a:srgbClr val="0E1F53"/>
                </a:solidFill>
                <a:latin typeface="Roboto"/>
              </a:rPr>
              <a:t>Datenqualität</a:t>
            </a:r>
          </a:p>
        </p:txBody>
      </p:sp>
      <p:sp>
        <p:nvSpPr>
          <p:cNvPr id="22" name="Oval 21"/>
          <p:cNvSpPr/>
          <p:nvPr/>
        </p:nvSpPr>
        <p:spPr>
          <a:xfrm>
            <a:off x="3337560" y="322783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3840480" y="322783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4343400" y="322783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846320" y="322783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5349240" y="322783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7" name="Connector 26"/>
          <p:cNvCxnSpPr/>
          <p:nvPr/>
        </p:nvCxnSpPr>
        <p:spPr>
          <a:xfrm>
            <a:off x="6007608" y="3493008"/>
            <a:ext cx="5065776"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78408" y="3648456"/>
            <a:ext cx="10232136" cy="0"/>
          </a:xfrm>
          <a:prstGeom prst="line">
            <a:avLst/>
          </a:prstGeom>
          <a:ln w="9525">
            <a:solidFill>
              <a:srgbClr val="D5DEE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78408" y="3648456"/>
            <a:ext cx="2194560" cy="566928"/>
          </a:xfrm>
          <a:prstGeom prst="rect">
            <a:avLst/>
          </a:prstGeom>
          <a:noFill/>
        </p:spPr>
        <p:txBody>
          <a:bodyPr wrap="square" lIns="0" rIns="0" tIns="0" bIns="0" anchor="ctr"/>
          <a:lstStyle/>
          <a:p>
            <a:pPr algn="l">
              <a:spcAft>
                <a:spcPts val="400"/>
              </a:spcAft>
              <a:buNone/>
            </a:pPr>
            <a:r>
              <a:rPr sz="1350" b="1" i="0">
                <a:solidFill>
                  <a:srgbClr val="0E1F53"/>
                </a:solidFill>
                <a:latin typeface="Roboto"/>
              </a:rPr>
              <a:t>Transparenz</a:t>
            </a:r>
          </a:p>
        </p:txBody>
      </p:sp>
      <p:sp>
        <p:nvSpPr>
          <p:cNvPr id="30" name="Oval 29"/>
          <p:cNvSpPr/>
          <p:nvPr/>
        </p:nvSpPr>
        <p:spPr>
          <a:xfrm>
            <a:off x="3337560" y="3794760"/>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840480" y="3794760"/>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4343400" y="3794760"/>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846320" y="3794760"/>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5349240" y="3794760"/>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5" name="Connector 34"/>
          <p:cNvCxnSpPr/>
          <p:nvPr/>
        </p:nvCxnSpPr>
        <p:spPr>
          <a:xfrm>
            <a:off x="6007608" y="4059936"/>
            <a:ext cx="5065776"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78408" y="4215383"/>
            <a:ext cx="10232136" cy="0"/>
          </a:xfrm>
          <a:prstGeom prst="line">
            <a:avLst/>
          </a:prstGeom>
          <a:ln w="9525">
            <a:solidFill>
              <a:srgbClr val="D5DEEC"/>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78408" y="4215383"/>
            <a:ext cx="2194560" cy="566928"/>
          </a:xfrm>
          <a:prstGeom prst="rect">
            <a:avLst/>
          </a:prstGeom>
          <a:noFill/>
        </p:spPr>
        <p:txBody>
          <a:bodyPr wrap="square" lIns="0" rIns="0" tIns="0" bIns="0" anchor="ctr"/>
          <a:lstStyle/>
          <a:p>
            <a:pPr algn="l">
              <a:spcAft>
                <a:spcPts val="400"/>
              </a:spcAft>
              <a:buNone/>
            </a:pPr>
            <a:r>
              <a:rPr sz="1350" b="1" i="0">
                <a:solidFill>
                  <a:srgbClr val="0E1F53"/>
                </a:solidFill>
                <a:latin typeface="Roboto"/>
              </a:rPr>
              <a:t>Robustheit</a:t>
            </a:r>
          </a:p>
        </p:txBody>
      </p:sp>
      <p:sp>
        <p:nvSpPr>
          <p:cNvPr id="38" name="Oval 37"/>
          <p:cNvSpPr/>
          <p:nvPr/>
        </p:nvSpPr>
        <p:spPr>
          <a:xfrm>
            <a:off x="3337560" y="4361688"/>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3840480" y="4361688"/>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4343400" y="4361688"/>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4846320" y="4361688"/>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5349240" y="4361688"/>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3" name="Connector 42"/>
          <p:cNvCxnSpPr/>
          <p:nvPr/>
        </p:nvCxnSpPr>
        <p:spPr>
          <a:xfrm>
            <a:off x="6007608" y="4626864"/>
            <a:ext cx="5065776"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78408" y="4782312"/>
            <a:ext cx="10232136" cy="0"/>
          </a:xfrm>
          <a:prstGeom prst="line">
            <a:avLst/>
          </a:prstGeom>
          <a:ln w="9525">
            <a:solidFill>
              <a:srgbClr val="D5DEEC"/>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978408" y="4782312"/>
            <a:ext cx="2194560" cy="566928"/>
          </a:xfrm>
          <a:prstGeom prst="rect">
            <a:avLst/>
          </a:prstGeom>
          <a:noFill/>
        </p:spPr>
        <p:txBody>
          <a:bodyPr wrap="square" lIns="0" rIns="0" tIns="0" bIns="0" anchor="ctr"/>
          <a:lstStyle/>
          <a:p>
            <a:pPr algn="l">
              <a:spcAft>
                <a:spcPts val="400"/>
              </a:spcAft>
              <a:buNone/>
            </a:pPr>
            <a:r>
              <a:rPr sz="1350" b="1" i="0">
                <a:solidFill>
                  <a:srgbClr val="0E1F53"/>
                </a:solidFill>
                <a:latin typeface="Roboto"/>
              </a:rPr>
              <a:t>Ethik &amp; Datenschutz</a:t>
            </a:r>
          </a:p>
        </p:txBody>
      </p:sp>
      <p:sp>
        <p:nvSpPr>
          <p:cNvPr id="46" name="Oval 45"/>
          <p:cNvSpPr/>
          <p:nvPr/>
        </p:nvSpPr>
        <p:spPr>
          <a:xfrm>
            <a:off x="3337560" y="4928616"/>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3840480" y="4928616"/>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4343400" y="4928616"/>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Oval 48"/>
          <p:cNvSpPr/>
          <p:nvPr/>
        </p:nvSpPr>
        <p:spPr>
          <a:xfrm>
            <a:off x="4846320" y="4928616"/>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5349240" y="4928616"/>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1" name="Connector 50"/>
          <p:cNvCxnSpPr/>
          <p:nvPr/>
        </p:nvCxnSpPr>
        <p:spPr>
          <a:xfrm>
            <a:off x="6007608" y="5193792"/>
            <a:ext cx="5065776"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978408" y="5349240"/>
            <a:ext cx="10232136" cy="0"/>
          </a:xfrm>
          <a:prstGeom prst="line">
            <a:avLst/>
          </a:prstGeom>
          <a:ln w="9525">
            <a:solidFill>
              <a:srgbClr val="D5DEEC"/>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78408" y="5349240"/>
            <a:ext cx="2194560" cy="566928"/>
          </a:xfrm>
          <a:prstGeom prst="rect">
            <a:avLst/>
          </a:prstGeom>
          <a:noFill/>
        </p:spPr>
        <p:txBody>
          <a:bodyPr wrap="square" lIns="0" rIns="0" tIns="0" bIns="0" anchor="ctr"/>
          <a:lstStyle/>
          <a:p>
            <a:pPr algn="l">
              <a:spcAft>
                <a:spcPts val="400"/>
              </a:spcAft>
              <a:buNone/>
            </a:pPr>
            <a:r>
              <a:rPr sz="1350" b="1" i="0">
                <a:solidFill>
                  <a:srgbClr val="0E1F53"/>
                </a:solidFill>
                <a:latin typeface="Roboto"/>
              </a:rPr>
              <a:t>Nachhaltigkeit</a:t>
            </a:r>
          </a:p>
        </p:txBody>
      </p:sp>
      <p:sp>
        <p:nvSpPr>
          <p:cNvPr id="54" name="Oval 53"/>
          <p:cNvSpPr/>
          <p:nvPr/>
        </p:nvSpPr>
        <p:spPr>
          <a:xfrm>
            <a:off x="3337560" y="549554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3840480" y="549554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Oval 55"/>
          <p:cNvSpPr/>
          <p:nvPr/>
        </p:nvSpPr>
        <p:spPr>
          <a:xfrm>
            <a:off x="4343400" y="549554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4846320" y="549554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5349240" y="5495544"/>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9" name="Connector 58"/>
          <p:cNvCxnSpPr/>
          <p:nvPr/>
        </p:nvCxnSpPr>
        <p:spPr>
          <a:xfrm>
            <a:off x="6007608" y="5760720"/>
            <a:ext cx="5065776"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Pitch &amp; Feedback</a:t>
            </a:r>
          </a:p>
        </p:txBody>
      </p:sp>
      <p:sp>
        <p:nvSpPr>
          <p:cNvPr id="3" name="Text Placeholder 2"/>
          <p:cNvSpPr>
            <a:spLocks noGrp="1"/>
          </p:cNvSpPr>
          <p:nvPr>
            <p:ph type="body" idx="11" sz="quarter"/>
          </p:nvPr>
        </p:nvSpPr>
        <p:spPr/>
        <p:txBody>
          <a:bodyPr/>
          <a:lstStyle/>
          <a:p>
            <a:r>
              <a:rPr b="0" sz="2000"/>
              <a:t>Zeigen, was Sie gebaut haben, und daraus lernen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Ihr 3-Minuten-Pitch</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PITCH</a:t>
            </a:r>
          </a:p>
        </p:txBody>
      </p:sp>
      <p:sp>
        <p:nvSpPr>
          <p:cNvPr id="4" name="Chevron 3"/>
          <p:cNvSpPr/>
          <p:nvPr/>
        </p:nvSpPr>
        <p:spPr>
          <a:xfrm>
            <a:off x="841248" y="2011680"/>
            <a:ext cx="2092147" cy="685800"/>
          </a:xfrm>
          <a:prstGeom prst="chevron">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61288" y="2011680"/>
            <a:ext cx="1589227" cy="685800"/>
          </a:xfrm>
          <a:prstGeom prst="rect">
            <a:avLst/>
          </a:prstGeom>
          <a:noFill/>
        </p:spPr>
        <p:txBody>
          <a:bodyPr wrap="square" lIns="0" rIns="0" tIns="0" bIns="0" anchor="ctr"/>
          <a:lstStyle/>
          <a:p>
            <a:pPr algn="l">
              <a:spcAft>
                <a:spcPts val="0"/>
              </a:spcAft>
              <a:buNone/>
            </a:pPr>
            <a:r>
              <a:rPr sz="1450" b="1" i="0">
                <a:solidFill>
                  <a:srgbClr val="FFFFFF"/>
                </a:solidFill>
                <a:latin typeface="Roboto"/>
              </a:rPr>
              <a:t>Problem</a:t>
            </a:r>
          </a:p>
          <a:p>
            <a:pPr algn="l">
              <a:spcAft>
                <a:spcPts val="0"/>
              </a:spcAft>
              <a:buNone/>
            </a:pPr>
            <a:r>
              <a:rPr sz="1150" b="0" i="0">
                <a:solidFill>
                  <a:srgbClr val="C9D6EE"/>
                </a:solidFill>
                <a:latin typeface="Roboto"/>
              </a:rPr>
              <a:t>30 s</a:t>
            </a:r>
          </a:p>
        </p:txBody>
      </p:sp>
      <p:sp>
        <p:nvSpPr>
          <p:cNvPr id="6" name="Rounded Rectangle 5"/>
          <p:cNvSpPr/>
          <p:nvPr/>
        </p:nvSpPr>
        <p:spPr>
          <a:xfrm>
            <a:off x="841248" y="2880360"/>
            <a:ext cx="1954987"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5840" y="2971800"/>
            <a:ext cx="1625803" cy="1371600"/>
          </a:xfrm>
          <a:prstGeom prst="rect">
            <a:avLst/>
          </a:prstGeom>
          <a:noFill/>
        </p:spPr>
        <p:txBody>
          <a:bodyPr wrap="square" lIns="0" rIns="0" tIns="0" bIns="0" anchor="t"/>
          <a:lstStyle/>
          <a:p>
            <a:pPr algn="l">
              <a:spcAft>
                <a:spcPts val="400"/>
              </a:spcAft>
              <a:buNone/>
            </a:pPr>
            <a:r>
              <a:rPr sz="1300" b="0" i="0">
                <a:solidFill>
                  <a:srgbClr val="0E1F53"/>
                </a:solidFill>
                <a:latin typeface="Roboto"/>
              </a:rPr>
              <a:t>Wer hat welches Problem? Zeigen Sie Ihre Persona.</a:t>
            </a:r>
          </a:p>
        </p:txBody>
      </p:sp>
      <p:sp>
        <p:nvSpPr>
          <p:cNvPr id="8" name="Chevron 7"/>
          <p:cNvSpPr/>
          <p:nvPr/>
        </p:nvSpPr>
        <p:spPr>
          <a:xfrm>
            <a:off x="2979115" y="2011680"/>
            <a:ext cx="2092147" cy="685800"/>
          </a:xfrm>
          <a:prstGeom prst="chevron">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299155" y="2011680"/>
            <a:ext cx="1589227" cy="685800"/>
          </a:xfrm>
          <a:prstGeom prst="rect">
            <a:avLst/>
          </a:prstGeom>
          <a:noFill/>
        </p:spPr>
        <p:txBody>
          <a:bodyPr wrap="square" lIns="0" rIns="0" tIns="0" bIns="0" anchor="ctr"/>
          <a:lstStyle/>
          <a:p>
            <a:pPr algn="l">
              <a:spcAft>
                <a:spcPts val="0"/>
              </a:spcAft>
              <a:buNone/>
            </a:pPr>
            <a:r>
              <a:rPr sz="1450" b="1" i="0">
                <a:solidFill>
                  <a:srgbClr val="FFFFFF"/>
                </a:solidFill>
                <a:latin typeface="Roboto"/>
              </a:rPr>
              <a:t>Erkenntnis</a:t>
            </a:r>
          </a:p>
          <a:p>
            <a:pPr algn="l">
              <a:spcAft>
                <a:spcPts val="0"/>
              </a:spcAft>
              <a:buNone/>
            </a:pPr>
            <a:r>
              <a:rPr sz="1150" b="0" i="0">
                <a:solidFill>
                  <a:srgbClr val="C9D6EE"/>
                </a:solidFill>
                <a:latin typeface="Roboto"/>
              </a:rPr>
              <a:t>30 s</a:t>
            </a:r>
          </a:p>
        </p:txBody>
      </p:sp>
      <p:sp>
        <p:nvSpPr>
          <p:cNvPr id="10" name="Rounded Rectangle 9"/>
          <p:cNvSpPr/>
          <p:nvPr/>
        </p:nvSpPr>
        <p:spPr>
          <a:xfrm>
            <a:off x="2979115" y="2880360"/>
            <a:ext cx="1954987"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143707" y="2971800"/>
            <a:ext cx="1625803" cy="1371600"/>
          </a:xfrm>
          <a:prstGeom prst="rect">
            <a:avLst/>
          </a:prstGeom>
          <a:noFill/>
        </p:spPr>
        <p:txBody>
          <a:bodyPr wrap="square" lIns="0" rIns="0" tIns="0" bIns="0" anchor="t"/>
          <a:lstStyle/>
          <a:p>
            <a:pPr algn="l">
              <a:spcAft>
                <a:spcPts val="400"/>
              </a:spcAft>
              <a:buNone/>
            </a:pPr>
            <a:r>
              <a:rPr sz="1300" b="0" i="0">
                <a:solidFill>
                  <a:srgbClr val="0E1F53"/>
                </a:solidFill>
                <a:latin typeface="Roboto"/>
              </a:rPr>
              <a:t>Was haben Sie in den Interviews gelernt?</a:t>
            </a:r>
          </a:p>
        </p:txBody>
      </p:sp>
      <p:sp>
        <p:nvSpPr>
          <p:cNvPr id="12" name="Chevron 11"/>
          <p:cNvSpPr/>
          <p:nvPr/>
        </p:nvSpPr>
        <p:spPr>
          <a:xfrm>
            <a:off x="5116982" y="2011680"/>
            <a:ext cx="2092147" cy="685800"/>
          </a:xfrm>
          <a:prstGeom prst="chevron">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37022" y="2011680"/>
            <a:ext cx="1589227" cy="685800"/>
          </a:xfrm>
          <a:prstGeom prst="rect">
            <a:avLst/>
          </a:prstGeom>
          <a:noFill/>
        </p:spPr>
        <p:txBody>
          <a:bodyPr wrap="square" lIns="0" rIns="0" tIns="0" bIns="0" anchor="ctr"/>
          <a:lstStyle/>
          <a:p>
            <a:pPr algn="l">
              <a:spcAft>
                <a:spcPts val="0"/>
              </a:spcAft>
              <a:buNone/>
            </a:pPr>
            <a:r>
              <a:rPr sz="1450" b="1" i="0">
                <a:solidFill>
                  <a:srgbClr val="FFFFFF"/>
                </a:solidFill>
                <a:latin typeface="Roboto"/>
              </a:rPr>
              <a:t>Lösung</a:t>
            </a:r>
          </a:p>
          <a:p>
            <a:pPr algn="l">
              <a:spcAft>
                <a:spcPts val="0"/>
              </a:spcAft>
              <a:buNone/>
            </a:pPr>
            <a:r>
              <a:rPr sz="1150" b="0" i="0">
                <a:solidFill>
                  <a:srgbClr val="C9D6EE"/>
                </a:solidFill>
                <a:latin typeface="Roboto"/>
              </a:rPr>
              <a:t>45 s</a:t>
            </a:r>
          </a:p>
        </p:txBody>
      </p:sp>
      <p:sp>
        <p:nvSpPr>
          <p:cNvPr id="14" name="Rounded Rectangle 13"/>
          <p:cNvSpPr/>
          <p:nvPr/>
        </p:nvSpPr>
        <p:spPr>
          <a:xfrm>
            <a:off x="5116982" y="2880360"/>
            <a:ext cx="1954987"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281574" y="2971800"/>
            <a:ext cx="1625803" cy="1371600"/>
          </a:xfrm>
          <a:prstGeom prst="rect">
            <a:avLst/>
          </a:prstGeom>
          <a:noFill/>
        </p:spPr>
        <p:txBody>
          <a:bodyPr wrap="square" lIns="0" rIns="0" tIns="0" bIns="0" anchor="t"/>
          <a:lstStyle/>
          <a:p>
            <a:pPr algn="l">
              <a:spcAft>
                <a:spcPts val="400"/>
              </a:spcAft>
              <a:buNone/>
            </a:pPr>
            <a:r>
              <a:rPr sz="1300" b="0" i="0">
                <a:solidFill>
                  <a:srgbClr val="0E1F53"/>
                </a:solidFill>
                <a:latin typeface="Roboto"/>
              </a:rPr>
              <a:t>Ihre Idee in einem Satz, dann der Nutzen.</a:t>
            </a:r>
          </a:p>
        </p:txBody>
      </p:sp>
      <p:sp>
        <p:nvSpPr>
          <p:cNvPr id="16" name="Chevron 15"/>
          <p:cNvSpPr/>
          <p:nvPr/>
        </p:nvSpPr>
        <p:spPr>
          <a:xfrm>
            <a:off x="7254849" y="2011680"/>
            <a:ext cx="2092147" cy="685800"/>
          </a:xfrm>
          <a:prstGeom prst="chevron">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74889" y="2011680"/>
            <a:ext cx="1589227" cy="685800"/>
          </a:xfrm>
          <a:prstGeom prst="rect">
            <a:avLst/>
          </a:prstGeom>
          <a:noFill/>
        </p:spPr>
        <p:txBody>
          <a:bodyPr wrap="square" lIns="0" rIns="0" tIns="0" bIns="0" anchor="ctr"/>
          <a:lstStyle/>
          <a:p>
            <a:pPr algn="l">
              <a:spcAft>
                <a:spcPts val="0"/>
              </a:spcAft>
              <a:buNone/>
            </a:pPr>
            <a:r>
              <a:rPr sz="1450" b="1" i="0">
                <a:solidFill>
                  <a:srgbClr val="FFFFFF"/>
                </a:solidFill>
                <a:latin typeface="Roboto"/>
              </a:rPr>
              <a:t>Prototyp</a:t>
            </a:r>
          </a:p>
          <a:p>
            <a:pPr algn="l">
              <a:spcAft>
                <a:spcPts val="0"/>
              </a:spcAft>
              <a:buNone/>
            </a:pPr>
            <a:r>
              <a:rPr sz="1150" b="0" i="0">
                <a:solidFill>
                  <a:srgbClr val="C9D6EE"/>
                </a:solidFill>
                <a:latin typeface="Roboto"/>
              </a:rPr>
              <a:t>45 s</a:t>
            </a:r>
          </a:p>
        </p:txBody>
      </p:sp>
      <p:sp>
        <p:nvSpPr>
          <p:cNvPr id="18" name="Rounded Rectangle 17"/>
          <p:cNvSpPr/>
          <p:nvPr/>
        </p:nvSpPr>
        <p:spPr>
          <a:xfrm>
            <a:off x="7254849" y="2880360"/>
            <a:ext cx="1954987"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19441" y="2971800"/>
            <a:ext cx="1625803" cy="1371600"/>
          </a:xfrm>
          <a:prstGeom prst="rect">
            <a:avLst/>
          </a:prstGeom>
          <a:noFill/>
        </p:spPr>
        <p:txBody>
          <a:bodyPr wrap="square" lIns="0" rIns="0" tIns="0" bIns="0" anchor="t"/>
          <a:lstStyle/>
          <a:p>
            <a:pPr algn="l">
              <a:spcAft>
                <a:spcPts val="400"/>
              </a:spcAft>
              <a:buNone/>
            </a:pPr>
            <a:r>
              <a:rPr sz="1300" b="0" i="0">
                <a:solidFill>
                  <a:srgbClr val="0E1F53"/>
                </a:solidFill>
                <a:latin typeface="Roboto"/>
              </a:rPr>
              <a:t>Zeigen statt erzählen: Storyboard, Klickdummy, Seite.</a:t>
            </a:r>
          </a:p>
        </p:txBody>
      </p:sp>
      <p:sp>
        <p:nvSpPr>
          <p:cNvPr id="20" name="Chevron 19"/>
          <p:cNvSpPr/>
          <p:nvPr/>
        </p:nvSpPr>
        <p:spPr>
          <a:xfrm>
            <a:off x="9392716" y="2011680"/>
            <a:ext cx="1954987" cy="685800"/>
          </a:xfrm>
          <a:prstGeom prst="chevron">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712756" y="2011680"/>
            <a:ext cx="1589227" cy="685800"/>
          </a:xfrm>
          <a:prstGeom prst="rect">
            <a:avLst/>
          </a:prstGeom>
          <a:noFill/>
        </p:spPr>
        <p:txBody>
          <a:bodyPr wrap="square" lIns="0" rIns="0" tIns="0" bIns="0" anchor="ctr"/>
          <a:lstStyle/>
          <a:p>
            <a:pPr algn="l">
              <a:spcAft>
                <a:spcPts val="0"/>
              </a:spcAft>
              <a:buNone/>
            </a:pPr>
            <a:r>
              <a:rPr sz="1450" b="1" i="0">
                <a:solidFill>
                  <a:srgbClr val="FFFFFF"/>
                </a:solidFill>
                <a:latin typeface="Roboto"/>
              </a:rPr>
              <a:t>Nächster Test</a:t>
            </a:r>
          </a:p>
          <a:p>
            <a:pPr algn="l">
              <a:spcAft>
                <a:spcPts val="0"/>
              </a:spcAft>
              <a:buNone/>
            </a:pPr>
            <a:r>
              <a:rPr sz="1150" b="0" i="0">
                <a:solidFill>
                  <a:srgbClr val="C9D6EE"/>
                </a:solidFill>
                <a:latin typeface="Roboto"/>
              </a:rPr>
              <a:t>30 s</a:t>
            </a:r>
          </a:p>
        </p:txBody>
      </p:sp>
      <p:sp>
        <p:nvSpPr>
          <p:cNvPr id="22" name="Rounded Rectangle 21"/>
          <p:cNvSpPr/>
          <p:nvPr/>
        </p:nvSpPr>
        <p:spPr>
          <a:xfrm>
            <a:off x="9392716" y="2880360"/>
            <a:ext cx="1954987"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557308" y="2971800"/>
            <a:ext cx="1625803" cy="1371600"/>
          </a:xfrm>
          <a:prstGeom prst="rect">
            <a:avLst/>
          </a:prstGeom>
          <a:noFill/>
        </p:spPr>
        <p:txBody>
          <a:bodyPr wrap="square" lIns="0" rIns="0" tIns="0" bIns="0" anchor="t"/>
          <a:lstStyle/>
          <a:p>
            <a:pPr algn="l">
              <a:spcAft>
                <a:spcPts val="400"/>
              </a:spcAft>
              <a:buNone/>
            </a:pPr>
            <a:r>
              <a:rPr sz="1300" b="0" i="0">
                <a:solidFill>
                  <a:srgbClr val="0E1F53"/>
                </a:solidFill>
                <a:latin typeface="Roboto"/>
              </a:rPr>
              <a:t>Was testen Sie als Nächstes, und was brauchen Sie dafür?</a:t>
            </a:r>
          </a:p>
        </p:txBody>
      </p:sp>
      <p:sp>
        <p:nvSpPr>
          <p:cNvPr id="24" name="Rounded Rectangle 23"/>
          <p:cNvSpPr/>
          <p:nvPr/>
        </p:nvSpPr>
        <p:spPr>
          <a:xfrm>
            <a:off x="841248" y="4663440"/>
            <a:ext cx="10506456"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15568" y="4663440"/>
            <a:ext cx="9957816" cy="1325880"/>
          </a:xfrm>
          <a:prstGeom prst="rect">
            <a:avLst/>
          </a:prstGeom>
          <a:noFill/>
        </p:spPr>
        <p:txBody>
          <a:bodyPr wrap="square" lIns="0" rIns="0" tIns="0" bIns="0" anchor="ctr"/>
          <a:lstStyle/>
          <a:p>
            <a:pPr algn="l">
              <a:spcAft>
                <a:spcPts val="400"/>
              </a:spcAft>
              <a:buNone/>
            </a:pPr>
            <a:r>
              <a:rPr sz="1500" b="1" i="0">
                <a:solidFill>
                  <a:srgbClr val="0E1F53"/>
                </a:solidFill>
                <a:latin typeface="Roboto"/>
              </a:rPr>
              <a:t>Feedback-Regeln</a:t>
            </a:r>
          </a:p>
          <a:p>
            <a:pPr algn="l">
              <a:spcAft>
                <a:spcPts val="400"/>
              </a:spcAft>
              <a:buNone/>
            </a:pPr>
            <a:r>
              <a:rPr sz="1400" b="1" i="0">
                <a:solidFill>
                  <a:srgbClr val="1E8E4E"/>
                </a:solidFill>
                <a:latin typeface="Roboto"/>
              </a:rPr>
              <a:t>Ich mag … </a:t>
            </a:r>
            <a:r>
              <a:rPr sz="1400" b="0" i="0">
                <a:solidFill>
                  <a:srgbClr val="0E1F53"/>
                </a:solidFill>
                <a:latin typeface="Roboto"/>
              </a:rPr>
              <a:t>· </a:t>
            </a:r>
            <a:r>
              <a:rPr sz="1400" b="1" i="0">
                <a:solidFill>
                  <a:srgbClr val="FB2762"/>
                </a:solidFill>
                <a:latin typeface="Roboto"/>
              </a:rPr>
              <a:t>Ich wünsche mir … </a:t>
            </a:r>
            <a:r>
              <a:rPr sz="1400" b="0" i="0">
                <a:solidFill>
                  <a:srgbClr val="0E1F53"/>
                </a:solidFill>
                <a:latin typeface="Roboto"/>
              </a:rPr>
              <a:t>· </a:t>
            </a:r>
            <a:r>
              <a:rPr sz="1400" b="1" i="0">
                <a:solidFill>
                  <a:srgbClr val="1F6FD1"/>
                </a:solidFill>
                <a:latin typeface="Roboto"/>
              </a:rPr>
              <a:t>Was wäre, wenn …? </a:t>
            </a:r>
            <a:r>
              <a:rPr sz="1400" b="0" i="0">
                <a:solidFill>
                  <a:srgbClr val="0E1F53"/>
                </a:solidFill>
                <a:latin typeface="Roboto"/>
              </a:rPr>
              <a:t>  Konkret, wertschätzend, nach vorn gerichtet.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Pitch-Coach</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Rounded Rectangle 3"/>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Pitch-Coach</a:t>
            </a:r>
          </a:p>
        </p:txBody>
      </p:sp>
      <p:sp>
        <p:nvSpPr>
          <p:cNvPr id="10" name="Rounded Rectangle 9"/>
          <p:cNvSpPr/>
          <p:nvPr/>
        </p:nvSpPr>
        <p:spPr>
          <a:xfrm>
            <a:off x="969264" y="2487168"/>
            <a:ext cx="7470648" cy="441460"/>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2" name="TextBox 11"/>
          <p:cNvSpPr txBox="1"/>
          <p:nvPr/>
        </p:nvSpPr>
        <p:spPr>
          <a:xfrm>
            <a:off x="2020824" y="2523744"/>
            <a:ext cx="6309360" cy="368308"/>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Pitch-Coach für Innovationsteams in kleinen und mittleren Unternehmen.</a:t>
            </a:r>
          </a:p>
        </p:txBody>
      </p:sp>
      <p:sp>
        <p:nvSpPr>
          <p:cNvPr id="13" name="Rounded Rectangle 12"/>
          <p:cNvSpPr/>
          <p:nvPr/>
        </p:nvSpPr>
        <p:spPr>
          <a:xfrm>
            <a:off x="969264" y="2992636"/>
            <a:ext cx="7470648" cy="678454"/>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0704" y="3047500"/>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15" name="TextBox 14"/>
          <p:cNvSpPr txBox="1"/>
          <p:nvPr/>
        </p:nvSpPr>
        <p:spPr>
          <a:xfrm>
            <a:off x="2020824" y="3029212"/>
            <a:ext cx="6309360" cy="605302"/>
          </a:xfrm>
          <a:prstGeom prst="rect">
            <a:avLst/>
          </a:prstGeom>
          <a:noFill/>
        </p:spPr>
        <p:txBody>
          <a:bodyPr wrap="square" lIns="0" rIns="0" tIns="0" bIns="0" anchor="ctr"/>
          <a:lstStyle/>
          <a:p>
            <a:pPr algn="l">
              <a:spcAft>
                <a:spcPts val="0"/>
              </a:spcAft>
              <a:buNone/>
            </a:pPr>
            <a:r>
              <a:rPr sz="1150" b="0" i="0">
                <a:solidFill>
                  <a:srgbClr val="1B2440"/>
                </a:solidFill>
                <a:latin typeface="Roboto"/>
              </a:rPr>
              <a:t>Ich pitche in 3 Minuten vor anderen Unternehmen. Challenge: [..]. Persona: [..]. Erkenntnis: [..]. Lösung: [..]. Prototyp: [..]. KI-Einsatz: [..].</a:t>
            </a:r>
          </a:p>
        </p:txBody>
      </p:sp>
      <p:sp>
        <p:nvSpPr>
          <p:cNvPr id="16" name="Rounded Rectangle 15"/>
          <p:cNvSpPr/>
          <p:nvPr/>
        </p:nvSpPr>
        <p:spPr>
          <a:xfrm>
            <a:off x="969264" y="3735099"/>
            <a:ext cx="7470648" cy="441460"/>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3789963"/>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18" name="TextBox 17"/>
          <p:cNvSpPr txBox="1"/>
          <p:nvPr/>
        </p:nvSpPr>
        <p:spPr>
          <a:xfrm>
            <a:off x="2020824" y="3771675"/>
            <a:ext cx="6309360" cy="368308"/>
          </a:xfrm>
          <a:prstGeom prst="rect">
            <a:avLst/>
          </a:prstGeom>
          <a:noFill/>
        </p:spPr>
        <p:txBody>
          <a:bodyPr wrap="square" lIns="0" rIns="0" tIns="0" bIns="0" anchor="ctr"/>
          <a:lstStyle/>
          <a:p>
            <a:pPr algn="l">
              <a:spcAft>
                <a:spcPts val="0"/>
              </a:spcAft>
              <a:buNone/>
            </a:pPr>
            <a:r>
              <a:rPr sz="1150" b="0" i="0">
                <a:solidFill>
                  <a:srgbClr val="1B2440"/>
                </a:solidFill>
                <a:latin typeface="Roboto"/>
              </a:rPr>
              <a:t>Hilf mir, einen klaren 3-Minuten-Pitch zu bauen und zu üben.</a:t>
            </a:r>
          </a:p>
        </p:txBody>
      </p:sp>
      <p:sp>
        <p:nvSpPr>
          <p:cNvPr id="19" name="Rounded Rectangle 18"/>
          <p:cNvSpPr/>
          <p:nvPr/>
        </p:nvSpPr>
        <p:spPr>
          <a:xfrm>
            <a:off x="969264" y="4240567"/>
            <a:ext cx="7470648" cy="669160"/>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4295431"/>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1" name="TextBox 20"/>
          <p:cNvSpPr txBox="1"/>
          <p:nvPr/>
        </p:nvSpPr>
        <p:spPr>
          <a:xfrm>
            <a:off x="2020824" y="4277143"/>
            <a:ext cx="6309360" cy="596008"/>
          </a:xfrm>
          <a:prstGeom prst="rect">
            <a:avLst/>
          </a:prstGeom>
          <a:noFill/>
        </p:spPr>
        <p:txBody>
          <a:bodyPr wrap="square" lIns="0" rIns="0" tIns="0" bIns="0" anchor="ctr"/>
          <a:lstStyle/>
          <a:p>
            <a:pPr algn="l">
              <a:spcAft>
                <a:spcPts val="0"/>
              </a:spcAft>
              <a:buNone/>
            </a:pPr>
            <a:r>
              <a:rPr sz="1150" b="0" i="0">
                <a:solidFill>
                  <a:srgbClr val="1B2440"/>
                </a:solidFill>
                <a:latin typeface="Roboto"/>
              </a:rPr>
              <a:t>1. Gliedere in Problem, Erkenntnis, Lösung, Prototyp, nächster Test. 2. Kürze auf etwa 400 Wörter. 3. Stelle mir drei kritische Publikumsfragen.</a:t>
            </a:r>
          </a:p>
        </p:txBody>
      </p:sp>
      <p:sp>
        <p:nvSpPr>
          <p:cNvPr id="22" name="Rounded Rectangle 21"/>
          <p:cNvSpPr/>
          <p:nvPr/>
        </p:nvSpPr>
        <p:spPr>
          <a:xfrm>
            <a:off x="969264" y="4973736"/>
            <a:ext cx="7470648" cy="441460"/>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5028600"/>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24" name="TextBox 23"/>
          <p:cNvSpPr txBox="1"/>
          <p:nvPr/>
        </p:nvSpPr>
        <p:spPr>
          <a:xfrm>
            <a:off x="2020824" y="5010312"/>
            <a:ext cx="6309360" cy="368308"/>
          </a:xfrm>
          <a:prstGeom prst="rect">
            <a:avLst/>
          </a:prstGeom>
          <a:noFill/>
        </p:spPr>
        <p:txBody>
          <a:bodyPr wrap="square" lIns="0" rIns="0" tIns="0" bIns="0" anchor="ctr"/>
          <a:lstStyle/>
          <a:p>
            <a:pPr algn="l">
              <a:spcAft>
                <a:spcPts val="0"/>
              </a:spcAft>
              <a:buNone/>
            </a:pPr>
            <a:r>
              <a:rPr sz="1150" b="0" i="0">
                <a:solidFill>
                  <a:srgbClr val="1B2440"/>
                </a:solidFill>
                <a:latin typeface="Roboto"/>
              </a:rPr>
              <a:t>Sprechtext mit Zeitmarken, danach die drei Fragen mit kurzen Antworthinweisen.</a:t>
            </a:r>
          </a:p>
        </p:txBody>
      </p:sp>
      <p:sp>
        <p:nvSpPr>
          <p:cNvPr id="25" name="Rounded Rectangle 24"/>
          <p:cNvSpPr/>
          <p:nvPr/>
        </p:nvSpPr>
        <p:spPr>
          <a:xfrm>
            <a:off x="969264" y="5479204"/>
            <a:ext cx="7470648" cy="446107"/>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5534068"/>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27" name="TextBox 26"/>
          <p:cNvSpPr txBox="1"/>
          <p:nvPr/>
        </p:nvSpPr>
        <p:spPr>
          <a:xfrm>
            <a:off x="2020824" y="5515780"/>
            <a:ext cx="6309360" cy="372955"/>
          </a:xfrm>
          <a:prstGeom prst="rect">
            <a:avLst/>
          </a:prstGeom>
          <a:noFill/>
        </p:spPr>
        <p:txBody>
          <a:bodyPr wrap="square" lIns="0" rIns="0" tIns="0" bIns="0" anchor="ctr"/>
          <a:lstStyle/>
          <a:p>
            <a:pPr algn="l">
              <a:spcAft>
                <a:spcPts val="0"/>
              </a:spcAft>
              <a:buNone/>
            </a:pPr>
            <a:r>
              <a:rPr sz="1150" b="0" i="0">
                <a:solidFill>
                  <a:srgbClr val="1B2440"/>
                </a:solidFill>
                <a:latin typeface="Roboto"/>
              </a:rPr>
              <a:t>Keine Übertreibungen, keine erfundenen Zahlen. Einfache Sprache. Fachbegriffe nur mit Erklärung.</a:t>
            </a:r>
          </a:p>
        </p:txBody>
      </p:sp>
      <p:sp>
        <p:nvSpPr>
          <p:cNvPr id="28" name="Rounded Rectangle 27"/>
          <p:cNvSpPr/>
          <p:nvPr/>
        </p:nvSpPr>
        <p:spPr>
          <a:xfrm>
            <a:off x="8842248" y="2011680"/>
            <a:ext cx="2505456" cy="40233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Timer_w.png"/>
          <p:cNvPicPr>
            <a:picLocks noChangeAspect="1"/>
          </p:cNvPicPr>
          <p:nvPr/>
        </p:nvPicPr>
        <p:blipFill>
          <a:blip r:embed="rId3"/>
          <a:stretch>
            <a:fillRect/>
          </a:stretch>
        </p:blipFill>
        <p:spPr>
          <a:xfrm>
            <a:off x="9070848" y="2194560"/>
            <a:ext cx="502920" cy="502920"/>
          </a:xfrm>
          <a:prstGeom prst="rect">
            <a:avLst/>
          </a:prstGeom>
        </p:spPr>
      </p:pic>
      <p:sp>
        <p:nvSpPr>
          <p:cNvPr id="30" name="TextBox 29"/>
          <p:cNvSpPr txBox="1"/>
          <p:nvPr/>
        </p:nvSpPr>
        <p:spPr>
          <a:xfrm>
            <a:off x="9710928" y="2194560"/>
            <a:ext cx="1499616" cy="502920"/>
          </a:xfrm>
          <a:prstGeom prst="rect">
            <a:avLst/>
          </a:prstGeom>
          <a:noFill/>
        </p:spPr>
        <p:txBody>
          <a:bodyPr wrap="square" lIns="0" rIns="0" tIns="0" bIns="0" anchor="ctr"/>
          <a:lstStyle/>
          <a:p>
            <a:pPr algn="l">
              <a:spcAft>
                <a:spcPts val="400"/>
              </a:spcAft>
              <a:buNone/>
            </a:pPr>
            <a:r>
              <a:rPr sz="2200" b="1" i="0">
                <a:solidFill>
                  <a:srgbClr val="FFFFFF"/>
                </a:solidFill>
                <a:latin typeface="Roboto"/>
              </a:rPr>
              <a:t>20 Min.</a:t>
            </a:r>
          </a:p>
        </p:txBody>
      </p:sp>
      <p:sp>
        <p:nvSpPr>
          <p:cNvPr id="31" name="TextBox 30"/>
          <p:cNvSpPr txBox="1"/>
          <p:nvPr/>
        </p:nvSpPr>
        <p:spPr>
          <a:xfrm>
            <a:off x="9070848" y="2926080"/>
            <a:ext cx="2048256" cy="2926080"/>
          </a:xfrm>
          <a:prstGeom prst="rect">
            <a:avLst/>
          </a:prstGeom>
          <a:noFill/>
        </p:spPr>
        <p:txBody>
          <a:bodyPr wrap="square" lIns="0" rIns="0" tIns="0" bIns="0" anchor="t"/>
          <a:lstStyle/>
          <a:p>
            <a:pPr algn="l">
              <a:spcAft>
                <a:spcPts val="600"/>
              </a:spcAft>
              <a:buNone/>
            </a:pPr>
            <a:r>
              <a:rPr sz="1300" b="1" i="0">
                <a:solidFill>
                  <a:srgbClr val="9FD0FF"/>
                </a:solidFill>
                <a:latin typeface="Roboto"/>
              </a:rPr>
              <a:t>Vorbereitung</a:t>
            </a:r>
          </a:p>
          <a:p>
            <a:pPr algn="l" marL="164592" indent="-164592">
              <a:spcAft>
                <a:spcPts val="500"/>
              </a:spcAft>
              <a:buClr>
                <a:srgbClr val="FB2762"/>
              </a:buClr>
              <a:buFont typeface="Arial"/>
              <a:buChar char="•"/>
            </a:pPr>
            <a:r>
              <a:rPr sz="1300" b="0" i="0">
                <a:solidFill>
                  <a:srgbClr val="FFFFFF"/>
                </a:solidFill>
                <a:latin typeface="Roboto"/>
              </a:rPr>
              <a:t>Pitch mit dem Coach gliedern</a:t>
            </a:r>
          </a:p>
          <a:p>
            <a:pPr algn="l" marL="164592" indent="-164592">
              <a:spcAft>
                <a:spcPts val="500"/>
              </a:spcAft>
              <a:buClr>
                <a:srgbClr val="FB2762"/>
              </a:buClr>
              <a:buFont typeface="Arial"/>
              <a:buChar char="•"/>
            </a:pPr>
            <a:r>
              <a:rPr sz="1300" b="0" i="0">
                <a:solidFill>
                  <a:srgbClr val="FFFFFF"/>
                </a:solidFill>
                <a:latin typeface="Roboto"/>
              </a:rPr>
              <a:t>Prototyp startklar machen</a:t>
            </a:r>
          </a:p>
          <a:p>
            <a:pPr algn="l" marL="164592" indent="-164592">
              <a:spcAft>
                <a:spcPts val="500"/>
              </a:spcAft>
              <a:buClr>
                <a:srgbClr val="FB2762"/>
              </a:buClr>
              <a:buFont typeface="Arial"/>
              <a:buChar char="•"/>
            </a:pPr>
            <a:r>
              <a:rPr sz="1300" b="0" i="0">
                <a:solidFill>
                  <a:srgbClr val="FFFFFF"/>
                </a:solidFill>
                <a:latin typeface="Roboto"/>
              </a:rPr>
              <a:t>Einmal laut üben, Zeit stoppen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Pitch-Runde</a:t>
            </a:r>
          </a:p>
        </p:txBody>
      </p:sp>
      <p:sp>
        <p:nvSpPr>
          <p:cNvPr id="3" name="TextBox 2"/>
          <p:cNvSpPr txBox="1"/>
          <p:nvPr/>
        </p:nvSpPr>
        <p:spPr>
          <a:xfrm>
            <a:off x="841248" y="2103120"/>
            <a:ext cx="10506456" cy="914400"/>
          </a:xfrm>
          <a:prstGeom prst="rect">
            <a:avLst/>
          </a:prstGeom>
          <a:noFill/>
        </p:spPr>
        <p:txBody>
          <a:bodyPr wrap="square" lIns="0" rIns="0" tIns="0" bIns="0" anchor="t"/>
          <a:lstStyle/>
          <a:p>
            <a:pPr algn="l">
              <a:spcAft>
                <a:spcPts val="400"/>
              </a:spcAft>
              <a:buNone/>
            </a:pPr>
            <a:r>
              <a:rPr sz="3000" b="1" i="0">
                <a:solidFill>
                  <a:srgbClr val="9FD0FF"/>
                </a:solidFill>
                <a:latin typeface="Roboto"/>
              </a:rPr>
              <a:t>3 Minuten Pitch · 3 Minuten Feedback</a:t>
            </a:r>
          </a:p>
        </p:txBody>
      </p:sp>
      <p:sp>
        <p:nvSpPr>
          <p:cNvPr id="4" name="Rounded Rectangle 3"/>
          <p:cNvSpPr/>
          <p:nvPr/>
        </p:nvSpPr>
        <p:spPr>
          <a:xfrm>
            <a:off x="841248" y="3291840"/>
            <a:ext cx="2420874" cy="219456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3493008"/>
            <a:ext cx="365760" cy="36576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572768" y="3429000"/>
            <a:ext cx="1506474" cy="502920"/>
          </a:xfrm>
          <a:prstGeom prst="rect">
            <a:avLst/>
          </a:prstGeom>
          <a:noFill/>
        </p:spPr>
        <p:txBody>
          <a:bodyPr wrap="square" lIns="0" rIns="0" tIns="0" bIns="0" anchor="ctr"/>
          <a:lstStyle/>
          <a:p>
            <a:pPr algn="l">
              <a:spcAft>
                <a:spcPts val="400"/>
              </a:spcAft>
              <a:buNone/>
            </a:pPr>
            <a:r>
              <a:rPr sz="1800" b="1" i="0">
                <a:solidFill>
                  <a:srgbClr val="FFFFFF"/>
                </a:solidFill>
                <a:latin typeface="Roboto"/>
              </a:rPr>
              <a:t>Gut</a:t>
            </a:r>
          </a:p>
        </p:txBody>
      </p:sp>
      <p:cxnSp>
        <p:nvCxnSpPr>
          <p:cNvPr id="7" name="Connector 6"/>
          <p:cNvCxnSpPr/>
          <p:nvPr/>
        </p:nvCxnSpPr>
        <p:spPr>
          <a:xfrm>
            <a:off x="1069848" y="4297680"/>
            <a:ext cx="1963674"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69848" y="4663440"/>
            <a:ext cx="1963674"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69848" y="5029200"/>
            <a:ext cx="1963674"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36441" y="3291840"/>
            <a:ext cx="2420874" cy="219456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765041" y="3493008"/>
            <a:ext cx="365760" cy="36576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267962" y="3429000"/>
            <a:ext cx="1506474" cy="502920"/>
          </a:xfrm>
          <a:prstGeom prst="rect">
            <a:avLst/>
          </a:prstGeom>
          <a:noFill/>
        </p:spPr>
        <p:txBody>
          <a:bodyPr wrap="square" lIns="0" rIns="0" tIns="0" bIns="0" anchor="ctr"/>
          <a:lstStyle/>
          <a:p>
            <a:pPr algn="l">
              <a:spcAft>
                <a:spcPts val="400"/>
              </a:spcAft>
              <a:buNone/>
            </a:pPr>
            <a:r>
              <a:rPr sz="1800" b="1" i="0">
                <a:solidFill>
                  <a:srgbClr val="FFFFFF"/>
                </a:solidFill>
                <a:latin typeface="Roboto"/>
              </a:rPr>
              <a:t>Verbessern</a:t>
            </a:r>
          </a:p>
        </p:txBody>
      </p:sp>
      <p:cxnSp>
        <p:nvCxnSpPr>
          <p:cNvPr id="13" name="Connector 12"/>
          <p:cNvCxnSpPr/>
          <p:nvPr/>
        </p:nvCxnSpPr>
        <p:spPr>
          <a:xfrm>
            <a:off x="3765041" y="4297680"/>
            <a:ext cx="1963675"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765041" y="4663440"/>
            <a:ext cx="1963675"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65041" y="5029200"/>
            <a:ext cx="1963675"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31636" y="3291840"/>
            <a:ext cx="2420874" cy="219456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460236" y="3493008"/>
            <a:ext cx="365760" cy="36576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63155" y="3429000"/>
            <a:ext cx="1506474" cy="502920"/>
          </a:xfrm>
          <a:prstGeom prst="rect">
            <a:avLst/>
          </a:prstGeom>
          <a:noFill/>
        </p:spPr>
        <p:txBody>
          <a:bodyPr wrap="square" lIns="0" rIns="0" tIns="0" bIns="0" anchor="ctr"/>
          <a:lstStyle/>
          <a:p>
            <a:pPr algn="l">
              <a:spcAft>
                <a:spcPts val="400"/>
              </a:spcAft>
              <a:buNone/>
            </a:pPr>
            <a:r>
              <a:rPr sz="1800" b="1" i="0">
                <a:solidFill>
                  <a:srgbClr val="FFFFFF"/>
                </a:solidFill>
                <a:latin typeface="Roboto"/>
              </a:rPr>
              <a:t>Fragen</a:t>
            </a:r>
          </a:p>
        </p:txBody>
      </p:sp>
      <p:cxnSp>
        <p:nvCxnSpPr>
          <p:cNvPr id="19" name="Connector 18"/>
          <p:cNvCxnSpPr/>
          <p:nvPr/>
        </p:nvCxnSpPr>
        <p:spPr>
          <a:xfrm>
            <a:off x="6460236" y="4297680"/>
            <a:ext cx="1963673"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460236" y="4663440"/>
            <a:ext cx="1963673"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460236" y="5029200"/>
            <a:ext cx="1963673"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926830" y="3291840"/>
            <a:ext cx="2420874" cy="219456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155430" y="3493008"/>
            <a:ext cx="365760" cy="36576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658350" y="3429000"/>
            <a:ext cx="1506474" cy="502920"/>
          </a:xfrm>
          <a:prstGeom prst="rect">
            <a:avLst/>
          </a:prstGeom>
          <a:noFill/>
        </p:spPr>
        <p:txBody>
          <a:bodyPr wrap="square" lIns="0" rIns="0" tIns="0" bIns="0" anchor="ctr"/>
          <a:lstStyle/>
          <a:p>
            <a:pPr algn="l">
              <a:spcAft>
                <a:spcPts val="400"/>
              </a:spcAft>
              <a:buNone/>
            </a:pPr>
            <a:r>
              <a:rPr sz="1800" b="1" i="0">
                <a:solidFill>
                  <a:srgbClr val="FFFFFF"/>
                </a:solidFill>
                <a:latin typeface="Roboto"/>
              </a:rPr>
              <a:t>Ideen</a:t>
            </a:r>
          </a:p>
        </p:txBody>
      </p:sp>
      <p:cxnSp>
        <p:nvCxnSpPr>
          <p:cNvPr id="25" name="Connector 24"/>
          <p:cNvCxnSpPr/>
          <p:nvPr/>
        </p:nvCxnSpPr>
        <p:spPr>
          <a:xfrm>
            <a:off x="9155430" y="4297680"/>
            <a:ext cx="1963674"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155430" y="4663440"/>
            <a:ext cx="1963674"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155430" y="5029200"/>
            <a:ext cx="1963674" cy="0"/>
          </a:xfrm>
          <a:prstGeom prst="line">
            <a:avLst/>
          </a:prstGeom>
          <a:ln w="9525">
            <a:solidFill>
              <a:srgbClr val="3A4C8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5669280"/>
            <a:ext cx="10506456" cy="457200"/>
          </a:xfrm>
          <a:prstGeom prst="rect">
            <a:avLst/>
          </a:prstGeom>
          <a:noFill/>
        </p:spPr>
        <p:txBody>
          <a:bodyPr wrap="square" lIns="0" rIns="0" tIns="0" bIns="0" anchor="t"/>
          <a:lstStyle/>
          <a:p>
            <a:pPr algn="l">
              <a:spcAft>
                <a:spcPts val="400"/>
              </a:spcAft>
              <a:buNone/>
            </a:pPr>
            <a:r>
              <a:rPr sz="1400" b="0" i="0">
                <a:solidFill>
                  <a:srgbClr val="C9D6EE"/>
                </a:solidFill>
                <a:latin typeface="Roboto"/>
              </a:rPr>
              <a:t>Feedback-Grid: Notieren Sie für jede Person je einen Punkt pro Feld.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Phase 5 · Testen &amp; Iterieren</a:t>
            </a:r>
          </a:p>
        </p:txBody>
      </p:sp>
      <p:sp>
        <p:nvSpPr>
          <p:cNvPr id="3" name="Text Placeholder 2"/>
          <p:cNvSpPr>
            <a:spLocks noGrp="1"/>
          </p:cNvSpPr>
          <p:nvPr>
            <p:ph type="body" idx="11" sz="quarter"/>
          </p:nvPr>
        </p:nvSpPr>
        <p:spPr/>
        <p:txBody>
          <a:bodyPr/>
          <a:lstStyle/>
          <a:p>
            <a:r>
              <a:rPr b="0" sz="2000"/>
              <a:t>Mit echten Menschen prüfen, lernen, verbessern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Phase 5 · Testen</a:t>
            </a:r>
          </a:p>
        </p:txBody>
      </p:sp>
      <p:sp>
        <p:nvSpPr>
          <p:cNvPr id="3" name="Oval 2"/>
          <p:cNvSpPr/>
          <p:nvPr/>
        </p:nvSpPr>
        <p:spPr>
          <a:xfrm>
            <a:off x="961034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1</a:t>
            </a:r>
          </a:p>
        </p:txBody>
      </p:sp>
      <p:sp>
        <p:nvSpPr>
          <p:cNvPr id="4" name="Oval 3"/>
          <p:cNvSpPr/>
          <p:nvPr/>
        </p:nvSpPr>
        <p:spPr>
          <a:xfrm>
            <a:off x="997610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2</a:t>
            </a:r>
          </a:p>
        </p:txBody>
      </p:sp>
      <p:sp>
        <p:nvSpPr>
          <p:cNvPr id="5" name="Oval 4"/>
          <p:cNvSpPr/>
          <p:nvPr/>
        </p:nvSpPr>
        <p:spPr>
          <a:xfrm>
            <a:off x="1034186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3</a:t>
            </a:r>
          </a:p>
        </p:txBody>
      </p:sp>
      <p:sp>
        <p:nvSpPr>
          <p:cNvPr id="6" name="Oval 5"/>
          <p:cNvSpPr/>
          <p:nvPr/>
        </p:nvSpPr>
        <p:spPr>
          <a:xfrm>
            <a:off x="10707624" y="850392"/>
            <a:ext cx="274320" cy="274320"/>
          </a:xfrm>
          <a:prstGeom prst="ellipse">
            <a:avLst/>
          </a:prstGeom>
          <a:solidFill>
            <a:srgbClr val="0E1F5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4</a:t>
            </a:r>
          </a:p>
        </p:txBody>
      </p:sp>
      <p:sp>
        <p:nvSpPr>
          <p:cNvPr id="7" name="Oval 6"/>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8" name="TextBox 7"/>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FFFFFF"/>
                </a:solidFill>
                <a:latin typeface="Roboto"/>
              </a:rPr>
              <a:t>Phase 5: Testen</a:t>
            </a:r>
          </a:p>
        </p:txBody>
      </p:sp>
      <p:sp>
        <p:nvSpPr>
          <p:cNvPr id="9" name="TextBox 8"/>
          <p:cNvSpPr txBox="1"/>
          <p:nvPr/>
        </p:nvSpPr>
        <p:spPr>
          <a:xfrm>
            <a:off x="841248" y="2011680"/>
            <a:ext cx="10506456" cy="914400"/>
          </a:xfrm>
          <a:prstGeom prst="rect">
            <a:avLst/>
          </a:prstGeom>
          <a:noFill/>
        </p:spPr>
        <p:txBody>
          <a:bodyPr wrap="square" lIns="0" rIns="0" tIns="0" bIns="0" anchor="t"/>
          <a:lstStyle/>
          <a:p>
            <a:pPr algn="l">
              <a:spcAft>
                <a:spcPts val="400"/>
              </a:spcAft>
              <a:buNone/>
            </a:pPr>
            <a:r>
              <a:rPr sz="2800" b="1" i="0">
                <a:solidFill>
                  <a:srgbClr val="9FD0FF"/>
                </a:solidFill>
                <a:latin typeface="Roboto"/>
              </a:rPr>
              <a:t>Funktioniert die Lösung, und was lernen wir daraus?</a:t>
            </a:r>
          </a:p>
        </p:txBody>
      </p:sp>
      <p:sp>
        <p:nvSpPr>
          <p:cNvPr id="10" name="Rounded Rectangle 9"/>
          <p:cNvSpPr/>
          <p:nvPr/>
        </p:nvSpPr>
        <p:spPr>
          <a:xfrm>
            <a:off x="841248"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69848"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Target_w.png"/>
          <p:cNvPicPr>
            <a:picLocks noChangeAspect="1"/>
          </p:cNvPicPr>
          <p:nvPr/>
        </p:nvPicPr>
        <p:blipFill>
          <a:blip r:embed="rId3"/>
          <a:stretch>
            <a:fillRect/>
          </a:stretch>
        </p:blipFill>
        <p:spPr>
          <a:xfrm>
            <a:off x="1201521" y="3496665"/>
            <a:ext cx="285292" cy="285292"/>
          </a:xfrm>
          <a:prstGeom prst="rect">
            <a:avLst/>
          </a:prstGeom>
        </p:spPr>
      </p:pic>
      <p:sp>
        <p:nvSpPr>
          <p:cNvPr id="13" name="TextBox 12"/>
          <p:cNvSpPr txBox="1"/>
          <p:nvPr/>
        </p:nvSpPr>
        <p:spPr>
          <a:xfrm>
            <a:off x="1755648"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Ziel</a:t>
            </a:r>
          </a:p>
        </p:txBody>
      </p:sp>
      <p:sp>
        <p:nvSpPr>
          <p:cNvPr id="14" name="TextBox 13"/>
          <p:cNvSpPr txBox="1"/>
          <p:nvPr/>
        </p:nvSpPr>
        <p:spPr>
          <a:xfrm>
            <a:off x="1069848"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Prototypen mit echten Nutzer:innen testen, lernen und entscheiden.</a:t>
            </a:r>
          </a:p>
        </p:txBody>
      </p:sp>
      <p:sp>
        <p:nvSpPr>
          <p:cNvPr id="15" name="Rounded Rectangle 14"/>
          <p:cNvSpPr/>
          <p:nvPr/>
        </p:nvSpPr>
        <p:spPr>
          <a:xfrm>
            <a:off x="4434840"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663440"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uListChecks_w.png"/>
          <p:cNvPicPr>
            <a:picLocks noChangeAspect="1"/>
          </p:cNvPicPr>
          <p:nvPr/>
        </p:nvPicPr>
        <p:blipFill>
          <a:blip r:embed="rId4"/>
          <a:stretch>
            <a:fillRect/>
          </a:stretch>
        </p:blipFill>
        <p:spPr>
          <a:xfrm>
            <a:off x="4795113" y="3496665"/>
            <a:ext cx="285292" cy="285292"/>
          </a:xfrm>
          <a:prstGeom prst="rect">
            <a:avLst/>
          </a:prstGeom>
        </p:spPr>
      </p:pic>
      <p:sp>
        <p:nvSpPr>
          <p:cNvPr id="18" name="TextBox 17"/>
          <p:cNvSpPr txBox="1"/>
          <p:nvPr/>
        </p:nvSpPr>
        <p:spPr>
          <a:xfrm>
            <a:off x="5349240"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Methoden</a:t>
            </a:r>
          </a:p>
        </p:txBody>
      </p:sp>
      <p:sp>
        <p:nvSpPr>
          <p:cNvPr id="19" name="TextBox 18"/>
          <p:cNvSpPr txBox="1"/>
          <p:nvPr/>
        </p:nvSpPr>
        <p:spPr>
          <a:xfrm>
            <a:off x="4663440"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Nutzertest, Feedback-Grid, Fake-Door-Test, Pilot mit Kennzahlen</a:t>
            </a:r>
          </a:p>
        </p:txBody>
      </p:sp>
      <p:sp>
        <p:nvSpPr>
          <p:cNvPr id="20" name="Rounded Rectangle 19"/>
          <p:cNvSpPr/>
          <p:nvPr/>
        </p:nvSpPr>
        <p:spPr>
          <a:xfrm>
            <a:off x="8028432" y="3154680"/>
            <a:ext cx="3319272" cy="2103120"/>
          </a:xfrm>
          <a:prstGeom prst="roundRect">
            <a:avLst>
              <a:gd name="adj" fmla="val 6000"/>
            </a:avLst>
          </a:prstGeom>
          <a:solidFill>
            <a:srgbClr val="1C2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57032" y="3364992"/>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uBoxes_w.png"/>
          <p:cNvPicPr>
            <a:picLocks noChangeAspect="1"/>
          </p:cNvPicPr>
          <p:nvPr/>
        </p:nvPicPr>
        <p:blipFill>
          <a:blip r:embed="rId5"/>
          <a:stretch>
            <a:fillRect/>
          </a:stretch>
        </p:blipFill>
        <p:spPr>
          <a:xfrm>
            <a:off x="8388705" y="3496665"/>
            <a:ext cx="285292" cy="285292"/>
          </a:xfrm>
          <a:prstGeom prst="rect">
            <a:avLst/>
          </a:prstGeom>
        </p:spPr>
      </p:pic>
      <p:sp>
        <p:nvSpPr>
          <p:cNvPr id="23" name="TextBox 22"/>
          <p:cNvSpPr txBox="1"/>
          <p:nvPr/>
        </p:nvSpPr>
        <p:spPr>
          <a:xfrm>
            <a:off x="8942832" y="3364992"/>
            <a:ext cx="2267712" cy="548640"/>
          </a:xfrm>
          <a:prstGeom prst="rect">
            <a:avLst/>
          </a:prstGeom>
          <a:noFill/>
        </p:spPr>
        <p:txBody>
          <a:bodyPr wrap="square" lIns="0" rIns="0" tIns="0" bIns="0" anchor="ctr"/>
          <a:lstStyle/>
          <a:p>
            <a:pPr algn="l">
              <a:spcAft>
                <a:spcPts val="400"/>
              </a:spcAft>
              <a:buNone/>
            </a:pPr>
            <a:r>
              <a:rPr sz="1700" b="1" i="0">
                <a:solidFill>
                  <a:srgbClr val="FFFFFF"/>
                </a:solidFill>
                <a:latin typeface="Roboto"/>
              </a:rPr>
              <a:t>Ergebnis</a:t>
            </a:r>
          </a:p>
        </p:txBody>
      </p:sp>
      <p:sp>
        <p:nvSpPr>
          <p:cNvPr id="24" name="TextBox 23"/>
          <p:cNvSpPr txBox="1"/>
          <p:nvPr/>
        </p:nvSpPr>
        <p:spPr>
          <a:xfrm>
            <a:off x="8257032" y="4069080"/>
            <a:ext cx="2862072" cy="1143000"/>
          </a:xfrm>
          <a:prstGeom prst="rect">
            <a:avLst/>
          </a:prstGeom>
          <a:noFill/>
        </p:spPr>
        <p:txBody>
          <a:bodyPr wrap="square" lIns="0" rIns="0" tIns="0" bIns="0" anchor="t"/>
          <a:lstStyle/>
          <a:p>
            <a:pPr algn="l">
              <a:spcAft>
                <a:spcPts val="400"/>
              </a:spcAft>
              <a:buNone/>
            </a:pPr>
            <a:r>
              <a:rPr sz="1400" b="0" i="0">
                <a:solidFill>
                  <a:srgbClr val="DCE6F7"/>
                </a:solidFill>
                <a:latin typeface="Roboto"/>
              </a:rPr>
              <a:t>Testprotokolle, Feedback-Grid, Kennzahlen, Entscheidung: weiter, ändern oder stoppen</a:t>
            </a:r>
          </a:p>
        </p:txBody>
      </p:sp>
      <p:sp>
        <p:nvSpPr>
          <p:cNvPr id="25" name="Rounded Rectangle 24"/>
          <p:cNvSpPr/>
          <p:nvPr/>
        </p:nvSpPr>
        <p:spPr>
          <a:xfrm>
            <a:off x="841248" y="5440680"/>
            <a:ext cx="10506456" cy="7315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t_n.png"/>
          <p:cNvPicPr>
            <a:picLocks noChangeAspect="1"/>
          </p:cNvPicPr>
          <p:nvPr/>
        </p:nvPicPr>
        <p:blipFill>
          <a:blip r:embed="rId6"/>
          <a:stretch>
            <a:fillRect/>
          </a:stretch>
        </p:blipFill>
        <p:spPr>
          <a:xfrm>
            <a:off x="1069848" y="5577840"/>
            <a:ext cx="457200" cy="457200"/>
          </a:xfrm>
          <a:prstGeom prst="rect">
            <a:avLst/>
          </a:prstGeom>
        </p:spPr>
      </p:pic>
      <p:sp>
        <p:nvSpPr>
          <p:cNvPr id="27" name="TextBox 26"/>
          <p:cNvSpPr txBox="1"/>
          <p:nvPr/>
        </p:nvSpPr>
        <p:spPr>
          <a:xfrm>
            <a:off x="1709928" y="5440680"/>
            <a:ext cx="9409176" cy="73152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KI-Begleiter dieser Phase: </a:t>
            </a:r>
            <a:r>
              <a:rPr sz="1500" b="1" i="0">
                <a:solidFill>
                  <a:srgbClr val="FB2762"/>
                </a:solidFill>
                <a:latin typeface="Roboto"/>
              </a:rPr>
              <a:t>Test-Auswerter</a:t>
            </a:r>
            <a:r>
              <a:rPr sz="1500" b="0" i="0">
                <a:solidFill>
                  <a:srgbClr val="0E1F53"/>
                </a:solidFill>
                <a:latin typeface="Roboto"/>
              </a:rPr>
              <a:t> – plant Tests und wertet Feedback und Kennzahlen aus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Leitfragen und Methoden</a:t>
            </a:r>
          </a:p>
        </p:txBody>
      </p:sp>
      <p:sp>
        <p:nvSpPr>
          <p:cNvPr id="3" name="Rounded Rectangle 2"/>
          <p:cNvSpPr/>
          <p:nvPr/>
        </p:nvSpPr>
        <p:spPr>
          <a:xfrm>
            <a:off x="841248" y="850392"/>
            <a:ext cx="694944"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INPUT</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Testen</a:t>
            </a:r>
          </a:p>
        </p:txBody>
      </p:sp>
      <p:sp>
        <p:nvSpPr>
          <p:cNvPr id="10" name="Rounded Rectangle 9"/>
          <p:cNvSpPr/>
          <p:nvPr/>
        </p:nvSpPr>
        <p:spPr>
          <a:xfrm>
            <a:off x="841248" y="2011680"/>
            <a:ext cx="420624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15568" y="2148840"/>
            <a:ext cx="3657599" cy="457200"/>
          </a:xfrm>
          <a:prstGeom prst="rect">
            <a:avLst/>
          </a:prstGeom>
          <a:noFill/>
        </p:spPr>
        <p:txBody>
          <a:bodyPr wrap="square" lIns="0" rIns="0" tIns="0" bIns="0" anchor="t"/>
          <a:lstStyle/>
          <a:p>
            <a:pPr algn="l">
              <a:spcAft>
                <a:spcPts val="400"/>
              </a:spcAft>
              <a:buNone/>
            </a:pPr>
            <a:r>
              <a:rPr sz="1700" b="1" i="0">
                <a:solidFill>
                  <a:srgbClr val="9FD0FF"/>
                </a:solidFill>
                <a:latin typeface="Roboto"/>
              </a:rPr>
              <a:t>Leitfragen</a:t>
            </a:r>
          </a:p>
        </p:txBody>
      </p:sp>
      <p:sp>
        <p:nvSpPr>
          <p:cNvPr id="12" name="TextBox 11"/>
          <p:cNvSpPr txBox="1"/>
          <p:nvPr/>
        </p:nvSpPr>
        <p:spPr>
          <a:xfrm>
            <a:off x="1115568" y="2651760"/>
            <a:ext cx="3657599" cy="3291840"/>
          </a:xfrm>
          <a:prstGeom prst="rect">
            <a:avLst/>
          </a:prstGeom>
          <a:noFill/>
        </p:spPr>
        <p:txBody>
          <a:bodyPr wrap="square" lIns="0" rIns="0" tIns="0" bIns="0" anchor="t"/>
          <a:lstStyle/>
          <a:p>
            <a:pPr algn="l" marL="164592" indent="-164592">
              <a:spcAft>
                <a:spcPts val="700"/>
              </a:spcAft>
              <a:buClr>
                <a:srgbClr val="FB2762"/>
              </a:buClr>
              <a:buFont typeface="Arial"/>
              <a:buChar char="?"/>
            </a:pPr>
            <a:r>
              <a:rPr sz="1350" b="0" i="0">
                <a:solidFill>
                  <a:srgbClr val="FFFFFF"/>
                </a:solidFill>
                <a:latin typeface="Roboto"/>
              </a:rPr>
              <a:t>Welche Annahme testen wir, und was ist unser Erfolgskriterium?</a:t>
            </a:r>
          </a:p>
          <a:p>
            <a:pPr algn="l" marL="164592" indent="-164592">
              <a:spcAft>
                <a:spcPts val="700"/>
              </a:spcAft>
              <a:buClr>
                <a:srgbClr val="FB2762"/>
              </a:buClr>
              <a:buFont typeface="Arial"/>
              <a:buChar char="?"/>
            </a:pPr>
            <a:r>
              <a:rPr sz="1350" b="0" i="0">
                <a:solidFill>
                  <a:srgbClr val="FFFFFF"/>
                </a:solidFill>
                <a:latin typeface="Roboto"/>
              </a:rPr>
              <a:t>Wen testen wir? Schon 5 Testpersonen zeigen die meisten Probleme.</a:t>
            </a:r>
          </a:p>
          <a:p>
            <a:pPr algn="l" marL="164592" indent="-164592">
              <a:spcAft>
                <a:spcPts val="700"/>
              </a:spcAft>
              <a:buClr>
                <a:srgbClr val="FB2762"/>
              </a:buClr>
              <a:buFont typeface="Arial"/>
              <a:buChar char="?"/>
            </a:pPr>
            <a:r>
              <a:rPr sz="1350" b="0" i="0">
                <a:solidFill>
                  <a:srgbClr val="FFFFFF"/>
                </a:solidFill>
                <a:latin typeface="Roboto"/>
              </a:rPr>
              <a:t>Was tun die Testpersonen, nicht nur was sie sagen?</a:t>
            </a:r>
          </a:p>
          <a:p>
            <a:pPr algn="l" marL="164592" indent="-164592">
              <a:spcAft>
                <a:spcPts val="700"/>
              </a:spcAft>
              <a:buClr>
                <a:srgbClr val="FB2762"/>
              </a:buClr>
              <a:buFont typeface="Arial"/>
              <a:buChar char="?"/>
            </a:pPr>
            <a:r>
              <a:rPr sz="1350" b="0" i="0">
                <a:solidFill>
                  <a:srgbClr val="FFFFFF"/>
                </a:solidFill>
                <a:latin typeface="Roboto"/>
              </a:rPr>
              <a:t>Was hat funktioniert, was nicht, was hat überrascht?</a:t>
            </a:r>
          </a:p>
          <a:p>
            <a:pPr algn="l" marL="164592" indent="-164592">
              <a:spcAft>
                <a:spcPts val="700"/>
              </a:spcAft>
              <a:buClr>
                <a:srgbClr val="FB2762"/>
              </a:buClr>
              <a:buFont typeface="Arial"/>
              <a:buChar char="?"/>
            </a:pPr>
            <a:r>
              <a:rPr sz="1350" b="0" i="0">
                <a:solidFill>
                  <a:srgbClr val="FFFFFF"/>
                </a:solidFill>
                <a:latin typeface="Roboto"/>
              </a:rPr>
              <a:t>Weiter, ändern oder stoppen? Und zurück in welche Phase?</a:t>
            </a:r>
          </a:p>
        </p:txBody>
      </p:sp>
      <p:sp>
        <p:nvSpPr>
          <p:cNvPr id="13" name="Rounded Rectangle 12"/>
          <p:cNvSpPr/>
          <p:nvPr/>
        </p:nvSpPr>
        <p:spPr>
          <a:xfrm>
            <a:off x="5321807"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522975"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LuEye_w.png"/>
          <p:cNvPicPr>
            <a:picLocks noChangeAspect="1"/>
          </p:cNvPicPr>
          <p:nvPr/>
        </p:nvPicPr>
        <p:blipFill>
          <a:blip r:embed="rId3"/>
          <a:stretch>
            <a:fillRect/>
          </a:stretch>
        </p:blipFill>
        <p:spPr>
          <a:xfrm>
            <a:off x="5650260" y="2340132"/>
            <a:ext cx="275783" cy="275783"/>
          </a:xfrm>
          <a:prstGeom prst="rect">
            <a:avLst/>
          </a:prstGeom>
        </p:spPr>
      </p:pic>
      <p:sp>
        <p:nvSpPr>
          <p:cNvPr id="16" name="TextBox 15"/>
          <p:cNvSpPr txBox="1"/>
          <p:nvPr/>
        </p:nvSpPr>
        <p:spPr>
          <a:xfrm>
            <a:off x="6190488"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Nutzertest</a:t>
            </a:r>
          </a:p>
        </p:txBody>
      </p:sp>
      <p:sp>
        <p:nvSpPr>
          <p:cNvPr id="17" name="TextBox 16"/>
          <p:cNvSpPr txBox="1"/>
          <p:nvPr/>
        </p:nvSpPr>
        <p:spPr>
          <a:xfrm>
            <a:off x="5522975"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Testperson nutzt den Prototyp und denkt laut. Wir beobachten und schweigen.</a:t>
            </a:r>
          </a:p>
        </p:txBody>
      </p:sp>
      <p:sp>
        <p:nvSpPr>
          <p:cNvPr id="18" name="Rounded Rectangle 17"/>
          <p:cNvSpPr/>
          <p:nvPr/>
        </p:nvSpPr>
        <p:spPr>
          <a:xfrm>
            <a:off x="8471916" y="20116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673084" y="22128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Layers_w.png"/>
          <p:cNvPicPr>
            <a:picLocks noChangeAspect="1"/>
          </p:cNvPicPr>
          <p:nvPr/>
        </p:nvPicPr>
        <p:blipFill>
          <a:blip r:embed="rId4"/>
          <a:stretch>
            <a:fillRect/>
          </a:stretch>
        </p:blipFill>
        <p:spPr>
          <a:xfrm>
            <a:off x="8800368" y="2340132"/>
            <a:ext cx="275783" cy="275783"/>
          </a:xfrm>
          <a:prstGeom prst="rect">
            <a:avLst/>
          </a:prstGeom>
        </p:spPr>
      </p:pic>
      <p:sp>
        <p:nvSpPr>
          <p:cNvPr id="21" name="TextBox 20"/>
          <p:cNvSpPr txBox="1"/>
          <p:nvPr/>
        </p:nvSpPr>
        <p:spPr>
          <a:xfrm>
            <a:off x="9340596" y="22128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Feedback-Grid</a:t>
            </a:r>
          </a:p>
        </p:txBody>
      </p:sp>
      <p:sp>
        <p:nvSpPr>
          <p:cNvPr id="22" name="TextBox 21"/>
          <p:cNvSpPr txBox="1"/>
          <p:nvPr/>
        </p:nvSpPr>
        <p:spPr>
          <a:xfrm>
            <a:off x="8673084" y="28803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Vier Felder: Gut · Verbessern · Fragen · Ideen.</a:t>
            </a:r>
          </a:p>
        </p:txBody>
      </p:sp>
      <p:sp>
        <p:nvSpPr>
          <p:cNvPr id="23" name="Rounded Rectangle 22"/>
          <p:cNvSpPr/>
          <p:nvPr/>
        </p:nvSpPr>
        <p:spPr>
          <a:xfrm>
            <a:off x="5321807"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522975"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Link_w.png"/>
          <p:cNvPicPr>
            <a:picLocks noChangeAspect="1"/>
          </p:cNvPicPr>
          <p:nvPr/>
        </p:nvPicPr>
        <p:blipFill>
          <a:blip r:embed="rId5"/>
          <a:stretch>
            <a:fillRect/>
          </a:stretch>
        </p:blipFill>
        <p:spPr>
          <a:xfrm>
            <a:off x="5650260" y="4397532"/>
            <a:ext cx="275783" cy="275783"/>
          </a:xfrm>
          <a:prstGeom prst="rect">
            <a:avLst/>
          </a:prstGeom>
        </p:spPr>
      </p:pic>
      <p:sp>
        <p:nvSpPr>
          <p:cNvPr id="26" name="TextBox 25"/>
          <p:cNvSpPr txBox="1"/>
          <p:nvPr/>
        </p:nvSpPr>
        <p:spPr>
          <a:xfrm>
            <a:off x="6190488"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Fake-Door-Test</a:t>
            </a:r>
          </a:p>
        </p:txBody>
      </p:sp>
      <p:sp>
        <p:nvSpPr>
          <p:cNvPr id="27" name="TextBox 26"/>
          <p:cNvSpPr txBox="1"/>
          <p:nvPr/>
        </p:nvSpPr>
        <p:spPr>
          <a:xfrm>
            <a:off x="5522975"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Angebot ankündigen, bevor es existiert, und Anmeldungen zählen.</a:t>
            </a:r>
          </a:p>
        </p:txBody>
      </p:sp>
      <p:sp>
        <p:nvSpPr>
          <p:cNvPr id="28" name="Rounded Rectangle 27"/>
          <p:cNvSpPr/>
          <p:nvPr/>
        </p:nvSpPr>
        <p:spPr>
          <a:xfrm>
            <a:off x="8471916" y="4069080"/>
            <a:ext cx="2875788" cy="187451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8673084" y="427024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ChartColumn_w.png"/>
          <p:cNvPicPr>
            <a:picLocks noChangeAspect="1"/>
          </p:cNvPicPr>
          <p:nvPr/>
        </p:nvPicPr>
        <p:blipFill>
          <a:blip r:embed="rId6"/>
          <a:stretch>
            <a:fillRect/>
          </a:stretch>
        </p:blipFill>
        <p:spPr>
          <a:xfrm>
            <a:off x="8800368" y="4397532"/>
            <a:ext cx="275783" cy="275783"/>
          </a:xfrm>
          <a:prstGeom prst="rect">
            <a:avLst/>
          </a:prstGeom>
        </p:spPr>
      </p:pic>
      <p:sp>
        <p:nvSpPr>
          <p:cNvPr id="31" name="TextBox 30"/>
          <p:cNvSpPr txBox="1"/>
          <p:nvPr/>
        </p:nvSpPr>
        <p:spPr>
          <a:xfrm>
            <a:off x="9340596" y="4270248"/>
            <a:ext cx="1869948" cy="530352"/>
          </a:xfrm>
          <a:prstGeom prst="rect">
            <a:avLst/>
          </a:prstGeom>
          <a:noFill/>
        </p:spPr>
        <p:txBody>
          <a:bodyPr wrap="square" lIns="0" rIns="0" tIns="0" bIns="0" anchor="ctr"/>
          <a:lstStyle/>
          <a:p>
            <a:pPr algn="l">
              <a:spcAft>
                <a:spcPts val="400"/>
              </a:spcAft>
              <a:buNone/>
            </a:pPr>
            <a:r>
              <a:rPr sz="1500" b="1" i="0">
                <a:solidFill>
                  <a:srgbClr val="0E1F53"/>
                </a:solidFill>
                <a:latin typeface="Roboto"/>
              </a:rPr>
              <a:t>Pilot mit Kennzahlen</a:t>
            </a:r>
          </a:p>
        </p:txBody>
      </p:sp>
      <p:sp>
        <p:nvSpPr>
          <p:cNvPr id="32" name="TextBox 31"/>
          <p:cNvSpPr txBox="1"/>
          <p:nvPr/>
        </p:nvSpPr>
        <p:spPr>
          <a:xfrm>
            <a:off x="8673084" y="4937760"/>
            <a:ext cx="2473452" cy="960120"/>
          </a:xfrm>
          <a:prstGeom prst="rect">
            <a:avLst/>
          </a:prstGeom>
          <a:noFill/>
        </p:spPr>
        <p:txBody>
          <a:bodyPr wrap="square" lIns="0" rIns="0" tIns="0" bIns="0" anchor="t"/>
          <a:lstStyle/>
          <a:p>
            <a:pPr algn="l">
              <a:spcAft>
                <a:spcPts val="400"/>
              </a:spcAft>
              <a:buNone/>
            </a:pPr>
            <a:r>
              <a:rPr sz="1300" b="0" i="0">
                <a:solidFill>
                  <a:srgbClr val="0E1F53"/>
                </a:solidFill>
                <a:latin typeface="Roboto"/>
              </a:rPr>
              <a:t>Kleiner Echtbetrieb mit vorher festgelegten Erfolgskriterien.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KI-Werkzeuge für diese Phase</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KI-WERKZEUGE</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Testen</a:t>
            </a:r>
          </a:p>
        </p:txBody>
      </p:sp>
      <p:sp>
        <p:nvSpPr>
          <p:cNvPr id="10" name="Rounded Rectangle 9"/>
          <p:cNvSpPr/>
          <p:nvPr/>
        </p:nvSpPr>
        <p:spPr>
          <a:xfrm>
            <a:off x="841248"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30352" cy="530352"/>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Bot_w.png"/>
          <p:cNvPicPr>
            <a:picLocks noChangeAspect="1"/>
          </p:cNvPicPr>
          <p:nvPr/>
        </p:nvPicPr>
        <p:blipFill>
          <a:blip r:embed="rId3"/>
          <a:stretch>
            <a:fillRect/>
          </a:stretch>
        </p:blipFill>
        <p:spPr>
          <a:xfrm>
            <a:off x="1169700" y="2321844"/>
            <a:ext cx="275783" cy="275783"/>
          </a:xfrm>
          <a:prstGeom prst="rect">
            <a:avLst/>
          </a:prstGeom>
        </p:spPr>
      </p:pic>
      <p:sp>
        <p:nvSpPr>
          <p:cNvPr id="13" name="TextBox 12"/>
          <p:cNvSpPr txBox="1"/>
          <p:nvPr/>
        </p:nvSpPr>
        <p:spPr>
          <a:xfrm>
            <a:off x="1709928"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Agent: Test-Auswerter</a:t>
            </a:r>
          </a:p>
        </p:txBody>
      </p:sp>
      <p:sp>
        <p:nvSpPr>
          <p:cNvPr id="14" name="TextBox 13"/>
          <p:cNvSpPr txBox="1"/>
          <p:nvPr/>
        </p:nvSpPr>
        <p:spPr>
          <a:xfrm>
            <a:off x="1709928"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Testplan und Beobachtungsbogen</a:t>
            </a:r>
          </a:p>
        </p:txBody>
      </p:sp>
      <p:sp>
        <p:nvSpPr>
          <p:cNvPr id="15" name="Rounded Rectangle 14"/>
          <p:cNvSpPr/>
          <p:nvPr/>
        </p:nvSpPr>
        <p:spPr>
          <a:xfrm>
            <a:off x="1042416"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61288"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„Erstelle einen Testplan mit Hypothese, Erfolgskriterium, Ablauf und 6 Beobachtungsfragen.“</a:t>
            </a:r>
          </a:p>
        </p:txBody>
      </p:sp>
      <p:sp>
        <p:nvSpPr>
          <p:cNvPr id="17" name="Rounded Rectangle 16"/>
          <p:cNvSpPr/>
          <p:nvPr/>
        </p:nvSpPr>
        <p:spPr>
          <a:xfrm>
            <a:off x="6231636" y="2011680"/>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32803" y="2194560"/>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uLayers_w.png"/>
          <p:cNvPicPr>
            <a:picLocks noChangeAspect="1"/>
          </p:cNvPicPr>
          <p:nvPr/>
        </p:nvPicPr>
        <p:blipFill>
          <a:blip r:embed="rId4"/>
          <a:stretch>
            <a:fillRect/>
          </a:stretch>
        </p:blipFill>
        <p:spPr>
          <a:xfrm>
            <a:off x="6560088" y="2321844"/>
            <a:ext cx="275783" cy="275783"/>
          </a:xfrm>
          <a:prstGeom prst="rect">
            <a:avLst/>
          </a:prstGeom>
        </p:spPr>
      </p:pic>
      <p:sp>
        <p:nvSpPr>
          <p:cNvPr id="20" name="TextBox 19"/>
          <p:cNvSpPr txBox="1"/>
          <p:nvPr/>
        </p:nvSpPr>
        <p:spPr>
          <a:xfrm>
            <a:off x="7100316" y="2167128"/>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Feedback-Analyse</a:t>
            </a:r>
          </a:p>
        </p:txBody>
      </p:sp>
      <p:sp>
        <p:nvSpPr>
          <p:cNvPr id="21" name="TextBox 20"/>
          <p:cNvSpPr txBox="1"/>
          <p:nvPr/>
        </p:nvSpPr>
        <p:spPr>
          <a:xfrm>
            <a:off x="7100316" y="2487168"/>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Notizen und Formularantworten ins Grid sortieren</a:t>
            </a:r>
          </a:p>
        </p:txBody>
      </p:sp>
      <p:sp>
        <p:nvSpPr>
          <p:cNvPr id="22" name="Rounded Rectangle 21"/>
          <p:cNvSpPr/>
          <p:nvPr/>
        </p:nvSpPr>
        <p:spPr>
          <a:xfrm>
            <a:off x="6432803" y="2907792"/>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51675" y="2907792"/>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„Sortiere dieses Feedback ins Feedback-Grid und zähle, wie oft jeder Punkt kam.“</a:t>
            </a:r>
          </a:p>
        </p:txBody>
      </p:sp>
      <p:sp>
        <p:nvSpPr>
          <p:cNvPr id="24" name="Rounded Rectangle 23"/>
          <p:cNvSpPr/>
          <p:nvPr/>
        </p:nvSpPr>
        <p:spPr>
          <a:xfrm>
            <a:off x="841248"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042416"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ChartColumn_w.png"/>
          <p:cNvPicPr>
            <a:picLocks noChangeAspect="1"/>
          </p:cNvPicPr>
          <p:nvPr/>
        </p:nvPicPr>
        <p:blipFill>
          <a:blip r:embed="rId5"/>
          <a:stretch>
            <a:fillRect/>
          </a:stretch>
        </p:blipFill>
        <p:spPr>
          <a:xfrm>
            <a:off x="1169700" y="4351812"/>
            <a:ext cx="275783" cy="275783"/>
          </a:xfrm>
          <a:prstGeom prst="rect">
            <a:avLst/>
          </a:prstGeom>
        </p:spPr>
      </p:pic>
      <p:sp>
        <p:nvSpPr>
          <p:cNvPr id="27" name="TextBox 26"/>
          <p:cNvSpPr txBox="1"/>
          <p:nvPr/>
        </p:nvSpPr>
        <p:spPr>
          <a:xfrm>
            <a:off x="1709928"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Kennzahlen</a:t>
            </a:r>
          </a:p>
        </p:txBody>
      </p:sp>
      <p:sp>
        <p:nvSpPr>
          <p:cNvPr id="28" name="TextBox 27"/>
          <p:cNvSpPr txBox="1"/>
          <p:nvPr/>
        </p:nvSpPr>
        <p:spPr>
          <a:xfrm>
            <a:off x="1709928"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Anmeldungen, Klicks, Wiederkehr auswerten</a:t>
            </a:r>
          </a:p>
        </p:txBody>
      </p:sp>
      <p:sp>
        <p:nvSpPr>
          <p:cNvPr id="29" name="Rounded Rectangle 28"/>
          <p:cNvSpPr/>
          <p:nvPr/>
        </p:nvSpPr>
        <p:spPr>
          <a:xfrm>
            <a:off x="1042416"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61288"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„Vergleiche die Anmeldezahlen der Varianten A, B, C. Ist der Unterschied belastbar?“</a:t>
            </a:r>
          </a:p>
        </p:txBody>
      </p:sp>
      <p:sp>
        <p:nvSpPr>
          <p:cNvPr id="31" name="Rounded Rectangle 30"/>
          <p:cNvSpPr/>
          <p:nvPr/>
        </p:nvSpPr>
        <p:spPr>
          <a:xfrm>
            <a:off x="6231636" y="4041648"/>
            <a:ext cx="5116068"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432803" y="4224528"/>
            <a:ext cx="530352" cy="530352"/>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Users_w.png"/>
          <p:cNvPicPr>
            <a:picLocks noChangeAspect="1"/>
          </p:cNvPicPr>
          <p:nvPr/>
        </p:nvPicPr>
        <p:blipFill>
          <a:blip r:embed="rId6"/>
          <a:stretch>
            <a:fillRect/>
          </a:stretch>
        </p:blipFill>
        <p:spPr>
          <a:xfrm>
            <a:off x="6560088" y="4351812"/>
            <a:ext cx="275783" cy="275783"/>
          </a:xfrm>
          <a:prstGeom prst="rect">
            <a:avLst/>
          </a:prstGeom>
        </p:spPr>
      </p:pic>
      <p:sp>
        <p:nvSpPr>
          <p:cNvPr id="34" name="TextBox 33"/>
          <p:cNvSpPr txBox="1"/>
          <p:nvPr/>
        </p:nvSpPr>
        <p:spPr>
          <a:xfrm>
            <a:off x="7100316" y="4197096"/>
            <a:ext cx="4064508" cy="329184"/>
          </a:xfrm>
          <a:prstGeom prst="rect">
            <a:avLst/>
          </a:prstGeom>
          <a:noFill/>
        </p:spPr>
        <p:txBody>
          <a:bodyPr wrap="square" lIns="0" rIns="0" tIns="0" bIns="0" anchor="t"/>
          <a:lstStyle/>
          <a:p>
            <a:pPr algn="l">
              <a:spcAft>
                <a:spcPts val="400"/>
              </a:spcAft>
              <a:buNone/>
            </a:pPr>
            <a:r>
              <a:rPr sz="1500" b="1" i="0">
                <a:solidFill>
                  <a:srgbClr val="0E1F53"/>
                </a:solidFill>
                <a:latin typeface="Roboto"/>
              </a:rPr>
              <a:t>Synthetischer Vortest</a:t>
            </a:r>
          </a:p>
        </p:txBody>
      </p:sp>
      <p:sp>
        <p:nvSpPr>
          <p:cNvPr id="35" name="TextBox 34"/>
          <p:cNvSpPr txBox="1"/>
          <p:nvPr/>
        </p:nvSpPr>
        <p:spPr>
          <a:xfrm>
            <a:off x="7100316" y="4517136"/>
            <a:ext cx="4064508" cy="329184"/>
          </a:xfrm>
          <a:prstGeom prst="rect">
            <a:avLst/>
          </a:prstGeom>
          <a:noFill/>
        </p:spPr>
        <p:txBody>
          <a:bodyPr wrap="square" lIns="0" rIns="0" tIns="0" bIns="0" anchor="t"/>
          <a:lstStyle/>
          <a:p>
            <a:pPr algn="l">
              <a:spcAft>
                <a:spcPts val="400"/>
              </a:spcAft>
              <a:buNone/>
            </a:pPr>
            <a:r>
              <a:rPr sz="1200" b="0" i="0">
                <a:solidFill>
                  <a:srgbClr val="5A6684"/>
                </a:solidFill>
                <a:latin typeface="Roboto"/>
              </a:rPr>
              <a:t>Schwächen vorab finden, ersetzt nie echte Tests</a:t>
            </a:r>
          </a:p>
        </p:txBody>
      </p:sp>
      <p:sp>
        <p:nvSpPr>
          <p:cNvPr id="36" name="Rounded Rectangle 35"/>
          <p:cNvSpPr/>
          <p:nvPr/>
        </p:nvSpPr>
        <p:spPr>
          <a:xfrm>
            <a:off x="6432803" y="4937760"/>
            <a:ext cx="4713731" cy="80467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551675" y="4937760"/>
            <a:ext cx="4475988" cy="804672"/>
          </a:xfrm>
          <a:prstGeom prst="rect">
            <a:avLst/>
          </a:prstGeom>
          <a:noFill/>
        </p:spPr>
        <p:txBody>
          <a:bodyPr wrap="square" lIns="0" rIns="0" tIns="0" bIns="0" anchor="ctr"/>
          <a:lstStyle/>
          <a:p>
            <a:pPr algn="l">
              <a:spcAft>
                <a:spcPts val="400"/>
              </a:spcAft>
              <a:buNone/>
            </a:pPr>
            <a:r>
              <a:rPr sz="1200" b="0" i="1">
                <a:solidFill>
                  <a:srgbClr val="0E1F53"/>
                </a:solidFill>
                <a:latin typeface="Roboto"/>
              </a:rPr>
              <a:t>„Prüfe die Landingpage aus Sicht von Persona Jonas: Was ist unklar?“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Test-Auswerter</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Testen</a:t>
            </a:r>
          </a:p>
        </p:txBody>
      </p:sp>
      <p:sp>
        <p:nvSpPr>
          <p:cNvPr id="10" name="Rounded Rectangle 9"/>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Vorlage · Test-Auswerter</a:t>
            </a:r>
          </a:p>
        </p:txBody>
      </p:sp>
      <p:sp>
        <p:nvSpPr>
          <p:cNvPr id="16" name="Rounded Rectangle 15"/>
          <p:cNvSpPr/>
          <p:nvPr/>
        </p:nvSpPr>
        <p:spPr>
          <a:xfrm>
            <a:off x="969264" y="2487168"/>
            <a:ext cx="7470648" cy="425603"/>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8" name="TextBox 17"/>
          <p:cNvSpPr txBox="1"/>
          <p:nvPr/>
        </p:nvSpPr>
        <p:spPr>
          <a:xfrm>
            <a:off x="2020824" y="2523744"/>
            <a:ext cx="6309360" cy="352451"/>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Test-Auswerter, Expertin für Nutzertests und datenbasierte Entscheidungen.</a:t>
            </a:r>
          </a:p>
        </p:txBody>
      </p:sp>
      <p:sp>
        <p:nvSpPr>
          <p:cNvPr id="19" name="Rounded Rectangle 18"/>
          <p:cNvSpPr/>
          <p:nvPr/>
        </p:nvSpPr>
        <p:spPr>
          <a:xfrm>
            <a:off x="969264" y="2976779"/>
            <a:ext cx="7470648" cy="694405"/>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3031643"/>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21" name="TextBox 20"/>
          <p:cNvSpPr txBox="1"/>
          <p:nvPr/>
        </p:nvSpPr>
        <p:spPr>
          <a:xfrm>
            <a:off x="2020824" y="3013355"/>
            <a:ext cx="6309360" cy="621253"/>
          </a:xfrm>
          <a:prstGeom prst="rect">
            <a:avLst/>
          </a:prstGeom>
          <a:noFill/>
        </p:spPr>
        <p:txBody>
          <a:bodyPr wrap="square" lIns="0" rIns="0" tIns="0" bIns="0" anchor="ctr"/>
          <a:lstStyle/>
          <a:p>
            <a:pPr algn="l">
              <a:spcAft>
                <a:spcPts val="0"/>
              </a:spcAft>
              <a:buNone/>
            </a:pPr>
            <a:r>
              <a:rPr sz="1150" b="0" i="0">
                <a:solidFill>
                  <a:srgbClr val="1B2440"/>
                </a:solidFill>
                <a:latin typeface="Roboto"/>
              </a:rPr>
              <a:t>Phase 5 „Testen“. Prototyp: [Beschreibung]. Hypothese: [Annahme]. Erfolgskriterium: [z. B. 30 % Anmeldungen]. Beigefügt: Testnotizen und Formularantworten.</a:t>
            </a:r>
          </a:p>
        </p:txBody>
      </p:sp>
      <p:sp>
        <p:nvSpPr>
          <p:cNvPr id="22" name="Rounded Rectangle 21"/>
          <p:cNvSpPr/>
          <p:nvPr/>
        </p:nvSpPr>
        <p:spPr>
          <a:xfrm>
            <a:off x="969264" y="3735192"/>
            <a:ext cx="7470648" cy="425603"/>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3790056"/>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24" name="TextBox 23"/>
          <p:cNvSpPr txBox="1"/>
          <p:nvPr/>
        </p:nvSpPr>
        <p:spPr>
          <a:xfrm>
            <a:off x="2020824" y="3771768"/>
            <a:ext cx="6309360" cy="352451"/>
          </a:xfrm>
          <a:prstGeom prst="rect">
            <a:avLst/>
          </a:prstGeom>
          <a:noFill/>
        </p:spPr>
        <p:txBody>
          <a:bodyPr wrap="square" lIns="0" rIns="0" tIns="0" bIns="0" anchor="ctr"/>
          <a:lstStyle/>
          <a:p>
            <a:pPr algn="l">
              <a:spcAft>
                <a:spcPts val="0"/>
              </a:spcAft>
              <a:buNone/>
            </a:pPr>
            <a:r>
              <a:rPr sz="1150" b="0" i="0">
                <a:solidFill>
                  <a:srgbClr val="1B2440"/>
                </a:solidFill>
                <a:latin typeface="Roboto"/>
              </a:rPr>
              <a:t>Plane Tests und werte die Ergebnisse so aus, dass wir entscheiden können.</a:t>
            </a:r>
          </a:p>
        </p:txBody>
      </p:sp>
      <p:sp>
        <p:nvSpPr>
          <p:cNvPr id="25" name="Rounded Rectangle 24"/>
          <p:cNvSpPr/>
          <p:nvPr/>
        </p:nvSpPr>
        <p:spPr>
          <a:xfrm>
            <a:off x="969264" y="4224803"/>
            <a:ext cx="7470648" cy="645124"/>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4279667"/>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7" name="TextBox 26"/>
          <p:cNvSpPr txBox="1"/>
          <p:nvPr/>
        </p:nvSpPr>
        <p:spPr>
          <a:xfrm>
            <a:off x="2020824" y="4261379"/>
            <a:ext cx="6309360" cy="571972"/>
          </a:xfrm>
          <a:prstGeom prst="rect">
            <a:avLst/>
          </a:prstGeom>
          <a:noFill/>
        </p:spPr>
        <p:txBody>
          <a:bodyPr wrap="square" lIns="0" rIns="0" tIns="0" bIns="0" anchor="ctr"/>
          <a:lstStyle/>
          <a:p>
            <a:pPr algn="l">
              <a:spcAft>
                <a:spcPts val="0"/>
              </a:spcAft>
              <a:buNone/>
            </a:pPr>
            <a:r>
              <a:rPr sz="1150" b="0" i="0">
                <a:solidFill>
                  <a:srgbClr val="1B2440"/>
                </a:solidFill>
                <a:latin typeface="Roboto"/>
              </a:rPr>
              <a:t>1. Erfolgskriterium prüfen. 2. Feedback ins Grid sortieren. 3. Die 3 wichtigsten Änderungen ableiten. 4. Empfehlen: weiter, ändern oder stoppen.</a:t>
            </a:r>
          </a:p>
        </p:txBody>
      </p:sp>
      <p:sp>
        <p:nvSpPr>
          <p:cNvPr id="28" name="Rounded Rectangle 27"/>
          <p:cNvSpPr/>
          <p:nvPr/>
        </p:nvSpPr>
        <p:spPr>
          <a:xfrm>
            <a:off x="969264" y="4933936"/>
            <a:ext cx="7470648" cy="461443"/>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60704" y="4988800"/>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30" name="TextBox 29"/>
          <p:cNvSpPr txBox="1"/>
          <p:nvPr/>
        </p:nvSpPr>
        <p:spPr>
          <a:xfrm>
            <a:off x="2020824" y="4970512"/>
            <a:ext cx="6309360" cy="388291"/>
          </a:xfrm>
          <a:prstGeom prst="rect">
            <a:avLst/>
          </a:prstGeom>
          <a:noFill/>
        </p:spPr>
        <p:txBody>
          <a:bodyPr wrap="square" lIns="0" rIns="0" tIns="0" bIns="0" anchor="ctr"/>
          <a:lstStyle/>
          <a:p>
            <a:pPr algn="l">
              <a:spcAft>
                <a:spcPts val="0"/>
              </a:spcAft>
              <a:buNone/>
            </a:pPr>
            <a:r>
              <a:rPr sz="1150" b="0" i="0">
                <a:solidFill>
                  <a:srgbClr val="1B2440"/>
                </a:solidFill>
                <a:latin typeface="Roboto"/>
              </a:rPr>
              <a:t>Ein-Seiten-Bericht: Ergebnis vs. Kriterium, Feedback-Grid, Top-3-Änderungen, Empfehlung mit Ziel-Phase.</a:t>
            </a:r>
          </a:p>
        </p:txBody>
      </p:sp>
      <p:sp>
        <p:nvSpPr>
          <p:cNvPr id="31" name="Rounded Rectangle 30"/>
          <p:cNvSpPr/>
          <p:nvPr/>
        </p:nvSpPr>
        <p:spPr>
          <a:xfrm>
            <a:off x="969264" y="5459388"/>
            <a:ext cx="7470648" cy="465923"/>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60704" y="5514252"/>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33" name="TextBox 32"/>
          <p:cNvSpPr txBox="1"/>
          <p:nvPr/>
        </p:nvSpPr>
        <p:spPr>
          <a:xfrm>
            <a:off x="2020824" y="5495964"/>
            <a:ext cx="6309360" cy="392771"/>
          </a:xfrm>
          <a:prstGeom prst="rect">
            <a:avLst/>
          </a:prstGeom>
          <a:noFill/>
        </p:spPr>
        <p:txBody>
          <a:bodyPr wrap="square" lIns="0" rIns="0" tIns="0" bIns="0" anchor="ctr"/>
          <a:lstStyle/>
          <a:p>
            <a:pPr algn="l">
              <a:spcAft>
                <a:spcPts val="0"/>
              </a:spcAft>
              <a:buNone/>
            </a:pPr>
            <a:r>
              <a:rPr sz="1150" b="0" i="0">
                <a:solidFill>
                  <a:srgbClr val="1B2440"/>
                </a:solidFill>
                <a:latin typeface="Roboto"/>
              </a:rPr>
              <a:t>Beobachtung von Interpretation trennen. Keine Schönfärberei. Kleine Stichproben als solche kennzeichnen.</a:t>
            </a:r>
          </a:p>
        </p:txBody>
      </p:sp>
      <p:sp>
        <p:nvSpPr>
          <p:cNvPr id="34" name="Rounded Rectangle 33"/>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Farbcode</a:t>
            </a:r>
          </a:p>
        </p:txBody>
      </p:sp>
      <p:sp>
        <p:nvSpPr>
          <p:cNvPr id="36" name="Oval 35"/>
          <p:cNvSpPr/>
          <p:nvPr/>
        </p:nvSpPr>
        <p:spPr>
          <a:xfrm>
            <a:off x="9043416" y="2660904"/>
            <a:ext cx="182880" cy="1828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336024" y="2606040"/>
            <a:ext cx="1847088" cy="310896"/>
          </a:xfrm>
          <a:prstGeom prst="rect">
            <a:avLst/>
          </a:prstGeom>
          <a:noFill/>
        </p:spPr>
        <p:txBody>
          <a:bodyPr wrap="square" lIns="0" rIns="0" tIns="0" bIns="0" anchor="ctr"/>
          <a:lstStyle/>
          <a:p>
            <a:pPr algn="l">
              <a:spcAft>
                <a:spcPts val="400"/>
              </a:spcAft>
              <a:buNone/>
            </a:pPr>
            <a:r>
              <a:rPr sz="1150" b="1" i="0">
                <a:solidFill>
                  <a:srgbClr val="1E8E4E"/>
                </a:solidFill>
                <a:latin typeface="Roboto"/>
              </a:rPr>
              <a:t>Rolle  </a:t>
            </a:r>
            <a:r>
              <a:rPr sz="1150" b="0" i="0">
                <a:solidFill>
                  <a:srgbClr val="0E1F53"/>
                </a:solidFill>
                <a:latin typeface="Roboto"/>
              </a:rPr>
              <a:t>Wer ist der Agent?</a:t>
            </a:r>
          </a:p>
        </p:txBody>
      </p:sp>
      <p:sp>
        <p:nvSpPr>
          <p:cNvPr id="38" name="Oval 37"/>
          <p:cNvSpPr/>
          <p:nvPr/>
        </p:nvSpPr>
        <p:spPr>
          <a:xfrm>
            <a:off x="9043416" y="3044952"/>
            <a:ext cx="182880" cy="182880"/>
          </a:xfrm>
          <a:prstGeom prst="ellipse">
            <a:avLst/>
          </a:prstGeom>
          <a:solidFill>
            <a:srgbClr val="1F6F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336024" y="2990088"/>
            <a:ext cx="1847088" cy="310896"/>
          </a:xfrm>
          <a:prstGeom prst="rect">
            <a:avLst/>
          </a:prstGeom>
          <a:noFill/>
        </p:spPr>
        <p:txBody>
          <a:bodyPr wrap="square" lIns="0" rIns="0" tIns="0" bIns="0" anchor="ctr"/>
          <a:lstStyle/>
          <a:p>
            <a:pPr algn="l">
              <a:spcAft>
                <a:spcPts val="400"/>
              </a:spcAft>
              <a:buNone/>
            </a:pPr>
            <a:r>
              <a:rPr sz="1150" b="1" i="0">
                <a:solidFill>
                  <a:srgbClr val="1F6FD1"/>
                </a:solidFill>
                <a:latin typeface="Roboto"/>
              </a:rPr>
              <a:t>Kontext  </a:t>
            </a:r>
            <a:r>
              <a:rPr sz="1150" b="0" i="0">
                <a:solidFill>
                  <a:srgbClr val="0E1F53"/>
                </a:solidFill>
                <a:latin typeface="Roboto"/>
              </a:rPr>
              <a:t>Was muss er wissen?</a:t>
            </a:r>
          </a:p>
        </p:txBody>
      </p:sp>
      <p:sp>
        <p:nvSpPr>
          <p:cNvPr id="40" name="Oval 39"/>
          <p:cNvSpPr/>
          <p:nvPr/>
        </p:nvSpPr>
        <p:spPr>
          <a:xfrm>
            <a:off x="9043416" y="3429000"/>
            <a:ext cx="182880" cy="182880"/>
          </a:xfrm>
          <a:prstGeom prst="ellipse">
            <a:avLst/>
          </a:prstGeom>
          <a:solidFill>
            <a:srgbClr val="D973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336024" y="3374136"/>
            <a:ext cx="1847088" cy="310896"/>
          </a:xfrm>
          <a:prstGeom prst="rect">
            <a:avLst/>
          </a:prstGeom>
          <a:noFill/>
        </p:spPr>
        <p:txBody>
          <a:bodyPr wrap="square" lIns="0" rIns="0" tIns="0" bIns="0" anchor="ctr"/>
          <a:lstStyle/>
          <a:p>
            <a:pPr algn="l">
              <a:spcAft>
                <a:spcPts val="400"/>
              </a:spcAft>
              <a:buNone/>
            </a:pPr>
            <a:r>
              <a:rPr sz="1150" b="1" i="0">
                <a:solidFill>
                  <a:srgbClr val="D9730D"/>
                </a:solidFill>
                <a:latin typeface="Roboto"/>
              </a:rPr>
              <a:t>Aufgabe  </a:t>
            </a:r>
            <a:r>
              <a:rPr sz="1150" b="0" i="0">
                <a:solidFill>
                  <a:srgbClr val="0E1F53"/>
                </a:solidFill>
                <a:latin typeface="Roboto"/>
              </a:rPr>
              <a:t>Was soll er tun?</a:t>
            </a:r>
          </a:p>
        </p:txBody>
      </p:sp>
      <p:sp>
        <p:nvSpPr>
          <p:cNvPr id="42" name="Oval 41"/>
          <p:cNvSpPr/>
          <p:nvPr/>
        </p:nvSpPr>
        <p:spPr>
          <a:xfrm>
            <a:off x="9043416" y="3813048"/>
            <a:ext cx="182880" cy="182880"/>
          </a:xfrm>
          <a:prstGeom prst="ellipse">
            <a:avLst/>
          </a:prstGeom>
          <a:solidFill>
            <a:srgbClr val="7A4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336024" y="3758184"/>
            <a:ext cx="1847088" cy="310896"/>
          </a:xfrm>
          <a:prstGeom prst="rect">
            <a:avLst/>
          </a:prstGeom>
          <a:noFill/>
        </p:spPr>
        <p:txBody>
          <a:bodyPr wrap="square" lIns="0" rIns="0" tIns="0" bIns="0" anchor="ctr"/>
          <a:lstStyle/>
          <a:p>
            <a:pPr algn="l">
              <a:spcAft>
                <a:spcPts val="400"/>
              </a:spcAft>
              <a:buNone/>
            </a:pPr>
            <a:r>
              <a:rPr sz="1150" b="1" i="0">
                <a:solidFill>
                  <a:srgbClr val="7A4CC2"/>
                </a:solidFill>
                <a:latin typeface="Roboto"/>
              </a:rPr>
              <a:t>Vorgehen  </a:t>
            </a:r>
            <a:r>
              <a:rPr sz="1150" b="0" i="0">
                <a:solidFill>
                  <a:srgbClr val="0E1F53"/>
                </a:solidFill>
                <a:latin typeface="Roboto"/>
              </a:rPr>
              <a:t>In welchen Schritten?</a:t>
            </a:r>
          </a:p>
        </p:txBody>
      </p:sp>
      <p:sp>
        <p:nvSpPr>
          <p:cNvPr id="44" name="Oval 43"/>
          <p:cNvSpPr/>
          <p:nvPr/>
        </p:nvSpPr>
        <p:spPr>
          <a:xfrm>
            <a:off x="9043416" y="4197096"/>
            <a:ext cx="182880" cy="182880"/>
          </a:xfrm>
          <a:prstGeom prst="ellipse">
            <a:avLst/>
          </a:prstGeom>
          <a:solidFill>
            <a:srgbClr val="0F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336024" y="4142232"/>
            <a:ext cx="1847088" cy="310896"/>
          </a:xfrm>
          <a:prstGeom prst="rect">
            <a:avLst/>
          </a:prstGeom>
          <a:noFill/>
        </p:spPr>
        <p:txBody>
          <a:bodyPr wrap="square" lIns="0" rIns="0" tIns="0" bIns="0" anchor="ctr"/>
          <a:lstStyle/>
          <a:p>
            <a:pPr algn="l">
              <a:spcAft>
                <a:spcPts val="400"/>
              </a:spcAft>
              <a:buNone/>
            </a:pPr>
            <a:r>
              <a:rPr sz="1150" b="1" i="0">
                <a:solidFill>
                  <a:srgbClr val="0F8C8C"/>
                </a:solidFill>
                <a:latin typeface="Roboto"/>
              </a:rPr>
              <a:t>Format  </a:t>
            </a:r>
            <a:r>
              <a:rPr sz="1150" b="0" i="0">
                <a:solidFill>
                  <a:srgbClr val="0E1F53"/>
                </a:solidFill>
                <a:latin typeface="Roboto"/>
              </a:rPr>
              <a:t>Wie sieht das Ergebnis aus?</a:t>
            </a:r>
          </a:p>
        </p:txBody>
      </p:sp>
      <p:sp>
        <p:nvSpPr>
          <p:cNvPr id="46" name="Oval 45"/>
          <p:cNvSpPr/>
          <p:nvPr/>
        </p:nvSpPr>
        <p:spPr>
          <a:xfrm>
            <a:off x="9043416" y="4581144"/>
            <a:ext cx="182880" cy="1828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Box 46"/>
          <p:cNvSpPr txBox="1"/>
          <p:nvPr/>
        </p:nvSpPr>
        <p:spPr>
          <a:xfrm>
            <a:off x="9336024" y="4526280"/>
            <a:ext cx="1847088" cy="310896"/>
          </a:xfrm>
          <a:prstGeom prst="rect">
            <a:avLst/>
          </a:prstGeom>
          <a:noFill/>
        </p:spPr>
        <p:txBody>
          <a:bodyPr wrap="square" lIns="0" rIns="0" tIns="0" bIns="0" anchor="ctr"/>
          <a:lstStyle/>
          <a:p>
            <a:pPr algn="l">
              <a:spcAft>
                <a:spcPts val="400"/>
              </a:spcAft>
              <a:buNone/>
            </a:pPr>
            <a:r>
              <a:rPr sz="1150" b="1" i="0">
                <a:solidFill>
                  <a:srgbClr val="C8323C"/>
                </a:solidFill>
                <a:latin typeface="Roboto"/>
              </a:rPr>
              <a:t>Regeln  </a:t>
            </a:r>
            <a:r>
              <a:rPr sz="1150" b="0" i="0">
                <a:solidFill>
                  <a:srgbClr val="0E1F53"/>
                </a:solidFill>
                <a:latin typeface="Roboto"/>
              </a:rPr>
              <a:t>Was darf er nicht?</a:t>
            </a:r>
          </a:p>
        </p:txBody>
      </p:sp>
      <p:sp>
        <p:nvSpPr>
          <p:cNvPr id="48" name="Rounded Rectangle 47"/>
          <p:cNvSpPr/>
          <p:nvPr/>
        </p:nvSpPr>
        <p:spPr>
          <a:xfrm>
            <a:off x="9043416" y="4983480"/>
            <a:ext cx="2103120" cy="896112"/>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9134856" y="4983480"/>
            <a:ext cx="1920240" cy="896112"/>
          </a:xfrm>
          <a:prstGeom prst="rect">
            <a:avLst/>
          </a:prstGeom>
          <a:noFill/>
        </p:spPr>
        <p:txBody>
          <a:bodyPr wrap="square" lIns="0" rIns="0" tIns="0" bIns="0" anchor="ctr"/>
          <a:lstStyle/>
          <a:p>
            <a:pPr algn="l">
              <a:spcAft>
                <a:spcPts val="400"/>
              </a:spcAft>
              <a:buNone/>
            </a:pPr>
            <a:r>
              <a:rPr sz="1150" b="1" i="0">
                <a:solidFill>
                  <a:srgbClr val="0E1F53"/>
                </a:solidFill>
                <a:latin typeface="Roboto"/>
              </a:rPr>
              <a:t>Tipp: </a:t>
            </a:r>
            <a:r>
              <a:rPr sz="1150" b="0" i="0">
                <a:solidFill>
                  <a:srgbClr val="0E1F53"/>
                </a:solidFill>
                <a:latin typeface="Roboto"/>
              </a:rPr>
              <a:t>[Klammern] ausfüllen, 5 echte Fälle testen, nachschärfen.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Skill und Automatisierung</a:t>
            </a:r>
          </a:p>
        </p:txBody>
      </p:sp>
      <p:sp>
        <p:nvSpPr>
          <p:cNvPr id="3" name="Rounded Rectangle 2"/>
          <p:cNvSpPr/>
          <p:nvPr/>
        </p:nvSpPr>
        <p:spPr>
          <a:xfrm>
            <a:off x="841248" y="850392"/>
            <a:ext cx="2209190"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SKILL &amp; AUTOMATISIERUNG</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Testen</a:t>
            </a:r>
          </a:p>
        </p:txBody>
      </p:sp>
      <p:sp>
        <p:nvSpPr>
          <p:cNvPr id="10" name="Rounded Rectangle 9"/>
          <p:cNvSpPr/>
          <p:nvPr/>
        </p:nvSpPr>
        <p:spPr>
          <a:xfrm>
            <a:off x="841248" y="2011680"/>
            <a:ext cx="4160520" cy="3977639"/>
          </a:xfrm>
          <a:prstGeom prst="roundRect">
            <a:avLst>
              <a:gd name="adj" fmla="val 3000"/>
            </a:avLst>
          </a:prstGeom>
          <a:solidFill>
            <a:srgbClr val="0B16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978408" y="2130552"/>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1161288" y="2130552"/>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44168" y="2130552"/>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618488" y="2039112"/>
            <a:ext cx="3246120" cy="292608"/>
          </a:xfrm>
          <a:prstGeom prst="rect">
            <a:avLst/>
          </a:prstGeom>
          <a:noFill/>
        </p:spPr>
        <p:txBody>
          <a:bodyPr wrap="square" lIns="0" rIns="0" tIns="0" bIns="0" anchor="ctr"/>
          <a:lstStyle/>
          <a:p>
            <a:pPr algn="l">
              <a:spcAft>
                <a:spcPts val="400"/>
              </a:spcAft>
              <a:buNone/>
            </a:pPr>
            <a:r>
              <a:rPr sz="1050" b="1" i="0">
                <a:solidFill>
                  <a:srgbClr val="9FB2D9"/>
                </a:solidFill>
                <a:latin typeface="Roboto"/>
              </a:rPr>
              <a:t>feedback-grid/SKILL.md</a:t>
            </a:r>
          </a:p>
        </p:txBody>
      </p:sp>
      <p:sp>
        <p:nvSpPr>
          <p:cNvPr id="15" name="TextBox 14"/>
          <p:cNvSpPr txBox="1"/>
          <p:nvPr/>
        </p:nvSpPr>
        <p:spPr>
          <a:xfrm>
            <a:off x="1069848" y="2468880"/>
            <a:ext cx="3749039" cy="3428999"/>
          </a:xfrm>
          <a:prstGeom prst="rect">
            <a:avLst/>
          </a:prstGeom>
          <a:noFill/>
        </p:spPr>
        <p:txBody>
          <a:bodyPr wrap="square" lIns="0" rIns="0" tIns="0" bIns="0" anchor="t"/>
          <a:lstStyle/>
          <a:p>
            <a:pPr algn="l">
              <a:spcAft>
                <a:spcPts val="150"/>
              </a:spcAft>
              <a:buNone/>
            </a:pPr>
            <a:r>
              <a:rPr sz="1050" b="0" i="0">
                <a:solidFill>
                  <a:srgbClr val="6E7FA8"/>
                </a:solidFill>
                <a:latin typeface="Roboto Mono"/>
              </a:rPr>
              <a:t>---</a:t>
            </a:r>
          </a:p>
          <a:p>
            <a:pPr algn="l">
              <a:spcAft>
                <a:spcPts val="150"/>
              </a:spcAft>
              <a:buNone/>
            </a:pPr>
            <a:r>
              <a:rPr sz="1050" b="0" i="0">
                <a:solidFill>
                  <a:srgbClr val="7FE0A7"/>
                </a:solidFill>
                <a:latin typeface="Roboto Mono"/>
              </a:rPr>
              <a:t>name: feedback-grid</a:t>
            </a:r>
          </a:p>
          <a:p>
            <a:pPr algn="l">
              <a:spcAft>
                <a:spcPts val="150"/>
              </a:spcAft>
              <a:buNone/>
            </a:pPr>
            <a:r>
              <a:rPr sz="1050" b="0" i="0">
                <a:solidFill>
                  <a:srgbClr val="7FE0A7"/>
                </a:solidFill>
                <a:latin typeface="Roboto Mono"/>
              </a:rPr>
              <a:t>description: Sortiert Test-</a:t>
            </a:r>
          </a:p>
          <a:p>
            <a:pPr algn="l">
              <a:spcAft>
                <a:spcPts val="150"/>
              </a:spcAft>
              <a:buNone/>
            </a:pPr>
            <a:r>
              <a:rPr sz="1050" b="0" i="0">
                <a:solidFill>
                  <a:srgbClr val="7FE0A7"/>
                </a:solidFill>
                <a:latin typeface="Roboto Mono"/>
              </a:rPr>
              <a:t>  feedback ins Feedback-Grid und</a:t>
            </a:r>
          </a:p>
          <a:p>
            <a:pPr algn="l">
              <a:spcAft>
                <a:spcPts val="150"/>
              </a:spcAft>
              <a:buNone/>
            </a:pPr>
            <a:r>
              <a:rPr sz="1050" b="0" i="0">
                <a:solidFill>
                  <a:srgbClr val="7FE0A7"/>
                </a:solidFill>
                <a:latin typeface="Roboto Mono"/>
              </a:rPr>
              <a:t>  leitet Änderungen ab.</a:t>
            </a:r>
          </a:p>
          <a:p>
            <a:pPr algn="l">
              <a:spcAft>
                <a:spcPts val="150"/>
              </a:spcAft>
              <a:buNone/>
            </a:pPr>
            <a:r>
              <a:rPr sz="1050" b="0" i="0">
                <a:solidFill>
                  <a:srgbClr val="6E7FA8"/>
                </a:solidFill>
                <a:latin typeface="Roboto Mono"/>
              </a:rPr>
              <a:t>---</a:t>
            </a:r>
          </a:p>
          <a:p>
            <a:pPr algn="l">
              <a:spcAft>
                <a:spcPts val="150"/>
              </a:spcAft>
              <a:buNone/>
            </a:pPr>
            <a:r>
              <a:rPr sz="1050" b="0" i="0">
                <a:solidFill>
                  <a:srgbClr val="FFFFFF"/>
                </a:solidFill>
                <a:latin typeface="Roboto Mono"/>
              </a:rPr>
              <a:t># Feedback auswerten</a:t>
            </a:r>
          </a:p>
          <a:p>
            <a:pPr algn="l">
              <a:spcAft>
                <a:spcPts val="150"/>
              </a:spcAft>
              <a:buNone/>
            </a:pPr>
            <a:r>
              <a:rPr sz="1050" b="0" i="0">
                <a:solidFill>
                  <a:srgbClr val="C9D6EE"/>
                </a:solidFill>
                <a:latin typeface="Roboto Mono"/>
              </a:rPr>
              <a:t>1. Jede Aussage einem Feld zu-</a:t>
            </a:r>
          </a:p>
          <a:p>
            <a:pPr algn="l">
              <a:spcAft>
                <a:spcPts val="150"/>
              </a:spcAft>
              <a:buNone/>
            </a:pPr>
            <a:r>
              <a:rPr sz="1050" b="0" i="0">
                <a:solidFill>
                  <a:srgbClr val="C9D6EE"/>
                </a:solidFill>
                <a:latin typeface="Roboto Mono"/>
              </a:rPr>
              <a:t>   ordnen: Gut, Verbessern,</a:t>
            </a:r>
          </a:p>
          <a:p>
            <a:pPr algn="l">
              <a:spcAft>
                <a:spcPts val="150"/>
              </a:spcAft>
              <a:buNone/>
            </a:pPr>
            <a:r>
              <a:rPr sz="1050" b="0" i="0">
                <a:solidFill>
                  <a:srgbClr val="C9D6EE"/>
                </a:solidFill>
                <a:latin typeface="Roboto Mono"/>
              </a:rPr>
              <a:t>   Fragen, Ideen</a:t>
            </a:r>
          </a:p>
          <a:p>
            <a:pPr algn="l">
              <a:spcAft>
                <a:spcPts val="150"/>
              </a:spcAft>
              <a:buNone/>
            </a:pPr>
            <a:r>
              <a:rPr sz="1050" b="0" i="0">
                <a:solidFill>
                  <a:srgbClr val="C9D6EE"/>
                </a:solidFill>
                <a:latin typeface="Roboto Mono"/>
              </a:rPr>
              <a:t>2. Häufigkeit zählen</a:t>
            </a:r>
          </a:p>
          <a:p>
            <a:pPr algn="l">
              <a:spcAft>
                <a:spcPts val="150"/>
              </a:spcAft>
              <a:buNone/>
            </a:pPr>
            <a:r>
              <a:rPr sz="1050" b="0" i="0">
                <a:solidFill>
                  <a:srgbClr val="C9D6EE"/>
                </a:solidFill>
                <a:latin typeface="Roboto Mono"/>
              </a:rPr>
              <a:t>3. Top-3-Änderungen ableiten</a:t>
            </a:r>
          </a:p>
          <a:p>
            <a:pPr algn="l">
              <a:spcAft>
                <a:spcPts val="150"/>
              </a:spcAft>
              <a:buNone/>
            </a:pPr>
            <a:r>
              <a:rPr sz="1050" b="0" i="0">
                <a:solidFill>
                  <a:srgbClr val="FFC56B"/>
                </a:solidFill>
                <a:latin typeface="Roboto Mono"/>
              </a:rPr>
              <a:t>Ausgabe: Tabelle + Kurzbericht</a:t>
            </a:r>
          </a:p>
        </p:txBody>
      </p:sp>
      <p:sp>
        <p:nvSpPr>
          <p:cNvPr id="16" name="Rounded Rectangle 15"/>
          <p:cNvSpPr/>
          <p:nvPr/>
        </p:nvSpPr>
        <p:spPr>
          <a:xfrm>
            <a:off x="5276088" y="2011680"/>
            <a:ext cx="6071616" cy="22402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5477255" y="2130552"/>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Workflow_w.png"/>
          <p:cNvPicPr>
            <a:picLocks noChangeAspect="1"/>
          </p:cNvPicPr>
          <p:nvPr/>
        </p:nvPicPr>
        <p:blipFill>
          <a:blip r:embed="rId3"/>
          <a:stretch>
            <a:fillRect/>
          </a:stretch>
        </p:blipFill>
        <p:spPr>
          <a:xfrm>
            <a:off x="5586983" y="2240280"/>
            <a:ext cx="237744" cy="237744"/>
          </a:xfrm>
          <a:prstGeom prst="rect">
            <a:avLst/>
          </a:prstGeom>
        </p:spPr>
      </p:pic>
      <p:sp>
        <p:nvSpPr>
          <p:cNvPr id="19" name="TextBox 18"/>
          <p:cNvSpPr txBox="1"/>
          <p:nvPr/>
        </p:nvSpPr>
        <p:spPr>
          <a:xfrm>
            <a:off x="6053327" y="213055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Wochenbericht während des Pilots</a:t>
            </a:r>
          </a:p>
        </p:txBody>
      </p:sp>
      <p:sp>
        <p:nvSpPr>
          <p:cNvPr id="20" name="Rounded Rectangle 19"/>
          <p:cNvSpPr/>
          <p:nvPr/>
        </p:nvSpPr>
        <p:spPr>
          <a:xfrm>
            <a:off x="54772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CalendarClock_n.png"/>
          <p:cNvPicPr>
            <a:picLocks noChangeAspect="1"/>
          </p:cNvPicPr>
          <p:nvPr/>
        </p:nvPicPr>
        <p:blipFill>
          <a:blip r:embed="rId4"/>
          <a:stretch>
            <a:fillRect/>
          </a:stretch>
        </p:blipFill>
        <p:spPr>
          <a:xfrm>
            <a:off x="5909309" y="2788920"/>
            <a:ext cx="347472" cy="347472"/>
          </a:xfrm>
          <a:prstGeom prst="rect">
            <a:avLst/>
          </a:prstGeom>
        </p:spPr>
      </p:pic>
      <p:sp>
        <p:nvSpPr>
          <p:cNvPr id="22" name="TextBox 21"/>
          <p:cNvSpPr txBox="1"/>
          <p:nvPr/>
        </p:nvSpPr>
        <p:spPr>
          <a:xfrm>
            <a:off x="55229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Jeden Freitag</a:t>
            </a:r>
          </a:p>
          <a:p>
            <a:pPr algn="ctr">
              <a:spcAft>
                <a:spcPts val="0"/>
              </a:spcAft>
              <a:buNone/>
            </a:pPr>
            <a:r>
              <a:rPr sz="1150" b="1" i="0">
                <a:solidFill>
                  <a:srgbClr val="0E1F53"/>
                </a:solidFill>
                <a:latin typeface="Roboto"/>
              </a:rPr>
              <a:t>16:00 Uhr</a:t>
            </a:r>
          </a:p>
        </p:txBody>
      </p:sp>
      <p:sp>
        <p:nvSpPr>
          <p:cNvPr id="23" name="Right Arrow 22"/>
          <p:cNvSpPr/>
          <p:nvPr/>
        </p:nvSpPr>
        <p:spPr>
          <a:xfrm>
            <a:off x="6734555"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6963155"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uClipboardList_n.png"/>
          <p:cNvPicPr>
            <a:picLocks noChangeAspect="1"/>
          </p:cNvPicPr>
          <p:nvPr/>
        </p:nvPicPr>
        <p:blipFill>
          <a:blip r:embed="rId5"/>
          <a:stretch>
            <a:fillRect/>
          </a:stretch>
        </p:blipFill>
        <p:spPr>
          <a:xfrm>
            <a:off x="7395210" y="2788920"/>
            <a:ext cx="347472" cy="347472"/>
          </a:xfrm>
          <a:prstGeom prst="rect">
            <a:avLst/>
          </a:prstGeom>
        </p:spPr>
      </p:pic>
      <p:sp>
        <p:nvSpPr>
          <p:cNvPr id="26" name="TextBox 25"/>
          <p:cNvSpPr txBox="1"/>
          <p:nvPr/>
        </p:nvSpPr>
        <p:spPr>
          <a:xfrm>
            <a:off x="7008875"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Neue Antworten</a:t>
            </a:r>
          </a:p>
          <a:p>
            <a:pPr algn="ctr">
              <a:spcAft>
                <a:spcPts val="0"/>
              </a:spcAft>
              <a:buNone/>
            </a:pPr>
            <a:r>
              <a:rPr sz="1150" b="1" i="0">
                <a:solidFill>
                  <a:srgbClr val="0E1F53"/>
                </a:solidFill>
                <a:latin typeface="Roboto"/>
              </a:rPr>
              <a:t>&amp; Anmeldungen</a:t>
            </a:r>
          </a:p>
        </p:txBody>
      </p:sp>
      <p:sp>
        <p:nvSpPr>
          <p:cNvPr id="27" name="Right Arrow 26"/>
          <p:cNvSpPr/>
          <p:nvPr/>
        </p:nvSpPr>
        <p:spPr>
          <a:xfrm>
            <a:off x="82204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84490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LuBot_n.png"/>
          <p:cNvPicPr>
            <a:picLocks noChangeAspect="1"/>
          </p:cNvPicPr>
          <p:nvPr/>
        </p:nvPicPr>
        <p:blipFill>
          <a:blip r:embed="rId6"/>
          <a:stretch>
            <a:fillRect/>
          </a:stretch>
        </p:blipFill>
        <p:spPr>
          <a:xfrm>
            <a:off x="8881110" y="2788920"/>
            <a:ext cx="347472" cy="347472"/>
          </a:xfrm>
          <a:prstGeom prst="rect">
            <a:avLst/>
          </a:prstGeom>
        </p:spPr>
      </p:pic>
      <p:sp>
        <p:nvSpPr>
          <p:cNvPr id="30" name="TextBox 29"/>
          <p:cNvSpPr txBox="1"/>
          <p:nvPr/>
        </p:nvSpPr>
        <p:spPr>
          <a:xfrm>
            <a:off x="84947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Agent nutzt Skill</a:t>
            </a:r>
          </a:p>
          <a:p>
            <a:pPr algn="ctr">
              <a:spcAft>
                <a:spcPts val="0"/>
              </a:spcAft>
              <a:buNone/>
            </a:pPr>
            <a:r>
              <a:rPr sz="1150" b="1" i="0">
                <a:solidFill>
                  <a:srgbClr val="0E1F53"/>
                </a:solidFill>
                <a:latin typeface="Roboto"/>
              </a:rPr>
              <a:t>feedback-grid</a:t>
            </a:r>
          </a:p>
        </p:txBody>
      </p:sp>
      <p:sp>
        <p:nvSpPr>
          <p:cNvPr id="31" name="Right Arrow 30"/>
          <p:cNvSpPr/>
          <p:nvPr/>
        </p:nvSpPr>
        <p:spPr>
          <a:xfrm>
            <a:off x="9706356" y="313639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9934956" y="2724912"/>
            <a:ext cx="1211580" cy="1024128"/>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Mail_n.png"/>
          <p:cNvPicPr>
            <a:picLocks noChangeAspect="1"/>
          </p:cNvPicPr>
          <p:nvPr/>
        </p:nvPicPr>
        <p:blipFill>
          <a:blip r:embed="rId7"/>
          <a:stretch>
            <a:fillRect/>
          </a:stretch>
        </p:blipFill>
        <p:spPr>
          <a:xfrm>
            <a:off x="10367010" y="2788920"/>
            <a:ext cx="347472" cy="347472"/>
          </a:xfrm>
          <a:prstGeom prst="rect">
            <a:avLst/>
          </a:prstGeom>
        </p:spPr>
      </p:pic>
      <p:sp>
        <p:nvSpPr>
          <p:cNvPr id="34" name="TextBox 33"/>
          <p:cNvSpPr txBox="1"/>
          <p:nvPr/>
        </p:nvSpPr>
        <p:spPr>
          <a:xfrm>
            <a:off x="9980676" y="3172968"/>
            <a:ext cx="1120140" cy="548640"/>
          </a:xfrm>
          <a:prstGeom prst="rect">
            <a:avLst/>
          </a:prstGeom>
          <a:noFill/>
        </p:spPr>
        <p:txBody>
          <a:bodyPr wrap="square" lIns="0" rIns="0" tIns="0" bIns="0" anchor="t"/>
          <a:lstStyle/>
          <a:p>
            <a:pPr algn="ctr">
              <a:spcAft>
                <a:spcPts val="0"/>
              </a:spcAft>
              <a:buNone/>
            </a:pPr>
            <a:r>
              <a:rPr sz="1150" b="1" i="0">
                <a:solidFill>
                  <a:srgbClr val="0E1F53"/>
                </a:solidFill>
                <a:latin typeface="Roboto"/>
              </a:rPr>
              <a:t>Wochenbericht</a:t>
            </a:r>
          </a:p>
          <a:p>
            <a:pPr algn="ctr">
              <a:spcAft>
                <a:spcPts val="0"/>
              </a:spcAft>
              <a:buNone/>
            </a:pPr>
            <a:r>
              <a:rPr sz="1150" b="1" i="0">
                <a:solidFill>
                  <a:srgbClr val="0E1F53"/>
                </a:solidFill>
                <a:latin typeface="Roboto"/>
              </a:rPr>
              <a:t>ans Team</a:t>
            </a:r>
          </a:p>
        </p:txBody>
      </p:sp>
      <p:sp>
        <p:nvSpPr>
          <p:cNvPr id="35" name="TextBox 34"/>
          <p:cNvSpPr txBox="1"/>
          <p:nvPr/>
        </p:nvSpPr>
        <p:spPr>
          <a:xfrm>
            <a:off x="5477255" y="3794760"/>
            <a:ext cx="5669280" cy="411480"/>
          </a:xfrm>
          <a:prstGeom prst="rect">
            <a:avLst/>
          </a:prstGeom>
          <a:noFill/>
        </p:spPr>
        <p:txBody>
          <a:bodyPr wrap="square" lIns="0" rIns="0" tIns="0" bIns="0" anchor="t"/>
          <a:lstStyle/>
          <a:p>
            <a:pPr algn="l">
              <a:spcAft>
                <a:spcPts val="400"/>
              </a:spcAft>
              <a:buNone/>
            </a:pPr>
            <a:r>
              <a:rPr sz="1100" b="0" i="0">
                <a:solidFill>
                  <a:srgbClr val="5A6684"/>
                </a:solidFill>
                <a:latin typeface="Roboto"/>
              </a:rPr>
              <a:t>So sieht das Team jede Woche, ob der Pilot auf Kurs ist, ohne selbst Tabellen auszuwerten.</a:t>
            </a:r>
          </a:p>
        </p:txBody>
      </p:sp>
      <p:sp>
        <p:nvSpPr>
          <p:cNvPr id="36" name="Rounded Rectangle 35"/>
          <p:cNvSpPr/>
          <p:nvPr/>
        </p:nvSpPr>
        <p:spPr>
          <a:xfrm>
            <a:off x="5276088" y="4434840"/>
            <a:ext cx="6071616" cy="15544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5477255" y="4553712"/>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LuGithub_w.png"/>
          <p:cNvPicPr>
            <a:picLocks noChangeAspect="1"/>
          </p:cNvPicPr>
          <p:nvPr/>
        </p:nvPicPr>
        <p:blipFill>
          <a:blip r:embed="rId8"/>
          <a:stretch>
            <a:fillRect/>
          </a:stretch>
        </p:blipFill>
        <p:spPr>
          <a:xfrm>
            <a:off x="5586983" y="4663440"/>
            <a:ext cx="237744" cy="237744"/>
          </a:xfrm>
          <a:prstGeom prst="rect">
            <a:avLst/>
          </a:prstGeom>
        </p:spPr>
      </p:pic>
      <p:sp>
        <p:nvSpPr>
          <p:cNvPr id="39" name="TextBox 38"/>
          <p:cNvSpPr txBox="1"/>
          <p:nvPr/>
        </p:nvSpPr>
        <p:spPr>
          <a:xfrm>
            <a:off x="6053327" y="4553712"/>
            <a:ext cx="5157216"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Fertige Skills auf GitHub</a:t>
            </a:r>
          </a:p>
        </p:txBody>
      </p:sp>
      <p:sp>
        <p:nvSpPr>
          <p:cNvPr id="40" name="Rounded Rectangle 39"/>
          <p:cNvSpPr/>
          <p:nvPr/>
        </p:nvSpPr>
        <p:spPr>
          <a:xfrm>
            <a:off x="5477255" y="5047488"/>
            <a:ext cx="1334192"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experiment-design</a:t>
            </a:r>
          </a:p>
        </p:txBody>
      </p:sp>
      <p:sp>
        <p:nvSpPr>
          <p:cNvPr id="41" name="Rounded Rectangle 40"/>
          <p:cNvSpPr/>
          <p:nvPr/>
        </p:nvSpPr>
        <p:spPr>
          <a:xfrm>
            <a:off x="6902888" y="5047488"/>
            <a:ext cx="1396538"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experiment-results</a:t>
            </a:r>
          </a:p>
        </p:txBody>
      </p:sp>
      <p:sp>
        <p:nvSpPr>
          <p:cNvPr id="42" name="Rounded Rectangle 41"/>
          <p:cNvSpPr/>
          <p:nvPr/>
        </p:nvSpPr>
        <p:spPr>
          <a:xfrm>
            <a:off x="8390866" y="5047488"/>
            <a:ext cx="1147156"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pivot-decision</a:t>
            </a:r>
          </a:p>
        </p:txBody>
      </p:sp>
      <p:sp>
        <p:nvSpPr>
          <p:cNvPr id="43" name="Rounded Rectangle 42"/>
          <p:cNvSpPr/>
          <p:nvPr/>
        </p:nvSpPr>
        <p:spPr>
          <a:xfrm>
            <a:off x="9629463" y="5047488"/>
            <a:ext cx="1147156" cy="265176"/>
          </a:xfrm>
          <a:prstGeom prst="roundRect">
            <a:avLst>
              <a:gd name="adj" fmla="val 50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webapp-testing</a:t>
            </a:r>
          </a:p>
        </p:txBody>
      </p:sp>
      <p:sp>
        <p:nvSpPr>
          <p:cNvPr id="44" name="TextBox 43"/>
          <p:cNvSpPr txBox="1"/>
          <p:nvPr/>
        </p:nvSpPr>
        <p:spPr>
          <a:xfrm>
            <a:off x="5477255" y="5724144"/>
            <a:ext cx="5669280" cy="237744"/>
          </a:xfrm>
          <a:prstGeom prst="rect">
            <a:avLst/>
          </a:prstGeom>
          <a:noFill/>
        </p:spPr>
        <p:txBody>
          <a:bodyPr wrap="square" lIns="0" rIns="0" tIns="0" bIns="0" anchor="t"/>
          <a:lstStyle/>
          <a:p>
            <a:pPr algn="l">
              <a:spcAft>
                <a:spcPts val="400"/>
              </a:spcAft>
              <a:buNone/>
            </a:pPr>
            <a:r>
              <a:rPr sz="950" b="0" i="0">
                <a:solidFill>
                  <a:srgbClr val="5A6684"/>
                </a:solidFill>
                <a:latin typeface="Roboto"/>
              </a:rPr>
              <a:t>GitHub: anthropics/skills · product-on-purpose/pm-skills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HSRW-Ergebnis Testen: Feedback und Entscheidung</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Testen</a:t>
            </a:r>
          </a:p>
        </p:txBody>
      </p:sp>
      <p:sp>
        <p:nvSpPr>
          <p:cNvPr id="10" name="Rounded Rectangle 9"/>
          <p:cNvSpPr/>
          <p:nvPr/>
        </p:nvSpPr>
        <p:spPr>
          <a:xfrm>
            <a:off x="841248" y="2011680"/>
            <a:ext cx="3840480"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9848" y="2130552"/>
            <a:ext cx="3383280" cy="3749039"/>
          </a:xfrm>
          <a:prstGeom prst="rect">
            <a:avLst/>
          </a:prstGeom>
          <a:noFill/>
        </p:spPr>
        <p:txBody>
          <a:bodyPr wrap="square" lIns="0" rIns="0" tIns="0" bIns="0" anchor="t"/>
          <a:lstStyle/>
          <a:p>
            <a:pPr algn="l">
              <a:spcAft>
                <a:spcPts val="600"/>
              </a:spcAft>
              <a:buNone/>
            </a:pPr>
            <a:r>
              <a:rPr sz="1500" b="1" i="0">
                <a:solidFill>
                  <a:srgbClr val="9FD0FF"/>
                </a:solidFill>
                <a:latin typeface="Roboto"/>
              </a:rPr>
              <a:t>Testplan</a:t>
            </a:r>
          </a:p>
          <a:p>
            <a:pPr algn="l">
              <a:spcAft>
                <a:spcPts val="100"/>
              </a:spcAft>
              <a:buNone/>
            </a:pPr>
            <a:r>
              <a:rPr sz="1200" b="1" i="0">
                <a:solidFill>
                  <a:srgbClr val="9FD0FF"/>
                </a:solidFill>
                <a:latin typeface="Roboto"/>
              </a:rPr>
              <a:t>Hypothese</a:t>
            </a:r>
          </a:p>
          <a:p>
            <a:pPr algn="l">
              <a:spcAft>
                <a:spcPts val="800"/>
              </a:spcAft>
              <a:buNone/>
            </a:pPr>
            <a:r>
              <a:rPr sz="1250" b="0" i="0">
                <a:solidFill>
                  <a:srgbClr val="FFFFFF"/>
                </a:solidFill>
                <a:latin typeface="Roboto"/>
              </a:rPr>
              <a:t>Für echte Praxisprojekte kommen Studierende freiwillig auf den Campus.</a:t>
            </a:r>
          </a:p>
          <a:p>
            <a:pPr algn="l">
              <a:spcAft>
                <a:spcPts val="100"/>
              </a:spcAft>
              <a:buNone/>
            </a:pPr>
            <a:r>
              <a:rPr sz="1200" b="1" i="0">
                <a:solidFill>
                  <a:srgbClr val="9FD0FF"/>
                </a:solidFill>
                <a:latin typeface="Roboto"/>
              </a:rPr>
              <a:t>Erfolgskriterien</a:t>
            </a:r>
          </a:p>
          <a:p>
            <a:pPr algn="l" marL="164592" indent="-164592">
              <a:spcAft>
                <a:spcPts val="200"/>
              </a:spcAft>
              <a:buClr>
                <a:srgbClr val="FB2762"/>
              </a:buClr>
              <a:buFont typeface="Arial"/>
              <a:buChar char="•"/>
            </a:pPr>
            <a:r>
              <a:rPr sz="1250" b="0" i="0">
                <a:solidFill>
                  <a:srgbClr val="FFFFFF"/>
                </a:solidFill>
                <a:latin typeface="Roboto"/>
              </a:rPr>
              <a:t>≥ 40 Anmeldungen in 2 Wochen</a:t>
            </a:r>
          </a:p>
          <a:p>
            <a:pPr algn="l" marL="164592" indent="-164592">
              <a:spcAft>
                <a:spcPts val="800"/>
              </a:spcAft>
              <a:buClr>
                <a:srgbClr val="FB2762"/>
              </a:buClr>
              <a:buFont typeface="Arial"/>
              <a:buChar char="•"/>
            </a:pPr>
            <a:r>
              <a:rPr sz="1250" b="0" i="0">
                <a:solidFill>
                  <a:srgbClr val="FFFFFF"/>
                </a:solidFill>
                <a:latin typeface="Roboto"/>
              </a:rPr>
              <a:t>≥ 60 % kommen zu 2 von 3 Terminen</a:t>
            </a:r>
          </a:p>
          <a:p>
            <a:pPr algn="l">
              <a:spcAft>
                <a:spcPts val="100"/>
              </a:spcAft>
              <a:buNone/>
            </a:pPr>
            <a:r>
              <a:rPr sz="1200" b="1" i="0">
                <a:solidFill>
                  <a:srgbClr val="9FD0FF"/>
                </a:solidFill>
                <a:latin typeface="Roboto"/>
              </a:rPr>
              <a:t>Aufbau</a:t>
            </a:r>
          </a:p>
          <a:p>
            <a:pPr algn="l">
              <a:spcAft>
                <a:spcPts val="400"/>
              </a:spcAft>
              <a:buNone/>
            </a:pPr>
            <a:r>
              <a:rPr sz="1250" b="0" i="0">
                <a:solidFill>
                  <a:srgbClr val="FFFFFF"/>
                </a:solidFill>
                <a:latin typeface="Roboto"/>
              </a:rPr>
              <a:t>Fake-Door-Test, dann Pilot mit 3 Terminen und 2 Unternehmen aus dem Projekt KI für KMU</a:t>
            </a:r>
          </a:p>
        </p:txBody>
      </p:sp>
      <p:sp>
        <p:nvSpPr>
          <p:cNvPr id="12" name="Rounded Rectangle 11"/>
          <p:cNvSpPr/>
          <p:nvPr/>
        </p:nvSpPr>
        <p:spPr>
          <a:xfrm>
            <a:off x="4956048" y="2011680"/>
            <a:ext cx="2008632"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138928" y="2029968"/>
            <a:ext cx="1642872" cy="502920"/>
          </a:xfrm>
          <a:prstGeom prst="rect">
            <a:avLst/>
          </a:prstGeom>
          <a:noFill/>
        </p:spPr>
        <p:txBody>
          <a:bodyPr wrap="square" lIns="0" rIns="0" tIns="0" bIns="0" anchor="t"/>
          <a:lstStyle/>
          <a:p>
            <a:pPr algn="l">
              <a:spcAft>
                <a:spcPts val="400"/>
              </a:spcAft>
              <a:buNone/>
            </a:pPr>
            <a:r>
              <a:rPr sz="2400" b="1" i="0">
                <a:solidFill>
                  <a:srgbClr val="1E8E4E"/>
                </a:solidFill>
                <a:latin typeface="Roboto"/>
              </a:rPr>
              <a:t>52</a:t>
            </a:r>
          </a:p>
        </p:txBody>
      </p:sp>
      <p:sp>
        <p:nvSpPr>
          <p:cNvPr id="14" name="TextBox 13"/>
          <p:cNvSpPr txBox="1"/>
          <p:nvPr/>
        </p:nvSpPr>
        <p:spPr>
          <a:xfrm>
            <a:off x="5138928" y="2514600"/>
            <a:ext cx="1642872" cy="365760"/>
          </a:xfrm>
          <a:prstGeom prst="rect">
            <a:avLst/>
          </a:prstGeom>
          <a:noFill/>
        </p:spPr>
        <p:txBody>
          <a:bodyPr wrap="square" lIns="0" rIns="0" tIns="0" bIns="0" anchor="t"/>
          <a:lstStyle/>
          <a:p>
            <a:pPr algn="l">
              <a:spcAft>
                <a:spcPts val="400"/>
              </a:spcAft>
              <a:buNone/>
            </a:pPr>
            <a:r>
              <a:rPr sz="1150" b="0" i="0">
                <a:solidFill>
                  <a:srgbClr val="5A6684"/>
                </a:solidFill>
                <a:latin typeface="Roboto"/>
              </a:rPr>
              <a:t>Anmeldungen</a:t>
            </a:r>
          </a:p>
        </p:txBody>
      </p:sp>
      <p:sp>
        <p:nvSpPr>
          <p:cNvPr id="15" name="Rounded Rectangle 14"/>
          <p:cNvSpPr/>
          <p:nvPr/>
        </p:nvSpPr>
        <p:spPr>
          <a:xfrm>
            <a:off x="7147560" y="2011680"/>
            <a:ext cx="2008632"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330439" y="2029968"/>
            <a:ext cx="1642872" cy="502920"/>
          </a:xfrm>
          <a:prstGeom prst="rect">
            <a:avLst/>
          </a:prstGeom>
          <a:noFill/>
        </p:spPr>
        <p:txBody>
          <a:bodyPr wrap="square" lIns="0" rIns="0" tIns="0" bIns="0" anchor="t"/>
          <a:lstStyle/>
          <a:p>
            <a:pPr algn="l">
              <a:spcAft>
                <a:spcPts val="400"/>
              </a:spcAft>
              <a:buNone/>
            </a:pPr>
            <a:r>
              <a:rPr sz="2400" b="1" i="0">
                <a:solidFill>
                  <a:srgbClr val="1E8E4E"/>
                </a:solidFill>
                <a:latin typeface="Roboto"/>
              </a:rPr>
              <a:t>68 %</a:t>
            </a:r>
          </a:p>
        </p:txBody>
      </p:sp>
      <p:sp>
        <p:nvSpPr>
          <p:cNvPr id="17" name="TextBox 16"/>
          <p:cNvSpPr txBox="1"/>
          <p:nvPr/>
        </p:nvSpPr>
        <p:spPr>
          <a:xfrm>
            <a:off x="7330439" y="2514600"/>
            <a:ext cx="1642872" cy="365760"/>
          </a:xfrm>
          <a:prstGeom prst="rect">
            <a:avLst/>
          </a:prstGeom>
          <a:noFill/>
        </p:spPr>
        <p:txBody>
          <a:bodyPr wrap="square" lIns="0" rIns="0" tIns="0" bIns="0" anchor="t"/>
          <a:lstStyle/>
          <a:p>
            <a:pPr algn="l">
              <a:spcAft>
                <a:spcPts val="400"/>
              </a:spcAft>
              <a:buNone/>
            </a:pPr>
            <a:r>
              <a:rPr sz="1150" b="0" i="0">
                <a:solidFill>
                  <a:srgbClr val="5A6684"/>
                </a:solidFill>
                <a:latin typeface="Roboto"/>
              </a:rPr>
              <a:t>Wiederkehr</a:t>
            </a:r>
          </a:p>
        </p:txBody>
      </p:sp>
      <p:sp>
        <p:nvSpPr>
          <p:cNvPr id="18" name="Rounded Rectangle 17"/>
          <p:cNvSpPr/>
          <p:nvPr/>
        </p:nvSpPr>
        <p:spPr>
          <a:xfrm>
            <a:off x="9339072" y="2011680"/>
            <a:ext cx="2008632"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521952" y="2029968"/>
            <a:ext cx="1642872" cy="502920"/>
          </a:xfrm>
          <a:prstGeom prst="rect">
            <a:avLst/>
          </a:prstGeom>
          <a:noFill/>
        </p:spPr>
        <p:txBody>
          <a:bodyPr wrap="square" lIns="0" rIns="0" tIns="0" bIns="0" anchor="t"/>
          <a:lstStyle/>
          <a:p>
            <a:pPr algn="l">
              <a:spcAft>
                <a:spcPts val="400"/>
              </a:spcAft>
              <a:buNone/>
            </a:pPr>
            <a:r>
              <a:rPr sz="2400" b="1" i="0">
                <a:solidFill>
                  <a:srgbClr val="0E1F53"/>
                </a:solidFill>
                <a:latin typeface="Roboto"/>
              </a:rPr>
              <a:t>2 von 3</a:t>
            </a:r>
          </a:p>
        </p:txBody>
      </p:sp>
      <p:sp>
        <p:nvSpPr>
          <p:cNvPr id="20" name="TextBox 19"/>
          <p:cNvSpPr txBox="1"/>
          <p:nvPr/>
        </p:nvSpPr>
        <p:spPr>
          <a:xfrm>
            <a:off x="9521952" y="2514600"/>
            <a:ext cx="1642872" cy="365760"/>
          </a:xfrm>
          <a:prstGeom prst="rect">
            <a:avLst/>
          </a:prstGeom>
          <a:noFill/>
        </p:spPr>
        <p:txBody>
          <a:bodyPr wrap="square" lIns="0" rIns="0" tIns="0" bIns="0" anchor="t"/>
          <a:lstStyle/>
          <a:p>
            <a:pPr algn="l">
              <a:spcAft>
                <a:spcPts val="400"/>
              </a:spcAft>
              <a:buNone/>
            </a:pPr>
            <a:r>
              <a:rPr sz="1150" b="0" i="0">
                <a:solidFill>
                  <a:srgbClr val="5A6684"/>
                </a:solidFill>
                <a:latin typeface="Roboto"/>
              </a:rPr>
              <a:t>Kriterien klar erfüllt</a:t>
            </a:r>
          </a:p>
        </p:txBody>
      </p:sp>
      <p:sp>
        <p:nvSpPr>
          <p:cNvPr id="21" name="Rounded Rectangle 20"/>
          <p:cNvSpPr/>
          <p:nvPr/>
        </p:nvSpPr>
        <p:spPr>
          <a:xfrm>
            <a:off x="4956048" y="3108960"/>
            <a:ext cx="3104388" cy="804672"/>
          </a:xfrm>
          <a:prstGeom prst="roundRect">
            <a:avLst>
              <a:gd name="adj" fmla="val 6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120640" y="3154679"/>
            <a:ext cx="2775204" cy="731520"/>
          </a:xfrm>
          <a:prstGeom prst="rect">
            <a:avLst/>
          </a:prstGeom>
          <a:noFill/>
        </p:spPr>
        <p:txBody>
          <a:bodyPr wrap="square" lIns="0" rIns="0" tIns="0" bIns="0" anchor="ctr"/>
          <a:lstStyle/>
          <a:p>
            <a:pPr algn="l">
              <a:spcAft>
                <a:spcPts val="100"/>
              </a:spcAft>
              <a:buNone/>
            </a:pPr>
            <a:r>
              <a:rPr sz="1250" b="1" i="0">
                <a:solidFill>
                  <a:srgbClr val="1E8E4E"/>
                </a:solidFill>
                <a:latin typeface="Roboto"/>
              </a:rPr>
              <a:t>Gut</a:t>
            </a:r>
          </a:p>
          <a:p>
            <a:pPr algn="l">
              <a:spcAft>
                <a:spcPts val="400"/>
              </a:spcAft>
              <a:buNone/>
            </a:pPr>
            <a:r>
              <a:rPr sz="1150" b="0" i="0">
                <a:solidFill>
                  <a:srgbClr val="0E1F53"/>
                </a:solidFill>
                <a:latin typeface="Roboto"/>
              </a:rPr>
              <a:t>Endlich echte Fälle · Kontakt zu Unternehmen</a:t>
            </a:r>
          </a:p>
        </p:txBody>
      </p:sp>
      <p:sp>
        <p:nvSpPr>
          <p:cNvPr id="23" name="Rounded Rectangle 22"/>
          <p:cNvSpPr/>
          <p:nvPr/>
        </p:nvSpPr>
        <p:spPr>
          <a:xfrm>
            <a:off x="8243316" y="3108960"/>
            <a:ext cx="3104388" cy="804672"/>
          </a:xfrm>
          <a:prstGeom prst="roundRect">
            <a:avLst>
              <a:gd name="adj" fmla="val 6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07908" y="3154679"/>
            <a:ext cx="2775204" cy="731520"/>
          </a:xfrm>
          <a:prstGeom prst="rect">
            <a:avLst/>
          </a:prstGeom>
          <a:noFill/>
        </p:spPr>
        <p:txBody>
          <a:bodyPr wrap="square" lIns="0" rIns="0" tIns="0" bIns="0" anchor="ctr"/>
          <a:lstStyle/>
          <a:p>
            <a:pPr algn="l">
              <a:spcAft>
                <a:spcPts val="100"/>
              </a:spcAft>
              <a:buNone/>
            </a:pPr>
            <a:r>
              <a:rPr sz="1250" b="1" i="0">
                <a:solidFill>
                  <a:srgbClr val="FB2762"/>
                </a:solidFill>
                <a:latin typeface="Roboto"/>
              </a:rPr>
              <a:t>Verbessern</a:t>
            </a:r>
          </a:p>
          <a:p>
            <a:pPr algn="l">
              <a:spcAft>
                <a:spcPts val="400"/>
              </a:spcAft>
              <a:buNone/>
            </a:pPr>
            <a:r>
              <a:rPr sz="1150" b="0" i="0">
                <a:solidFill>
                  <a:srgbClr val="0E1F53"/>
                </a:solidFill>
                <a:latin typeface="Roboto"/>
              </a:rPr>
              <a:t>14 Uhr kollidiert mit Pflichtmodul · Credits unklar</a:t>
            </a:r>
          </a:p>
        </p:txBody>
      </p:sp>
      <p:sp>
        <p:nvSpPr>
          <p:cNvPr id="25" name="Rounded Rectangle 24"/>
          <p:cNvSpPr/>
          <p:nvPr/>
        </p:nvSpPr>
        <p:spPr>
          <a:xfrm>
            <a:off x="4956048" y="4023360"/>
            <a:ext cx="3104388" cy="804672"/>
          </a:xfrm>
          <a:prstGeom prst="roundRect">
            <a:avLst>
              <a:gd name="adj" fmla="val 6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120640" y="4069080"/>
            <a:ext cx="2775204" cy="731520"/>
          </a:xfrm>
          <a:prstGeom prst="rect">
            <a:avLst/>
          </a:prstGeom>
          <a:noFill/>
        </p:spPr>
        <p:txBody>
          <a:bodyPr wrap="square" lIns="0" rIns="0" tIns="0" bIns="0" anchor="ctr"/>
          <a:lstStyle/>
          <a:p>
            <a:pPr algn="l">
              <a:spcAft>
                <a:spcPts val="100"/>
              </a:spcAft>
              <a:buNone/>
            </a:pPr>
            <a:r>
              <a:rPr sz="1250" b="1" i="0">
                <a:solidFill>
                  <a:srgbClr val="1F6FD1"/>
                </a:solidFill>
                <a:latin typeface="Roboto"/>
              </a:rPr>
              <a:t>Fragen</a:t>
            </a:r>
          </a:p>
          <a:p>
            <a:pPr algn="l">
              <a:spcAft>
                <a:spcPts val="400"/>
              </a:spcAft>
              <a:buNone/>
            </a:pPr>
            <a:r>
              <a:rPr sz="1150" b="0" i="0">
                <a:solidFill>
                  <a:srgbClr val="0E1F53"/>
                </a:solidFill>
                <a:latin typeface="Roboto"/>
              </a:rPr>
              <a:t>Gibt es ein Zertifikat? · Geht das auch ohne Deutsch?</a:t>
            </a:r>
          </a:p>
        </p:txBody>
      </p:sp>
      <p:sp>
        <p:nvSpPr>
          <p:cNvPr id="27" name="Rounded Rectangle 26"/>
          <p:cNvSpPr/>
          <p:nvPr/>
        </p:nvSpPr>
        <p:spPr>
          <a:xfrm>
            <a:off x="8243316" y="4023360"/>
            <a:ext cx="3104388" cy="804672"/>
          </a:xfrm>
          <a:prstGeom prst="roundRect">
            <a:avLst>
              <a:gd name="adj" fmla="val 6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407908" y="4069080"/>
            <a:ext cx="2775204" cy="731520"/>
          </a:xfrm>
          <a:prstGeom prst="rect">
            <a:avLst/>
          </a:prstGeom>
          <a:noFill/>
        </p:spPr>
        <p:txBody>
          <a:bodyPr wrap="square" lIns="0" rIns="0" tIns="0" bIns="0" anchor="ctr"/>
          <a:lstStyle/>
          <a:p>
            <a:pPr algn="l">
              <a:spcAft>
                <a:spcPts val="100"/>
              </a:spcAft>
              <a:buNone/>
            </a:pPr>
            <a:r>
              <a:rPr sz="1250" b="1" i="0">
                <a:solidFill>
                  <a:srgbClr val="D9730D"/>
                </a:solidFill>
                <a:latin typeface="Roboto"/>
              </a:rPr>
              <a:t>Ideen</a:t>
            </a:r>
          </a:p>
          <a:p>
            <a:pPr algn="l">
              <a:spcAft>
                <a:spcPts val="400"/>
              </a:spcAft>
              <a:buNone/>
            </a:pPr>
            <a:r>
              <a:rPr sz="1150" b="0" i="0">
                <a:solidFill>
                  <a:srgbClr val="0E1F53"/>
                </a:solidFill>
                <a:latin typeface="Roboto"/>
              </a:rPr>
              <a:t>Online-Zuschaltung für Pendelnde · Challenges auf Englisch</a:t>
            </a:r>
          </a:p>
        </p:txBody>
      </p:sp>
      <p:sp>
        <p:nvSpPr>
          <p:cNvPr id="29" name="Rounded Rectangle 28"/>
          <p:cNvSpPr/>
          <p:nvPr/>
        </p:nvSpPr>
        <p:spPr>
          <a:xfrm>
            <a:off x="4956048" y="5029200"/>
            <a:ext cx="6391656" cy="960120"/>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RefreshCw_w.png"/>
          <p:cNvPicPr>
            <a:picLocks noChangeAspect="1"/>
          </p:cNvPicPr>
          <p:nvPr/>
        </p:nvPicPr>
        <p:blipFill>
          <a:blip r:embed="rId3"/>
          <a:stretch>
            <a:fillRect/>
          </a:stretch>
        </p:blipFill>
        <p:spPr>
          <a:xfrm>
            <a:off x="5184648" y="5257800"/>
            <a:ext cx="502920" cy="502920"/>
          </a:xfrm>
          <a:prstGeom prst="rect">
            <a:avLst/>
          </a:prstGeom>
        </p:spPr>
      </p:pic>
      <p:sp>
        <p:nvSpPr>
          <p:cNvPr id="31" name="TextBox 30"/>
          <p:cNvSpPr txBox="1"/>
          <p:nvPr/>
        </p:nvSpPr>
        <p:spPr>
          <a:xfrm>
            <a:off x="5870448" y="5029200"/>
            <a:ext cx="5294376" cy="960120"/>
          </a:xfrm>
          <a:prstGeom prst="rect">
            <a:avLst/>
          </a:prstGeom>
          <a:noFill/>
        </p:spPr>
        <p:txBody>
          <a:bodyPr wrap="square" lIns="0" rIns="0" tIns="0" bIns="0" anchor="ctr"/>
          <a:lstStyle/>
          <a:p>
            <a:pPr algn="l">
              <a:spcAft>
                <a:spcPts val="200"/>
              </a:spcAft>
              <a:buNone/>
            </a:pPr>
            <a:r>
              <a:rPr sz="1500" b="1" i="0">
                <a:solidFill>
                  <a:srgbClr val="FFFFFF"/>
                </a:solidFill>
                <a:latin typeface="Roboto"/>
              </a:rPr>
              <a:t>Entscheidung: weiter, mit Änderungen</a:t>
            </a:r>
          </a:p>
          <a:p>
            <a:pPr algn="l">
              <a:spcAft>
                <a:spcPts val="400"/>
              </a:spcAft>
              <a:buNone/>
            </a:pPr>
            <a:r>
              <a:rPr sz="1250" b="0" i="0">
                <a:solidFill>
                  <a:srgbClr val="FFFFFF"/>
                </a:solidFill>
                <a:latin typeface="Roboto"/>
              </a:rPr>
              <a:t>Termin verlegen, Credits klären, zweisprachig anbieten → zurück zu Prototypen</a:t>
            </a:r>
          </a:p>
        </p:txBody>
      </p:sp>
      <p:sp>
        <p:nvSpPr>
          <p:cNvPr id="32" name="TextBox 31"/>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Illustratives Beispiel für den Workshop: Interviewaussagen und Testergebnisse sind fiktiv.</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Iterieren: Jeder Test bringt Sie eine Schleife weiter</a:t>
            </a:r>
          </a:p>
        </p:txBody>
      </p:sp>
      <p:sp>
        <p:nvSpPr>
          <p:cNvPr id="3" name="Rounded Rectangle 2"/>
          <p:cNvSpPr/>
          <p:nvPr/>
        </p:nvSpPr>
        <p:spPr>
          <a:xfrm>
            <a:off x="841248" y="850392"/>
            <a:ext cx="103144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ITERIEREN</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Testen</a:t>
            </a:r>
          </a:p>
        </p:txBody>
      </p:sp>
      <p:sp>
        <p:nvSpPr>
          <p:cNvPr id="10" name="Rounded Rectangle 9"/>
          <p:cNvSpPr/>
          <p:nvPr/>
        </p:nvSpPr>
        <p:spPr>
          <a:xfrm>
            <a:off x="841248" y="2011680"/>
            <a:ext cx="331927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69848" y="2194560"/>
            <a:ext cx="640080" cy="64008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Rocket_w.png"/>
          <p:cNvPicPr>
            <a:picLocks noChangeAspect="1"/>
          </p:cNvPicPr>
          <p:nvPr/>
        </p:nvPicPr>
        <p:blipFill>
          <a:blip r:embed="rId3"/>
          <a:stretch>
            <a:fillRect/>
          </a:stretch>
        </p:blipFill>
        <p:spPr>
          <a:xfrm>
            <a:off x="1223467" y="2348179"/>
            <a:ext cx="332841" cy="332841"/>
          </a:xfrm>
          <a:prstGeom prst="rect">
            <a:avLst/>
          </a:prstGeom>
        </p:spPr>
      </p:pic>
      <p:sp>
        <p:nvSpPr>
          <p:cNvPr id="13" name="TextBox 12"/>
          <p:cNvSpPr txBox="1"/>
          <p:nvPr/>
        </p:nvSpPr>
        <p:spPr>
          <a:xfrm>
            <a:off x="1847088" y="2194560"/>
            <a:ext cx="2130552" cy="640080"/>
          </a:xfrm>
          <a:prstGeom prst="rect">
            <a:avLst/>
          </a:prstGeom>
          <a:noFill/>
        </p:spPr>
        <p:txBody>
          <a:bodyPr wrap="square" lIns="0" rIns="0" tIns="0" bIns="0" anchor="ctr"/>
          <a:lstStyle/>
          <a:p>
            <a:pPr algn="l">
              <a:spcAft>
                <a:spcPts val="400"/>
              </a:spcAft>
              <a:buNone/>
            </a:pPr>
            <a:r>
              <a:rPr sz="2000" b="1" i="0">
                <a:solidFill>
                  <a:srgbClr val="1E8E4E"/>
                </a:solidFill>
                <a:latin typeface="Roboto"/>
              </a:rPr>
              <a:t>Weiter</a:t>
            </a:r>
          </a:p>
        </p:txBody>
      </p:sp>
      <p:sp>
        <p:nvSpPr>
          <p:cNvPr id="14" name="TextBox 13"/>
          <p:cNvSpPr txBox="1"/>
          <p:nvPr/>
        </p:nvSpPr>
        <p:spPr>
          <a:xfrm>
            <a:off x="1069848" y="3017520"/>
            <a:ext cx="2862072" cy="914400"/>
          </a:xfrm>
          <a:prstGeom prst="rect">
            <a:avLst/>
          </a:prstGeom>
          <a:noFill/>
        </p:spPr>
        <p:txBody>
          <a:bodyPr wrap="square" lIns="0" rIns="0" tIns="0" bIns="0" anchor="t"/>
          <a:lstStyle/>
          <a:p>
            <a:pPr algn="l">
              <a:spcAft>
                <a:spcPts val="400"/>
              </a:spcAft>
              <a:buNone/>
            </a:pPr>
            <a:r>
              <a:rPr sz="1400" b="0" i="0">
                <a:solidFill>
                  <a:srgbClr val="0E1F53"/>
                </a:solidFill>
                <a:latin typeface="Roboto"/>
              </a:rPr>
              <a:t>Kriterien erfüllt: Pilot ausbauen, nächste Annahme testen.</a:t>
            </a:r>
          </a:p>
        </p:txBody>
      </p:sp>
      <p:sp>
        <p:nvSpPr>
          <p:cNvPr id="15" name="TextBox 14"/>
          <p:cNvSpPr txBox="1"/>
          <p:nvPr/>
        </p:nvSpPr>
        <p:spPr>
          <a:xfrm>
            <a:off x="1069848" y="4023360"/>
            <a:ext cx="2862072" cy="457200"/>
          </a:xfrm>
          <a:prstGeom prst="rect">
            <a:avLst/>
          </a:prstGeom>
          <a:noFill/>
        </p:spPr>
        <p:txBody>
          <a:bodyPr wrap="square" lIns="0" rIns="0" tIns="0" bIns="0" anchor="t"/>
          <a:lstStyle/>
          <a:p>
            <a:pPr algn="l">
              <a:spcAft>
                <a:spcPts val="400"/>
              </a:spcAft>
              <a:buNone/>
            </a:pPr>
            <a:r>
              <a:rPr sz="1300" b="1" i="0">
                <a:solidFill>
                  <a:srgbClr val="0E1F53"/>
                </a:solidFill>
                <a:latin typeface="Roboto"/>
              </a:rPr>
              <a:t>→ größerer Pilot</a:t>
            </a:r>
          </a:p>
        </p:txBody>
      </p:sp>
      <p:sp>
        <p:nvSpPr>
          <p:cNvPr id="16" name="Rounded Rectangle 15"/>
          <p:cNvSpPr/>
          <p:nvPr/>
        </p:nvSpPr>
        <p:spPr>
          <a:xfrm>
            <a:off x="4434840" y="2011680"/>
            <a:ext cx="331927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663440" y="2194560"/>
            <a:ext cx="640080" cy="640080"/>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RefreshCw_w.png"/>
          <p:cNvPicPr>
            <a:picLocks noChangeAspect="1"/>
          </p:cNvPicPr>
          <p:nvPr/>
        </p:nvPicPr>
        <p:blipFill>
          <a:blip r:embed="rId4"/>
          <a:stretch>
            <a:fillRect/>
          </a:stretch>
        </p:blipFill>
        <p:spPr>
          <a:xfrm>
            <a:off x="4817059" y="2348179"/>
            <a:ext cx="332841" cy="332841"/>
          </a:xfrm>
          <a:prstGeom prst="rect">
            <a:avLst/>
          </a:prstGeom>
        </p:spPr>
      </p:pic>
      <p:sp>
        <p:nvSpPr>
          <p:cNvPr id="19" name="TextBox 18"/>
          <p:cNvSpPr txBox="1"/>
          <p:nvPr/>
        </p:nvSpPr>
        <p:spPr>
          <a:xfrm>
            <a:off x="5440680" y="2194560"/>
            <a:ext cx="2130552" cy="640080"/>
          </a:xfrm>
          <a:prstGeom prst="rect">
            <a:avLst/>
          </a:prstGeom>
          <a:noFill/>
        </p:spPr>
        <p:txBody>
          <a:bodyPr wrap="square" lIns="0" rIns="0" tIns="0" bIns="0" anchor="ctr"/>
          <a:lstStyle/>
          <a:p>
            <a:pPr algn="l">
              <a:spcAft>
                <a:spcPts val="400"/>
              </a:spcAft>
              <a:buNone/>
            </a:pPr>
            <a:r>
              <a:rPr sz="2000" b="1" i="0">
                <a:solidFill>
                  <a:srgbClr val="D9A20D"/>
                </a:solidFill>
                <a:latin typeface="Roboto"/>
              </a:rPr>
              <a:t>Ändern</a:t>
            </a:r>
          </a:p>
        </p:txBody>
      </p:sp>
      <p:sp>
        <p:nvSpPr>
          <p:cNvPr id="20" name="TextBox 19"/>
          <p:cNvSpPr txBox="1"/>
          <p:nvPr/>
        </p:nvSpPr>
        <p:spPr>
          <a:xfrm>
            <a:off x="4663440" y="3017520"/>
            <a:ext cx="2862072" cy="914400"/>
          </a:xfrm>
          <a:prstGeom prst="rect">
            <a:avLst/>
          </a:prstGeom>
          <a:noFill/>
        </p:spPr>
        <p:txBody>
          <a:bodyPr wrap="square" lIns="0" rIns="0" tIns="0" bIns="0" anchor="t"/>
          <a:lstStyle/>
          <a:p>
            <a:pPr algn="l">
              <a:spcAft>
                <a:spcPts val="400"/>
              </a:spcAft>
              <a:buNone/>
            </a:pPr>
            <a:r>
              <a:rPr sz="1400" b="0" i="0">
                <a:solidFill>
                  <a:srgbClr val="0E1F53"/>
                </a:solidFill>
                <a:latin typeface="Roboto"/>
              </a:rPr>
              <a:t>Teilweise erfüllt: gezielt anpassen und erneut testen.</a:t>
            </a:r>
          </a:p>
        </p:txBody>
      </p:sp>
      <p:sp>
        <p:nvSpPr>
          <p:cNvPr id="21" name="TextBox 20"/>
          <p:cNvSpPr txBox="1"/>
          <p:nvPr/>
        </p:nvSpPr>
        <p:spPr>
          <a:xfrm>
            <a:off x="4663440" y="4023360"/>
            <a:ext cx="2862072" cy="457200"/>
          </a:xfrm>
          <a:prstGeom prst="rect">
            <a:avLst/>
          </a:prstGeom>
          <a:noFill/>
        </p:spPr>
        <p:txBody>
          <a:bodyPr wrap="square" lIns="0" rIns="0" tIns="0" bIns="0" anchor="t"/>
          <a:lstStyle/>
          <a:p>
            <a:pPr algn="l">
              <a:spcAft>
                <a:spcPts val="400"/>
              </a:spcAft>
              <a:buNone/>
            </a:pPr>
            <a:r>
              <a:rPr sz="1300" b="1" i="0">
                <a:solidFill>
                  <a:srgbClr val="0E1F53"/>
                </a:solidFill>
                <a:latin typeface="Roboto"/>
              </a:rPr>
              <a:t>→ zurück zu Prototyp oder Ideen</a:t>
            </a:r>
          </a:p>
        </p:txBody>
      </p:sp>
      <p:sp>
        <p:nvSpPr>
          <p:cNvPr id="22" name="Rounded Rectangle 21"/>
          <p:cNvSpPr/>
          <p:nvPr/>
        </p:nvSpPr>
        <p:spPr>
          <a:xfrm>
            <a:off x="8028432" y="2011680"/>
            <a:ext cx="3319272" cy="26517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257032" y="2194560"/>
            <a:ext cx="640080" cy="640080"/>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TriangleAlert_w.png"/>
          <p:cNvPicPr>
            <a:picLocks noChangeAspect="1"/>
          </p:cNvPicPr>
          <p:nvPr/>
        </p:nvPicPr>
        <p:blipFill>
          <a:blip r:embed="rId5"/>
          <a:stretch>
            <a:fillRect/>
          </a:stretch>
        </p:blipFill>
        <p:spPr>
          <a:xfrm>
            <a:off x="8410651" y="2348179"/>
            <a:ext cx="332841" cy="332841"/>
          </a:xfrm>
          <a:prstGeom prst="rect">
            <a:avLst/>
          </a:prstGeom>
        </p:spPr>
      </p:pic>
      <p:sp>
        <p:nvSpPr>
          <p:cNvPr id="25" name="TextBox 24"/>
          <p:cNvSpPr txBox="1"/>
          <p:nvPr/>
        </p:nvSpPr>
        <p:spPr>
          <a:xfrm>
            <a:off x="9034272" y="2194560"/>
            <a:ext cx="2130552" cy="640080"/>
          </a:xfrm>
          <a:prstGeom prst="rect">
            <a:avLst/>
          </a:prstGeom>
          <a:noFill/>
        </p:spPr>
        <p:txBody>
          <a:bodyPr wrap="square" lIns="0" rIns="0" tIns="0" bIns="0" anchor="ctr"/>
          <a:lstStyle/>
          <a:p>
            <a:pPr algn="l">
              <a:spcAft>
                <a:spcPts val="400"/>
              </a:spcAft>
              <a:buNone/>
            </a:pPr>
            <a:r>
              <a:rPr sz="2000" b="1" i="0">
                <a:solidFill>
                  <a:srgbClr val="C8323C"/>
                </a:solidFill>
                <a:latin typeface="Roboto"/>
              </a:rPr>
              <a:t>Stoppen</a:t>
            </a:r>
          </a:p>
        </p:txBody>
      </p:sp>
      <p:sp>
        <p:nvSpPr>
          <p:cNvPr id="26" name="TextBox 25"/>
          <p:cNvSpPr txBox="1"/>
          <p:nvPr/>
        </p:nvSpPr>
        <p:spPr>
          <a:xfrm>
            <a:off x="8257032" y="3017520"/>
            <a:ext cx="2862072" cy="914400"/>
          </a:xfrm>
          <a:prstGeom prst="rect">
            <a:avLst/>
          </a:prstGeom>
          <a:noFill/>
        </p:spPr>
        <p:txBody>
          <a:bodyPr wrap="square" lIns="0" rIns="0" tIns="0" bIns="0" anchor="t"/>
          <a:lstStyle/>
          <a:p>
            <a:pPr algn="l">
              <a:spcAft>
                <a:spcPts val="400"/>
              </a:spcAft>
              <a:buNone/>
            </a:pPr>
            <a:r>
              <a:rPr sz="1400" b="0" i="0">
                <a:solidFill>
                  <a:srgbClr val="0E1F53"/>
                </a:solidFill>
                <a:latin typeface="Roboto"/>
              </a:rPr>
              <a:t>Annahme widerlegt: Erkenntnis sichern, neue Idee wählen.</a:t>
            </a:r>
          </a:p>
        </p:txBody>
      </p:sp>
      <p:sp>
        <p:nvSpPr>
          <p:cNvPr id="27" name="TextBox 26"/>
          <p:cNvSpPr txBox="1"/>
          <p:nvPr/>
        </p:nvSpPr>
        <p:spPr>
          <a:xfrm>
            <a:off x="8257032" y="4023360"/>
            <a:ext cx="2862072" cy="457200"/>
          </a:xfrm>
          <a:prstGeom prst="rect">
            <a:avLst/>
          </a:prstGeom>
          <a:noFill/>
        </p:spPr>
        <p:txBody>
          <a:bodyPr wrap="square" lIns="0" rIns="0" tIns="0" bIns="0" anchor="t"/>
          <a:lstStyle/>
          <a:p>
            <a:pPr algn="l">
              <a:spcAft>
                <a:spcPts val="400"/>
              </a:spcAft>
              <a:buNone/>
            </a:pPr>
            <a:r>
              <a:rPr sz="1300" b="1" i="0">
                <a:solidFill>
                  <a:srgbClr val="0E1F53"/>
                </a:solidFill>
                <a:latin typeface="Roboto"/>
              </a:rPr>
              <a:t>→ zurück zu Definieren</a:t>
            </a:r>
          </a:p>
        </p:txBody>
      </p:sp>
      <p:sp>
        <p:nvSpPr>
          <p:cNvPr id="28" name="Rounded Rectangle 27"/>
          <p:cNvSpPr/>
          <p:nvPr/>
        </p:nvSpPr>
        <p:spPr>
          <a:xfrm>
            <a:off x="841248" y="4892040"/>
            <a:ext cx="10506456" cy="109728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15568" y="4892040"/>
            <a:ext cx="9957816" cy="1097280"/>
          </a:xfrm>
          <a:prstGeom prst="rect">
            <a:avLst/>
          </a:prstGeom>
          <a:noFill/>
        </p:spPr>
        <p:txBody>
          <a:bodyPr wrap="square" lIns="0" rIns="0" tIns="0" bIns="0" anchor="ctr"/>
          <a:lstStyle/>
          <a:p>
            <a:pPr algn="l">
              <a:spcAft>
                <a:spcPts val="200"/>
              </a:spcAft>
              <a:buNone/>
            </a:pPr>
            <a:r>
              <a:rPr sz="1300" b="1" i="0">
                <a:solidFill>
                  <a:srgbClr val="9FD0FF"/>
                </a:solidFill>
                <a:latin typeface="Roboto"/>
              </a:rPr>
              <a:t>Ihr Rhythmus nach dem Workshop</a:t>
            </a:r>
          </a:p>
          <a:p>
            <a:pPr algn="l">
              <a:spcAft>
                <a:spcPts val="400"/>
              </a:spcAft>
              <a:buNone/>
            </a:pPr>
            <a:r>
              <a:rPr sz="1600" b="1" i="0">
                <a:solidFill>
                  <a:srgbClr val="FFFFFF"/>
                </a:solidFill>
                <a:latin typeface="Roboto"/>
              </a:rPr>
              <a:t>Alle zwei Wochen ein kleiner Test, danach 30 Minuten Auswertung mit dem Test-Auswerter.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Jetzt Sie: Ihre eigene Challenge</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20 MIN.</a:t>
            </a:r>
          </a:p>
        </p:txBody>
      </p:sp>
      <p:sp>
        <p:nvSpPr>
          <p:cNvPr id="4" name="Oval 3"/>
          <p:cNvSpPr/>
          <p:nvPr/>
        </p:nvSpPr>
        <p:spPr>
          <a:xfrm>
            <a:off x="961034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1</a:t>
            </a:r>
          </a:p>
        </p:txBody>
      </p:sp>
      <p:sp>
        <p:nvSpPr>
          <p:cNvPr id="5" name="Oval 4"/>
          <p:cNvSpPr/>
          <p:nvPr/>
        </p:nvSpPr>
        <p:spPr>
          <a:xfrm>
            <a:off x="997610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2</a:t>
            </a:r>
          </a:p>
        </p:txBody>
      </p:sp>
      <p:sp>
        <p:nvSpPr>
          <p:cNvPr id="6" name="Oval 5"/>
          <p:cNvSpPr/>
          <p:nvPr/>
        </p:nvSpPr>
        <p:spPr>
          <a:xfrm>
            <a:off x="1034186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3</a:t>
            </a:r>
          </a:p>
        </p:txBody>
      </p:sp>
      <p:sp>
        <p:nvSpPr>
          <p:cNvPr id="7" name="Oval 6"/>
          <p:cNvSpPr/>
          <p:nvPr/>
        </p:nvSpPr>
        <p:spPr>
          <a:xfrm>
            <a:off x="10707624" y="850392"/>
            <a:ext cx="274320" cy="274320"/>
          </a:xfrm>
          <a:prstGeom prst="ellipse">
            <a:avLst/>
          </a:prstGeom>
          <a:solidFill>
            <a:srgbClr val="FFFFFF"/>
          </a:solidFill>
          <a:ln w="12700">
            <a:solidFill>
              <a:srgbClr val="0E1F53"/>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0E1F53"/>
                </a:solidFill>
                <a:latin typeface="Roboto"/>
              </a:rPr>
              <a:t>4</a:t>
            </a:r>
          </a:p>
        </p:txBody>
      </p:sp>
      <p:sp>
        <p:nvSpPr>
          <p:cNvPr id="8" name="Oval 7"/>
          <p:cNvSpPr/>
          <p:nvPr/>
        </p:nvSpPr>
        <p:spPr>
          <a:xfrm>
            <a:off x="11073384" y="850392"/>
            <a:ext cx="274320" cy="2743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5</a:t>
            </a:r>
          </a:p>
        </p:txBody>
      </p:sp>
      <p:sp>
        <p:nvSpPr>
          <p:cNvPr id="9" name="TextBox 8"/>
          <p:cNvSpPr txBox="1"/>
          <p:nvPr/>
        </p:nvSpPr>
        <p:spPr>
          <a:xfrm>
            <a:off x="5861304" y="850392"/>
            <a:ext cx="3657600" cy="274320"/>
          </a:xfrm>
          <a:prstGeom prst="rect">
            <a:avLst/>
          </a:prstGeom>
          <a:noFill/>
        </p:spPr>
        <p:txBody>
          <a:bodyPr wrap="square" lIns="0" rIns="0" tIns="0" bIns="0" anchor="ctr"/>
          <a:lstStyle/>
          <a:p>
            <a:pPr algn="r">
              <a:spcAft>
                <a:spcPts val="400"/>
              </a:spcAft>
              <a:buNone/>
            </a:pPr>
            <a:r>
              <a:rPr sz="1100" b="1" i="0">
                <a:solidFill>
                  <a:srgbClr val="0E1F53"/>
                </a:solidFill>
                <a:latin typeface="Roboto"/>
              </a:rPr>
              <a:t>Phase 5: Testen</a:t>
            </a:r>
          </a:p>
        </p:txBody>
      </p:sp>
      <p:sp>
        <p:nvSpPr>
          <p:cNvPr id="10" name="Rounded Rectangle 9"/>
          <p:cNvSpPr/>
          <p:nvPr/>
        </p:nvSpPr>
        <p:spPr>
          <a:xfrm>
            <a:off x="841248" y="201168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42416" y="219456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1</a:t>
            </a:r>
          </a:p>
        </p:txBody>
      </p:sp>
      <p:sp>
        <p:nvSpPr>
          <p:cNvPr id="12" name="TextBox 11"/>
          <p:cNvSpPr txBox="1"/>
          <p:nvPr/>
        </p:nvSpPr>
        <p:spPr>
          <a:xfrm>
            <a:off x="1801368" y="201168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Formulieren Sie Hypothese und Erfolgskriterium für Ihren Prototyp.</a:t>
            </a:r>
          </a:p>
        </p:txBody>
      </p:sp>
      <p:sp>
        <p:nvSpPr>
          <p:cNvPr id="13" name="Rounded Rectangle 12"/>
          <p:cNvSpPr/>
          <p:nvPr/>
        </p:nvSpPr>
        <p:spPr>
          <a:xfrm>
            <a:off x="841248" y="310896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042416" y="329184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2</a:t>
            </a:r>
          </a:p>
        </p:txBody>
      </p:sp>
      <p:sp>
        <p:nvSpPr>
          <p:cNvPr id="15" name="TextBox 14"/>
          <p:cNvSpPr txBox="1"/>
          <p:nvPr/>
        </p:nvSpPr>
        <p:spPr>
          <a:xfrm>
            <a:off x="1801368" y="310896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Lassen Sie den Test-Auswerter einen Testplan erstellen.</a:t>
            </a:r>
          </a:p>
        </p:txBody>
      </p:sp>
      <p:sp>
        <p:nvSpPr>
          <p:cNvPr id="16" name="Rounded Rectangle 15"/>
          <p:cNvSpPr/>
          <p:nvPr/>
        </p:nvSpPr>
        <p:spPr>
          <a:xfrm>
            <a:off x="841248" y="4206240"/>
            <a:ext cx="6949440" cy="9144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042416" y="4389120"/>
            <a:ext cx="548640" cy="54864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800" b="1" i="0">
                <a:solidFill>
                  <a:srgbClr val="FFFFFF"/>
                </a:solidFill>
                <a:latin typeface="Roboto"/>
              </a:rPr>
              <a:t>3</a:t>
            </a:r>
          </a:p>
        </p:txBody>
      </p:sp>
      <p:sp>
        <p:nvSpPr>
          <p:cNvPr id="18" name="TextBox 17"/>
          <p:cNvSpPr txBox="1"/>
          <p:nvPr/>
        </p:nvSpPr>
        <p:spPr>
          <a:xfrm>
            <a:off x="1801368" y="4206240"/>
            <a:ext cx="5806440" cy="914400"/>
          </a:xfrm>
          <a:prstGeom prst="rect">
            <a:avLst/>
          </a:prstGeom>
          <a:noFill/>
        </p:spPr>
        <p:txBody>
          <a:bodyPr wrap="square" lIns="0" rIns="0" tIns="0" bIns="0" anchor="ctr"/>
          <a:lstStyle/>
          <a:p>
            <a:pPr algn="l">
              <a:spcAft>
                <a:spcPts val="400"/>
              </a:spcAft>
              <a:buNone/>
            </a:pPr>
            <a:r>
              <a:rPr sz="1500" b="0" i="0">
                <a:solidFill>
                  <a:srgbClr val="0E1F53"/>
                </a:solidFill>
                <a:latin typeface="Roboto"/>
              </a:rPr>
              <a:t>Tragen Sie 5 Testpersonen und einen Termin in den Kalender ein.</a:t>
            </a:r>
          </a:p>
        </p:txBody>
      </p:sp>
      <p:sp>
        <p:nvSpPr>
          <p:cNvPr id="19" name="Rounded Rectangle 18"/>
          <p:cNvSpPr/>
          <p:nvPr/>
        </p:nvSpPr>
        <p:spPr>
          <a:xfrm>
            <a:off x="8065008" y="2011680"/>
            <a:ext cx="3282696" cy="310896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uTimer_w.png"/>
          <p:cNvPicPr>
            <a:picLocks noChangeAspect="1"/>
          </p:cNvPicPr>
          <p:nvPr/>
        </p:nvPicPr>
        <p:blipFill>
          <a:blip r:embed="rId3"/>
          <a:stretch>
            <a:fillRect/>
          </a:stretch>
        </p:blipFill>
        <p:spPr>
          <a:xfrm>
            <a:off x="8339328" y="2240280"/>
            <a:ext cx="548640" cy="548640"/>
          </a:xfrm>
          <a:prstGeom prst="rect">
            <a:avLst/>
          </a:prstGeom>
        </p:spPr>
      </p:pic>
      <p:sp>
        <p:nvSpPr>
          <p:cNvPr id="21" name="TextBox 20"/>
          <p:cNvSpPr txBox="1"/>
          <p:nvPr/>
        </p:nvSpPr>
        <p:spPr>
          <a:xfrm>
            <a:off x="9025128" y="2240280"/>
            <a:ext cx="2185415" cy="548640"/>
          </a:xfrm>
          <a:prstGeom prst="rect">
            <a:avLst/>
          </a:prstGeom>
          <a:noFill/>
        </p:spPr>
        <p:txBody>
          <a:bodyPr wrap="square" lIns="0" rIns="0" tIns="0" bIns="0" anchor="ctr"/>
          <a:lstStyle/>
          <a:p>
            <a:pPr algn="l">
              <a:spcAft>
                <a:spcPts val="400"/>
              </a:spcAft>
              <a:buNone/>
            </a:pPr>
            <a:r>
              <a:rPr sz="2400" b="1" i="0">
                <a:solidFill>
                  <a:srgbClr val="FFFFFF"/>
                </a:solidFill>
                <a:latin typeface="Roboto"/>
              </a:rPr>
              <a:t>20 Min.</a:t>
            </a:r>
          </a:p>
        </p:txBody>
      </p:sp>
      <p:sp>
        <p:nvSpPr>
          <p:cNvPr id="22" name="TextBox 21"/>
          <p:cNvSpPr txBox="1"/>
          <p:nvPr/>
        </p:nvSpPr>
        <p:spPr>
          <a:xfrm>
            <a:off x="8339328" y="2971800"/>
            <a:ext cx="2734056" cy="2011680"/>
          </a:xfrm>
          <a:prstGeom prst="rect">
            <a:avLst/>
          </a:prstGeom>
          <a:noFill/>
        </p:spPr>
        <p:txBody>
          <a:bodyPr wrap="square" lIns="0" rIns="0" tIns="0" bIns="0" anchor="t"/>
          <a:lstStyle/>
          <a:p>
            <a:pPr algn="l">
              <a:spcAft>
                <a:spcPts val="600"/>
              </a:spcAft>
              <a:buNone/>
            </a:pPr>
            <a:r>
              <a:rPr sz="1350" b="1" i="0">
                <a:solidFill>
                  <a:srgbClr val="9FD0FF"/>
                </a:solidFill>
                <a:latin typeface="Roboto"/>
              </a:rPr>
              <a:t>Hilfsmittel</a:t>
            </a:r>
          </a:p>
          <a:p>
            <a:pPr algn="l" marL="164592" indent="-164592">
              <a:spcAft>
                <a:spcPts val="400"/>
              </a:spcAft>
              <a:buClr>
                <a:srgbClr val="FB2762"/>
              </a:buClr>
              <a:buFont typeface="Arial"/>
              <a:buChar char="•"/>
            </a:pPr>
            <a:r>
              <a:rPr sz="1350" b="0" i="0">
                <a:solidFill>
                  <a:srgbClr val="FFFFFF"/>
                </a:solidFill>
                <a:latin typeface="Roboto"/>
              </a:rPr>
              <a:t>Systemprompt „Test-Auswerter“ im Arbeitsheft</a:t>
            </a:r>
          </a:p>
          <a:p>
            <a:pPr algn="l" marL="164592" indent="-164592">
              <a:spcAft>
                <a:spcPts val="400"/>
              </a:spcAft>
              <a:buClr>
                <a:srgbClr val="FB2762"/>
              </a:buClr>
              <a:buFont typeface="Arial"/>
              <a:buChar char="•"/>
            </a:pPr>
            <a:r>
              <a:rPr sz="1350" b="0" i="0">
                <a:solidFill>
                  <a:srgbClr val="FFFFFF"/>
                </a:solidFill>
                <a:latin typeface="Roboto"/>
              </a:rPr>
              <a:t>Ihr KI-Assistent auf dem Laptop</a:t>
            </a:r>
          </a:p>
          <a:p>
            <a:pPr algn="l" marL="164592" indent="-164592">
              <a:spcAft>
                <a:spcPts val="400"/>
              </a:spcAft>
              <a:buClr>
                <a:srgbClr val="FB2762"/>
              </a:buClr>
              <a:buFont typeface="Arial"/>
              <a:buChar char="•"/>
            </a:pPr>
            <a:r>
              <a:rPr sz="1350" b="0" i="0">
                <a:solidFill>
                  <a:srgbClr val="FFFFFF"/>
                </a:solidFill>
                <a:latin typeface="Roboto"/>
              </a:rPr>
              <a:t>Post-its und Stifte</a:t>
            </a:r>
          </a:p>
        </p:txBody>
      </p:sp>
      <p:sp>
        <p:nvSpPr>
          <p:cNvPr id="23" name="Rounded Rectangle 22"/>
          <p:cNvSpPr/>
          <p:nvPr/>
        </p:nvSpPr>
        <p:spPr>
          <a:xfrm>
            <a:off x="841248" y="5349240"/>
            <a:ext cx="10506456" cy="640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15568" y="5349240"/>
            <a:ext cx="9957816" cy="640080"/>
          </a:xfrm>
          <a:prstGeom prst="rect">
            <a:avLst/>
          </a:prstGeom>
          <a:noFill/>
        </p:spPr>
        <p:txBody>
          <a:bodyPr wrap="square" lIns="0" rIns="0" tIns="0" bIns="0" anchor="ctr"/>
          <a:lstStyle/>
          <a:p>
            <a:pPr algn="l">
              <a:spcAft>
                <a:spcPts val="400"/>
              </a:spcAft>
              <a:buNone/>
            </a:pPr>
            <a:r>
              <a:rPr sz="1350" b="1" i="0">
                <a:solidFill>
                  <a:srgbClr val="0E1F53"/>
                </a:solidFill>
                <a:latin typeface="Roboto"/>
              </a:rPr>
              <a:t>Hinweis: </a:t>
            </a:r>
            <a:r>
              <a:rPr sz="1350" b="0" i="0">
                <a:solidFill>
                  <a:srgbClr val="0E1F53"/>
                </a:solidFill>
                <a:latin typeface="Roboto"/>
              </a:rPr>
              <a:t>Ihr Testplan ist die Brücke vom Workshop in den Betrieb.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Agenten im Dauerbetrieb</a:t>
            </a:r>
          </a:p>
        </p:txBody>
      </p:sp>
      <p:sp>
        <p:nvSpPr>
          <p:cNvPr id="3" name="Text Placeholder 2"/>
          <p:cNvSpPr>
            <a:spLocks noGrp="1"/>
          </p:cNvSpPr>
          <p:nvPr>
            <p:ph type="body" idx="11" sz="quarter"/>
          </p:nvPr>
        </p:nvSpPr>
        <p:spPr/>
        <p:txBody>
          <a:bodyPr/>
          <a:lstStyle/>
          <a:p>
            <a:r>
              <a:rPr b="0" sz="2000"/>
              <a:t>Damit Innovation nach dem Workshop weiterläuft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Innovation als Routine: Ihr Agenten-Kalender</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AUTOMATISIERUNG</a:t>
            </a:r>
          </a:p>
        </p:txBody>
      </p:sp>
      <p:sp>
        <p:nvSpPr>
          <p:cNvPr id="4" name="Rounded Rectangle 3"/>
          <p:cNvSpPr/>
          <p:nvPr/>
        </p:nvSpPr>
        <p:spPr>
          <a:xfrm>
            <a:off x="841248" y="2011680"/>
            <a:ext cx="2420874"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69848" y="2212848"/>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CalendarClock_w.png"/>
          <p:cNvPicPr>
            <a:picLocks noChangeAspect="1"/>
          </p:cNvPicPr>
          <p:nvPr/>
        </p:nvPicPr>
        <p:blipFill>
          <a:blip r:embed="rId3"/>
          <a:stretch>
            <a:fillRect/>
          </a:stretch>
        </p:blipFill>
        <p:spPr>
          <a:xfrm>
            <a:off x="1223467" y="2366467"/>
            <a:ext cx="332841" cy="332841"/>
          </a:xfrm>
          <a:prstGeom prst="rect">
            <a:avLst/>
          </a:prstGeom>
        </p:spPr>
      </p:pic>
      <p:sp>
        <p:nvSpPr>
          <p:cNvPr id="7" name="TextBox 6"/>
          <p:cNvSpPr txBox="1"/>
          <p:nvPr/>
        </p:nvSpPr>
        <p:spPr>
          <a:xfrm>
            <a:off x="1069848" y="3017520"/>
            <a:ext cx="1963674" cy="411480"/>
          </a:xfrm>
          <a:prstGeom prst="rect">
            <a:avLst/>
          </a:prstGeom>
          <a:noFill/>
        </p:spPr>
        <p:txBody>
          <a:bodyPr wrap="square" lIns="0" rIns="0" tIns="0" bIns="0" anchor="t"/>
          <a:lstStyle/>
          <a:p>
            <a:pPr algn="l">
              <a:spcAft>
                <a:spcPts val="400"/>
              </a:spcAft>
              <a:buNone/>
            </a:pPr>
            <a:r>
              <a:rPr sz="1800" b="1" i="0">
                <a:solidFill>
                  <a:srgbClr val="0E1F53"/>
                </a:solidFill>
                <a:latin typeface="Roboto"/>
              </a:rPr>
              <a:t>Wöchentlich</a:t>
            </a:r>
          </a:p>
        </p:txBody>
      </p:sp>
      <p:sp>
        <p:nvSpPr>
          <p:cNvPr id="8" name="Rounded Rectangle 7"/>
          <p:cNvSpPr/>
          <p:nvPr/>
        </p:nvSpPr>
        <p:spPr>
          <a:xfrm>
            <a:off x="1024128" y="356616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61288" y="356616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Markt-Radar: Montag 7:00</a:t>
            </a:r>
          </a:p>
        </p:txBody>
      </p:sp>
      <p:sp>
        <p:nvSpPr>
          <p:cNvPr id="10" name="Rounded Rectangle 9"/>
          <p:cNvSpPr/>
          <p:nvPr/>
        </p:nvSpPr>
        <p:spPr>
          <a:xfrm>
            <a:off x="1024128" y="429768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61288" y="429768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Bewertungs-Digest: Freitag</a:t>
            </a:r>
          </a:p>
        </p:txBody>
      </p:sp>
      <p:sp>
        <p:nvSpPr>
          <p:cNvPr id="12" name="Rounded Rectangle 11"/>
          <p:cNvSpPr/>
          <p:nvPr/>
        </p:nvSpPr>
        <p:spPr>
          <a:xfrm>
            <a:off x="1024128" y="502920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61288" y="502920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Pilot-Wochenbericht</a:t>
            </a:r>
          </a:p>
        </p:txBody>
      </p:sp>
      <p:sp>
        <p:nvSpPr>
          <p:cNvPr id="14" name="Rounded Rectangle 13"/>
          <p:cNvSpPr/>
          <p:nvPr/>
        </p:nvSpPr>
        <p:spPr>
          <a:xfrm>
            <a:off x="3536441" y="2011680"/>
            <a:ext cx="2420874"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765041" y="2212848"/>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Clock_w.png"/>
          <p:cNvPicPr>
            <a:picLocks noChangeAspect="1"/>
          </p:cNvPicPr>
          <p:nvPr/>
        </p:nvPicPr>
        <p:blipFill>
          <a:blip r:embed="rId4"/>
          <a:stretch>
            <a:fillRect/>
          </a:stretch>
        </p:blipFill>
        <p:spPr>
          <a:xfrm>
            <a:off x="3918661" y="2366467"/>
            <a:ext cx="332841" cy="332841"/>
          </a:xfrm>
          <a:prstGeom prst="rect">
            <a:avLst/>
          </a:prstGeom>
        </p:spPr>
      </p:pic>
      <p:sp>
        <p:nvSpPr>
          <p:cNvPr id="17" name="TextBox 16"/>
          <p:cNvSpPr txBox="1"/>
          <p:nvPr/>
        </p:nvSpPr>
        <p:spPr>
          <a:xfrm>
            <a:off x="3765041" y="3017520"/>
            <a:ext cx="1963674" cy="411480"/>
          </a:xfrm>
          <a:prstGeom prst="rect">
            <a:avLst/>
          </a:prstGeom>
          <a:noFill/>
        </p:spPr>
        <p:txBody>
          <a:bodyPr wrap="square" lIns="0" rIns="0" tIns="0" bIns="0" anchor="t"/>
          <a:lstStyle/>
          <a:p>
            <a:pPr algn="l">
              <a:spcAft>
                <a:spcPts val="400"/>
              </a:spcAft>
              <a:buNone/>
            </a:pPr>
            <a:r>
              <a:rPr sz="1800" b="1" i="0">
                <a:solidFill>
                  <a:srgbClr val="0E1F53"/>
                </a:solidFill>
                <a:latin typeface="Roboto"/>
              </a:rPr>
              <a:t>Monatlich</a:t>
            </a:r>
          </a:p>
        </p:txBody>
      </p:sp>
      <p:sp>
        <p:nvSpPr>
          <p:cNvPr id="18" name="Rounded Rectangle 17"/>
          <p:cNvSpPr/>
          <p:nvPr/>
        </p:nvSpPr>
        <p:spPr>
          <a:xfrm>
            <a:off x="3719322" y="356616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856481" y="356616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Wettbewerber-Monitor</a:t>
            </a:r>
          </a:p>
        </p:txBody>
      </p:sp>
      <p:sp>
        <p:nvSpPr>
          <p:cNvPr id="20" name="Rounded Rectangle 19"/>
          <p:cNvSpPr/>
          <p:nvPr/>
        </p:nvSpPr>
        <p:spPr>
          <a:xfrm>
            <a:off x="3719322" y="429768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3856481" y="429768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Förderprogramm-Scout</a:t>
            </a:r>
          </a:p>
        </p:txBody>
      </p:sp>
      <p:sp>
        <p:nvSpPr>
          <p:cNvPr id="22" name="Rounded Rectangle 21"/>
          <p:cNvSpPr/>
          <p:nvPr/>
        </p:nvSpPr>
        <p:spPr>
          <a:xfrm>
            <a:off x="3719322" y="502920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856481" y="502920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Ideen-Report an die Geschäftsführung</a:t>
            </a:r>
          </a:p>
        </p:txBody>
      </p:sp>
      <p:sp>
        <p:nvSpPr>
          <p:cNvPr id="24" name="Rounded Rectangle 23"/>
          <p:cNvSpPr/>
          <p:nvPr/>
        </p:nvSpPr>
        <p:spPr>
          <a:xfrm>
            <a:off x="6231636" y="2011680"/>
            <a:ext cx="2420874"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460236" y="2212848"/>
            <a:ext cx="640080" cy="64008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TrendingUp_w.png"/>
          <p:cNvPicPr>
            <a:picLocks noChangeAspect="1"/>
          </p:cNvPicPr>
          <p:nvPr/>
        </p:nvPicPr>
        <p:blipFill>
          <a:blip r:embed="rId5"/>
          <a:stretch>
            <a:fillRect/>
          </a:stretch>
        </p:blipFill>
        <p:spPr>
          <a:xfrm>
            <a:off x="6613855" y="2366467"/>
            <a:ext cx="332841" cy="332841"/>
          </a:xfrm>
          <a:prstGeom prst="rect">
            <a:avLst/>
          </a:prstGeom>
        </p:spPr>
      </p:pic>
      <p:sp>
        <p:nvSpPr>
          <p:cNvPr id="27" name="TextBox 26"/>
          <p:cNvSpPr txBox="1"/>
          <p:nvPr/>
        </p:nvSpPr>
        <p:spPr>
          <a:xfrm>
            <a:off x="6460236" y="3017520"/>
            <a:ext cx="1963674" cy="411480"/>
          </a:xfrm>
          <a:prstGeom prst="rect">
            <a:avLst/>
          </a:prstGeom>
          <a:noFill/>
        </p:spPr>
        <p:txBody>
          <a:bodyPr wrap="square" lIns="0" rIns="0" tIns="0" bIns="0" anchor="t"/>
          <a:lstStyle/>
          <a:p>
            <a:pPr algn="l">
              <a:spcAft>
                <a:spcPts val="400"/>
              </a:spcAft>
              <a:buNone/>
            </a:pPr>
            <a:r>
              <a:rPr sz="1800" b="1" i="0">
                <a:solidFill>
                  <a:srgbClr val="0E1F53"/>
                </a:solidFill>
                <a:latin typeface="Roboto"/>
              </a:rPr>
              <a:t>Quartalsweise</a:t>
            </a:r>
          </a:p>
        </p:txBody>
      </p:sp>
      <p:sp>
        <p:nvSpPr>
          <p:cNvPr id="28" name="Rounded Rectangle 27"/>
          <p:cNvSpPr/>
          <p:nvPr/>
        </p:nvSpPr>
        <p:spPr>
          <a:xfrm>
            <a:off x="6414516" y="356616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551675" y="356616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Trendreport fürs Strategie-Meeting</a:t>
            </a:r>
          </a:p>
        </p:txBody>
      </p:sp>
      <p:sp>
        <p:nvSpPr>
          <p:cNvPr id="30" name="Rounded Rectangle 29"/>
          <p:cNvSpPr/>
          <p:nvPr/>
        </p:nvSpPr>
        <p:spPr>
          <a:xfrm>
            <a:off x="6414516" y="429768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551675" y="429768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Persona-Update aus Vertrieb und Service</a:t>
            </a:r>
          </a:p>
        </p:txBody>
      </p:sp>
      <p:sp>
        <p:nvSpPr>
          <p:cNvPr id="32" name="Rounded Rectangle 31"/>
          <p:cNvSpPr/>
          <p:nvPr/>
        </p:nvSpPr>
        <p:spPr>
          <a:xfrm>
            <a:off x="8926830" y="2011680"/>
            <a:ext cx="2420874"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155430" y="2212848"/>
            <a:ext cx="640080" cy="64008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Zap_w.png"/>
          <p:cNvPicPr>
            <a:picLocks noChangeAspect="1"/>
          </p:cNvPicPr>
          <p:nvPr/>
        </p:nvPicPr>
        <p:blipFill>
          <a:blip r:embed="rId6"/>
          <a:stretch>
            <a:fillRect/>
          </a:stretch>
        </p:blipFill>
        <p:spPr>
          <a:xfrm>
            <a:off x="9309049" y="2366467"/>
            <a:ext cx="332841" cy="332841"/>
          </a:xfrm>
          <a:prstGeom prst="rect">
            <a:avLst/>
          </a:prstGeom>
        </p:spPr>
      </p:pic>
      <p:sp>
        <p:nvSpPr>
          <p:cNvPr id="35" name="TextBox 34"/>
          <p:cNvSpPr txBox="1"/>
          <p:nvPr/>
        </p:nvSpPr>
        <p:spPr>
          <a:xfrm>
            <a:off x="9155430" y="3017520"/>
            <a:ext cx="1963674" cy="411480"/>
          </a:xfrm>
          <a:prstGeom prst="rect">
            <a:avLst/>
          </a:prstGeom>
          <a:noFill/>
        </p:spPr>
        <p:txBody>
          <a:bodyPr wrap="square" lIns="0" rIns="0" tIns="0" bIns="0" anchor="t"/>
          <a:lstStyle/>
          <a:p>
            <a:pPr algn="l">
              <a:spcAft>
                <a:spcPts val="400"/>
              </a:spcAft>
              <a:buNone/>
            </a:pPr>
            <a:r>
              <a:rPr sz="1800" b="1" i="0">
                <a:solidFill>
                  <a:srgbClr val="FB2762"/>
                </a:solidFill>
                <a:latin typeface="Roboto"/>
              </a:rPr>
              <a:t>Bei Ereignis</a:t>
            </a:r>
          </a:p>
        </p:txBody>
      </p:sp>
      <p:sp>
        <p:nvSpPr>
          <p:cNvPr id="36" name="Rounded Rectangle 35"/>
          <p:cNvSpPr/>
          <p:nvPr/>
        </p:nvSpPr>
        <p:spPr>
          <a:xfrm>
            <a:off x="9109709" y="356616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246869" y="356616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Neues Interview → Auswertung</a:t>
            </a:r>
          </a:p>
        </p:txBody>
      </p:sp>
      <p:sp>
        <p:nvSpPr>
          <p:cNvPr id="38" name="Rounded Rectangle 37"/>
          <p:cNvSpPr/>
          <p:nvPr/>
        </p:nvSpPr>
        <p:spPr>
          <a:xfrm>
            <a:off x="9109709" y="429768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246869" y="429768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Neue Idee im Formular → Bewertung</a:t>
            </a:r>
          </a:p>
        </p:txBody>
      </p:sp>
      <p:sp>
        <p:nvSpPr>
          <p:cNvPr id="40" name="Rounded Rectangle 39"/>
          <p:cNvSpPr/>
          <p:nvPr/>
        </p:nvSpPr>
        <p:spPr>
          <a:xfrm>
            <a:off x="9109709" y="5029200"/>
            <a:ext cx="2055114" cy="603504"/>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246869" y="5029200"/>
            <a:ext cx="1780794" cy="603504"/>
          </a:xfrm>
          <a:prstGeom prst="rect">
            <a:avLst/>
          </a:prstGeom>
          <a:noFill/>
        </p:spPr>
        <p:txBody>
          <a:bodyPr wrap="square" lIns="0" rIns="0" tIns="0" bIns="0" anchor="ctr"/>
          <a:lstStyle/>
          <a:p>
            <a:pPr algn="l">
              <a:spcAft>
                <a:spcPts val="400"/>
              </a:spcAft>
              <a:buNone/>
            </a:pPr>
            <a:r>
              <a:rPr sz="1300" b="0" i="0">
                <a:solidFill>
                  <a:srgbClr val="0E1F53"/>
                </a:solidFill>
                <a:latin typeface="Roboto"/>
              </a:rPr>
              <a:t>Neue Ausschreibung → Prüfung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Systemprompt: Markt-Radar für jeden Montag</a:t>
            </a:r>
          </a:p>
        </p:txBody>
      </p:sp>
      <p:sp>
        <p:nvSpPr>
          <p:cNvPr id="3" name="Rounded Rectangle 2"/>
          <p:cNvSpPr/>
          <p:nvPr/>
        </p:nvSpPr>
        <p:spPr>
          <a:xfrm>
            <a:off x="841248" y="850392"/>
            <a:ext cx="1283817"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SYSTEMPROMPT</a:t>
            </a:r>
          </a:p>
        </p:txBody>
      </p:sp>
      <p:sp>
        <p:nvSpPr>
          <p:cNvPr id="4" name="Rounded Rectangle 3"/>
          <p:cNvSpPr/>
          <p:nvPr/>
        </p:nvSpPr>
        <p:spPr>
          <a:xfrm>
            <a:off x="841248" y="2011680"/>
            <a:ext cx="7726679" cy="4023360"/>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59536" y="2029968"/>
            <a:ext cx="7690104" cy="347472"/>
          </a:xfrm>
          <a:prstGeom prst="rect">
            <a:avLst/>
          </a:prstGeom>
          <a:solidFill>
            <a:srgbClr val="E9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78408" y="2135124"/>
            <a:ext cx="109728" cy="109728"/>
          </a:xfrm>
          <a:prstGeom prst="ellipse">
            <a:avLst/>
          </a:prstGeom>
          <a:solidFill>
            <a:srgbClr val="C83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288" y="2135124"/>
            <a:ext cx="109728" cy="109728"/>
          </a:xfrm>
          <a:prstGeom prst="ellipse">
            <a:avLst/>
          </a:prstGeom>
          <a:solidFill>
            <a:srgbClr val="D9A2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44168" y="2135124"/>
            <a:ext cx="109728" cy="109728"/>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18488" y="2048256"/>
            <a:ext cx="6812279" cy="310896"/>
          </a:xfrm>
          <a:prstGeom prst="rect">
            <a:avLst/>
          </a:prstGeom>
          <a:noFill/>
        </p:spPr>
        <p:txBody>
          <a:bodyPr wrap="square" lIns="0" rIns="0" tIns="0" bIns="0" anchor="ctr"/>
          <a:lstStyle/>
          <a:p>
            <a:pPr algn="l">
              <a:spcAft>
                <a:spcPts val="400"/>
              </a:spcAft>
              <a:buNone/>
            </a:pPr>
            <a:r>
              <a:rPr sz="1100" b="1" i="0">
                <a:solidFill>
                  <a:srgbClr val="5A6684"/>
                </a:solidFill>
                <a:latin typeface="Roboto"/>
              </a:rPr>
              <a:t>Markt-Radar · geplante Aufgabe</a:t>
            </a:r>
          </a:p>
        </p:txBody>
      </p:sp>
      <p:sp>
        <p:nvSpPr>
          <p:cNvPr id="10" name="Rounded Rectangle 9"/>
          <p:cNvSpPr/>
          <p:nvPr/>
        </p:nvSpPr>
        <p:spPr>
          <a:xfrm>
            <a:off x="969264" y="2487168"/>
            <a:ext cx="7470648" cy="524829"/>
          </a:xfrm>
          <a:prstGeom prst="roundRect">
            <a:avLst>
              <a:gd name="adj" fmla="val 8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60704" y="2542032"/>
            <a:ext cx="960120" cy="237744"/>
          </a:xfrm>
          <a:prstGeom prst="rect">
            <a:avLst/>
          </a:prstGeom>
          <a:noFill/>
        </p:spPr>
        <p:txBody>
          <a:bodyPr wrap="square" lIns="0" rIns="0" tIns="0" bIns="0" anchor="t"/>
          <a:lstStyle/>
          <a:p>
            <a:pPr algn="l">
              <a:spcAft>
                <a:spcPts val="400"/>
              </a:spcAft>
              <a:buNone/>
            </a:pPr>
            <a:r>
              <a:rPr sz="950" b="1" i="0">
                <a:solidFill>
                  <a:srgbClr val="1E8E4E"/>
                </a:solidFill>
                <a:latin typeface="Roboto"/>
              </a:rPr>
              <a:t>ROLLE</a:t>
            </a:r>
          </a:p>
        </p:txBody>
      </p:sp>
      <p:sp>
        <p:nvSpPr>
          <p:cNvPr id="12" name="TextBox 11"/>
          <p:cNvSpPr txBox="1"/>
          <p:nvPr/>
        </p:nvSpPr>
        <p:spPr>
          <a:xfrm>
            <a:off x="2020824" y="2523744"/>
            <a:ext cx="6309360" cy="451677"/>
          </a:xfrm>
          <a:prstGeom prst="rect">
            <a:avLst/>
          </a:prstGeom>
          <a:noFill/>
        </p:spPr>
        <p:txBody>
          <a:bodyPr wrap="square" lIns="0" rIns="0" tIns="0" bIns="0" anchor="ctr"/>
          <a:lstStyle/>
          <a:p>
            <a:pPr algn="l">
              <a:spcAft>
                <a:spcPts val="0"/>
              </a:spcAft>
              <a:buNone/>
            </a:pPr>
            <a:r>
              <a:rPr sz="1150" b="0" i="0">
                <a:solidFill>
                  <a:srgbClr val="1B2440"/>
                </a:solidFill>
                <a:latin typeface="Roboto"/>
              </a:rPr>
              <a:t>Du bist Markt-Radar, ein Analyst, der jeden Montag die wichtigsten Marktsignale für die Geschäftsführung zusammenfasst.</a:t>
            </a:r>
          </a:p>
        </p:txBody>
      </p:sp>
      <p:sp>
        <p:nvSpPr>
          <p:cNvPr id="13" name="Rounded Rectangle 12"/>
          <p:cNvSpPr/>
          <p:nvPr/>
        </p:nvSpPr>
        <p:spPr>
          <a:xfrm>
            <a:off x="969264" y="3076005"/>
            <a:ext cx="7470648" cy="511598"/>
          </a:xfrm>
          <a:prstGeom prst="roundRect">
            <a:avLst>
              <a:gd name="adj" fmla="val 8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60704" y="3130869"/>
            <a:ext cx="960120" cy="237744"/>
          </a:xfrm>
          <a:prstGeom prst="rect">
            <a:avLst/>
          </a:prstGeom>
          <a:noFill/>
        </p:spPr>
        <p:txBody>
          <a:bodyPr wrap="square" lIns="0" rIns="0" tIns="0" bIns="0" anchor="t"/>
          <a:lstStyle/>
          <a:p>
            <a:pPr algn="l">
              <a:spcAft>
                <a:spcPts val="400"/>
              </a:spcAft>
              <a:buNone/>
            </a:pPr>
            <a:r>
              <a:rPr sz="950" b="1" i="0">
                <a:solidFill>
                  <a:srgbClr val="1F6FD1"/>
                </a:solidFill>
                <a:latin typeface="Roboto"/>
              </a:rPr>
              <a:t>KONTEXT</a:t>
            </a:r>
          </a:p>
        </p:txBody>
      </p:sp>
      <p:sp>
        <p:nvSpPr>
          <p:cNvPr id="15" name="TextBox 14"/>
          <p:cNvSpPr txBox="1"/>
          <p:nvPr/>
        </p:nvSpPr>
        <p:spPr>
          <a:xfrm>
            <a:off x="2020824" y="3112581"/>
            <a:ext cx="6309360" cy="438446"/>
          </a:xfrm>
          <a:prstGeom prst="rect">
            <a:avLst/>
          </a:prstGeom>
          <a:noFill/>
        </p:spPr>
        <p:txBody>
          <a:bodyPr wrap="square" lIns="0" rIns="0" tIns="0" bIns="0" anchor="ctr"/>
          <a:lstStyle/>
          <a:p>
            <a:pPr algn="l">
              <a:spcAft>
                <a:spcPts val="0"/>
              </a:spcAft>
              <a:buNone/>
            </a:pPr>
            <a:r>
              <a:rPr sz="1150" b="0" i="0">
                <a:solidFill>
                  <a:srgbClr val="1B2440"/>
                </a:solidFill>
                <a:latin typeface="Roboto"/>
              </a:rPr>
              <a:t>[Unternehmen], [Branche] am Niederrhein. Kundschaft: [Zielgruppen]. Wettbewerber: [3–5 Namen]. Themen: [Stichworte].</a:t>
            </a:r>
          </a:p>
        </p:txBody>
      </p:sp>
      <p:sp>
        <p:nvSpPr>
          <p:cNvPr id="16" name="Rounded Rectangle 15"/>
          <p:cNvSpPr/>
          <p:nvPr/>
        </p:nvSpPr>
        <p:spPr>
          <a:xfrm>
            <a:off x="969264" y="3651611"/>
            <a:ext cx="7470648" cy="467495"/>
          </a:xfrm>
          <a:prstGeom prst="roundRect">
            <a:avLst>
              <a:gd name="adj" fmla="val 8000"/>
            </a:avLst>
          </a:prstGeom>
          <a:solidFill>
            <a:srgbClr val="FDEE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60704" y="3706475"/>
            <a:ext cx="960120" cy="237744"/>
          </a:xfrm>
          <a:prstGeom prst="rect">
            <a:avLst/>
          </a:prstGeom>
          <a:noFill/>
        </p:spPr>
        <p:txBody>
          <a:bodyPr wrap="square" lIns="0" rIns="0" tIns="0" bIns="0" anchor="t"/>
          <a:lstStyle/>
          <a:p>
            <a:pPr algn="l">
              <a:spcAft>
                <a:spcPts val="400"/>
              </a:spcAft>
              <a:buNone/>
            </a:pPr>
            <a:r>
              <a:rPr sz="950" b="1" i="0">
                <a:solidFill>
                  <a:srgbClr val="D9730D"/>
                </a:solidFill>
                <a:latin typeface="Roboto"/>
              </a:rPr>
              <a:t>AUFGABE</a:t>
            </a:r>
          </a:p>
        </p:txBody>
      </p:sp>
      <p:sp>
        <p:nvSpPr>
          <p:cNvPr id="18" name="TextBox 17"/>
          <p:cNvSpPr txBox="1"/>
          <p:nvPr/>
        </p:nvSpPr>
        <p:spPr>
          <a:xfrm>
            <a:off x="2020824" y="3688187"/>
            <a:ext cx="6309360" cy="394343"/>
          </a:xfrm>
          <a:prstGeom prst="rect">
            <a:avLst/>
          </a:prstGeom>
          <a:noFill/>
        </p:spPr>
        <p:txBody>
          <a:bodyPr wrap="square" lIns="0" rIns="0" tIns="0" bIns="0" anchor="ctr"/>
          <a:lstStyle/>
          <a:p>
            <a:pPr algn="l">
              <a:spcAft>
                <a:spcPts val="0"/>
              </a:spcAft>
              <a:buNone/>
            </a:pPr>
            <a:r>
              <a:rPr sz="1150" b="0" i="0">
                <a:solidFill>
                  <a:srgbClr val="1B2440"/>
                </a:solidFill>
                <a:latin typeface="Roboto"/>
              </a:rPr>
              <a:t>Recherchiere, was sich in den letzten 7 Tagen zu diesen Themen getan hat, und schicke ein kurzes Briefing.</a:t>
            </a:r>
          </a:p>
        </p:txBody>
      </p:sp>
      <p:sp>
        <p:nvSpPr>
          <p:cNvPr id="19" name="Rounded Rectangle 18"/>
          <p:cNvSpPr/>
          <p:nvPr/>
        </p:nvSpPr>
        <p:spPr>
          <a:xfrm>
            <a:off x="969264" y="4183114"/>
            <a:ext cx="7470648" cy="555701"/>
          </a:xfrm>
          <a:prstGeom prst="roundRect">
            <a:avLst>
              <a:gd name="adj" fmla="val 8000"/>
            </a:avLst>
          </a:prstGeom>
          <a:solidFill>
            <a:srgbClr val="EEE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60704" y="4237978"/>
            <a:ext cx="960120" cy="237744"/>
          </a:xfrm>
          <a:prstGeom prst="rect">
            <a:avLst/>
          </a:prstGeom>
          <a:noFill/>
        </p:spPr>
        <p:txBody>
          <a:bodyPr wrap="square" lIns="0" rIns="0" tIns="0" bIns="0" anchor="t"/>
          <a:lstStyle/>
          <a:p>
            <a:pPr algn="l">
              <a:spcAft>
                <a:spcPts val="400"/>
              </a:spcAft>
              <a:buNone/>
            </a:pPr>
            <a:r>
              <a:rPr sz="950" b="1" i="0">
                <a:solidFill>
                  <a:srgbClr val="7A4CC2"/>
                </a:solidFill>
                <a:latin typeface="Roboto"/>
              </a:rPr>
              <a:t>VORGEHEN</a:t>
            </a:r>
          </a:p>
        </p:txBody>
      </p:sp>
      <p:sp>
        <p:nvSpPr>
          <p:cNvPr id="21" name="TextBox 20"/>
          <p:cNvSpPr txBox="1"/>
          <p:nvPr/>
        </p:nvSpPr>
        <p:spPr>
          <a:xfrm>
            <a:off x="2020824" y="4219690"/>
            <a:ext cx="6309360" cy="482549"/>
          </a:xfrm>
          <a:prstGeom prst="rect">
            <a:avLst/>
          </a:prstGeom>
          <a:noFill/>
        </p:spPr>
        <p:txBody>
          <a:bodyPr wrap="square" lIns="0" rIns="0" tIns="0" bIns="0" anchor="ctr"/>
          <a:lstStyle/>
          <a:p>
            <a:pPr algn="l">
              <a:spcAft>
                <a:spcPts val="0"/>
              </a:spcAft>
              <a:buNone/>
            </a:pPr>
            <a:r>
              <a:rPr sz="1150" b="0" i="0">
                <a:solidFill>
                  <a:srgbClr val="1B2440"/>
                </a:solidFill>
                <a:latin typeface="Roboto"/>
              </a:rPr>
              <a:t>1. Websuche je Thema und Wettbewerber. 2. Nur Neues der letzten 7 Tage. 3. Relevanz bewerten. 4. Je Signal eine Handlungsidee.</a:t>
            </a:r>
          </a:p>
        </p:txBody>
      </p:sp>
      <p:sp>
        <p:nvSpPr>
          <p:cNvPr id="22" name="Rounded Rectangle 21"/>
          <p:cNvSpPr/>
          <p:nvPr/>
        </p:nvSpPr>
        <p:spPr>
          <a:xfrm>
            <a:off x="969264" y="4802824"/>
            <a:ext cx="7470648" cy="608625"/>
          </a:xfrm>
          <a:prstGeom prst="roundRect">
            <a:avLst>
              <a:gd name="adj" fmla="val 8000"/>
            </a:avLst>
          </a:prstGeom>
          <a:solidFill>
            <a:srgbClr val="DD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0704" y="4857688"/>
            <a:ext cx="960120" cy="237744"/>
          </a:xfrm>
          <a:prstGeom prst="rect">
            <a:avLst/>
          </a:prstGeom>
          <a:noFill/>
        </p:spPr>
        <p:txBody>
          <a:bodyPr wrap="square" lIns="0" rIns="0" tIns="0" bIns="0" anchor="t"/>
          <a:lstStyle/>
          <a:p>
            <a:pPr algn="l">
              <a:spcAft>
                <a:spcPts val="400"/>
              </a:spcAft>
              <a:buNone/>
            </a:pPr>
            <a:r>
              <a:rPr sz="950" b="1" i="0">
                <a:solidFill>
                  <a:srgbClr val="0F8C8C"/>
                </a:solidFill>
                <a:latin typeface="Roboto"/>
              </a:rPr>
              <a:t>FORMAT</a:t>
            </a:r>
          </a:p>
        </p:txBody>
      </p:sp>
      <p:sp>
        <p:nvSpPr>
          <p:cNvPr id="24" name="TextBox 23"/>
          <p:cNvSpPr txBox="1"/>
          <p:nvPr/>
        </p:nvSpPr>
        <p:spPr>
          <a:xfrm>
            <a:off x="2020824" y="4839400"/>
            <a:ext cx="6309360" cy="535473"/>
          </a:xfrm>
          <a:prstGeom prst="rect">
            <a:avLst/>
          </a:prstGeom>
          <a:noFill/>
        </p:spPr>
        <p:txBody>
          <a:bodyPr wrap="square" lIns="0" rIns="0" tIns="0" bIns="0" anchor="ctr"/>
          <a:lstStyle/>
          <a:p>
            <a:pPr algn="l">
              <a:spcAft>
                <a:spcPts val="0"/>
              </a:spcAft>
              <a:buNone/>
            </a:pPr>
            <a:r>
              <a:rPr sz="1150" b="0" i="0">
                <a:solidFill>
                  <a:srgbClr val="1B2440"/>
                </a:solidFill>
                <a:latin typeface="Roboto"/>
              </a:rPr>
              <a:t>Mail „Markt-Radar KW [Nr.]“: Top 3 Signale mit je 2 Sätzen, Link und Handlungsidee, danach max. 5 Kurzmeldungen. Lesezeit unter 3 Minuten.</a:t>
            </a:r>
          </a:p>
        </p:txBody>
      </p:sp>
      <p:sp>
        <p:nvSpPr>
          <p:cNvPr id="25" name="Rounded Rectangle 24"/>
          <p:cNvSpPr/>
          <p:nvPr/>
        </p:nvSpPr>
        <p:spPr>
          <a:xfrm>
            <a:off x="969264" y="5475458"/>
            <a:ext cx="7470648" cy="449853"/>
          </a:xfrm>
          <a:prstGeom prst="roundRect">
            <a:avLst>
              <a:gd name="adj" fmla="val 8000"/>
            </a:avLst>
          </a:prstGeom>
          <a:solidFill>
            <a:srgbClr val="FAE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60704" y="5530322"/>
            <a:ext cx="960120" cy="237744"/>
          </a:xfrm>
          <a:prstGeom prst="rect">
            <a:avLst/>
          </a:prstGeom>
          <a:noFill/>
        </p:spPr>
        <p:txBody>
          <a:bodyPr wrap="square" lIns="0" rIns="0" tIns="0" bIns="0" anchor="t"/>
          <a:lstStyle/>
          <a:p>
            <a:pPr algn="l">
              <a:spcAft>
                <a:spcPts val="400"/>
              </a:spcAft>
              <a:buNone/>
            </a:pPr>
            <a:r>
              <a:rPr sz="950" b="1" i="0">
                <a:solidFill>
                  <a:srgbClr val="C8323C"/>
                </a:solidFill>
                <a:latin typeface="Roboto"/>
              </a:rPr>
              <a:t>REGELN</a:t>
            </a:r>
          </a:p>
        </p:txBody>
      </p:sp>
      <p:sp>
        <p:nvSpPr>
          <p:cNvPr id="27" name="TextBox 26"/>
          <p:cNvSpPr txBox="1"/>
          <p:nvPr/>
        </p:nvSpPr>
        <p:spPr>
          <a:xfrm>
            <a:off x="2020824" y="5512034"/>
            <a:ext cx="6309360" cy="376701"/>
          </a:xfrm>
          <a:prstGeom prst="rect">
            <a:avLst/>
          </a:prstGeom>
          <a:noFill/>
        </p:spPr>
        <p:txBody>
          <a:bodyPr wrap="square" lIns="0" rIns="0" tIns="0" bIns="0" anchor="ctr"/>
          <a:lstStyle/>
          <a:p>
            <a:pPr algn="l">
              <a:spcAft>
                <a:spcPts val="0"/>
              </a:spcAft>
              <a:buNone/>
            </a:pPr>
            <a:r>
              <a:rPr sz="1150" b="0" i="0">
                <a:solidFill>
                  <a:srgbClr val="1B2440"/>
                </a:solidFill>
                <a:latin typeface="Roboto"/>
              </a:rPr>
              <a:t>Nur Quellen mit Datum und Link. Keine Gerüchte. Ist nichts Relevantes passiert, sag das in einem Satz.</a:t>
            </a:r>
          </a:p>
        </p:txBody>
      </p:sp>
      <p:sp>
        <p:nvSpPr>
          <p:cNvPr id="28" name="Rounded Rectangle 27"/>
          <p:cNvSpPr/>
          <p:nvPr/>
        </p:nvSpPr>
        <p:spPr>
          <a:xfrm>
            <a:off x="8842248" y="2011680"/>
            <a:ext cx="2505456" cy="40233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043416" y="2148840"/>
            <a:ext cx="2139696"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Einstellungen</a:t>
            </a:r>
          </a:p>
        </p:txBody>
      </p:sp>
      <p:sp>
        <p:nvSpPr>
          <p:cNvPr id="30" name="Oval 29"/>
          <p:cNvSpPr/>
          <p:nvPr/>
        </p:nvSpPr>
        <p:spPr>
          <a:xfrm>
            <a:off x="9043416" y="2651760"/>
            <a:ext cx="457200" cy="457200"/>
          </a:xfrm>
          <a:prstGeom prst="ellipse">
            <a:avLst/>
          </a:prstGeom>
          <a:solidFill>
            <a:srgbClr val="1E8E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CalendarClock_w.png"/>
          <p:cNvPicPr>
            <a:picLocks noChangeAspect="1"/>
          </p:cNvPicPr>
          <p:nvPr/>
        </p:nvPicPr>
        <p:blipFill>
          <a:blip r:embed="rId3"/>
          <a:stretch>
            <a:fillRect/>
          </a:stretch>
        </p:blipFill>
        <p:spPr>
          <a:xfrm>
            <a:off x="9153144" y="2761488"/>
            <a:ext cx="237744" cy="237744"/>
          </a:xfrm>
          <a:prstGeom prst="rect">
            <a:avLst/>
          </a:prstGeom>
        </p:spPr>
      </p:pic>
      <p:sp>
        <p:nvSpPr>
          <p:cNvPr id="32" name="TextBox 31"/>
          <p:cNvSpPr txBox="1"/>
          <p:nvPr/>
        </p:nvSpPr>
        <p:spPr>
          <a:xfrm>
            <a:off x="9619488" y="2606040"/>
            <a:ext cx="1591056" cy="594360"/>
          </a:xfrm>
          <a:prstGeom prst="rect">
            <a:avLst/>
          </a:prstGeom>
          <a:noFill/>
        </p:spPr>
        <p:txBody>
          <a:bodyPr wrap="square" lIns="0" rIns="0" tIns="0" bIns="0" anchor="ctr"/>
          <a:lstStyle/>
          <a:p>
            <a:pPr algn="l">
              <a:spcAft>
                <a:spcPts val="0"/>
              </a:spcAft>
              <a:buNone/>
            </a:pPr>
            <a:r>
              <a:rPr sz="1250" b="1" i="0">
                <a:solidFill>
                  <a:srgbClr val="0E1F53"/>
                </a:solidFill>
                <a:latin typeface="Roboto"/>
              </a:rPr>
              <a:t>Zeitplan</a:t>
            </a:r>
          </a:p>
          <a:p>
            <a:pPr algn="l">
              <a:spcAft>
                <a:spcPts val="0"/>
              </a:spcAft>
              <a:buNone/>
            </a:pPr>
            <a:r>
              <a:rPr sz="1150" b="0" i="0">
                <a:solidFill>
                  <a:srgbClr val="5A6684"/>
                </a:solidFill>
                <a:latin typeface="Roboto"/>
              </a:rPr>
              <a:t>wöchentlich, Mo 7:00</a:t>
            </a:r>
          </a:p>
        </p:txBody>
      </p:sp>
      <p:sp>
        <p:nvSpPr>
          <p:cNvPr id="33" name="Oval 32"/>
          <p:cNvSpPr/>
          <p:nvPr/>
        </p:nvSpPr>
        <p:spPr>
          <a:xfrm>
            <a:off x="9043416" y="347472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LuSearch_w.png"/>
          <p:cNvPicPr>
            <a:picLocks noChangeAspect="1"/>
          </p:cNvPicPr>
          <p:nvPr/>
        </p:nvPicPr>
        <p:blipFill>
          <a:blip r:embed="rId4"/>
          <a:stretch>
            <a:fillRect/>
          </a:stretch>
        </p:blipFill>
        <p:spPr>
          <a:xfrm>
            <a:off x="9153144" y="3584448"/>
            <a:ext cx="237744" cy="237744"/>
          </a:xfrm>
          <a:prstGeom prst="rect">
            <a:avLst/>
          </a:prstGeom>
        </p:spPr>
      </p:pic>
      <p:sp>
        <p:nvSpPr>
          <p:cNvPr id="35" name="TextBox 34"/>
          <p:cNvSpPr txBox="1"/>
          <p:nvPr/>
        </p:nvSpPr>
        <p:spPr>
          <a:xfrm>
            <a:off x="9619488" y="3429000"/>
            <a:ext cx="1591056" cy="594360"/>
          </a:xfrm>
          <a:prstGeom prst="rect">
            <a:avLst/>
          </a:prstGeom>
          <a:noFill/>
        </p:spPr>
        <p:txBody>
          <a:bodyPr wrap="square" lIns="0" rIns="0" tIns="0" bIns="0" anchor="ctr"/>
          <a:lstStyle/>
          <a:p>
            <a:pPr algn="l">
              <a:spcAft>
                <a:spcPts val="0"/>
              </a:spcAft>
              <a:buNone/>
            </a:pPr>
            <a:r>
              <a:rPr sz="1250" b="1" i="0">
                <a:solidFill>
                  <a:srgbClr val="0E1F53"/>
                </a:solidFill>
                <a:latin typeface="Roboto"/>
              </a:rPr>
              <a:t>Werkzeuge</a:t>
            </a:r>
          </a:p>
          <a:p>
            <a:pPr algn="l">
              <a:spcAft>
                <a:spcPts val="0"/>
              </a:spcAft>
              <a:buNone/>
            </a:pPr>
            <a:r>
              <a:rPr sz="1150" b="0" i="0">
                <a:solidFill>
                  <a:srgbClr val="5A6684"/>
                </a:solidFill>
                <a:latin typeface="Roboto"/>
              </a:rPr>
              <a:t>Websuche, Deep Research</a:t>
            </a:r>
          </a:p>
        </p:txBody>
      </p:sp>
      <p:sp>
        <p:nvSpPr>
          <p:cNvPr id="36" name="Oval 35"/>
          <p:cNvSpPr/>
          <p:nvPr/>
        </p:nvSpPr>
        <p:spPr>
          <a:xfrm>
            <a:off x="9043416" y="42976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LuMail_w.png"/>
          <p:cNvPicPr>
            <a:picLocks noChangeAspect="1"/>
          </p:cNvPicPr>
          <p:nvPr/>
        </p:nvPicPr>
        <p:blipFill>
          <a:blip r:embed="rId5"/>
          <a:stretch>
            <a:fillRect/>
          </a:stretch>
        </p:blipFill>
        <p:spPr>
          <a:xfrm>
            <a:off x="9153144" y="4407408"/>
            <a:ext cx="237744" cy="237744"/>
          </a:xfrm>
          <a:prstGeom prst="rect">
            <a:avLst/>
          </a:prstGeom>
        </p:spPr>
      </p:pic>
      <p:sp>
        <p:nvSpPr>
          <p:cNvPr id="38" name="TextBox 37"/>
          <p:cNvSpPr txBox="1"/>
          <p:nvPr/>
        </p:nvSpPr>
        <p:spPr>
          <a:xfrm>
            <a:off x="9619488" y="4251960"/>
            <a:ext cx="1591056" cy="594360"/>
          </a:xfrm>
          <a:prstGeom prst="rect">
            <a:avLst/>
          </a:prstGeom>
          <a:noFill/>
        </p:spPr>
        <p:txBody>
          <a:bodyPr wrap="square" lIns="0" rIns="0" tIns="0" bIns="0" anchor="ctr"/>
          <a:lstStyle/>
          <a:p>
            <a:pPr algn="l">
              <a:spcAft>
                <a:spcPts val="0"/>
              </a:spcAft>
              <a:buNone/>
            </a:pPr>
            <a:r>
              <a:rPr sz="1250" b="1" i="0">
                <a:solidFill>
                  <a:srgbClr val="0E1F53"/>
                </a:solidFill>
                <a:latin typeface="Roboto"/>
              </a:rPr>
              <a:t>Ausgabe</a:t>
            </a:r>
          </a:p>
          <a:p>
            <a:pPr algn="l">
              <a:spcAft>
                <a:spcPts val="0"/>
              </a:spcAft>
              <a:buNone/>
            </a:pPr>
            <a:r>
              <a:rPr sz="1150" b="0" i="0">
                <a:solidFill>
                  <a:srgbClr val="5A6684"/>
                </a:solidFill>
                <a:latin typeface="Roboto"/>
              </a:rPr>
              <a:t>Mail an das Team</a:t>
            </a:r>
          </a:p>
        </p:txBody>
      </p:sp>
      <p:sp>
        <p:nvSpPr>
          <p:cNvPr id="39" name="Oval 38"/>
          <p:cNvSpPr/>
          <p:nvPr/>
        </p:nvSpPr>
        <p:spPr>
          <a:xfrm>
            <a:off x="9043416" y="512064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LuUserRound_w.png"/>
          <p:cNvPicPr>
            <a:picLocks noChangeAspect="1"/>
          </p:cNvPicPr>
          <p:nvPr/>
        </p:nvPicPr>
        <p:blipFill>
          <a:blip r:embed="rId6"/>
          <a:stretch>
            <a:fillRect/>
          </a:stretch>
        </p:blipFill>
        <p:spPr>
          <a:xfrm>
            <a:off x="9153144" y="5230368"/>
            <a:ext cx="237744" cy="237744"/>
          </a:xfrm>
          <a:prstGeom prst="rect">
            <a:avLst/>
          </a:prstGeom>
        </p:spPr>
      </p:pic>
      <p:sp>
        <p:nvSpPr>
          <p:cNvPr id="41" name="TextBox 40"/>
          <p:cNvSpPr txBox="1"/>
          <p:nvPr/>
        </p:nvSpPr>
        <p:spPr>
          <a:xfrm>
            <a:off x="9619488" y="5074920"/>
            <a:ext cx="1591056" cy="594360"/>
          </a:xfrm>
          <a:prstGeom prst="rect">
            <a:avLst/>
          </a:prstGeom>
          <a:noFill/>
        </p:spPr>
        <p:txBody>
          <a:bodyPr wrap="square" lIns="0" rIns="0" tIns="0" bIns="0" anchor="ctr"/>
          <a:lstStyle/>
          <a:p>
            <a:pPr algn="l">
              <a:spcAft>
                <a:spcPts val="0"/>
              </a:spcAft>
              <a:buNone/>
            </a:pPr>
            <a:r>
              <a:rPr sz="1250" b="1" i="0">
                <a:solidFill>
                  <a:srgbClr val="0E1F53"/>
                </a:solidFill>
                <a:latin typeface="Roboto"/>
              </a:rPr>
              <a:t>Verantwortlich</a:t>
            </a:r>
          </a:p>
          <a:p>
            <a:pPr algn="l">
              <a:spcAft>
                <a:spcPts val="0"/>
              </a:spcAft>
              <a:buNone/>
            </a:pPr>
            <a:r>
              <a:rPr sz="1150" b="0" i="0">
                <a:solidFill>
                  <a:srgbClr val="5A6684"/>
                </a:solidFill>
                <a:latin typeface="Roboto"/>
              </a:rPr>
              <a:t>eine Person liest und teilt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So läuft der Markt-Radar technisch: zwei Wege</a:t>
            </a:r>
          </a:p>
        </p:txBody>
      </p:sp>
      <p:sp>
        <p:nvSpPr>
          <p:cNvPr id="3" name="Rounded Rectangle 2"/>
          <p:cNvSpPr/>
          <p:nvPr/>
        </p:nvSpPr>
        <p:spPr>
          <a:xfrm>
            <a:off x="841248" y="850392"/>
            <a:ext cx="1536192"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AUTOMATISIERUNG</a:t>
            </a:r>
          </a:p>
        </p:txBody>
      </p:sp>
      <p:sp>
        <p:nvSpPr>
          <p:cNvPr id="4" name="Rounded Rectangle 3"/>
          <p:cNvSpPr/>
          <p:nvPr/>
        </p:nvSpPr>
        <p:spPr>
          <a:xfrm>
            <a:off x="841248" y="2011680"/>
            <a:ext cx="10506456" cy="1783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2103120"/>
            <a:ext cx="5486400"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Weg A · Geplante Aufgabe im KI-Assistenten</a:t>
            </a:r>
          </a:p>
        </p:txBody>
      </p:sp>
      <p:sp>
        <p:nvSpPr>
          <p:cNvPr id="6" name="Rounded Rectangle 5"/>
          <p:cNvSpPr/>
          <p:nvPr/>
        </p:nvSpPr>
        <p:spPr>
          <a:xfrm>
            <a:off x="9518904" y="2130552"/>
            <a:ext cx="1458883" cy="292608"/>
          </a:xfrm>
          <a:prstGeom prst="roundRect">
            <a:avLst>
              <a:gd name="adj" fmla="val 50000"/>
            </a:avLst>
          </a:prstGeom>
          <a:solidFill>
            <a:srgbClr val="E3F4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1E8E4E"/>
                </a:solidFill>
                <a:latin typeface="Roboto"/>
              </a:rPr>
              <a:t>ohne Programmierung</a:t>
            </a:r>
          </a:p>
        </p:txBody>
      </p:sp>
      <p:sp>
        <p:nvSpPr>
          <p:cNvPr id="7" name="Rounded Rectangle 6"/>
          <p:cNvSpPr/>
          <p:nvPr/>
        </p:nvSpPr>
        <p:spPr>
          <a:xfrm>
            <a:off x="1069848" y="2651760"/>
            <a:ext cx="2272284" cy="91440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207007" y="2907792"/>
            <a:ext cx="402336" cy="40233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1</a:t>
            </a:r>
          </a:p>
        </p:txBody>
      </p:sp>
      <p:sp>
        <p:nvSpPr>
          <p:cNvPr id="9" name="TextBox 8"/>
          <p:cNvSpPr txBox="1"/>
          <p:nvPr/>
        </p:nvSpPr>
        <p:spPr>
          <a:xfrm>
            <a:off x="1728216" y="2651760"/>
            <a:ext cx="1495044" cy="914400"/>
          </a:xfrm>
          <a:prstGeom prst="rect">
            <a:avLst/>
          </a:prstGeom>
          <a:noFill/>
        </p:spPr>
        <p:txBody>
          <a:bodyPr wrap="square" lIns="0" rIns="0" tIns="0" bIns="0" anchor="ctr"/>
          <a:lstStyle/>
          <a:p>
            <a:pPr algn="l">
              <a:spcAft>
                <a:spcPts val="400"/>
              </a:spcAft>
              <a:buNone/>
            </a:pPr>
            <a:r>
              <a:rPr sz="1250" b="0" i="0">
                <a:solidFill>
                  <a:srgbClr val="0E1F53"/>
                </a:solidFill>
                <a:latin typeface="Roboto"/>
              </a:rPr>
              <a:t>Agent mit Systemprompt anlegen</a:t>
            </a:r>
          </a:p>
        </p:txBody>
      </p:sp>
      <p:sp>
        <p:nvSpPr>
          <p:cNvPr id="10" name="Right Arrow 9"/>
          <p:cNvSpPr/>
          <p:nvPr/>
        </p:nvSpPr>
        <p:spPr>
          <a:xfrm>
            <a:off x="3406140" y="29992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3662172" y="2651760"/>
            <a:ext cx="2272284" cy="91440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3799332" y="2907792"/>
            <a:ext cx="402336" cy="40233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2</a:t>
            </a:r>
          </a:p>
        </p:txBody>
      </p:sp>
      <p:sp>
        <p:nvSpPr>
          <p:cNvPr id="13" name="TextBox 12"/>
          <p:cNvSpPr txBox="1"/>
          <p:nvPr/>
        </p:nvSpPr>
        <p:spPr>
          <a:xfrm>
            <a:off x="4320540" y="2651760"/>
            <a:ext cx="1495044" cy="914400"/>
          </a:xfrm>
          <a:prstGeom prst="rect">
            <a:avLst/>
          </a:prstGeom>
          <a:noFill/>
        </p:spPr>
        <p:txBody>
          <a:bodyPr wrap="square" lIns="0" rIns="0" tIns="0" bIns="0" anchor="ctr"/>
          <a:lstStyle/>
          <a:p>
            <a:pPr algn="l">
              <a:spcAft>
                <a:spcPts val="400"/>
              </a:spcAft>
              <a:buNone/>
            </a:pPr>
            <a:r>
              <a:rPr sz="1250" b="0" i="0">
                <a:solidFill>
                  <a:srgbClr val="0E1F53"/>
                </a:solidFill>
                <a:latin typeface="Roboto"/>
              </a:rPr>
              <a:t>Aufgabe planen: wöchentlich, Mo 7:00</a:t>
            </a:r>
          </a:p>
        </p:txBody>
      </p:sp>
      <p:sp>
        <p:nvSpPr>
          <p:cNvPr id="14" name="Right Arrow 13"/>
          <p:cNvSpPr/>
          <p:nvPr/>
        </p:nvSpPr>
        <p:spPr>
          <a:xfrm>
            <a:off x="5998464" y="29992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254496" y="2651760"/>
            <a:ext cx="2272284" cy="91440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391656" y="2907792"/>
            <a:ext cx="402336" cy="40233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3</a:t>
            </a:r>
          </a:p>
        </p:txBody>
      </p:sp>
      <p:sp>
        <p:nvSpPr>
          <p:cNvPr id="17" name="TextBox 16"/>
          <p:cNvSpPr txBox="1"/>
          <p:nvPr/>
        </p:nvSpPr>
        <p:spPr>
          <a:xfrm>
            <a:off x="6912864" y="2651760"/>
            <a:ext cx="1495044" cy="914400"/>
          </a:xfrm>
          <a:prstGeom prst="rect">
            <a:avLst/>
          </a:prstGeom>
          <a:noFill/>
        </p:spPr>
        <p:txBody>
          <a:bodyPr wrap="square" lIns="0" rIns="0" tIns="0" bIns="0" anchor="ctr"/>
          <a:lstStyle/>
          <a:p>
            <a:pPr algn="l">
              <a:spcAft>
                <a:spcPts val="400"/>
              </a:spcAft>
              <a:buNone/>
            </a:pPr>
            <a:r>
              <a:rPr sz="1250" b="0" i="0">
                <a:solidFill>
                  <a:srgbClr val="0E1F53"/>
                </a:solidFill>
                <a:latin typeface="Roboto"/>
              </a:rPr>
              <a:t>Benachrichtigung per Mail oder App</a:t>
            </a:r>
          </a:p>
        </p:txBody>
      </p:sp>
      <p:sp>
        <p:nvSpPr>
          <p:cNvPr id="18" name="Right Arrow 17"/>
          <p:cNvSpPr/>
          <p:nvPr/>
        </p:nvSpPr>
        <p:spPr>
          <a:xfrm>
            <a:off x="8590788" y="2999232"/>
            <a:ext cx="182880" cy="201168"/>
          </a:xfrm>
          <a:prstGeom prst="rightArrow">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846820" y="2651760"/>
            <a:ext cx="2272284" cy="914400"/>
          </a:xfrm>
          <a:prstGeom prst="roundRect">
            <a:avLst>
              <a:gd name="adj" fmla="val 6000"/>
            </a:avLst>
          </a:prstGeom>
          <a:solidFill>
            <a:srgbClr val="EE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983980" y="2907792"/>
            <a:ext cx="402336" cy="402336"/>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4</a:t>
            </a:r>
          </a:p>
        </p:txBody>
      </p:sp>
      <p:sp>
        <p:nvSpPr>
          <p:cNvPr id="21" name="TextBox 20"/>
          <p:cNvSpPr txBox="1"/>
          <p:nvPr/>
        </p:nvSpPr>
        <p:spPr>
          <a:xfrm>
            <a:off x="9505188" y="2651760"/>
            <a:ext cx="1495044" cy="914400"/>
          </a:xfrm>
          <a:prstGeom prst="rect">
            <a:avLst/>
          </a:prstGeom>
          <a:noFill/>
        </p:spPr>
        <p:txBody>
          <a:bodyPr wrap="square" lIns="0" rIns="0" tIns="0" bIns="0" anchor="ctr"/>
          <a:lstStyle/>
          <a:p>
            <a:pPr algn="l">
              <a:spcAft>
                <a:spcPts val="400"/>
              </a:spcAft>
              <a:buNone/>
            </a:pPr>
            <a:r>
              <a:rPr sz="1250" b="0" i="0">
                <a:solidFill>
                  <a:srgbClr val="0E1F53"/>
                </a:solidFill>
                <a:latin typeface="Roboto"/>
              </a:rPr>
              <a:t>2 Wochen prüfen, Prompt schärfen</a:t>
            </a:r>
          </a:p>
        </p:txBody>
      </p:sp>
      <p:sp>
        <p:nvSpPr>
          <p:cNvPr id="22" name="Rounded Rectangle 21"/>
          <p:cNvSpPr/>
          <p:nvPr/>
        </p:nvSpPr>
        <p:spPr>
          <a:xfrm>
            <a:off x="841248" y="4023360"/>
            <a:ext cx="10506456" cy="1965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69848" y="4114800"/>
            <a:ext cx="5486400" cy="365760"/>
          </a:xfrm>
          <a:prstGeom prst="rect">
            <a:avLst/>
          </a:prstGeom>
          <a:noFill/>
        </p:spPr>
        <p:txBody>
          <a:bodyPr wrap="square" lIns="0" rIns="0" tIns="0" bIns="0" anchor="t"/>
          <a:lstStyle/>
          <a:p>
            <a:pPr algn="l">
              <a:spcAft>
                <a:spcPts val="400"/>
              </a:spcAft>
              <a:buNone/>
            </a:pPr>
            <a:r>
              <a:rPr sz="1500" b="1" i="0">
                <a:solidFill>
                  <a:srgbClr val="0E1F53"/>
                </a:solidFill>
                <a:latin typeface="Roboto"/>
              </a:rPr>
              <a:t>Weg B · Workflow-Tool, z. B. n8n</a:t>
            </a:r>
          </a:p>
        </p:txBody>
      </p:sp>
      <p:sp>
        <p:nvSpPr>
          <p:cNvPr id="24" name="Rounded Rectangle 23"/>
          <p:cNvSpPr/>
          <p:nvPr/>
        </p:nvSpPr>
        <p:spPr>
          <a:xfrm>
            <a:off x="9153144" y="4142232"/>
            <a:ext cx="1770610" cy="292608"/>
          </a:xfrm>
          <a:prstGeom prst="roundRect">
            <a:avLst>
              <a:gd name="adj" fmla="val 50000"/>
            </a:avLst>
          </a:prstGeom>
          <a:solidFill>
            <a:srgbClr val="E1ED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1F6FD1"/>
                </a:solidFill>
                <a:latin typeface="Roboto"/>
              </a:rPr>
              <a:t>mehr Kontrolle &amp; Quellen</a:t>
            </a:r>
          </a:p>
        </p:txBody>
      </p:sp>
      <p:sp>
        <p:nvSpPr>
          <p:cNvPr id="25" name="Rounded Rectangle 24"/>
          <p:cNvSpPr/>
          <p:nvPr/>
        </p:nvSpPr>
        <p:spPr>
          <a:xfrm>
            <a:off x="1069848"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1207007" y="47548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uCalendarClock_w.png"/>
          <p:cNvPicPr>
            <a:picLocks noChangeAspect="1"/>
          </p:cNvPicPr>
          <p:nvPr/>
        </p:nvPicPr>
        <p:blipFill>
          <a:blip r:embed="rId3"/>
          <a:stretch>
            <a:fillRect/>
          </a:stretch>
        </p:blipFill>
        <p:spPr>
          <a:xfrm>
            <a:off x="1316736" y="4864608"/>
            <a:ext cx="237744" cy="237744"/>
          </a:xfrm>
          <a:prstGeom prst="rect">
            <a:avLst/>
          </a:prstGeom>
        </p:spPr>
      </p:pic>
      <p:sp>
        <p:nvSpPr>
          <p:cNvPr id="28" name="TextBox 27"/>
          <p:cNvSpPr txBox="1"/>
          <p:nvPr/>
        </p:nvSpPr>
        <p:spPr>
          <a:xfrm>
            <a:off x="1755648"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Zeitplan</a:t>
            </a:r>
          </a:p>
        </p:txBody>
      </p:sp>
      <p:sp>
        <p:nvSpPr>
          <p:cNvPr id="29" name="TextBox 28"/>
          <p:cNvSpPr txBox="1"/>
          <p:nvPr/>
        </p:nvSpPr>
        <p:spPr>
          <a:xfrm>
            <a:off x="1207007"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Mo 7:00</a:t>
            </a:r>
          </a:p>
        </p:txBody>
      </p:sp>
      <p:cxnSp>
        <p:nvCxnSpPr>
          <p:cNvPr id="30" name="Connector 29"/>
          <p:cNvCxnSpPr/>
          <p:nvPr/>
        </p:nvCxnSpPr>
        <p:spPr>
          <a:xfrm>
            <a:off x="2860243" y="5212080"/>
            <a:ext cx="274320" cy="0"/>
          </a:xfrm>
          <a:prstGeom prst="line">
            <a:avLst/>
          </a:prstGeom>
          <a:ln w="25400">
            <a:solidFill>
              <a:srgbClr val="0E1F53"/>
            </a:solidFill>
            <a:tailEnd type="triangle"/>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3134563"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3271723" y="47548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LuGlobe_w.png"/>
          <p:cNvPicPr>
            <a:picLocks noChangeAspect="1"/>
          </p:cNvPicPr>
          <p:nvPr/>
        </p:nvPicPr>
        <p:blipFill>
          <a:blip r:embed="rId4"/>
          <a:stretch>
            <a:fillRect/>
          </a:stretch>
        </p:blipFill>
        <p:spPr>
          <a:xfrm>
            <a:off x="3381451" y="4864608"/>
            <a:ext cx="237744" cy="237744"/>
          </a:xfrm>
          <a:prstGeom prst="rect">
            <a:avLst/>
          </a:prstGeom>
        </p:spPr>
      </p:pic>
      <p:sp>
        <p:nvSpPr>
          <p:cNvPr id="34" name="TextBox 33"/>
          <p:cNvSpPr txBox="1"/>
          <p:nvPr/>
        </p:nvSpPr>
        <p:spPr>
          <a:xfrm>
            <a:off x="3820363"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Quellen</a:t>
            </a:r>
          </a:p>
        </p:txBody>
      </p:sp>
      <p:sp>
        <p:nvSpPr>
          <p:cNvPr id="35" name="TextBox 34"/>
          <p:cNvSpPr txBox="1"/>
          <p:nvPr/>
        </p:nvSpPr>
        <p:spPr>
          <a:xfrm>
            <a:off x="3271723"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Websuche, RSS, Newsletter</a:t>
            </a:r>
          </a:p>
        </p:txBody>
      </p:sp>
      <p:cxnSp>
        <p:nvCxnSpPr>
          <p:cNvPr id="36" name="Connector 35"/>
          <p:cNvCxnSpPr/>
          <p:nvPr/>
        </p:nvCxnSpPr>
        <p:spPr>
          <a:xfrm>
            <a:off x="4924958" y="5212080"/>
            <a:ext cx="274320" cy="0"/>
          </a:xfrm>
          <a:prstGeom prst="line">
            <a:avLst/>
          </a:prstGeom>
          <a:ln w="25400">
            <a:solidFill>
              <a:srgbClr val="0E1F53"/>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199278"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5336438" y="4754880"/>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LuBot_w.png"/>
          <p:cNvPicPr>
            <a:picLocks noChangeAspect="1"/>
          </p:cNvPicPr>
          <p:nvPr/>
        </p:nvPicPr>
        <p:blipFill>
          <a:blip r:embed="rId5"/>
          <a:stretch>
            <a:fillRect/>
          </a:stretch>
        </p:blipFill>
        <p:spPr>
          <a:xfrm>
            <a:off x="5446166" y="4864608"/>
            <a:ext cx="237744" cy="237744"/>
          </a:xfrm>
          <a:prstGeom prst="rect">
            <a:avLst/>
          </a:prstGeom>
        </p:spPr>
      </p:pic>
      <p:sp>
        <p:nvSpPr>
          <p:cNvPr id="40" name="TextBox 39"/>
          <p:cNvSpPr txBox="1"/>
          <p:nvPr/>
        </p:nvSpPr>
        <p:spPr>
          <a:xfrm>
            <a:off x="5885078"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KI-Agent</a:t>
            </a:r>
          </a:p>
        </p:txBody>
      </p:sp>
      <p:sp>
        <p:nvSpPr>
          <p:cNvPr id="41" name="TextBox 40"/>
          <p:cNvSpPr txBox="1"/>
          <p:nvPr/>
        </p:nvSpPr>
        <p:spPr>
          <a:xfrm>
            <a:off x="5336438"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Systemprompt Markt-Radar</a:t>
            </a:r>
          </a:p>
        </p:txBody>
      </p:sp>
      <p:cxnSp>
        <p:nvCxnSpPr>
          <p:cNvPr id="42" name="Connector 41"/>
          <p:cNvCxnSpPr/>
          <p:nvPr/>
        </p:nvCxnSpPr>
        <p:spPr>
          <a:xfrm>
            <a:off x="6989673" y="5212080"/>
            <a:ext cx="274320" cy="0"/>
          </a:xfrm>
          <a:prstGeom prst="line">
            <a:avLst/>
          </a:prstGeom>
          <a:ln w="25400">
            <a:solidFill>
              <a:srgbClr val="0E1F53"/>
            </a:solidFill>
            <a:tailEnd type="triangle"/>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7263993"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401153" y="47548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Picture 44" descr="LuMail_w.png"/>
          <p:cNvPicPr>
            <a:picLocks noChangeAspect="1"/>
          </p:cNvPicPr>
          <p:nvPr/>
        </p:nvPicPr>
        <p:blipFill>
          <a:blip r:embed="rId6"/>
          <a:stretch>
            <a:fillRect/>
          </a:stretch>
        </p:blipFill>
        <p:spPr>
          <a:xfrm>
            <a:off x="7510881" y="4864608"/>
            <a:ext cx="237744" cy="237744"/>
          </a:xfrm>
          <a:prstGeom prst="rect">
            <a:avLst/>
          </a:prstGeom>
        </p:spPr>
      </p:pic>
      <p:sp>
        <p:nvSpPr>
          <p:cNvPr id="46" name="TextBox 45"/>
          <p:cNvSpPr txBox="1"/>
          <p:nvPr/>
        </p:nvSpPr>
        <p:spPr>
          <a:xfrm>
            <a:off x="7949793"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Versand</a:t>
            </a:r>
          </a:p>
        </p:txBody>
      </p:sp>
      <p:sp>
        <p:nvSpPr>
          <p:cNvPr id="47" name="TextBox 46"/>
          <p:cNvSpPr txBox="1"/>
          <p:nvPr/>
        </p:nvSpPr>
        <p:spPr>
          <a:xfrm>
            <a:off x="7401153"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Gmail / Outlook</a:t>
            </a:r>
          </a:p>
        </p:txBody>
      </p:sp>
      <p:cxnSp>
        <p:nvCxnSpPr>
          <p:cNvPr id="48" name="Connector 47"/>
          <p:cNvCxnSpPr/>
          <p:nvPr/>
        </p:nvCxnSpPr>
        <p:spPr>
          <a:xfrm>
            <a:off x="9054388" y="5212080"/>
            <a:ext cx="274320" cy="0"/>
          </a:xfrm>
          <a:prstGeom prst="line">
            <a:avLst/>
          </a:prstGeom>
          <a:ln w="25400">
            <a:solidFill>
              <a:srgbClr val="0E1F53"/>
            </a:solidFill>
            <a:tailEnd type="triangle"/>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328708" y="4617720"/>
            <a:ext cx="1790395" cy="1188720"/>
          </a:xfrm>
          <a:prstGeom prst="roundRect">
            <a:avLst>
              <a:gd name="adj" fmla="val 6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9465868" y="475488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LuChartColumn_w.png"/>
          <p:cNvPicPr>
            <a:picLocks noChangeAspect="1"/>
          </p:cNvPicPr>
          <p:nvPr/>
        </p:nvPicPr>
        <p:blipFill>
          <a:blip r:embed="rId7"/>
          <a:stretch>
            <a:fillRect/>
          </a:stretch>
        </p:blipFill>
        <p:spPr>
          <a:xfrm>
            <a:off x="9575596" y="4864608"/>
            <a:ext cx="237744" cy="237744"/>
          </a:xfrm>
          <a:prstGeom prst="rect">
            <a:avLst/>
          </a:prstGeom>
        </p:spPr>
      </p:pic>
      <p:sp>
        <p:nvSpPr>
          <p:cNvPr id="52" name="TextBox 51"/>
          <p:cNvSpPr txBox="1"/>
          <p:nvPr/>
        </p:nvSpPr>
        <p:spPr>
          <a:xfrm>
            <a:off x="10014508" y="4754880"/>
            <a:ext cx="1013155" cy="457200"/>
          </a:xfrm>
          <a:prstGeom prst="rect">
            <a:avLst/>
          </a:prstGeom>
          <a:noFill/>
        </p:spPr>
        <p:txBody>
          <a:bodyPr wrap="square" lIns="0" rIns="0" tIns="0" bIns="0" anchor="ctr"/>
          <a:lstStyle/>
          <a:p>
            <a:pPr algn="l">
              <a:spcAft>
                <a:spcPts val="400"/>
              </a:spcAft>
              <a:buNone/>
            </a:pPr>
            <a:r>
              <a:rPr sz="1300" b="1" i="0">
                <a:solidFill>
                  <a:srgbClr val="0E1F53"/>
                </a:solidFill>
                <a:latin typeface="Roboto"/>
              </a:rPr>
              <a:t>Archiv</a:t>
            </a:r>
          </a:p>
        </p:txBody>
      </p:sp>
      <p:sp>
        <p:nvSpPr>
          <p:cNvPr id="53" name="TextBox 52"/>
          <p:cNvSpPr txBox="1"/>
          <p:nvPr/>
        </p:nvSpPr>
        <p:spPr>
          <a:xfrm>
            <a:off x="9465868" y="5257800"/>
            <a:ext cx="1516075" cy="502920"/>
          </a:xfrm>
          <a:prstGeom prst="rect">
            <a:avLst/>
          </a:prstGeom>
          <a:noFill/>
        </p:spPr>
        <p:txBody>
          <a:bodyPr wrap="square" lIns="0" rIns="0" tIns="0" bIns="0" anchor="t"/>
          <a:lstStyle/>
          <a:p>
            <a:pPr algn="l">
              <a:spcAft>
                <a:spcPts val="400"/>
              </a:spcAft>
              <a:buNone/>
            </a:pPr>
            <a:r>
              <a:rPr sz="1150" b="0" i="0">
                <a:solidFill>
                  <a:srgbClr val="5A6684"/>
                </a:solidFill>
                <a:latin typeface="Roboto"/>
              </a:rPr>
              <a:t>Tabelle mit allen Signalen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Das Ergebnis: Montagmorgen im Postfach der HSRW</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841248" y="2011680"/>
            <a:ext cx="7498079" cy="3977639"/>
          </a:xfrm>
          <a:prstGeom prst="roundRect">
            <a:avLst>
              <a:gd name="adj" fmla="val 3000"/>
            </a:avLst>
          </a:prstGeom>
          <a:solidFill>
            <a:srgbClr val="FFFFFF"/>
          </a:solidFill>
          <a:ln w="12700">
            <a:solidFill>
              <a:srgbClr val="B8C7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59536" y="2029968"/>
            <a:ext cx="7461504" cy="822960"/>
          </a:xfrm>
          <a:prstGeom prst="rect">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69848" y="2057400"/>
            <a:ext cx="7040879" cy="777240"/>
          </a:xfrm>
          <a:prstGeom prst="rect">
            <a:avLst/>
          </a:prstGeom>
          <a:noFill/>
        </p:spPr>
        <p:txBody>
          <a:bodyPr wrap="square" lIns="0" rIns="0" tIns="0" bIns="0" anchor="ctr"/>
          <a:lstStyle/>
          <a:p>
            <a:pPr algn="l">
              <a:spcAft>
                <a:spcPts val="100"/>
              </a:spcAft>
              <a:buNone/>
            </a:pPr>
            <a:r>
              <a:rPr sz="1200" b="1" i="0">
                <a:solidFill>
                  <a:srgbClr val="5A6684"/>
                </a:solidFill>
                <a:latin typeface="Roboto"/>
              </a:rPr>
              <a:t>Von: </a:t>
            </a:r>
            <a:r>
              <a:rPr sz="1200" b="0" i="0">
                <a:solidFill>
                  <a:srgbClr val="0E1F53"/>
                </a:solidFill>
                <a:latin typeface="Roboto"/>
              </a:rPr>
              <a:t>Markt-Radar (Agent)</a:t>
            </a:r>
          </a:p>
          <a:p>
            <a:pPr algn="l">
              <a:spcAft>
                <a:spcPts val="100"/>
              </a:spcAft>
              <a:buNone/>
            </a:pPr>
            <a:r>
              <a:rPr sz="1200" b="1" i="0">
                <a:solidFill>
                  <a:srgbClr val="5A6684"/>
                </a:solidFill>
                <a:latin typeface="Roboto"/>
              </a:rPr>
              <a:t>An: </a:t>
            </a:r>
            <a:r>
              <a:rPr sz="1200" b="0" i="0">
                <a:solidFill>
                  <a:srgbClr val="0E1F53"/>
                </a:solidFill>
                <a:latin typeface="Roboto"/>
              </a:rPr>
              <a:t>Innovationsteam HSRW</a:t>
            </a:r>
          </a:p>
          <a:p>
            <a:pPr algn="l">
              <a:spcAft>
                <a:spcPts val="400"/>
              </a:spcAft>
              <a:buNone/>
            </a:pPr>
            <a:r>
              <a:rPr sz="1200" b="1" i="0">
                <a:solidFill>
                  <a:srgbClr val="5A6684"/>
                </a:solidFill>
                <a:latin typeface="Roboto"/>
              </a:rPr>
              <a:t>Betreff: </a:t>
            </a:r>
            <a:r>
              <a:rPr sz="1200" b="1" i="0">
                <a:solidFill>
                  <a:srgbClr val="0E1F53"/>
                </a:solidFill>
                <a:latin typeface="Roboto"/>
              </a:rPr>
              <a:t>Markt-Radar KW 42 · 3 Signale für die HSRW</a:t>
            </a:r>
          </a:p>
        </p:txBody>
      </p:sp>
      <p:sp>
        <p:nvSpPr>
          <p:cNvPr id="7" name="Oval 6"/>
          <p:cNvSpPr/>
          <p:nvPr/>
        </p:nvSpPr>
        <p:spPr>
          <a:xfrm>
            <a:off x="1069848" y="3090672"/>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1</a:t>
            </a:r>
          </a:p>
        </p:txBody>
      </p:sp>
      <p:sp>
        <p:nvSpPr>
          <p:cNvPr id="8" name="TextBox 7"/>
          <p:cNvSpPr txBox="1"/>
          <p:nvPr/>
        </p:nvSpPr>
        <p:spPr>
          <a:xfrm>
            <a:off x="1618488" y="3017520"/>
            <a:ext cx="6492240" cy="868680"/>
          </a:xfrm>
          <a:prstGeom prst="rect">
            <a:avLst/>
          </a:prstGeom>
          <a:noFill/>
        </p:spPr>
        <p:txBody>
          <a:bodyPr wrap="square" lIns="0" rIns="0" tIns="0" bIns="0" anchor="t"/>
          <a:lstStyle/>
          <a:p>
            <a:pPr algn="l">
              <a:spcAft>
                <a:spcPts val="100"/>
              </a:spcAft>
              <a:buNone/>
            </a:pPr>
            <a:r>
              <a:rPr sz="1350" b="1" i="0">
                <a:solidFill>
                  <a:srgbClr val="0E1F53"/>
                </a:solidFill>
                <a:latin typeface="Roboto"/>
              </a:rPr>
              <a:t>Nachbarhochschule startet Bachelor mit festem Präsenztag</a:t>
            </a:r>
          </a:p>
          <a:p>
            <a:pPr algn="l">
              <a:spcAft>
                <a:spcPts val="100"/>
              </a:spcAft>
              <a:buNone/>
            </a:pPr>
            <a:r>
              <a:rPr sz="1250" b="1" i="0">
                <a:solidFill>
                  <a:srgbClr val="FB2762"/>
                </a:solidFill>
                <a:latin typeface="Roboto"/>
              </a:rPr>
              <a:t>→ </a:t>
            </a:r>
            <a:r>
              <a:rPr sz="1250" b="0" i="0">
                <a:solidFill>
                  <a:srgbClr val="0E1F53"/>
                </a:solidFill>
                <a:latin typeface="Roboto"/>
              </a:rPr>
              <a:t>Idee: Campus-Mittwoch als Profilmerkmal kommunizieren</a:t>
            </a:r>
          </a:p>
          <a:p>
            <a:pPr algn="l">
              <a:spcAft>
                <a:spcPts val="0"/>
              </a:spcAft>
              <a:buNone/>
            </a:pPr>
            <a:r>
              <a:rPr sz="1050" b="0" i="0">
                <a:solidFill>
                  <a:srgbClr val="5A6684"/>
                </a:solidFill>
                <a:latin typeface="Roboto"/>
              </a:rPr>
              <a:t>Quelle: [Link] · [Datum]</a:t>
            </a:r>
          </a:p>
        </p:txBody>
      </p:sp>
      <p:sp>
        <p:nvSpPr>
          <p:cNvPr id="9" name="Oval 8"/>
          <p:cNvSpPr/>
          <p:nvPr/>
        </p:nvSpPr>
        <p:spPr>
          <a:xfrm>
            <a:off x="1069848" y="4023360"/>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2</a:t>
            </a:r>
          </a:p>
        </p:txBody>
      </p:sp>
      <p:sp>
        <p:nvSpPr>
          <p:cNvPr id="10" name="TextBox 9"/>
          <p:cNvSpPr txBox="1"/>
          <p:nvPr/>
        </p:nvSpPr>
        <p:spPr>
          <a:xfrm>
            <a:off x="1618488" y="3950208"/>
            <a:ext cx="6492240" cy="868680"/>
          </a:xfrm>
          <a:prstGeom prst="rect">
            <a:avLst/>
          </a:prstGeom>
          <a:noFill/>
        </p:spPr>
        <p:txBody>
          <a:bodyPr wrap="square" lIns="0" rIns="0" tIns="0" bIns="0" anchor="t"/>
          <a:lstStyle/>
          <a:p>
            <a:pPr algn="l">
              <a:spcAft>
                <a:spcPts val="100"/>
              </a:spcAft>
              <a:buNone/>
            </a:pPr>
            <a:r>
              <a:rPr sz="1350" b="1" i="0">
                <a:solidFill>
                  <a:srgbClr val="0E1F53"/>
                </a:solidFill>
                <a:latin typeface="Roboto"/>
              </a:rPr>
              <a:t>IT.NRW veröffentlicht neue Zahlen zu Studienanfänger:innen</a:t>
            </a:r>
          </a:p>
          <a:p>
            <a:pPr algn="l">
              <a:spcAft>
                <a:spcPts val="100"/>
              </a:spcAft>
              <a:buNone/>
            </a:pPr>
            <a:r>
              <a:rPr sz="1250" b="1" i="0">
                <a:solidFill>
                  <a:srgbClr val="FB2762"/>
                </a:solidFill>
                <a:latin typeface="Roboto"/>
              </a:rPr>
              <a:t>→ </a:t>
            </a:r>
            <a:r>
              <a:rPr sz="1250" b="0" i="0">
                <a:solidFill>
                  <a:srgbClr val="0E1F53"/>
                </a:solidFill>
                <a:latin typeface="Roboto"/>
              </a:rPr>
              <a:t>Idee: eigene Prognose für 2026 aktualisieren</a:t>
            </a:r>
          </a:p>
          <a:p>
            <a:pPr algn="l">
              <a:spcAft>
                <a:spcPts val="0"/>
              </a:spcAft>
              <a:buNone/>
            </a:pPr>
            <a:r>
              <a:rPr sz="1050" b="0" i="0">
                <a:solidFill>
                  <a:srgbClr val="5A6684"/>
                </a:solidFill>
                <a:latin typeface="Roboto"/>
              </a:rPr>
              <a:t>Quelle: [Link] · [Datum]</a:t>
            </a:r>
          </a:p>
        </p:txBody>
      </p:sp>
      <p:sp>
        <p:nvSpPr>
          <p:cNvPr id="11" name="Oval 10"/>
          <p:cNvSpPr/>
          <p:nvPr/>
        </p:nvSpPr>
        <p:spPr>
          <a:xfrm>
            <a:off x="1069848" y="4956048"/>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300" b="1" i="0">
                <a:solidFill>
                  <a:srgbClr val="FFFFFF"/>
                </a:solidFill>
                <a:latin typeface="Roboto"/>
              </a:rPr>
              <a:t>3</a:t>
            </a:r>
          </a:p>
        </p:txBody>
      </p:sp>
      <p:sp>
        <p:nvSpPr>
          <p:cNvPr id="12" name="TextBox 11"/>
          <p:cNvSpPr txBox="1"/>
          <p:nvPr/>
        </p:nvSpPr>
        <p:spPr>
          <a:xfrm>
            <a:off x="1618488" y="4882896"/>
            <a:ext cx="6492240" cy="868680"/>
          </a:xfrm>
          <a:prstGeom prst="rect">
            <a:avLst/>
          </a:prstGeom>
          <a:noFill/>
        </p:spPr>
        <p:txBody>
          <a:bodyPr wrap="square" lIns="0" rIns="0" tIns="0" bIns="0" anchor="t"/>
          <a:lstStyle/>
          <a:p>
            <a:pPr algn="l">
              <a:spcAft>
                <a:spcPts val="100"/>
              </a:spcAft>
              <a:buNone/>
            </a:pPr>
            <a:r>
              <a:rPr sz="1350" b="1" i="0">
                <a:solidFill>
                  <a:srgbClr val="0E1F53"/>
                </a:solidFill>
                <a:latin typeface="Roboto"/>
              </a:rPr>
              <a:t>Neuer Förderaufruf für Transfer zwischen Hochschule und Mittelstand</a:t>
            </a:r>
          </a:p>
          <a:p>
            <a:pPr algn="l">
              <a:spcAft>
                <a:spcPts val="100"/>
              </a:spcAft>
              <a:buNone/>
            </a:pPr>
            <a:r>
              <a:rPr sz="1250" b="1" i="0">
                <a:solidFill>
                  <a:srgbClr val="FB2762"/>
                </a:solidFill>
                <a:latin typeface="Roboto"/>
              </a:rPr>
              <a:t>→ </a:t>
            </a:r>
            <a:r>
              <a:rPr sz="1250" b="0" i="0">
                <a:solidFill>
                  <a:srgbClr val="0E1F53"/>
                </a:solidFill>
                <a:latin typeface="Roboto"/>
              </a:rPr>
              <a:t>Idee: Antrag für das KMU-Challenge-Lab prüfen</a:t>
            </a:r>
          </a:p>
          <a:p>
            <a:pPr algn="l">
              <a:spcAft>
                <a:spcPts val="0"/>
              </a:spcAft>
              <a:buNone/>
            </a:pPr>
            <a:r>
              <a:rPr sz="1050" b="0" i="0">
                <a:solidFill>
                  <a:srgbClr val="5A6684"/>
                </a:solidFill>
                <a:latin typeface="Roboto"/>
              </a:rPr>
              <a:t>Quelle: [Link] · [Datum]</a:t>
            </a:r>
          </a:p>
        </p:txBody>
      </p:sp>
      <p:sp>
        <p:nvSpPr>
          <p:cNvPr id="13" name="Rounded Rectangle 12"/>
          <p:cNvSpPr/>
          <p:nvPr/>
        </p:nvSpPr>
        <p:spPr>
          <a:xfrm>
            <a:off x="8613648" y="2011680"/>
            <a:ext cx="2734056" cy="3977639"/>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42248" y="2194560"/>
            <a:ext cx="2276856" cy="3657600"/>
          </a:xfrm>
          <a:prstGeom prst="rect">
            <a:avLst/>
          </a:prstGeom>
          <a:noFill/>
        </p:spPr>
        <p:txBody>
          <a:bodyPr wrap="square" lIns="0" rIns="0" tIns="0" bIns="0" anchor="t"/>
          <a:lstStyle/>
          <a:p>
            <a:pPr algn="l">
              <a:spcAft>
                <a:spcPts val="1000"/>
              </a:spcAft>
              <a:buNone/>
            </a:pPr>
            <a:r>
              <a:rPr sz="1500" b="1" i="0">
                <a:solidFill>
                  <a:srgbClr val="9FD0FF"/>
                </a:solidFill>
                <a:latin typeface="Roboto"/>
              </a:rPr>
              <a:t>Was die Mail gut macht</a:t>
            </a:r>
          </a:p>
          <a:p>
            <a:pPr algn="l" marL="164592" indent="-164592">
              <a:spcAft>
                <a:spcPts val="800"/>
              </a:spcAft>
              <a:buClr>
                <a:srgbClr val="FB2762"/>
              </a:buClr>
              <a:buFont typeface="Arial"/>
              <a:buChar char="•"/>
            </a:pPr>
            <a:r>
              <a:rPr sz="1350" b="0" i="0">
                <a:solidFill>
                  <a:srgbClr val="FFFFFF"/>
                </a:solidFill>
                <a:latin typeface="Roboto"/>
              </a:rPr>
              <a:t>Nur drei Signale, klar priorisiert</a:t>
            </a:r>
          </a:p>
          <a:p>
            <a:pPr algn="l" marL="164592" indent="-164592">
              <a:spcAft>
                <a:spcPts val="800"/>
              </a:spcAft>
              <a:buClr>
                <a:srgbClr val="FB2762"/>
              </a:buClr>
              <a:buFont typeface="Arial"/>
              <a:buChar char="•"/>
            </a:pPr>
            <a:r>
              <a:rPr sz="1350" b="0" i="0">
                <a:solidFill>
                  <a:srgbClr val="FFFFFF"/>
                </a:solidFill>
                <a:latin typeface="Roboto"/>
              </a:rPr>
              <a:t>Jede Meldung mit Quelle und Datum</a:t>
            </a:r>
          </a:p>
          <a:p>
            <a:pPr algn="l" marL="164592" indent="-164592">
              <a:spcAft>
                <a:spcPts val="800"/>
              </a:spcAft>
              <a:buClr>
                <a:srgbClr val="FB2762"/>
              </a:buClr>
              <a:buFont typeface="Arial"/>
              <a:buChar char="•"/>
            </a:pPr>
            <a:r>
              <a:rPr sz="1350" b="0" i="0">
                <a:solidFill>
                  <a:srgbClr val="FFFFFF"/>
                </a:solidFill>
                <a:latin typeface="Roboto"/>
              </a:rPr>
              <a:t>Konkrete Handlungsidee statt bloßer News</a:t>
            </a:r>
          </a:p>
          <a:p>
            <a:pPr algn="l" marL="164592" indent="-164592">
              <a:spcAft>
                <a:spcPts val="800"/>
              </a:spcAft>
              <a:buClr>
                <a:srgbClr val="FB2762"/>
              </a:buClr>
              <a:buFont typeface="Arial"/>
              <a:buChar char="•"/>
            </a:pPr>
            <a:r>
              <a:rPr sz="1350" b="0" i="0">
                <a:solidFill>
                  <a:srgbClr val="FFFFFF"/>
                </a:solidFill>
                <a:latin typeface="Roboto"/>
              </a:rPr>
              <a:t>In unter 3 Minuten gelesen</a:t>
            </a:r>
          </a:p>
          <a:p>
            <a:pPr algn="l" marL="164592" indent="-164592">
              <a:spcAft>
                <a:spcPts val="800"/>
              </a:spcAft>
              <a:buClr>
                <a:srgbClr val="FB2762"/>
              </a:buClr>
              <a:buFont typeface="Arial"/>
              <a:buChar char="•"/>
            </a:pPr>
            <a:r>
              <a:rPr sz="1350" b="0" i="0">
                <a:solidFill>
                  <a:srgbClr val="FFFFFF"/>
                </a:solidFill>
                <a:latin typeface="Roboto"/>
              </a:rPr>
              <a:t>Ein Mensch entscheidet, was daraus folgt</a:t>
            </a:r>
          </a:p>
        </p:txBody>
      </p:sp>
      <p:sp>
        <p:nvSpPr>
          <p:cNvPr id="15" name="TextBox 14"/>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Inhalte fiktiv, zur Veranschaulichung des Formats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sz="3400"/>
              <a:t>Innovation Canvas &amp; Transfer</a:t>
            </a:r>
          </a:p>
        </p:txBody>
      </p:sp>
      <p:sp>
        <p:nvSpPr>
          <p:cNvPr id="3" name="Text Placeholder 2"/>
          <p:cNvSpPr>
            <a:spLocks noGrp="1"/>
          </p:cNvSpPr>
          <p:nvPr>
            <p:ph type="body" idx="11" sz="quarter"/>
          </p:nvPr>
        </p:nvSpPr>
        <p:spPr/>
        <p:txBody>
          <a:bodyPr/>
          <a:lstStyle/>
          <a:p>
            <a:r>
              <a:rPr b="0" sz="2000"/>
              <a:t>Ihr Ergebnis auf einer Seite und die nächsten 90 Tage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HSRW-Beispiel: Innovation Canvas</a:t>
            </a:r>
          </a:p>
        </p:txBody>
      </p:sp>
      <p:sp>
        <p:nvSpPr>
          <p:cNvPr id="3" name="Rounded Rectangle 2"/>
          <p:cNvSpPr/>
          <p:nvPr/>
        </p:nvSpPr>
        <p:spPr>
          <a:xfrm>
            <a:off x="841248" y="850392"/>
            <a:ext cx="136794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HSRW-BEISPIEL</a:t>
            </a:r>
          </a:p>
        </p:txBody>
      </p:sp>
      <p:sp>
        <p:nvSpPr>
          <p:cNvPr id="4" name="Rounded Rectangle 3"/>
          <p:cNvSpPr/>
          <p:nvPr/>
        </p:nvSpPr>
        <p:spPr>
          <a:xfrm>
            <a:off x="841248" y="1965960"/>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2075688"/>
            <a:ext cx="384048" cy="38404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arget_w.png"/>
          <p:cNvPicPr>
            <a:picLocks noChangeAspect="1"/>
          </p:cNvPicPr>
          <p:nvPr/>
        </p:nvPicPr>
        <p:blipFill>
          <a:blip r:embed="rId3"/>
          <a:stretch>
            <a:fillRect/>
          </a:stretch>
        </p:blipFill>
        <p:spPr>
          <a:xfrm>
            <a:off x="1070579" y="2167859"/>
            <a:ext cx="199704" cy="199704"/>
          </a:xfrm>
          <a:prstGeom prst="rect">
            <a:avLst/>
          </a:prstGeom>
        </p:spPr>
      </p:pic>
      <p:sp>
        <p:nvSpPr>
          <p:cNvPr id="7" name="TextBox 6"/>
          <p:cNvSpPr txBox="1"/>
          <p:nvPr/>
        </p:nvSpPr>
        <p:spPr>
          <a:xfrm>
            <a:off x="1435608" y="2057400"/>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Challenge</a:t>
            </a:r>
          </a:p>
          <a:p>
            <a:pPr algn="l">
              <a:spcAft>
                <a:spcPts val="0"/>
              </a:spcAft>
              <a:buNone/>
            </a:pPr>
            <a:r>
              <a:rPr sz="1050" b="0" i="0">
                <a:solidFill>
                  <a:srgbClr val="5A6684"/>
                </a:solidFill>
                <a:latin typeface="Roboto"/>
              </a:rPr>
              <a:t>Wie können wir …?</a:t>
            </a:r>
          </a:p>
        </p:txBody>
      </p:sp>
      <p:sp>
        <p:nvSpPr>
          <p:cNvPr id="8" name="TextBox 7"/>
          <p:cNvSpPr txBox="1"/>
          <p:nvPr/>
        </p:nvSpPr>
        <p:spPr>
          <a:xfrm>
            <a:off x="978408" y="2532888"/>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Wie können wir die HSRW zu einem Ort machen, für den man sich entscheidet und an den man gern kommt?</a:t>
            </a:r>
          </a:p>
        </p:txBody>
      </p:sp>
      <p:sp>
        <p:nvSpPr>
          <p:cNvPr id="9" name="Rounded Rectangle 8"/>
          <p:cNvSpPr/>
          <p:nvPr/>
        </p:nvSpPr>
        <p:spPr>
          <a:xfrm>
            <a:off x="4404360" y="1965960"/>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41520" y="2075688"/>
            <a:ext cx="384048" cy="38404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Users_w.png"/>
          <p:cNvPicPr>
            <a:picLocks noChangeAspect="1"/>
          </p:cNvPicPr>
          <p:nvPr/>
        </p:nvPicPr>
        <p:blipFill>
          <a:blip r:embed="rId4"/>
          <a:stretch>
            <a:fillRect/>
          </a:stretch>
        </p:blipFill>
        <p:spPr>
          <a:xfrm>
            <a:off x="4633691" y="2167859"/>
            <a:ext cx="199704" cy="199704"/>
          </a:xfrm>
          <a:prstGeom prst="rect">
            <a:avLst/>
          </a:prstGeom>
        </p:spPr>
      </p:pic>
      <p:sp>
        <p:nvSpPr>
          <p:cNvPr id="12" name="TextBox 11"/>
          <p:cNvSpPr txBox="1"/>
          <p:nvPr/>
        </p:nvSpPr>
        <p:spPr>
          <a:xfrm>
            <a:off x="4998720" y="2057400"/>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Zielgruppe &amp; Persona</a:t>
            </a:r>
          </a:p>
          <a:p>
            <a:pPr algn="l">
              <a:spcAft>
                <a:spcPts val="0"/>
              </a:spcAft>
              <a:buNone/>
            </a:pPr>
            <a:r>
              <a:rPr sz="1050" b="0" i="0">
                <a:solidFill>
                  <a:srgbClr val="5A6684"/>
                </a:solidFill>
                <a:latin typeface="Roboto"/>
              </a:rPr>
              <a:t>Für wen?</a:t>
            </a:r>
          </a:p>
        </p:txBody>
      </p:sp>
      <p:sp>
        <p:nvSpPr>
          <p:cNvPr id="13" name="TextBox 12"/>
          <p:cNvSpPr txBox="1"/>
          <p:nvPr/>
        </p:nvSpPr>
        <p:spPr>
          <a:xfrm>
            <a:off x="4541520" y="2532888"/>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Jonas, 20, pendelt, kommt nur zu Pflichtterminen. Priya, 25, sucht Kontakte und Job.</a:t>
            </a:r>
          </a:p>
        </p:txBody>
      </p:sp>
      <p:sp>
        <p:nvSpPr>
          <p:cNvPr id="14" name="Rounded Rectangle 13"/>
          <p:cNvSpPr/>
          <p:nvPr/>
        </p:nvSpPr>
        <p:spPr>
          <a:xfrm>
            <a:off x="7967472" y="1965960"/>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104632" y="2075688"/>
            <a:ext cx="384048" cy="38404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Lightbulb_w.png"/>
          <p:cNvPicPr>
            <a:picLocks noChangeAspect="1"/>
          </p:cNvPicPr>
          <p:nvPr/>
        </p:nvPicPr>
        <p:blipFill>
          <a:blip r:embed="rId5"/>
          <a:stretch>
            <a:fillRect/>
          </a:stretch>
        </p:blipFill>
        <p:spPr>
          <a:xfrm>
            <a:off x="8196803" y="2167859"/>
            <a:ext cx="199704" cy="199704"/>
          </a:xfrm>
          <a:prstGeom prst="rect">
            <a:avLst/>
          </a:prstGeom>
        </p:spPr>
      </p:pic>
      <p:sp>
        <p:nvSpPr>
          <p:cNvPr id="17" name="TextBox 16"/>
          <p:cNvSpPr txBox="1"/>
          <p:nvPr/>
        </p:nvSpPr>
        <p:spPr>
          <a:xfrm>
            <a:off x="8561832" y="2057400"/>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Erkenntnis &amp; POV</a:t>
            </a:r>
          </a:p>
          <a:p>
            <a:pPr algn="l">
              <a:spcAft>
                <a:spcPts val="0"/>
              </a:spcAft>
              <a:buNone/>
            </a:pPr>
            <a:r>
              <a:rPr sz="1050" b="0" i="0">
                <a:solidFill>
                  <a:srgbClr val="5A6684"/>
                </a:solidFill>
                <a:latin typeface="Roboto"/>
              </a:rPr>
              <a:t>Was braucht sie, und warum?</a:t>
            </a:r>
          </a:p>
        </p:txBody>
      </p:sp>
      <p:sp>
        <p:nvSpPr>
          <p:cNvPr id="18" name="TextBox 17"/>
          <p:cNvSpPr txBox="1"/>
          <p:nvPr/>
        </p:nvSpPr>
        <p:spPr>
          <a:xfrm>
            <a:off x="8104632" y="2532888"/>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Jonas braucht einen Grund für den Campus, der mehr bietet als eine Vorlesung.</a:t>
            </a:r>
          </a:p>
        </p:txBody>
      </p:sp>
      <p:sp>
        <p:nvSpPr>
          <p:cNvPr id="19" name="Rounded Rectangle 18"/>
          <p:cNvSpPr/>
          <p:nvPr/>
        </p:nvSpPr>
        <p:spPr>
          <a:xfrm>
            <a:off x="841248" y="3355848"/>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78408" y="3465576"/>
            <a:ext cx="384048" cy="384048"/>
          </a:xfrm>
          <a:prstGeom prst="ellipse">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Sparkles_w.png"/>
          <p:cNvPicPr>
            <a:picLocks noChangeAspect="1"/>
          </p:cNvPicPr>
          <p:nvPr/>
        </p:nvPicPr>
        <p:blipFill>
          <a:blip r:embed="rId6"/>
          <a:stretch>
            <a:fillRect/>
          </a:stretch>
        </p:blipFill>
        <p:spPr>
          <a:xfrm>
            <a:off x="1070579" y="3557747"/>
            <a:ext cx="199704" cy="199704"/>
          </a:xfrm>
          <a:prstGeom prst="rect">
            <a:avLst/>
          </a:prstGeom>
        </p:spPr>
      </p:pic>
      <p:sp>
        <p:nvSpPr>
          <p:cNvPr id="22" name="TextBox 21"/>
          <p:cNvSpPr txBox="1"/>
          <p:nvPr/>
        </p:nvSpPr>
        <p:spPr>
          <a:xfrm>
            <a:off x="1435608" y="3447288"/>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Lösung &amp; Prototyp</a:t>
            </a:r>
          </a:p>
          <a:p>
            <a:pPr algn="l">
              <a:spcAft>
                <a:spcPts val="0"/>
              </a:spcAft>
              <a:buNone/>
            </a:pPr>
            <a:r>
              <a:rPr sz="1050" b="0" i="0">
                <a:solidFill>
                  <a:srgbClr val="5A6684"/>
                </a:solidFill>
                <a:latin typeface="Roboto"/>
              </a:rPr>
              <a:t>Was haben wir gebaut?</a:t>
            </a:r>
          </a:p>
        </p:txBody>
      </p:sp>
      <p:sp>
        <p:nvSpPr>
          <p:cNvPr id="23" name="TextBox 22"/>
          <p:cNvSpPr txBox="1"/>
          <p:nvPr/>
        </p:nvSpPr>
        <p:spPr>
          <a:xfrm>
            <a:off x="978408" y="3922776"/>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Campus-Mittwoch: KMU-Challenges am Campus. Storyboard und Landingpage.</a:t>
            </a:r>
          </a:p>
        </p:txBody>
      </p:sp>
      <p:sp>
        <p:nvSpPr>
          <p:cNvPr id="24" name="Rounded Rectangle 23"/>
          <p:cNvSpPr/>
          <p:nvPr/>
        </p:nvSpPr>
        <p:spPr>
          <a:xfrm>
            <a:off x="4404360" y="3355848"/>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541520" y="3465576"/>
            <a:ext cx="384048" cy="384048"/>
          </a:xfrm>
          <a:prstGeom prst="ellipse">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ot_w.png"/>
          <p:cNvPicPr>
            <a:picLocks noChangeAspect="1"/>
          </p:cNvPicPr>
          <p:nvPr/>
        </p:nvPicPr>
        <p:blipFill>
          <a:blip r:embed="rId7"/>
          <a:stretch>
            <a:fillRect/>
          </a:stretch>
        </p:blipFill>
        <p:spPr>
          <a:xfrm>
            <a:off x="4633691" y="3557747"/>
            <a:ext cx="199704" cy="199704"/>
          </a:xfrm>
          <a:prstGeom prst="rect">
            <a:avLst/>
          </a:prstGeom>
        </p:spPr>
      </p:pic>
      <p:sp>
        <p:nvSpPr>
          <p:cNvPr id="27" name="TextBox 26"/>
          <p:cNvSpPr txBox="1"/>
          <p:nvPr/>
        </p:nvSpPr>
        <p:spPr>
          <a:xfrm>
            <a:off x="4998720" y="3447288"/>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KI-Einsatz</a:t>
            </a:r>
          </a:p>
          <a:p>
            <a:pPr algn="l">
              <a:spcAft>
                <a:spcPts val="0"/>
              </a:spcAft>
              <a:buNone/>
            </a:pPr>
            <a:r>
              <a:rPr sz="1050" b="0" i="0">
                <a:solidFill>
                  <a:srgbClr val="5A6684"/>
                </a:solidFill>
                <a:latin typeface="Roboto"/>
              </a:rPr>
              <a:t>Wo hilft KI, welches Tool?</a:t>
            </a:r>
          </a:p>
        </p:txBody>
      </p:sp>
      <p:sp>
        <p:nvSpPr>
          <p:cNvPr id="28" name="TextBox 27"/>
          <p:cNvSpPr txBox="1"/>
          <p:nvPr/>
        </p:nvSpPr>
        <p:spPr>
          <a:xfrm>
            <a:off x="4541520" y="3922776"/>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Agenten für Recherche, Interviews, Ideen, Landingpage; Challenge-Assistent.</a:t>
            </a:r>
          </a:p>
        </p:txBody>
      </p:sp>
      <p:sp>
        <p:nvSpPr>
          <p:cNvPr id="29" name="Rounded Rectangle 28"/>
          <p:cNvSpPr/>
          <p:nvPr/>
        </p:nvSpPr>
        <p:spPr>
          <a:xfrm>
            <a:off x="7967472" y="3355848"/>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104632" y="3465576"/>
            <a:ext cx="384048" cy="384048"/>
          </a:xfrm>
          <a:prstGeom prst="ellipse">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Scale_w.png"/>
          <p:cNvPicPr>
            <a:picLocks noChangeAspect="1"/>
          </p:cNvPicPr>
          <p:nvPr/>
        </p:nvPicPr>
        <p:blipFill>
          <a:blip r:embed="rId8"/>
          <a:stretch>
            <a:fillRect/>
          </a:stretch>
        </p:blipFill>
        <p:spPr>
          <a:xfrm>
            <a:off x="8196803" y="3557747"/>
            <a:ext cx="199704" cy="199704"/>
          </a:xfrm>
          <a:prstGeom prst="rect">
            <a:avLst/>
          </a:prstGeom>
        </p:spPr>
      </p:pic>
      <p:sp>
        <p:nvSpPr>
          <p:cNvPr id="32" name="TextBox 31"/>
          <p:cNvSpPr txBox="1"/>
          <p:nvPr/>
        </p:nvSpPr>
        <p:spPr>
          <a:xfrm>
            <a:off x="8561832" y="3447288"/>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Bewertung 6 Dimensionen</a:t>
            </a:r>
          </a:p>
          <a:p>
            <a:pPr algn="l">
              <a:spcAft>
                <a:spcPts val="0"/>
              </a:spcAft>
              <a:buNone/>
            </a:pPr>
            <a:r>
              <a:rPr sz="1050" b="0" i="0">
                <a:solidFill>
                  <a:srgbClr val="5A6684"/>
                </a:solidFill>
                <a:latin typeface="Roboto"/>
              </a:rPr>
              <a:t>Stärken und Risiken</a:t>
            </a:r>
          </a:p>
        </p:txBody>
      </p:sp>
      <p:sp>
        <p:nvSpPr>
          <p:cNvPr id="33" name="TextBox 32"/>
          <p:cNvSpPr txBox="1"/>
          <p:nvPr/>
        </p:nvSpPr>
        <p:spPr>
          <a:xfrm>
            <a:off x="8104632" y="3922776"/>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Stark: Nutzen, Transparenz. Offen: Datenqualität, Robustheit, Kosten.</a:t>
            </a:r>
          </a:p>
        </p:txBody>
      </p:sp>
      <p:sp>
        <p:nvSpPr>
          <p:cNvPr id="34" name="Rounded Rectangle 33"/>
          <p:cNvSpPr/>
          <p:nvPr/>
        </p:nvSpPr>
        <p:spPr>
          <a:xfrm>
            <a:off x="841248" y="4745736"/>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978408" y="4855464"/>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FlaskConical_w.png"/>
          <p:cNvPicPr>
            <a:picLocks noChangeAspect="1"/>
          </p:cNvPicPr>
          <p:nvPr/>
        </p:nvPicPr>
        <p:blipFill>
          <a:blip r:embed="rId9"/>
          <a:stretch>
            <a:fillRect/>
          </a:stretch>
        </p:blipFill>
        <p:spPr>
          <a:xfrm>
            <a:off x="1070579" y="4947635"/>
            <a:ext cx="199704" cy="199704"/>
          </a:xfrm>
          <a:prstGeom prst="rect">
            <a:avLst/>
          </a:prstGeom>
        </p:spPr>
      </p:pic>
      <p:sp>
        <p:nvSpPr>
          <p:cNvPr id="37" name="TextBox 36"/>
          <p:cNvSpPr txBox="1"/>
          <p:nvPr/>
        </p:nvSpPr>
        <p:spPr>
          <a:xfrm>
            <a:off x="1435608" y="4837175"/>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Annahme &amp; Testplan</a:t>
            </a:r>
          </a:p>
          <a:p>
            <a:pPr algn="l">
              <a:spcAft>
                <a:spcPts val="0"/>
              </a:spcAft>
              <a:buNone/>
            </a:pPr>
            <a:r>
              <a:rPr sz="1050" b="0" i="0">
                <a:solidFill>
                  <a:srgbClr val="5A6684"/>
                </a:solidFill>
                <a:latin typeface="Roboto"/>
              </a:rPr>
              <a:t>Was testen wir wie?</a:t>
            </a:r>
          </a:p>
        </p:txBody>
      </p:sp>
      <p:sp>
        <p:nvSpPr>
          <p:cNvPr id="38" name="TextBox 37"/>
          <p:cNvSpPr txBox="1"/>
          <p:nvPr/>
        </p:nvSpPr>
        <p:spPr>
          <a:xfrm>
            <a:off x="978408" y="5312664"/>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Kommen Studierende freiwillig? Fake-Door-Test, dann 3 Pilot-Termine.</a:t>
            </a:r>
          </a:p>
        </p:txBody>
      </p:sp>
      <p:sp>
        <p:nvSpPr>
          <p:cNvPr id="39" name="Rounded Rectangle 38"/>
          <p:cNvSpPr/>
          <p:nvPr/>
        </p:nvSpPr>
        <p:spPr>
          <a:xfrm>
            <a:off x="4404360" y="4745736"/>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4541520" y="4855464"/>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LuChartColumn_w.png"/>
          <p:cNvPicPr>
            <a:picLocks noChangeAspect="1"/>
          </p:cNvPicPr>
          <p:nvPr/>
        </p:nvPicPr>
        <p:blipFill>
          <a:blip r:embed="rId10"/>
          <a:stretch>
            <a:fillRect/>
          </a:stretch>
        </p:blipFill>
        <p:spPr>
          <a:xfrm>
            <a:off x="4633691" y="4947635"/>
            <a:ext cx="199704" cy="199704"/>
          </a:xfrm>
          <a:prstGeom prst="rect">
            <a:avLst/>
          </a:prstGeom>
        </p:spPr>
      </p:pic>
      <p:sp>
        <p:nvSpPr>
          <p:cNvPr id="42" name="TextBox 41"/>
          <p:cNvSpPr txBox="1"/>
          <p:nvPr/>
        </p:nvSpPr>
        <p:spPr>
          <a:xfrm>
            <a:off x="4998720" y="4837175"/>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Erfolgskriterium</a:t>
            </a:r>
          </a:p>
          <a:p>
            <a:pPr algn="l">
              <a:spcAft>
                <a:spcPts val="0"/>
              </a:spcAft>
              <a:buNone/>
            </a:pPr>
            <a:r>
              <a:rPr sz="1050" b="0" i="0">
                <a:solidFill>
                  <a:srgbClr val="5A6684"/>
                </a:solidFill>
                <a:latin typeface="Roboto"/>
              </a:rPr>
              <a:t>Woran messen wir Erfolg?</a:t>
            </a:r>
          </a:p>
        </p:txBody>
      </p:sp>
      <p:sp>
        <p:nvSpPr>
          <p:cNvPr id="43" name="TextBox 42"/>
          <p:cNvSpPr txBox="1"/>
          <p:nvPr/>
        </p:nvSpPr>
        <p:spPr>
          <a:xfrm>
            <a:off x="4541520" y="5312664"/>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 40 Anmeldungen, ≥ 60 % Wiederkehr.</a:t>
            </a:r>
          </a:p>
        </p:txBody>
      </p:sp>
      <p:sp>
        <p:nvSpPr>
          <p:cNvPr id="44" name="Rounded Rectangle 43"/>
          <p:cNvSpPr/>
          <p:nvPr/>
        </p:nvSpPr>
        <p:spPr>
          <a:xfrm>
            <a:off x="7967472" y="4745736"/>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104632" y="4855464"/>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LuRocket_w.png"/>
          <p:cNvPicPr>
            <a:picLocks noChangeAspect="1"/>
          </p:cNvPicPr>
          <p:nvPr/>
        </p:nvPicPr>
        <p:blipFill>
          <a:blip r:embed="rId11"/>
          <a:stretch>
            <a:fillRect/>
          </a:stretch>
        </p:blipFill>
        <p:spPr>
          <a:xfrm>
            <a:off x="8196803" y="4947635"/>
            <a:ext cx="199704" cy="199704"/>
          </a:xfrm>
          <a:prstGeom prst="rect">
            <a:avLst/>
          </a:prstGeom>
        </p:spPr>
      </p:pic>
      <p:sp>
        <p:nvSpPr>
          <p:cNvPr id="47" name="TextBox 46"/>
          <p:cNvSpPr txBox="1"/>
          <p:nvPr/>
        </p:nvSpPr>
        <p:spPr>
          <a:xfrm>
            <a:off x="8561832" y="4837175"/>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Nächste Schritte</a:t>
            </a:r>
          </a:p>
          <a:p>
            <a:pPr algn="l">
              <a:spcAft>
                <a:spcPts val="0"/>
              </a:spcAft>
              <a:buNone/>
            </a:pPr>
            <a:r>
              <a:rPr sz="1050" b="0" i="0">
                <a:solidFill>
                  <a:srgbClr val="5A6684"/>
                </a:solidFill>
                <a:latin typeface="Roboto"/>
              </a:rPr>
              <a:t>Was passiert in 30 Tagen?</a:t>
            </a:r>
          </a:p>
        </p:txBody>
      </p:sp>
      <p:sp>
        <p:nvSpPr>
          <p:cNvPr id="48" name="TextBox 47"/>
          <p:cNvSpPr txBox="1"/>
          <p:nvPr/>
        </p:nvSpPr>
        <p:spPr>
          <a:xfrm>
            <a:off x="8104632" y="5312664"/>
            <a:ext cx="3105912" cy="676655"/>
          </a:xfrm>
          <a:prstGeom prst="rect">
            <a:avLst/>
          </a:prstGeom>
          <a:noFill/>
        </p:spPr>
        <p:txBody>
          <a:bodyPr wrap="square" lIns="0" rIns="0" tIns="0" bIns="0" anchor="t"/>
          <a:lstStyle/>
          <a:p>
            <a:pPr algn="l">
              <a:spcAft>
                <a:spcPts val="400"/>
              </a:spcAft>
              <a:buNone/>
            </a:pPr>
            <a:r>
              <a:rPr sz="1150" b="0" i="0">
                <a:solidFill>
                  <a:srgbClr val="0E1F53"/>
                </a:solidFill>
                <a:latin typeface="Roboto"/>
              </a:rPr>
              <a:t>Termin verlegen, Credits klären, zweisprachig, zweiter Pilot.</a:t>
            </a:r>
          </a:p>
        </p:txBody>
      </p:sp>
      <p:sp>
        <p:nvSpPr>
          <p:cNvPr id="49" name="TextBox 48"/>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Illustratives Beispiel für den Workshop: Interviewaussagen und Testergebnisse sind fiktiv.</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Innovation Canvas</a:t>
            </a:r>
          </a:p>
        </p:txBody>
      </p:sp>
      <p:sp>
        <p:nvSpPr>
          <p:cNvPr id="3" name="Rounded Rectangle 2"/>
          <p:cNvSpPr/>
          <p:nvPr/>
        </p:nvSpPr>
        <p:spPr>
          <a:xfrm>
            <a:off x="841248" y="850392"/>
            <a:ext cx="1536192" cy="274320"/>
          </a:xfrm>
          <a:prstGeom prst="roundRect">
            <a:avLst>
              <a:gd name="adj" fmla="val 50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ÜBUNG · 30 MIN.</a:t>
            </a:r>
          </a:p>
        </p:txBody>
      </p:sp>
      <p:sp>
        <p:nvSpPr>
          <p:cNvPr id="4" name="Rounded Rectangle 3"/>
          <p:cNvSpPr/>
          <p:nvPr/>
        </p:nvSpPr>
        <p:spPr>
          <a:xfrm>
            <a:off x="841248" y="1965960"/>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2075688"/>
            <a:ext cx="384048" cy="38404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Target_w.png"/>
          <p:cNvPicPr>
            <a:picLocks noChangeAspect="1"/>
          </p:cNvPicPr>
          <p:nvPr/>
        </p:nvPicPr>
        <p:blipFill>
          <a:blip r:embed="rId3"/>
          <a:stretch>
            <a:fillRect/>
          </a:stretch>
        </p:blipFill>
        <p:spPr>
          <a:xfrm>
            <a:off x="1070579" y="2167859"/>
            <a:ext cx="199704" cy="199704"/>
          </a:xfrm>
          <a:prstGeom prst="rect">
            <a:avLst/>
          </a:prstGeom>
        </p:spPr>
      </p:pic>
      <p:sp>
        <p:nvSpPr>
          <p:cNvPr id="7" name="TextBox 6"/>
          <p:cNvSpPr txBox="1"/>
          <p:nvPr/>
        </p:nvSpPr>
        <p:spPr>
          <a:xfrm>
            <a:off x="1435608" y="2057400"/>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Challenge</a:t>
            </a:r>
          </a:p>
          <a:p>
            <a:pPr algn="l">
              <a:spcAft>
                <a:spcPts val="0"/>
              </a:spcAft>
              <a:buNone/>
            </a:pPr>
            <a:r>
              <a:rPr sz="1050" b="0" i="0">
                <a:solidFill>
                  <a:srgbClr val="5A6684"/>
                </a:solidFill>
                <a:latin typeface="Roboto"/>
              </a:rPr>
              <a:t>Wie können wir …?</a:t>
            </a:r>
          </a:p>
        </p:txBody>
      </p:sp>
      <p:cxnSp>
        <p:nvCxnSpPr>
          <p:cNvPr id="8" name="Connector 7"/>
          <p:cNvCxnSpPr/>
          <p:nvPr/>
        </p:nvCxnSpPr>
        <p:spPr>
          <a:xfrm>
            <a:off x="1024128" y="2788920"/>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24128" y="3063239"/>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404360" y="1965960"/>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41520" y="2075688"/>
            <a:ext cx="384048" cy="38404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uUsers_w.png"/>
          <p:cNvPicPr>
            <a:picLocks noChangeAspect="1"/>
          </p:cNvPicPr>
          <p:nvPr/>
        </p:nvPicPr>
        <p:blipFill>
          <a:blip r:embed="rId4"/>
          <a:stretch>
            <a:fillRect/>
          </a:stretch>
        </p:blipFill>
        <p:spPr>
          <a:xfrm>
            <a:off x="4633691" y="2167859"/>
            <a:ext cx="199704" cy="199704"/>
          </a:xfrm>
          <a:prstGeom prst="rect">
            <a:avLst/>
          </a:prstGeom>
        </p:spPr>
      </p:pic>
      <p:sp>
        <p:nvSpPr>
          <p:cNvPr id="13" name="TextBox 12"/>
          <p:cNvSpPr txBox="1"/>
          <p:nvPr/>
        </p:nvSpPr>
        <p:spPr>
          <a:xfrm>
            <a:off x="4998720" y="2057400"/>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Zielgruppe &amp; Persona</a:t>
            </a:r>
          </a:p>
          <a:p>
            <a:pPr algn="l">
              <a:spcAft>
                <a:spcPts val="0"/>
              </a:spcAft>
              <a:buNone/>
            </a:pPr>
            <a:r>
              <a:rPr sz="1050" b="0" i="0">
                <a:solidFill>
                  <a:srgbClr val="5A6684"/>
                </a:solidFill>
                <a:latin typeface="Roboto"/>
              </a:rPr>
              <a:t>Für wen?</a:t>
            </a:r>
          </a:p>
        </p:txBody>
      </p:sp>
      <p:cxnSp>
        <p:nvCxnSpPr>
          <p:cNvPr id="14" name="Connector 13"/>
          <p:cNvCxnSpPr/>
          <p:nvPr/>
        </p:nvCxnSpPr>
        <p:spPr>
          <a:xfrm>
            <a:off x="4587240" y="2788920"/>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587240" y="3063239"/>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967472" y="1965960"/>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104632" y="2075688"/>
            <a:ext cx="384048" cy="384048"/>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uLightbulb_w.png"/>
          <p:cNvPicPr>
            <a:picLocks noChangeAspect="1"/>
          </p:cNvPicPr>
          <p:nvPr/>
        </p:nvPicPr>
        <p:blipFill>
          <a:blip r:embed="rId5"/>
          <a:stretch>
            <a:fillRect/>
          </a:stretch>
        </p:blipFill>
        <p:spPr>
          <a:xfrm>
            <a:off x="8196803" y="2167859"/>
            <a:ext cx="199704" cy="199704"/>
          </a:xfrm>
          <a:prstGeom prst="rect">
            <a:avLst/>
          </a:prstGeom>
        </p:spPr>
      </p:pic>
      <p:sp>
        <p:nvSpPr>
          <p:cNvPr id="19" name="TextBox 18"/>
          <p:cNvSpPr txBox="1"/>
          <p:nvPr/>
        </p:nvSpPr>
        <p:spPr>
          <a:xfrm>
            <a:off x="8561832" y="2057400"/>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Erkenntnis &amp; POV</a:t>
            </a:r>
          </a:p>
          <a:p>
            <a:pPr algn="l">
              <a:spcAft>
                <a:spcPts val="0"/>
              </a:spcAft>
              <a:buNone/>
            </a:pPr>
            <a:r>
              <a:rPr sz="1050" b="0" i="0">
                <a:solidFill>
                  <a:srgbClr val="5A6684"/>
                </a:solidFill>
                <a:latin typeface="Roboto"/>
              </a:rPr>
              <a:t>Was braucht sie, und warum?</a:t>
            </a:r>
          </a:p>
        </p:txBody>
      </p:sp>
      <p:cxnSp>
        <p:nvCxnSpPr>
          <p:cNvPr id="20" name="Connector 19"/>
          <p:cNvCxnSpPr/>
          <p:nvPr/>
        </p:nvCxnSpPr>
        <p:spPr>
          <a:xfrm>
            <a:off x="8150352" y="2788920"/>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150352" y="3063239"/>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41248" y="3355848"/>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78408" y="3465576"/>
            <a:ext cx="384048" cy="384048"/>
          </a:xfrm>
          <a:prstGeom prst="ellipse">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LuSparkles_w.png"/>
          <p:cNvPicPr>
            <a:picLocks noChangeAspect="1"/>
          </p:cNvPicPr>
          <p:nvPr/>
        </p:nvPicPr>
        <p:blipFill>
          <a:blip r:embed="rId6"/>
          <a:stretch>
            <a:fillRect/>
          </a:stretch>
        </p:blipFill>
        <p:spPr>
          <a:xfrm>
            <a:off x="1070579" y="3557747"/>
            <a:ext cx="199704" cy="199704"/>
          </a:xfrm>
          <a:prstGeom prst="rect">
            <a:avLst/>
          </a:prstGeom>
        </p:spPr>
      </p:pic>
      <p:sp>
        <p:nvSpPr>
          <p:cNvPr id="25" name="TextBox 24"/>
          <p:cNvSpPr txBox="1"/>
          <p:nvPr/>
        </p:nvSpPr>
        <p:spPr>
          <a:xfrm>
            <a:off x="1435608" y="3447288"/>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Lösung &amp; Prototyp</a:t>
            </a:r>
          </a:p>
          <a:p>
            <a:pPr algn="l">
              <a:spcAft>
                <a:spcPts val="0"/>
              </a:spcAft>
              <a:buNone/>
            </a:pPr>
            <a:r>
              <a:rPr sz="1050" b="0" i="0">
                <a:solidFill>
                  <a:srgbClr val="5A6684"/>
                </a:solidFill>
                <a:latin typeface="Roboto"/>
              </a:rPr>
              <a:t>Was haben wir gebaut?</a:t>
            </a:r>
          </a:p>
        </p:txBody>
      </p:sp>
      <p:cxnSp>
        <p:nvCxnSpPr>
          <p:cNvPr id="26" name="Connector 25"/>
          <p:cNvCxnSpPr/>
          <p:nvPr/>
        </p:nvCxnSpPr>
        <p:spPr>
          <a:xfrm>
            <a:off x="1024128" y="4178808"/>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024128" y="4453128"/>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4404360" y="3355848"/>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41520" y="3465576"/>
            <a:ext cx="384048" cy="384048"/>
          </a:xfrm>
          <a:prstGeom prst="ellipse">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LuBot_w.png"/>
          <p:cNvPicPr>
            <a:picLocks noChangeAspect="1"/>
          </p:cNvPicPr>
          <p:nvPr/>
        </p:nvPicPr>
        <p:blipFill>
          <a:blip r:embed="rId7"/>
          <a:stretch>
            <a:fillRect/>
          </a:stretch>
        </p:blipFill>
        <p:spPr>
          <a:xfrm>
            <a:off x="4633691" y="3557747"/>
            <a:ext cx="199704" cy="199704"/>
          </a:xfrm>
          <a:prstGeom prst="rect">
            <a:avLst/>
          </a:prstGeom>
        </p:spPr>
      </p:pic>
      <p:sp>
        <p:nvSpPr>
          <p:cNvPr id="31" name="TextBox 30"/>
          <p:cNvSpPr txBox="1"/>
          <p:nvPr/>
        </p:nvSpPr>
        <p:spPr>
          <a:xfrm>
            <a:off x="4998720" y="3447288"/>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KI-Einsatz</a:t>
            </a:r>
          </a:p>
          <a:p>
            <a:pPr algn="l">
              <a:spcAft>
                <a:spcPts val="0"/>
              </a:spcAft>
              <a:buNone/>
            </a:pPr>
            <a:r>
              <a:rPr sz="1050" b="0" i="0">
                <a:solidFill>
                  <a:srgbClr val="5A6684"/>
                </a:solidFill>
                <a:latin typeface="Roboto"/>
              </a:rPr>
              <a:t>Wo hilft KI, welches Tool?</a:t>
            </a:r>
          </a:p>
        </p:txBody>
      </p:sp>
      <p:cxnSp>
        <p:nvCxnSpPr>
          <p:cNvPr id="32" name="Connector 31"/>
          <p:cNvCxnSpPr/>
          <p:nvPr/>
        </p:nvCxnSpPr>
        <p:spPr>
          <a:xfrm>
            <a:off x="4587240" y="4178808"/>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587240" y="4453128"/>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7967472" y="3355848"/>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104632" y="3465576"/>
            <a:ext cx="384048" cy="384048"/>
          </a:xfrm>
          <a:prstGeom prst="ellipse">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uScale_w.png"/>
          <p:cNvPicPr>
            <a:picLocks noChangeAspect="1"/>
          </p:cNvPicPr>
          <p:nvPr/>
        </p:nvPicPr>
        <p:blipFill>
          <a:blip r:embed="rId8"/>
          <a:stretch>
            <a:fillRect/>
          </a:stretch>
        </p:blipFill>
        <p:spPr>
          <a:xfrm>
            <a:off x="8196803" y="3557747"/>
            <a:ext cx="199704" cy="199704"/>
          </a:xfrm>
          <a:prstGeom prst="rect">
            <a:avLst/>
          </a:prstGeom>
        </p:spPr>
      </p:pic>
      <p:sp>
        <p:nvSpPr>
          <p:cNvPr id="37" name="TextBox 36"/>
          <p:cNvSpPr txBox="1"/>
          <p:nvPr/>
        </p:nvSpPr>
        <p:spPr>
          <a:xfrm>
            <a:off x="8561832" y="3447288"/>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Bewertung 6 Dimensionen</a:t>
            </a:r>
          </a:p>
          <a:p>
            <a:pPr algn="l">
              <a:spcAft>
                <a:spcPts val="0"/>
              </a:spcAft>
              <a:buNone/>
            </a:pPr>
            <a:r>
              <a:rPr sz="1050" b="0" i="0">
                <a:solidFill>
                  <a:srgbClr val="5A6684"/>
                </a:solidFill>
                <a:latin typeface="Roboto"/>
              </a:rPr>
              <a:t>Stärken und Risiken</a:t>
            </a:r>
          </a:p>
        </p:txBody>
      </p:sp>
      <p:cxnSp>
        <p:nvCxnSpPr>
          <p:cNvPr id="38" name="Connector 37"/>
          <p:cNvCxnSpPr/>
          <p:nvPr/>
        </p:nvCxnSpPr>
        <p:spPr>
          <a:xfrm>
            <a:off x="8150352" y="4178808"/>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150352" y="4453128"/>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41248" y="4745736"/>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978408" y="4855464"/>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LuFlaskConical_w.png"/>
          <p:cNvPicPr>
            <a:picLocks noChangeAspect="1"/>
          </p:cNvPicPr>
          <p:nvPr/>
        </p:nvPicPr>
        <p:blipFill>
          <a:blip r:embed="rId9"/>
          <a:stretch>
            <a:fillRect/>
          </a:stretch>
        </p:blipFill>
        <p:spPr>
          <a:xfrm>
            <a:off x="1070579" y="4947635"/>
            <a:ext cx="199704" cy="199704"/>
          </a:xfrm>
          <a:prstGeom prst="rect">
            <a:avLst/>
          </a:prstGeom>
        </p:spPr>
      </p:pic>
      <p:sp>
        <p:nvSpPr>
          <p:cNvPr id="43" name="TextBox 42"/>
          <p:cNvSpPr txBox="1"/>
          <p:nvPr/>
        </p:nvSpPr>
        <p:spPr>
          <a:xfrm>
            <a:off x="1435608" y="4837175"/>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Annahme &amp; Testplan</a:t>
            </a:r>
          </a:p>
          <a:p>
            <a:pPr algn="l">
              <a:spcAft>
                <a:spcPts val="0"/>
              </a:spcAft>
              <a:buNone/>
            </a:pPr>
            <a:r>
              <a:rPr sz="1050" b="0" i="0">
                <a:solidFill>
                  <a:srgbClr val="5A6684"/>
                </a:solidFill>
                <a:latin typeface="Roboto"/>
              </a:rPr>
              <a:t>Was testen wir wie?</a:t>
            </a:r>
          </a:p>
        </p:txBody>
      </p:sp>
      <p:cxnSp>
        <p:nvCxnSpPr>
          <p:cNvPr id="44" name="Connector 43"/>
          <p:cNvCxnSpPr/>
          <p:nvPr/>
        </p:nvCxnSpPr>
        <p:spPr>
          <a:xfrm>
            <a:off x="1024128" y="5568696"/>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24128" y="5843016"/>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4404360" y="4745736"/>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4541520" y="4855464"/>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LuChartColumn_w.png"/>
          <p:cNvPicPr>
            <a:picLocks noChangeAspect="1"/>
          </p:cNvPicPr>
          <p:nvPr/>
        </p:nvPicPr>
        <p:blipFill>
          <a:blip r:embed="rId10"/>
          <a:stretch>
            <a:fillRect/>
          </a:stretch>
        </p:blipFill>
        <p:spPr>
          <a:xfrm>
            <a:off x="4633691" y="4947635"/>
            <a:ext cx="199704" cy="199704"/>
          </a:xfrm>
          <a:prstGeom prst="rect">
            <a:avLst/>
          </a:prstGeom>
        </p:spPr>
      </p:pic>
      <p:sp>
        <p:nvSpPr>
          <p:cNvPr id="49" name="TextBox 48"/>
          <p:cNvSpPr txBox="1"/>
          <p:nvPr/>
        </p:nvSpPr>
        <p:spPr>
          <a:xfrm>
            <a:off x="4998720" y="4837175"/>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Erfolgskriterium</a:t>
            </a:r>
          </a:p>
          <a:p>
            <a:pPr algn="l">
              <a:spcAft>
                <a:spcPts val="0"/>
              </a:spcAft>
              <a:buNone/>
            </a:pPr>
            <a:r>
              <a:rPr sz="1050" b="0" i="0">
                <a:solidFill>
                  <a:srgbClr val="5A6684"/>
                </a:solidFill>
                <a:latin typeface="Roboto"/>
              </a:rPr>
              <a:t>Woran messen wir Erfolg?</a:t>
            </a:r>
          </a:p>
        </p:txBody>
      </p:sp>
      <p:cxnSp>
        <p:nvCxnSpPr>
          <p:cNvPr id="50" name="Connector 49"/>
          <p:cNvCxnSpPr/>
          <p:nvPr/>
        </p:nvCxnSpPr>
        <p:spPr>
          <a:xfrm>
            <a:off x="4587240" y="5568696"/>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4587240" y="5843016"/>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
        <p:nvSpPr>
          <p:cNvPr id="52" name="Rounded Rectangle 51"/>
          <p:cNvSpPr/>
          <p:nvPr/>
        </p:nvSpPr>
        <p:spPr>
          <a:xfrm>
            <a:off x="7967472" y="4745736"/>
            <a:ext cx="3380232" cy="12801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Oval 52"/>
          <p:cNvSpPr/>
          <p:nvPr/>
        </p:nvSpPr>
        <p:spPr>
          <a:xfrm>
            <a:off x="8104632" y="4855464"/>
            <a:ext cx="384048" cy="384048"/>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4" name="Picture 53" descr="LuRocket_w.png"/>
          <p:cNvPicPr>
            <a:picLocks noChangeAspect="1"/>
          </p:cNvPicPr>
          <p:nvPr/>
        </p:nvPicPr>
        <p:blipFill>
          <a:blip r:embed="rId11"/>
          <a:stretch>
            <a:fillRect/>
          </a:stretch>
        </p:blipFill>
        <p:spPr>
          <a:xfrm>
            <a:off x="8196803" y="4947635"/>
            <a:ext cx="199704" cy="199704"/>
          </a:xfrm>
          <a:prstGeom prst="rect">
            <a:avLst/>
          </a:prstGeom>
        </p:spPr>
      </p:pic>
      <p:sp>
        <p:nvSpPr>
          <p:cNvPr id="55" name="TextBox 54"/>
          <p:cNvSpPr txBox="1"/>
          <p:nvPr/>
        </p:nvSpPr>
        <p:spPr>
          <a:xfrm>
            <a:off x="8561832" y="4837175"/>
            <a:ext cx="2648712" cy="420624"/>
          </a:xfrm>
          <a:prstGeom prst="rect">
            <a:avLst/>
          </a:prstGeom>
          <a:noFill/>
        </p:spPr>
        <p:txBody>
          <a:bodyPr wrap="square" lIns="0" rIns="0" tIns="0" bIns="0" anchor="ctr"/>
          <a:lstStyle/>
          <a:p>
            <a:pPr algn="l">
              <a:spcAft>
                <a:spcPts val="0"/>
              </a:spcAft>
              <a:buNone/>
            </a:pPr>
            <a:r>
              <a:rPr sz="1300" b="1" i="0">
                <a:solidFill>
                  <a:srgbClr val="0E1F53"/>
                </a:solidFill>
                <a:latin typeface="Roboto"/>
              </a:rPr>
              <a:t>Nächste Schritte</a:t>
            </a:r>
          </a:p>
          <a:p>
            <a:pPr algn="l">
              <a:spcAft>
                <a:spcPts val="0"/>
              </a:spcAft>
              <a:buNone/>
            </a:pPr>
            <a:r>
              <a:rPr sz="1050" b="0" i="0">
                <a:solidFill>
                  <a:srgbClr val="5A6684"/>
                </a:solidFill>
                <a:latin typeface="Roboto"/>
              </a:rPr>
              <a:t>Was passiert in 30 Tagen?</a:t>
            </a:r>
          </a:p>
        </p:txBody>
      </p:sp>
      <p:cxnSp>
        <p:nvCxnSpPr>
          <p:cNvPr id="56" name="Connector 55"/>
          <p:cNvCxnSpPr/>
          <p:nvPr/>
        </p:nvCxnSpPr>
        <p:spPr>
          <a:xfrm>
            <a:off x="8150352" y="5568696"/>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8150352" y="5843016"/>
            <a:ext cx="3014472" cy="0"/>
          </a:xfrm>
          <a:prstGeom prst="line">
            <a:avLst/>
          </a:prstGeom>
          <a:ln w="9525">
            <a:solidFill>
              <a:srgbClr val="C9D6EE"/>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Ihr Fahrplan für die nächsten 90 Tage</a:t>
            </a:r>
          </a:p>
        </p:txBody>
      </p:sp>
      <p:sp>
        <p:nvSpPr>
          <p:cNvPr id="3" name="Rounded Rectangle 2"/>
          <p:cNvSpPr/>
          <p:nvPr/>
        </p:nvSpPr>
        <p:spPr>
          <a:xfrm>
            <a:off x="841248" y="850392"/>
            <a:ext cx="94731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TRANSFER</a:t>
            </a:r>
          </a:p>
        </p:txBody>
      </p:sp>
      <p:sp>
        <p:nvSpPr>
          <p:cNvPr id="4" name="Rounded Rectangle 3"/>
          <p:cNvSpPr/>
          <p:nvPr/>
        </p:nvSpPr>
        <p:spPr>
          <a:xfrm>
            <a:off x="841248" y="2011680"/>
            <a:ext cx="3258311" cy="91440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69848" y="2011680"/>
            <a:ext cx="2801111" cy="914400"/>
          </a:xfrm>
          <a:prstGeom prst="rect">
            <a:avLst/>
          </a:prstGeom>
          <a:noFill/>
        </p:spPr>
        <p:txBody>
          <a:bodyPr wrap="square" lIns="0" rIns="0" tIns="0" bIns="0" anchor="ctr"/>
          <a:lstStyle/>
          <a:p>
            <a:pPr algn="l">
              <a:spcAft>
                <a:spcPts val="0"/>
              </a:spcAft>
              <a:buNone/>
            </a:pPr>
            <a:r>
              <a:rPr sz="1800" b="1" i="0">
                <a:solidFill>
                  <a:srgbClr val="FFFFFF"/>
                </a:solidFill>
                <a:latin typeface="Roboto"/>
              </a:rPr>
              <a:t>Tag 1–30</a:t>
            </a:r>
          </a:p>
          <a:p>
            <a:pPr algn="l">
              <a:spcAft>
                <a:spcPts val="0"/>
              </a:spcAft>
              <a:buNone/>
            </a:pPr>
            <a:r>
              <a:rPr sz="1300" b="0" i="0">
                <a:solidFill>
                  <a:srgbClr val="FFFFFF"/>
                </a:solidFill>
                <a:latin typeface="Roboto"/>
              </a:rPr>
              <a:t>Verstehen &amp; Beobachten</a:t>
            </a:r>
          </a:p>
        </p:txBody>
      </p:sp>
      <p:sp>
        <p:nvSpPr>
          <p:cNvPr id="6" name="Right Arrow 5"/>
          <p:cNvSpPr/>
          <p:nvPr/>
        </p:nvSpPr>
        <p:spPr>
          <a:xfrm>
            <a:off x="4163568" y="2331720"/>
            <a:ext cx="237744" cy="274320"/>
          </a:xfrm>
          <a:prstGeom prst="rightArrow">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41248" y="3063240"/>
            <a:ext cx="3258311"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69848" y="3200400"/>
            <a:ext cx="2801111" cy="2743200"/>
          </a:xfrm>
          <a:prstGeom prst="rect">
            <a:avLst/>
          </a:prstGeom>
          <a:noFill/>
        </p:spPr>
        <p:txBody>
          <a:bodyPr wrap="square" lIns="0" rIns="0" tIns="0" bIns="0" anchor="t"/>
          <a:lstStyle/>
          <a:p>
            <a:pPr algn="l" marL="274320" indent="-274320">
              <a:spcAft>
                <a:spcPts val="1200"/>
              </a:spcAft>
              <a:buClr>
                <a:srgbClr val="0E1F53"/>
              </a:buClr>
              <a:buFont typeface="Arial"/>
              <a:buChar char="✓"/>
            </a:pPr>
            <a:r>
              <a:rPr sz="1500" b="0" i="0">
                <a:solidFill>
                  <a:srgbClr val="0E1F53"/>
                </a:solidFill>
                <a:latin typeface="Roboto"/>
              </a:rPr>
              <a:t>Eine Challenge wählen</a:t>
            </a:r>
          </a:p>
          <a:p>
            <a:pPr algn="l" marL="274320" indent="-274320">
              <a:spcAft>
                <a:spcPts val="1200"/>
              </a:spcAft>
              <a:buClr>
                <a:srgbClr val="0E1F53"/>
              </a:buClr>
              <a:buFont typeface="Arial"/>
              <a:buChar char="✓"/>
            </a:pPr>
            <a:r>
              <a:rPr sz="1500" b="0" i="0">
                <a:solidFill>
                  <a:srgbClr val="0E1F53"/>
                </a:solidFill>
                <a:latin typeface="Roboto"/>
              </a:rPr>
              <a:t>Team aus 3–5 Personen bilden</a:t>
            </a:r>
          </a:p>
          <a:p>
            <a:pPr algn="l" marL="274320" indent="-274320">
              <a:spcAft>
                <a:spcPts val="1200"/>
              </a:spcAft>
              <a:buClr>
                <a:srgbClr val="0E1F53"/>
              </a:buClr>
              <a:buFont typeface="Arial"/>
              <a:buChar char="✓"/>
            </a:pPr>
            <a:r>
              <a:rPr sz="1500" b="0" i="0">
                <a:solidFill>
                  <a:srgbClr val="0E1F53"/>
                </a:solidFill>
                <a:latin typeface="Roboto"/>
              </a:rPr>
              <a:t>Markt-Radar einrichten</a:t>
            </a:r>
          </a:p>
          <a:p>
            <a:pPr algn="l" marL="274320" indent="-274320">
              <a:spcAft>
                <a:spcPts val="1200"/>
              </a:spcAft>
              <a:buClr>
                <a:srgbClr val="0E1F53"/>
              </a:buClr>
              <a:buFont typeface="Arial"/>
              <a:buChar char="✓"/>
            </a:pPr>
            <a:r>
              <a:rPr sz="1500" b="0" i="0">
                <a:solidFill>
                  <a:srgbClr val="0E1F53"/>
                </a:solidFill>
                <a:latin typeface="Roboto"/>
              </a:rPr>
              <a:t>5 Gespräche mit Kundschaft führen</a:t>
            </a:r>
          </a:p>
        </p:txBody>
      </p:sp>
      <p:sp>
        <p:nvSpPr>
          <p:cNvPr id="9" name="Rounded Rectangle 8"/>
          <p:cNvSpPr/>
          <p:nvPr/>
        </p:nvSpPr>
        <p:spPr>
          <a:xfrm>
            <a:off x="4465320" y="2011680"/>
            <a:ext cx="3258311" cy="914400"/>
          </a:xfrm>
          <a:prstGeom prst="roundRect">
            <a:avLst>
              <a:gd name="adj" fmla="val 6000"/>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93920" y="2011680"/>
            <a:ext cx="2801111" cy="914400"/>
          </a:xfrm>
          <a:prstGeom prst="rect">
            <a:avLst/>
          </a:prstGeom>
          <a:noFill/>
        </p:spPr>
        <p:txBody>
          <a:bodyPr wrap="square" lIns="0" rIns="0" tIns="0" bIns="0" anchor="ctr"/>
          <a:lstStyle/>
          <a:p>
            <a:pPr algn="l">
              <a:spcAft>
                <a:spcPts val="0"/>
              </a:spcAft>
              <a:buNone/>
            </a:pPr>
            <a:r>
              <a:rPr sz="1800" b="1" i="0">
                <a:solidFill>
                  <a:srgbClr val="FFFFFF"/>
                </a:solidFill>
                <a:latin typeface="Roboto"/>
              </a:rPr>
              <a:t>Tag 31–60</a:t>
            </a:r>
          </a:p>
          <a:p>
            <a:pPr algn="l">
              <a:spcAft>
                <a:spcPts val="0"/>
              </a:spcAft>
              <a:buNone/>
            </a:pPr>
            <a:r>
              <a:rPr sz="1300" b="0" i="0">
                <a:solidFill>
                  <a:srgbClr val="FFFFFF"/>
                </a:solidFill>
                <a:latin typeface="Roboto"/>
              </a:rPr>
              <a:t>Verdichten &amp; Ideen bauen</a:t>
            </a:r>
          </a:p>
        </p:txBody>
      </p:sp>
      <p:sp>
        <p:nvSpPr>
          <p:cNvPr id="11" name="Right Arrow 10"/>
          <p:cNvSpPr/>
          <p:nvPr/>
        </p:nvSpPr>
        <p:spPr>
          <a:xfrm>
            <a:off x="7787639" y="2331720"/>
            <a:ext cx="237744" cy="274320"/>
          </a:xfrm>
          <a:prstGeom prst="rightArrow">
            <a:avLst/>
          </a:prstGeom>
          <a:solidFill>
            <a:srgbClr val="2B4A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465320" y="3063240"/>
            <a:ext cx="3258311"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93920" y="3200400"/>
            <a:ext cx="2801111" cy="2743200"/>
          </a:xfrm>
          <a:prstGeom prst="rect">
            <a:avLst/>
          </a:prstGeom>
          <a:noFill/>
        </p:spPr>
        <p:txBody>
          <a:bodyPr wrap="square" lIns="0" rIns="0" tIns="0" bIns="0" anchor="t"/>
          <a:lstStyle/>
          <a:p>
            <a:pPr algn="l" marL="274320" indent="-274320">
              <a:spcAft>
                <a:spcPts val="1200"/>
              </a:spcAft>
              <a:buClr>
                <a:srgbClr val="2B4A9B"/>
              </a:buClr>
              <a:buFont typeface="Arial"/>
              <a:buChar char="✓"/>
            </a:pPr>
            <a:r>
              <a:rPr sz="1500" b="0" i="0">
                <a:solidFill>
                  <a:srgbClr val="0E1F53"/>
                </a:solidFill>
                <a:latin typeface="Roboto"/>
              </a:rPr>
              <a:t>Insights und Persona erarbeiten</a:t>
            </a:r>
          </a:p>
          <a:p>
            <a:pPr algn="l" marL="274320" indent="-274320">
              <a:spcAft>
                <a:spcPts val="1200"/>
              </a:spcAft>
              <a:buClr>
                <a:srgbClr val="2B4A9B"/>
              </a:buClr>
              <a:buFont typeface="Arial"/>
              <a:buChar char="✓"/>
            </a:pPr>
            <a:r>
              <a:rPr sz="1500" b="0" i="0">
                <a:solidFill>
                  <a:srgbClr val="0E1F53"/>
                </a:solidFill>
                <a:latin typeface="Roboto"/>
              </a:rPr>
              <a:t>Ideen-Workshop (2 Stunden)</a:t>
            </a:r>
          </a:p>
          <a:p>
            <a:pPr algn="l" marL="274320" indent="-274320">
              <a:spcAft>
                <a:spcPts val="1200"/>
              </a:spcAft>
              <a:buClr>
                <a:srgbClr val="2B4A9B"/>
              </a:buClr>
              <a:buFont typeface="Arial"/>
              <a:buChar char="✓"/>
            </a:pPr>
            <a:r>
              <a:rPr sz="1500" b="0" i="0">
                <a:solidFill>
                  <a:srgbClr val="0E1F53"/>
                </a:solidFill>
                <a:latin typeface="Roboto"/>
              </a:rPr>
              <a:t>Einen Prototyp bauen</a:t>
            </a:r>
          </a:p>
          <a:p>
            <a:pPr algn="l" marL="274320" indent="-274320">
              <a:spcAft>
                <a:spcPts val="1200"/>
              </a:spcAft>
              <a:buClr>
                <a:srgbClr val="2B4A9B"/>
              </a:buClr>
              <a:buFont typeface="Arial"/>
              <a:buChar char="✓"/>
            </a:pPr>
            <a:r>
              <a:rPr sz="1500" b="0" i="0">
                <a:solidFill>
                  <a:srgbClr val="0E1F53"/>
                </a:solidFill>
                <a:latin typeface="Roboto"/>
              </a:rPr>
              <a:t>Mit 5 Personen testen</a:t>
            </a:r>
          </a:p>
        </p:txBody>
      </p:sp>
      <p:sp>
        <p:nvSpPr>
          <p:cNvPr id="14" name="Rounded Rectangle 13"/>
          <p:cNvSpPr/>
          <p:nvPr/>
        </p:nvSpPr>
        <p:spPr>
          <a:xfrm>
            <a:off x="8089391" y="2011680"/>
            <a:ext cx="3258311" cy="914400"/>
          </a:xfrm>
          <a:prstGeom prst="roundRect">
            <a:avLst>
              <a:gd name="adj" fmla="val 6000"/>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317991" y="2011680"/>
            <a:ext cx="2801111" cy="914400"/>
          </a:xfrm>
          <a:prstGeom prst="rect">
            <a:avLst/>
          </a:prstGeom>
          <a:noFill/>
        </p:spPr>
        <p:txBody>
          <a:bodyPr wrap="square" lIns="0" rIns="0" tIns="0" bIns="0" anchor="ctr"/>
          <a:lstStyle/>
          <a:p>
            <a:pPr algn="l">
              <a:spcAft>
                <a:spcPts val="0"/>
              </a:spcAft>
              <a:buNone/>
            </a:pPr>
            <a:r>
              <a:rPr sz="1800" b="1" i="0">
                <a:solidFill>
                  <a:srgbClr val="FFFFFF"/>
                </a:solidFill>
                <a:latin typeface="Roboto"/>
              </a:rPr>
              <a:t>Tag 61–90</a:t>
            </a:r>
          </a:p>
          <a:p>
            <a:pPr algn="l">
              <a:spcAft>
                <a:spcPts val="0"/>
              </a:spcAft>
              <a:buNone/>
            </a:pPr>
            <a:r>
              <a:rPr sz="1300" b="0" i="0">
                <a:solidFill>
                  <a:srgbClr val="FFFFFF"/>
                </a:solidFill>
                <a:latin typeface="Roboto"/>
              </a:rPr>
              <a:t>Pilot &amp; Routine</a:t>
            </a:r>
          </a:p>
        </p:txBody>
      </p:sp>
      <p:sp>
        <p:nvSpPr>
          <p:cNvPr id="16" name="Rounded Rectangle 15"/>
          <p:cNvSpPr/>
          <p:nvPr/>
        </p:nvSpPr>
        <p:spPr>
          <a:xfrm>
            <a:off x="8089391" y="3063240"/>
            <a:ext cx="3258311" cy="2926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17991" y="3200400"/>
            <a:ext cx="2801111" cy="2743200"/>
          </a:xfrm>
          <a:prstGeom prst="rect">
            <a:avLst/>
          </a:prstGeom>
          <a:noFill/>
        </p:spPr>
        <p:txBody>
          <a:bodyPr wrap="square" lIns="0" rIns="0" tIns="0" bIns="0" anchor="t"/>
          <a:lstStyle/>
          <a:p>
            <a:pPr algn="l" marL="274320" indent="-274320">
              <a:spcAft>
                <a:spcPts val="1200"/>
              </a:spcAft>
              <a:buClr>
                <a:srgbClr val="FB2762"/>
              </a:buClr>
              <a:buFont typeface="Arial"/>
              <a:buChar char="✓"/>
            </a:pPr>
            <a:r>
              <a:rPr sz="1500" b="0" i="0">
                <a:solidFill>
                  <a:srgbClr val="0E1F53"/>
                </a:solidFill>
                <a:latin typeface="Roboto"/>
              </a:rPr>
              <a:t>Pilot mit Kennzahlen starten</a:t>
            </a:r>
          </a:p>
          <a:p>
            <a:pPr algn="l" marL="274320" indent="-274320">
              <a:spcAft>
                <a:spcPts val="1200"/>
              </a:spcAft>
              <a:buClr>
                <a:srgbClr val="FB2762"/>
              </a:buClr>
              <a:buFont typeface="Arial"/>
              <a:buChar char="✓"/>
            </a:pPr>
            <a:r>
              <a:rPr sz="1500" b="0" i="0">
                <a:solidFill>
                  <a:srgbClr val="0E1F53"/>
                </a:solidFill>
                <a:latin typeface="Roboto"/>
              </a:rPr>
              <a:t>Zwei weitere Dauerläufer einrichten</a:t>
            </a:r>
          </a:p>
          <a:p>
            <a:pPr algn="l" marL="274320" indent="-274320">
              <a:spcAft>
                <a:spcPts val="1200"/>
              </a:spcAft>
              <a:buClr>
                <a:srgbClr val="FB2762"/>
              </a:buClr>
              <a:buFont typeface="Arial"/>
              <a:buChar char="✓"/>
            </a:pPr>
            <a:r>
              <a:rPr sz="1500" b="0" i="0">
                <a:solidFill>
                  <a:srgbClr val="0E1F53"/>
                </a:solidFill>
                <a:latin typeface="Roboto"/>
              </a:rPr>
              <a:t>Ergebnisse im Team vorstellen</a:t>
            </a:r>
          </a:p>
          <a:p>
            <a:pPr algn="l" marL="274320" indent="-274320">
              <a:spcAft>
                <a:spcPts val="1200"/>
              </a:spcAft>
              <a:buClr>
                <a:srgbClr val="FB2762"/>
              </a:buClr>
              <a:buFont typeface="Arial"/>
              <a:buChar char="✓"/>
            </a:pPr>
            <a:r>
              <a:rPr sz="1500" b="0" i="0">
                <a:solidFill>
                  <a:srgbClr val="0E1F53"/>
                </a:solidFill>
                <a:latin typeface="Roboto"/>
              </a:rPr>
              <a:t>Nächste Challenge wählen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Ihr Start ab morgen: fünf konkrete Schritte</a:t>
            </a:r>
          </a:p>
        </p:txBody>
      </p:sp>
      <p:sp>
        <p:nvSpPr>
          <p:cNvPr id="3" name="Rounded Rectangle 2"/>
          <p:cNvSpPr/>
          <p:nvPr/>
        </p:nvSpPr>
        <p:spPr>
          <a:xfrm>
            <a:off x="841248" y="850392"/>
            <a:ext cx="94731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TRANSFER</a:t>
            </a:r>
          </a:p>
        </p:txBody>
      </p:sp>
      <p:sp>
        <p:nvSpPr>
          <p:cNvPr id="4" name="Rounded Rectangle 3"/>
          <p:cNvSpPr/>
          <p:nvPr/>
        </p:nvSpPr>
        <p:spPr>
          <a:xfrm>
            <a:off x="841248" y="2011680"/>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2121408"/>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1</a:t>
            </a:r>
          </a:p>
        </p:txBody>
      </p:sp>
      <p:pic>
        <p:nvPicPr>
          <p:cNvPr id="6" name="Picture 5" descr="LuShieldCheck_n.png"/>
          <p:cNvPicPr>
            <a:picLocks noChangeAspect="1"/>
          </p:cNvPicPr>
          <p:nvPr/>
        </p:nvPicPr>
        <p:blipFill>
          <a:blip r:embed="rId3"/>
          <a:stretch>
            <a:fillRect/>
          </a:stretch>
        </p:blipFill>
        <p:spPr>
          <a:xfrm>
            <a:off x="1618488" y="2185416"/>
            <a:ext cx="329184" cy="329184"/>
          </a:xfrm>
          <a:prstGeom prst="rect">
            <a:avLst/>
          </a:prstGeom>
        </p:spPr>
      </p:pic>
      <p:sp>
        <p:nvSpPr>
          <p:cNvPr id="7" name="TextBox 6"/>
          <p:cNvSpPr txBox="1"/>
          <p:nvPr/>
        </p:nvSpPr>
        <p:spPr>
          <a:xfrm>
            <a:off x="2121408" y="2011680"/>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KI-Zugang klären</a:t>
            </a:r>
          </a:p>
        </p:txBody>
      </p:sp>
      <p:sp>
        <p:nvSpPr>
          <p:cNvPr id="8" name="TextBox 7"/>
          <p:cNvSpPr txBox="1"/>
          <p:nvPr/>
        </p:nvSpPr>
        <p:spPr>
          <a:xfrm>
            <a:off x="5413248" y="2011680"/>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Business-Version mit Datenschutzvertrag statt privater Gratis-Konten.</a:t>
            </a:r>
          </a:p>
        </p:txBody>
      </p:sp>
      <p:sp>
        <p:nvSpPr>
          <p:cNvPr id="9" name="Rounded Rectangle 8"/>
          <p:cNvSpPr/>
          <p:nvPr/>
        </p:nvSpPr>
        <p:spPr>
          <a:xfrm>
            <a:off x="841248" y="2798064"/>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978408" y="2907792"/>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2</a:t>
            </a:r>
          </a:p>
        </p:txBody>
      </p:sp>
      <p:pic>
        <p:nvPicPr>
          <p:cNvPr id="11" name="Picture 10" descr="LuBot_n.png"/>
          <p:cNvPicPr>
            <a:picLocks noChangeAspect="1"/>
          </p:cNvPicPr>
          <p:nvPr/>
        </p:nvPicPr>
        <p:blipFill>
          <a:blip r:embed="rId4"/>
          <a:stretch>
            <a:fillRect/>
          </a:stretch>
        </p:blipFill>
        <p:spPr>
          <a:xfrm>
            <a:off x="1618488" y="2971800"/>
            <a:ext cx="329184" cy="329184"/>
          </a:xfrm>
          <a:prstGeom prst="rect">
            <a:avLst/>
          </a:prstGeom>
        </p:spPr>
      </p:pic>
      <p:sp>
        <p:nvSpPr>
          <p:cNvPr id="12" name="TextBox 11"/>
          <p:cNvSpPr txBox="1"/>
          <p:nvPr/>
        </p:nvSpPr>
        <p:spPr>
          <a:xfrm>
            <a:off x="2121408" y="2798064"/>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Ersten Agenten aufsetzen</a:t>
            </a:r>
          </a:p>
        </p:txBody>
      </p:sp>
      <p:sp>
        <p:nvSpPr>
          <p:cNvPr id="13" name="TextBox 12"/>
          <p:cNvSpPr txBox="1"/>
          <p:nvPr/>
        </p:nvSpPr>
        <p:spPr>
          <a:xfrm>
            <a:off x="5413248" y="2798064"/>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Mit der Systemprompt-Vorlage aus dem Arbeitsheft.</a:t>
            </a:r>
          </a:p>
        </p:txBody>
      </p:sp>
      <p:sp>
        <p:nvSpPr>
          <p:cNvPr id="14" name="Rounded Rectangle 13"/>
          <p:cNvSpPr/>
          <p:nvPr/>
        </p:nvSpPr>
        <p:spPr>
          <a:xfrm>
            <a:off x="841248" y="3584448"/>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978408" y="3694176"/>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3</a:t>
            </a:r>
          </a:p>
        </p:txBody>
      </p:sp>
      <p:pic>
        <p:nvPicPr>
          <p:cNvPr id="16" name="Picture 15" descr="LuCalendarClock_n.png"/>
          <p:cNvPicPr>
            <a:picLocks noChangeAspect="1"/>
          </p:cNvPicPr>
          <p:nvPr/>
        </p:nvPicPr>
        <p:blipFill>
          <a:blip r:embed="rId5"/>
          <a:stretch>
            <a:fillRect/>
          </a:stretch>
        </p:blipFill>
        <p:spPr>
          <a:xfrm>
            <a:off x="1618488" y="3758184"/>
            <a:ext cx="329184" cy="329184"/>
          </a:xfrm>
          <a:prstGeom prst="rect">
            <a:avLst/>
          </a:prstGeom>
        </p:spPr>
      </p:pic>
      <p:sp>
        <p:nvSpPr>
          <p:cNvPr id="17" name="TextBox 16"/>
          <p:cNvSpPr txBox="1"/>
          <p:nvPr/>
        </p:nvSpPr>
        <p:spPr>
          <a:xfrm>
            <a:off x="2121408" y="3584448"/>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Markt-Radar einplanen</a:t>
            </a:r>
          </a:p>
        </p:txBody>
      </p:sp>
      <p:sp>
        <p:nvSpPr>
          <p:cNvPr id="18" name="TextBox 17"/>
          <p:cNvSpPr txBox="1"/>
          <p:nvPr/>
        </p:nvSpPr>
        <p:spPr>
          <a:xfrm>
            <a:off x="5413248" y="3584448"/>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Als geplante Aufgabe für den nächsten Montag, 7:00 Uhr.</a:t>
            </a:r>
          </a:p>
        </p:txBody>
      </p:sp>
      <p:sp>
        <p:nvSpPr>
          <p:cNvPr id="19" name="Rounded Rectangle 18"/>
          <p:cNvSpPr/>
          <p:nvPr/>
        </p:nvSpPr>
        <p:spPr>
          <a:xfrm>
            <a:off x="841248" y="4370832"/>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978408" y="4480560"/>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4</a:t>
            </a:r>
          </a:p>
        </p:txBody>
      </p:sp>
      <p:pic>
        <p:nvPicPr>
          <p:cNvPr id="21" name="Picture 20" descr="LuMic_n.png"/>
          <p:cNvPicPr>
            <a:picLocks noChangeAspect="1"/>
          </p:cNvPicPr>
          <p:nvPr/>
        </p:nvPicPr>
        <p:blipFill>
          <a:blip r:embed="rId6"/>
          <a:stretch>
            <a:fillRect/>
          </a:stretch>
        </p:blipFill>
        <p:spPr>
          <a:xfrm>
            <a:off x="1618488" y="4544568"/>
            <a:ext cx="329184" cy="329184"/>
          </a:xfrm>
          <a:prstGeom prst="rect">
            <a:avLst/>
          </a:prstGeom>
        </p:spPr>
      </p:pic>
      <p:sp>
        <p:nvSpPr>
          <p:cNvPr id="22" name="TextBox 21"/>
          <p:cNvSpPr txBox="1"/>
          <p:nvPr/>
        </p:nvSpPr>
        <p:spPr>
          <a:xfrm>
            <a:off x="2121408" y="4370832"/>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Zwei Kundengespräche blocken</a:t>
            </a:r>
          </a:p>
        </p:txBody>
      </p:sp>
      <p:sp>
        <p:nvSpPr>
          <p:cNvPr id="23" name="TextBox 22"/>
          <p:cNvSpPr txBox="1"/>
          <p:nvPr/>
        </p:nvSpPr>
        <p:spPr>
          <a:xfrm>
            <a:off x="5413248" y="4370832"/>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Echte Gespräche sind durch nichts zu ersetzen.</a:t>
            </a:r>
          </a:p>
        </p:txBody>
      </p:sp>
      <p:sp>
        <p:nvSpPr>
          <p:cNvPr id="24" name="Rounded Rectangle 23"/>
          <p:cNvSpPr/>
          <p:nvPr/>
        </p:nvSpPr>
        <p:spPr>
          <a:xfrm>
            <a:off x="841248" y="5157216"/>
            <a:ext cx="10506456" cy="676656"/>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78408" y="5266944"/>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500" b="1" i="0">
                <a:solidFill>
                  <a:srgbClr val="FFFFFF"/>
                </a:solidFill>
                <a:latin typeface="Roboto"/>
              </a:rPr>
              <a:t>5</a:t>
            </a:r>
          </a:p>
        </p:txBody>
      </p:sp>
      <p:pic>
        <p:nvPicPr>
          <p:cNvPr id="26" name="Picture 25" descr="LuUserRound_n.png"/>
          <p:cNvPicPr>
            <a:picLocks noChangeAspect="1"/>
          </p:cNvPicPr>
          <p:nvPr/>
        </p:nvPicPr>
        <p:blipFill>
          <a:blip r:embed="rId7"/>
          <a:stretch>
            <a:fillRect/>
          </a:stretch>
        </p:blipFill>
        <p:spPr>
          <a:xfrm>
            <a:off x="1618488" y="5330952"/>
            <a:ext cx="329184" cy="329184"/>
          </a:xfrm>
          <a:prstGeom prst="rect">
            <a:avLst/>
          </a:prstGeom>
        </p:spPr>
      </p:pic>
      <p:sp>
        <p:nvSpPr>
          <p:cNvPr id="27" name="TextBox 26"/>
          <p:cNvSpPr txBox="1"/>
          <p:nvPr/>
        </p:nvSpPr>
        <p:spPr>
          <a:xfrm>
            <a:off x="2121408" y="5157216"/>
            <a:ext cx="3291840" cy="676656"/>
          </a:xfrm>
          <a:prstGeom prst="rect">
            <a:avLst/>
          </a:prstGeom>
          <a:noFill/>
        </p:spPr>
        <p:txBody>
          <a:bodyPr wrap="square" lIns="0" rIns="0" tIns="0" bIns="0" anchor="ctr"/>
          <a:lstStyle/>
          <a:p>
            <a:pPr algn="l">
              <a:spcAft>
                <a:spcPts val="400"/>
              </a:spcAft>
              <a:buNone/>
            </a:pPr>
            <a:r>
              <a:rPr sz="1500" b="1" i="0">
                <a:solidFill>
                  <a:srgbClr val="0E1F53"/>
                </a:solidFill>
                <a:latin typeface="Roboto"/>
              </a:rPr>
              <a:t>Verantwortung festlegen</a:t>
            </a:r>
          </a:p>
        </p:txBody>
      </p:sp>
      <p:sp>
        <p:nvSpPr>
          <p:cNvPr id="28" name="TextBox 27"/>
          <p:cNvSpPr txBox="1"/>
          <p:nvPr/>
        </p:nvSpPr>
        <p:spPr>
          <a:xfrm>
            <a:off x="5413248" y="5157216"/>
            <a:ext cx="5751576" cy="676656"/>
          </a:xfrm>
          <a:prstGeom prst="rect">
            <a:avLst/>
          </a:prstGeom>
          <a:noFill/>
        </p:spPr>
        <p:txBody>
          <a:bodyPr wrap="square" lIns="0" rIns="0" tIns="0" bIns="0" anchor="ctr"/>
          <a:lstStyle/>
          <a:p>
            <a:pPr algn="l">
              <a:spcAft>
                <a:spcPts val="400"/>
              </a:spcAft>
              <a:buNone/>
            </a:pPr>
            <a:r>
              <a:rPr sz="1350" b="0" i="0">
                <a:solidFill>
                  <a:srgbClr val="0E1F53"/>
                </a:solidFill>
                <a:latin typeface="Roboto"/>
              </a:rPr>
              <a:t>Eine Person kümmert sich um Innovation, eine Stunde pro Woche.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Zum Weiterlesen und Ausprobieren</a:t>
            </a:r>
          </a:p>
        </p:txBody>
      </p:sp>
      <p:sp>
        <p:nvSpPr>
          <p:cNvPr id="3" name="Rounded Rectangle 2"/>
          <p:cNvSpPr/>
          <p:nvPr/>
        </p:nvSpPr>
        <p:spPr>
          <a:xfrm>
            <a:off x="841248" y="850392"/>
            <a:ext cx="11155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RESSOURCEN</a:t>
            </a:r>
          </a:p>
        </p:txBody>
      </p:sp>
      <p:sp>
        <p:nvSpPr>
          <p:cNvPr id="4" name="Rounded Rectangle 3"/>
          <p:cNvSpPr/>
          <p:nvPr/>
        </p:nvSpPr>
        <p:spPr>
          <a:xfrm>
            <a:off x="841248"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42416" y="2212848"/>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Compass_w.png"/>
          <p:cNvPicPr>
            <a:picLocks noChangeAspect="1"/>
          </p:cNvPicPr>
          <p:nvPr/>
        </p:nvPicPr>
        <p:blipFill>
          <a:blip r:embed="rId3"/>
          <a:stretch>
            <a:fillRect/>
          </a:stretch>
        </p:blipFill>
        <p:spPr>
          <a:xfrm>
            <a:off x="1163116" y="2333548"/>
            <a:ext cx="261518" cy="261518"/>
          </a:xfrm>
          <a:prstGeom prst="rect">
            <a:avLst/>
          </a:prstGeom>
        </p:spPr>
      </p:pic>
      <p:sp>
        <p:nvSpPr>
          <p:cNvPr id="7" name="TextBox 6"/>
          <p:cNvSpPr txBox="1"/>
          <p:nvPr/>
        </p:nvSpPr>
        <p:spPr>
          <a:xfrm>
            <a:off x="1682496" y="221284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Design Thinking</a:t>
            </a:r>
          </a:p>
        </p:txBody>
      </p:sp>
      <p:sp>
        <p:nvSpPr>
          <p:cNvPr id="8" name="TextBox 7"/>
          <p:cNvSpPr txBox="1"/>
          <p:nvPr/>
        </p:nvSpPr>
        <p:spPr>
          <a:xfrm>
            <a:off x="1042416" y="2880360"/>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Stanford d.school: dschool.stanford.edu</a:t>
            </a:r>
          </a:p>
          <a:p>
            <a:pPr algn="l" marL="164592" indent="-164592">
              <a:spcAft>
                <a:spcPts val="400"/>
              </a:spcAft>
              <a:buClr>
                <a:srgbClr val="FB2762"/>
              </a:buClr>
              <a:buFont typeface="Arial"/>
              <a:buChar char="•"/>
            </a:pPr>
            <a:r>
              <a:rPr sz="1250" b="0" i="0">
                <a:solidFill>
                  <a:srgbClr val="0E1F53"/>
                </a:solidFill>
                <a:latin typeface="Roboto"/>
              </a:rPr>
              <a:t>HPI Academy: hpi-academy.de</a:t>
            </a:r>
          </a:p>
        </p:txBody>
      </p:sp>
      <p:sp>
        <p:nvSpPr>
          <p:cNvPr id="9" name="Rounded Rectangle 8"/>
          <p:cNvSpPr/>
          <p:nvPr/>
        </p:nvSpPr>
        <p:spPr>
          <a:xfrm>
            <a:off x="4434840"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636008" y="2212848"/>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FileCode_w.png"/>
          <p:cNvPicPr>
            <a:picLocks noChangeAspect="1"/>
          </p:cNvPicPr>
          <p:nvPr/>
        </p:nvPicPr>
        <p:blipFill>
          <a:blip r:embed="rId4"/>
          <a:stretch>
            <a:fillRect/>
          </a:stretch>
        </p:blipFill>
        <p:spPr>
          <a:xfrm>
            <a:off x="4756708" y="2333548"/>
            <a:ext cx="261518" cy="261518"/>
          </a:xfrm>
          <a:prstGeom prst="rect">
            <a:avLst/>
          </a:prstGeom>
        </p:spPr>
      </p:pic>
      <p:sp>
        <p:nvSpPr>
          <p:cNvPr id="12" name="TextBox 11"/>
          <p:cNvSpPr txBox="1"/>
          <p:nvPr/>
        </p:nvSpPr>
        <p:spPr>
          <a:xfrm>
            <a:off x="5276088" y="221284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Skills auf GitHub</a:t>
            </a:r>
          </a:p>
        </p:txBody>
      </p:sp>
      <p:sp>
        <p:nvSpPr>
          <p:cNvPr id="13" name="TextBox 12"/>
          <p:cNvSpPr txBox="1"/>
          <p:nvPr/>
        </p:nvSpPr>
        <p:spPr>
          <a:xfrm>
            <a:off x="4636008" y="2880360"/>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anthropics/skills · deanpeters/Product-Manager-Skills</a:t>
            </a:r>
          </a:p>
          <a:p>
            <a:pPr algn="l" marL="164592" indent="-164592">
              <a:spcAft>
                <a:spcPts val="400"/>
              </a:spcAft>
              <a:buClr>
                <a:srgbClr val="FB2762"/>
              </a:buClr>
              <a:buFont typeface="Arial"/>
              <a:buChar char="•"/>
            </a:pPr>
            <a:r>
              <a:rPr sz="1250" b="0" i="0">
                <a:solidFill>
                  <a:srgbClr val="0E1F53"/>
                </a:solidFill>
                <a:latin typeface="Roboto"/>
              </a:rPr>
              <a:t>product-on-purpose/pm-skills · VoltAgent/awesome-agent-skills</a:t>
            </a:r>
          </a:p>
        </p:txBody>
      </p:sp>
      <p:sp>
        <p:nvSpPr>
          <p:cNvPr id="14" name="Rounded Rectangle 13"/>
          <p:cNvSpPr/>
          <p:nvPr/>
        </p:nvSpPr>
        <p:spPr>
          <a:xfrm>
            <a:off x="8028432" y="2011680"/>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600" y="2212848"/>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uWorkflow_w.png"/>
          <p:cNvPicPr>
            <a:picLocks noChangeAspect="1"/>
          </p:cNvPicPr>
          <p:nvPr/>
        </p:nvPicPr>
        <p:blipFill>
          <a:blip r:embed="rId5"/>
          <a:stretch>
            <a:fillRect/>
          </a:stretch>
        </p:blipFill>
        <p:spPr>
          <a:xfrm>
            <a:off x="8350300" y="2333548"/>
            <a:ext cx="261518" cy="261518"/>
          </a:xfrm>
          <a:prstGeom prst="rect">
            <a:avLst/>
          </a:prstGeom>
        </p:spPr>
      </p:pic>
      <p:sp>
        <p:nvSpPr>
          <p:cNvPr id="17" name="TextBox 16"/>
          <p:cNvSpPr txBox="1"/>
          <p:nvPr/>
        </p:nvSpPr>
        <p:spPr>
          <a:xfrm>
            <a:off x="8869680" y="2212848"/>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Automatisierung</a:t>
            </a:r>
          </a:p>
        </p:txBody>
      </p:sp>
      <p:sp>
        <p:nvSpPr>
          <p:cNvPr id="18" name="TextBox 17"/>
          <p:cNvSpPr txBox="1"/>
          <p:nvPr/>
        </p:nvSpPr>
        <p:spPr>
          <a:xfrm>
            <a:off x="8229600" y="2880360"/>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n8n: n8n.io (auch selbst hostbar)</a:t>
            </a:r>
          </a:p>
          <a:p>
            <a:pPr algn="l" marL="164592" indent="-164592">
              <a:spcAft>
                <a:spcPts val="400"/>
              </a:spcAft>
              <a:buClr>
                <a:srgbClr val="FB2762"/>
              </a:buClr>
              <a:buFont typeface="Arial"/>
              <a:buChar char="•"/>
            </a:pPr>
            <a:r>
              <a:rPr sz="1250" b="0" i="0">
                <a:solidFill>
                  <a:srgbClr val="0E1F53"/>
                </a:solidFill>
                <a:latin typeface="Roboto"/>
              </a:rPr>
              <a:t>Make, Power Automate, Zapier</a:t>
            </a:r>
          </a:p>
        </p:txBody>
      </p:sp>
      <p:sp>
        <p:nvSpPr>
          <p:cNvPr id="19" name="Rounded Rectangle 18"/>
          <p:cNvSpPr/>
          <p:nvPr/>
        </p:nvSpPr>
        <p:spPr>
          <a:xfrm>
            <a:off x="841248"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42416" y="4242816"/>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uShieldCheck_w.png"/>
          <p:cNvPicPr>
            <a:picLocks noChangeAspect="1"/>
          </p:cNvPicPr>
          <p:nvPr/>
        </p:nvPicPr>
        <p:blipFill>
          <a:blip r:embed="rId6"/>
          <a:stretch>
            <a:fillRect/>
          </a:stretch>
        </p:blipFill>
        <p:spPr>
          <a:xfrm>
            <a:off x="1163116" y="4363516"/>
            <a:ext cx="261518" cy="261518"/>
          </a:xfrm>
          <a:prstGeom prst="rect">
            <a:avLst/>
          </a:prstGeom>
        </p:spPr>
      </p:pic>
      <p:sp>
        <p:nvSpPr>
          <p:cNvPr id="22" name="TextBox 21"/>
          <p:cNvSpPr txBox="1"/>
          <p:nvPr/>
        </p:nvSpPr>
        <p:spPr>
          <a:xfrm>
            <a:off x="1682496" y="4242816"/>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Recht &amp; Rahmen</a:t>
            </a:r>
          </a:p>
        </p:txBody>
      </p:sp>
      <p:sp>
        <p:nvSpPr>
          <p:cNvPr id="23" name="TextBox 22"/>
          <p:cNvSpPr txBox="1"/>
          <p:nvPr/>
        </p:nvSpPr>
        <p:spPr>
          <a:xfrm>
            <a:off x="1042416" y="4910328"/>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Bundesnetzagentur: KI-Service-Desk zur KI-Verordnung</a:t>
            </a:r>
          </a:p>
          <a:p>
            <a:pPr algn="l" marL="164592" indent="-164592">
              <a:spcAft>
                <a:spcPts val="400"/>
              </a:spcAft>
              <a:buClr>
                <a:srgbClr val="FB2762"/>
              </a:buClr>
              <a:buFont typeface="Arial"/>
              <a:buChar char="•"/>
            </a:pPr>
            <a:r>
              <a:rPr sz="1250" b="0" i="0">
                <a:solidFill>
                  <a:srgbClr val="0E1F53"/>
                </a:solidFill>
                <a:latin typeface="Roboto"/>
              </a:rPr>
              <a:t>Datenschutzkonferenz: Orientierungshilfe KI</a:t>
            </a:r>
          </a:p>
        </p:txBody>
      </p:sp>
      <p:sp>
        <p:nvSpPr>
          <p:cNvPr id="24" name="Rounded Rectangle 23"/>
          <p:cNvSpPr/>
          <p:nvPr/>
        </p:nvSpPr>
        <p:spPr>
          <a:xfrm>
            <a:off x="4434840"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636008" y="4242816"/>
            <a:ext cx="502920" cy="50292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uBuilding2_w.png"/>
          <p:cNvPicPr>
            <a:picLocks noChangeAspect="1"/>
          </p:cNvPicPr>
          <p:nvPr/>
        </p:nvPicPr>
        <p:blipFill>
          <a:blip r:embed="rId7"/>
          <a:stretch>
            <a:fillRect/>
          </a:stretch>
        </p:blipFill>
        <p:spPr>
          <a:xfrm>
            <a:off x="4756708" y="4363516"/>
            <a:ext cx="261518" cy="261518"/>
          </a:xfrm>
          <a:prstGeom prst="rect">
            <a:avLst/>
          </a:prstGeom>
        </p:spPr>
      </p:pic>
      <p:sp>
        <p:nvSpPr>
          <p:cNvPr id="27" name="TextBox 26"/>
          <p:cNvSpPr txBox="1"/>
          <p:nvPr/>
        </p:nvSpPr>
        <p:spPr>
          <a:xfrm>
            <a:off x="5276088" y="4242816"/>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Unterstützung für KMU</a:t>
            </a:r>
          </a:p>
        </p:txBody>
      </p:sp>
      <p:sp>
        <p:nvSpPr>
          <p:cNvPr id="28" name="TextBox 27"/>
          <p:cNvSpPr txBox="1"/>
          <p:nvPr/>
        </p:nvSpPr>
        <p:spPr>
          <a:xfrm>
            <a:off x="4636008" y="4910328"/>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Mittelstand-Digital Zentren: mittelstand-digital.de</a:t>
            </a:r>
          </a:p>
          <a:p>
            <a:pPr algn="l" marL="164592" indent="-164592">
              <a:spcAft>
                <a:spcPts val="400"/>
              </a:spcAft>
              <a:buClr>
                <a:srgbClr val="FB2762"/>
              </a:buClr>
              <a:buFont typeface="Arial"/>
              <a:buChar char="•"/>
            </a:pPr>
            <a:r>
              <a:rPr sz="1250" b="0" i="0">
                <a:solidFill>
                  <a:srgbClr val="0E1F53"/>
                </a:solidFill>
                <a:latin typeface="Roboto"/>
              </a:rPr>
              <a:t>Projekt KI für KMU: Ansprechpersonen auf der nächsten Folie</a:t>
            </a:r>
          </a:p>
        </p:txBody>
      </p:sp>
      <p:sp>
        <p:nvSpPr>
          <p:cNvPr id="29" name="Rounded Rectangle 28"/>
          <p:cNvSpPr/>
          <p:nvPr/>
        </p:nvSpPr>
        <p:spPr>
          <a:xfrm>
            <a:off x="8028432" y="4041648"/>
            <a:ext cx="3319272" cy="184708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229600" y="4242816"/>
            <a:ext cx="502920" cy="50292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LuBookOpen_w.png"/>
          <p:cNvPicPr>
            <a:picLocks noChangeAspect="1"/>
          </p:cNvPicPr>
          <p:nvPr/>
        </p:nvPicPr>
        <p:blipFill>
          <a:blip r:embed="rId8"/>
          <a:stretch>
            <a:fillRect/>
          </a:stretch>
        </p:blipFill>
        <p:spPr>
          <a:xfrm>
            <a:off x="8350300" y="4363516"/>
            <a:ext cx="261518" cy="261518"/>
          </a:xfrm>
          <a:prstGeom prst="rect">
            <a:avLst/>
          </a:prstGeom>
        </p:spPr>
      </p:pic>
      <p:sp>
        <p:nvSpPr>
          <p:cNvPr id="32" name="TextBox 31"/>
          <p:cNvSpPr txBox="1"/>
          <p:nvPr/>
        </p:nvSpPr>
        <p:spPr>
          <a:xfrm>
            <a:off x="8869680" y="4242816"/>
            <a:ext cx="2313432" cy="502920"/>
          </a:xfrm>
          <a:prstGeom prst="rect">
            <a:avLst/>
          </a:prstGeom>
          <a:noFill/>
        </p:spPr>
        <p:txBody>
          <a:bodyPr wrap="square" lIns="0" rIns="0" tIns="0" bIns="0" anchor="ctr"/>
          <a:lstStyle/>
          <a:p>
            <a:pPr algn="l">
              <a:spcAft>
                <a:spcPts val="400"/>
              </a:spcAft>
              <a:buNone/>
            </a:pPr>
            <a:r>
              <a:rPr sz="1500" b="1" i="0">
                <a:solidFill>
                  <a:srgbClr val="0E1F53"/>
                </a:solidFill>
                <a:latin typeface="Roboto"/>
              </a:rPr>
              <a:t>Arbeitsheft</a:t>
            </a:r>
          </a:p>
        </p:txBody>
      </p:sp>
      <p:sp>
        <p:nvSpPr>
          <p:cNvPr id="33" name="TextBox 32"/>
          <p:cNvSpPr txBox="1"/>
          <p:nvPr/>
        </p:nvSpPr>
        <p:spPr>
          <a:xfrm>
            <a:off x="8229600" y="4910328"/>
            <a:ext cx="2916936" cy="914400"/>
          </a:xfrm>
          <a:prstGeom prst="rect">
            <a:avLst/>
          </a:prstGeom>
          <a:noFill/>
        </p:spPr>
        <p:txBody>
          <a:bodyPr wrap="square" lIns="0" rIns="0" tIns="0" bIns="0" anchor="t"/>
          <a:lstStyle/>
          <a:p>
            <a:pPr algn="l" marL="164592" indent="-164592">
              <a:spcAft>
                <a:spcPts val="400"/>
              </a:spcAft>
              <a:buClr>
                <a:srgbClr val="FB2762"/>
              </a:buClr>
              <a:buFont typeface="Arial"/>
              <a:buChar char="•"/>
            </a:pPr>
            <a:r>
              <a:rPr sz="1250" b="0" i="0">
                <a:solidFill>
                  <a:srgbClr val="0E1F53"/>
                </a:solidFill>
                <a:latin typeface="Roboto"/>
              </a:rPr>
              <a:t>Alle Systemprompts der Reihe</a:t>
            </a:r>
          </a:p>
          <a:p>
            <a:pPr algn="l" marL="164592" indent="-164592">
              <a:spcAft>
                <a:spcPts val="400"/>
              </a:spcAft>
              <a:buClr>
                <a:srgbClr val="FB2762"/>
              </a:buClr>
              <a:buFont typeface="Arial"/>
              <a:buChar char="•"/>
            </a:pPr>
            <a:r>
              <a:rPr sz="1250" b="0" i="0">
                <a:solidFill>
                  <a:srgbClr val="0E1F53"/>
                </a:solidFill>
                <a:latin typeface="Roboto"/>
              </a:rPr>
              <a:t>Vorlagen zum Kopieren und Anpassen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Ihre Teilnahmebestätigung und KI-Kompetenz</a:t>
            </a:r>
          </a:p>
        </p:txBody>
      </p:sp>
      <p:sp>
        <p:nvSpPr>
          <p:cNvPr id="3" name="Rounded Rectangle 2"/>
          <p:cNvSpPr/>
          <p:nvPr/>
        </p:nvSpPr>
        <p:spPr>
          <a:xfrm>
            <a:off x="841248" y="850392"/>
            <a:ext cx="779068"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RAHMEN</a:t>
            </a:r>
          </a:p>
        </p:txBody>
      </p:sp>
      <p:sp>
        <p:nvSpPr>
          <p:cNvPr id="4" name="Rounded Rectangle 3"/>
          <p:cNvSpPr/>
          <p:nvPr/>
        </p:nvSpPr>
        <p:spPr>
          <a:xfrm>
            <a:off x="841248" y="2011680"/>
            <a:ext cx="5116068" cy="2743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024128" y="2194560"/>
            <a:ext cx="457200" cy="457200"/>
          </a:xfrm>
          <a:prstGeom prst="ellipse">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uGraduationCap_w.png"/>
          <p:cNvPicPr>
            <a:picLocks noChangeAspect="1"/>
          </p:cNvPicPr>
          <p:nvPr/>
        </p:nvPicPr>
        <p:blipFill>
          <a:blip r:embed="rId3"/>
          <a:stretch>
            <a:fillRect/>
          </a:stretch>
        </p:blipFill>
        <p:spPr>
          <a:xfrm>
            <a:off x="1133856" y="2304288"/>
            <a:ext cx="237744" cy="237744"/>
          </a:xfrm>
          <a:prstGeom prst="rect">
            <a:avLst/>
          </a:prstGeom>
        </p:spPr>
      </p:pic>
      <p:sp>
        <p:nvSpPr>
          <p:cNvPr id="7" name="TextBox 6"/>
          <p:cNvSpPr txBox="1"/>
          <p:nvPr/>
        </p:nvSpPr>
        <p:spPr>
          <a:xfrm>
            <a:off x="1591056" y="2194560"/>
            <a:ext cx="4183379"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Was Sie erhalten</a:t>
            </a:r>
          </a:p>
        </p:txBody>
      </p:sp>
      <p:sp>
        <p:nvSpPr>
          <p:cNvPr id="8" name="TextBox 7"/>
          <p:cNvSpPr txBox="1"/>
          <p:nvPr/>
        </p:nvSpPr>
        <p:spPr>
          <a:xfrm>
            <a:off x="1024128" y="2761488"/>
            <a:ext cx="4750307" cy="1883663"/>
          </a:xfrm>
          <a:prstGeom prst="rect">
            <a:avLst/>
          </a:prstGeom>
          <a:noFill/>
        </p:spPr>
        <p:txBody>
          <a:bodyPr wrap="square" lIns="0" rIns="0" tIns="0" bIns="0" anchor="t"/>
          <a:lstStyle/>
          <a:p>
            <a:pPr algn="l" marL="164592" indent="-164592">
              <a:spcAft>
                <a:spcPts val="400"/>
              </a:spcAft>
              <a:buClr>
                <a:srgbClr val="FB2762"/>
              </a:buClr>
              <a:buFont typeface="Arial"/>
              <a:buChar char="•"/>
            </a:pPr>
            <a:r>
              <a:rPr sz="1400" b="0" i="0">
                <a:solidFill>
                  <a:srgbClr val="0E1F53"/>
                </a:solidFill>
                <a:latin typeface="Roboto"/>
              </a:rPr>
              <a:t>Teilnahmebestätigung für die gesamte Reihe</a:t>
            </a:r>
          </a:p>
          <a:p>
            <a:pPr algn="l" marL="164592" indent="-164592">
              <a:spcAft>
                <a:spcPts val="400"/>
              </a:spcAft>
              <a:buClr>
                <a:srgbClr val="FB2762"/>
              </a:buClr>
              <a:buFont typeface="Arial"/>
              <a:buChar char="•"/>
            </a:pPr>
            <a:r>
              <a:rPr sz="1400" b="0" i="0">
                <a:solidFill>
                  <a:srgbClr val="0E1F53"/>
                </a:solidFill>
                <a:latin typeface="Roboto"/>
              </a:rPr>
              <a:t>Arbeitsheft mit allen Vorlagen und Systemprompts</a:t>
            </a:r>
          </a:p>
          <a:p>
            <a:pPr algn="l" marL="164592" indent="-164592">
              <a:spcAft>
                <a:spcPts val="400"/>
              </a:spcAft>
              <a:buClr>
                <a:srgbClr val="FB2762"/>
              </a:buClr>
              <a:buFont typeface="Arial"/>
              <a:buChar char="•"/>
            </a:pPr>
            <a:r>
              <a:rPr sz="1400" b="0" i="0">
                <a:solidFill>
                  <a:srgbClr val="0E1F53"/>
                </a:solidFill>
                <a:latin typeface="Roboto"/>
              </a:rPr>
              <a:t>Ihr Innovation Canvas als Ergebnis</a:t>
            </a:r>
          </a:p>
        </p:txBody>
      </p:sp>
      <p:sp>
        <p:nvSpPr>
          <p:cNvPr id="9" name="Rounded Rectangle 8"/>
          <p:cNvSpPr/>
          <p:nvPr/>
        </p:nvSpPr>
        <p:spPr>
          <a:xfrm>
            <a:off x="6231636" y="2011680"/>
            <a:ext cx="5116068" cy="2743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4516" y="2194560"/>
            <a:ext cx="457200" cy="457200"/>
          </a:xfrm>
          <a:prstGeom prst="ellipse">
            <a:avLst/>
          </a:prstGeom>
          <a:solidFill>
            <a:srgbClr val="FB27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uShieldCheck_w.png"/>
          <p:cNvPicPr>
            <a:picLocks noChangeAspect="1"/>
          </p:cNvPicPr>
          <p:nvPr/>
        </p:nvPicPr>
        <p:blipFill>
          <a:blip r:embed="rId4"/>
          <a:stretch>
            <a:fillRect/>
          </a:stretch>
        </p:blipFill>
        <p:spPr>
          <a:xfrm>
            <a:off x="6524244" y="2304288"/>
            <a:ext cx="237744" cy="237744"/>
          </a:xfrm>
          <a:prstGeom prst="rect">
            <a:avLst/>
          </a:prstGeom>
        </p:spPr>
      </p:pic>
      <p:sp>
        <p:nvSpPr>
          <p:cNvPr id="12" name="TextBox 11"/>
          <p:cNvSpPr txBox="1"/>
          <p:nvPr/>
        </p:nvSpPr>
        <p:spPr>
          <a:xfrm>
            <a:off x="6981444" y="2194560"/>
            <a:ext cx="4183379" cy="457200"/>
          </a:xfrm>
          <a:prstGeom prst="rect">
            <a:avLst/>
          </a:prstGeom>
          <a:noFill/>
        </p:spPr>
        <p:txBody>
          <a:bodyPr wrap="square" lIns="0" rIns="0" tIns="0" bIns="0" anchor="ctr"/>
          <a:lstStyle/>
          <a:p>
            <a:pPr algn="l">
              <a:spcAft>
                <a:spcPts val="400"/>
              </a:spcAft>
              <a:buNone/>
            </a:pPr>
            <a:r>
              <a:rPr sz="1500" b="1" i="0">
                <a:solidFill>
                  <a:srgbClr val="0E1F53"/>
                </a:solidFill>
                <a:latin typeface="Roboto"/>
              </a:rPr>
              <a:t>KI-Kompetenz nach Art. 4 KI-Verordnung</a:t>
            </a:r>
          </a:p>
        </p:txBody>
      </p:sp>
      <p:sp>
        <p:nvSpPr>
          <p:cNvPr id="13" name="TextBox 12"/>
          <p:cNvSpPr txBox="1"/>
          <p:nvPr/>
        </p:nvSpPr>
        <p:spPr>
          <a:xfrm>
            <a:off x="6414516" y="2761488"/>
            <a:ext cx="4750307" cy="1883663"/>
          </a:xfrm>
          <a:prstGeom prst="rect">
            <a:avLst/>
          </a:prstGeom>
          <a:noFill/>
        </p:spPr>
        <p:txBody>
          <a:bodyPr wrap="square" lIns="0" rIns="0" tIns="0" bIns="0" anchor="t"/>
          <a:lstStyle/>
          <a:p>
            <a:pPr algn="l" marL="164592" indent="-164592">
              <a:spcAft>
                <a:spcPts val="400"/>
              </a:spcAft>
              <a:buClr>
                <a:srgbClr val="FB2762"/>
              </a:buClr>
              <a:buFont typeface="Arial"/>
              <a:buChar char="•"/>
            </a:pPr>
            <a:r>
              <a:rPr sz="1400" b="0" i="0">
                <a:solidFill>
                  <a:srgbClr val="0E1F53"/>
                </a:solidFill>
                <a:latin typeface="Roboto"/>
              </a:rPr>
              <a:t>Seit 02.02.2025 müssen Unternehmen, die KI einsetzen, für ausreichende KI-Kompetenz ihrer Beschäftigten sorgen.</a:t>
            </a:r>
          </a:p>
          <a:p>
            <a:pPr algn="l" marL="164592" indent="-164592">
              <a:spcAft>
                <a:spcPts val="400"/>
              </a:spcAft>
              <a:buClr>
                <a:srgbClr val="FB2762"/>
              </a:buClr>
              <a:buFont typeface="Arial"/>
              <a:buChar char="•"/>
            </a:pPr>
            <a:r>
              <a:rPr sz="1400" b="0" i="0">
                <a:solidFill>
                  <a:srgbClr val="0E1F53"/>
                </a:solidFill>
                <a:latin typeface="Roboto"/>
              </a:rPr>
              <a:t>Die Bestätigung hilft bei der Dokumentation.</a:t>
            </a:r>
          </a:p>
          <a:p>
            <a:pPr algn="l" marL="164592" indent="-164592">
              <a:spcAft>
                <a:spcPts val="400"/>
              </a:spcAft>
              <a:buClr>
                <a:srgbClr val="FB2762"/>
              </a:buClr>
              <a:buFont typeface="Arial"/>
              <a:buChar char="•"/>
            </a:pPr>
            <a:r>
              <a:rPr sz="1400" b="0" i="0">
                <a:solidFill>
                  <a:srgbClr val="0E1F53"/>
                </a:solidFill>
                <a:latin typeface="Roboto"/>
              </a:rPr>
              <a:t>Tipp: Geben Sie Ihr Wissen intern weiter und halten Sie das fest.</a:t>
            </a:r>
          </a:p>
        </p:txBody>
      </p:sp>
      <p:sp>
        <p:nvSpPr>
          <p:cNvPr id="14" name="Rounded Rectangle 13"/>
          <p:cNvSpPr/>
          <p:nvPr/>
        </p:nvSpPr>
        <p:spPr>
          <a:xfrm>
            <a:off x="841248" y="5029200"/>
            <a:ext cx="10506456" cy="960120"/>
          </a:xfrm>
          <a:prstGeom prst="roundRect">
            <a:avLst>
              <a:gd name="adj" fmla="val 6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15568" y="5029200"/>
            <a:ext cx="9957816" cy="960120"/>
          </a:xfrm>
          <a:prstGeom prst="rect">
            <a:avLst/>
          </a:prstGeom>
          <a:noFill/>
        </p:spPr>
        <p:txBody>
          <a:bodyPr wrap="square" lIns="0" rIns="0" tIns="0" bIns="0" anchor="ctr"/>
          <a:lstStyle/>
          <a:p>
            <a:pPr algn="l">
              <a:spcAft>
                <a:spcPts val="400"/>
              </a:spcAft>
              <a:buNone/>
            </a:pPr>
            <a:r>
              <a:rPr sz="1700" b="1" i="0">
                <a:solidFill>
                  <a:srgbClr val="FFFFFF"/>
                </a:solidFill>
                <a:latin typeface="Roboto"/>
              </a:rPr>
              <a:t>KI verstehen. KI ausprobieren. KI erfolgreich im Unternehmen einsetzen.</a:t>
            </a:r>
          </a:p>
        </p:txBody>
      </p:sp>
      <p:sp>
        <p:nvSpPr>
          <p:cNvPr id="16" name="TextBox 15"/>
          <p:cNvSpPr txBox="1"/>
          <p:nvPr/>
        </p:nvSpPr>
        <p:spPr>
          <a:xfrm>
            <a:off x="841248" y="6336792"/>
            <a:ext cx="9692640" cy="274320"/>
          </a:xfrm>
          <a:prstGeom prst="rect">
            <a:avLst/>
          </a:prstGeom>
          <a:noFill/>
        </p:spPr>
        <p:txBody>
          <a:bodyPr wrap="square" lIns="0" rIns="0" tIns="0" bIns="0" anchor="ctr"/>
          <a:lstStyle/>
          <a:p>
            <a:pPr algn="l">
              <a:spcAft>
                <a:spcPts val="400"/>
              </a:spcAft>
              <a:buNone/>
            </a:pPr>
            <a:r>
              <a:rPr sz="900" b="0" i="0">
                <a:solidFill>
                  <a:srgbClr val="5A6684"/>
                </a:solidFill>
                <a:latin typeface="Roboto"/>
              </a:rPr>
              <a:t>Verordnung (EU) 2024/1689, Art. 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1"/>
              <a:t>Quellen</a:t>
            </a:r>
          </a:p>
        </p:txBody>
      </p:sp>
      <p:sp>
        <p:nvSpPr>
          <p:cNvPr id="3" name="Rounded Rectangle 2"/>
          <p:cNvSpPr/>
          <p:nvPr/>
        </p:nvSpPr>
        <p:spPr>
          <a:xfrm>
            <a:off x="841248" y="850392"/>
            <a:ext cx="863193" cy="274320"/>
          </a:xfrm>
          <a:prstGeom prst="roundRect">
            <a:avLst>
              <a:gd name="adj" fmla="val 50000"/>
            </a:avLst>
          </a:prstGeom>
          <a:solidFill>
            <a:srgbClr val="0E1F5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400"/>
              </a:spcAft>
              <a:buNone/>
            </a:pPr>
            <a:r>
              <a:rPr sz="1000" b="1" i="0">
                <a:solidFill>
                  <a:srgbClr val="FFFFFF"/>
                </a:solidFill>
                <a:latin typeface="Roboto"/>
              </a:rPr>
              <a:t>QUELLEN</a:t>
            </a:r>
          </a:p>
        </p:txBody>
      </p:sp>
      <p:sp>
        <p:nvSpPr>
          <p:cNvPr id="4" name="Rounded Rectangle 3"/>
          <p:cNvSpPr/>
          <p:nvPr/>
        </p:nvSpPr>
        <p:spPr>
          <a:xfrm>
            <a:off x="841248" y="2011680"/>
            <a:ext cx="10506456" cy="39776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15568" y="2148840"/>
            <a:ext cx="9957816" cy="3749039"/>
          </a:xfrm>
          <a:prstGeom prst="rect">
            <a:avLst/>
          </a:prstGeom>
          <a:noFill/>
        </p:spPr>
        <p:txBody>
          <a:bodyPr wrap="square" lIns="0" rIns="0" tIns="0" bIns="0" anchor="t"/>
          <a:lstStyle/>
          <a:p>
            <a:pPr algn="l" marL="164592" indent="-164592">
              <a:spcAft>
                <a:spcPts val="300"/>
              </a:spcAft>
              <a:buClr>
                <a:srgbClr val="FB2762"/>
              </a:buClr>
              <a:buFont typeface="Arial"/>
              <a:buChar char="•"/>
            </a:pPr>
            <a:r>
              <a:rPr sz="1200" b="0" i="0">
                <a:solidFill>
                  <a:srgbClr val="0E1F53"/>
                </a:solidFill>
                <a:latin typeface="Roboto"/>
              </a:rPr>
              <a:t>Bitkom e. V. (2025): Befragung zur KI-Nutzung in Unternehmen ab 20 Beschäftigten, Pressemitteilung September 2025.</a:t>
            </a:r>
          </a:p>
          <a:p>
            <a:pPr algn="l" marL="164592" indent="-164592">
              <a:spcAft>
                <a:spcPts val="300"/>
              </a:spcAft>
              <a:buClr>
                <a:srgbClr val="FB2762"/>
              </a:buClr>
              <a:buFont typeface="Arial"/>
              <a:buChar char="•"/>
            </a:pPr>
            <a:r>
              <a:rPr sz="1200" b="0" i="0">
                <a:solidFill>
                  <a:srgbClr val="0E1F53"/>
                </a:solidFill>
                <a:latin typeface="Roboto"/>
              </a:rPr>
              <a:t>Brown, T. (2009): Change by Design. New York: HarperBusiness.</a:t>
            </a:r>
          </a:p>
          <a:p>
            <a:pPr algn="l" marL="164592" indent="-164592">
              <a:spcAft>
                <a:spcPts val="300"/>
              </a:spcAft>
              <a:buClr>
                <a:srgbClr val="FB2762"/>
              </a:buClr>
              <a:buFont typeface="Arial"/>
              <a:buChar char="•"/>
            </a:pPr>
            <a:r>
              <a:rPr sz="1200" b="0" i="0">
                <a:solidFill>
                  <a:srgbClr val="0E1F53"/>
                </a:solidFill>
                <a:latin typeface="Roboto"/>
              </a:rPr>
              <a:t>Hasso Plattner Institute of Design at Stanford (d.school): An Introduction to Design Thinking. Process Guide. Stanford.</a:t>
            </a:r>
          </a:p>
          <a:p>
            <a:pPr algn="l" marL="164592" indent="-164592">
              <a:spcAft>
                <a:spcPts val="300"/>
              </a:spcAft>
              <a:buClr>
                <a:srgbClr val="FB2762"/>
              </a:buClr>
              <a:buFont typeface="Arial"/>
              <a:buChar char="•"/>
            </a:pPr>
            <a:r>
              <a:rPr sz="1200" b="0" i="0">
                <a:solidFill>
                  <a:srgbClr val="0E1F53"/>
                </a:solidFill>
                <a:latin typeface="Roboto"/>
              </a:rPr>
              <a:t>Destatis (2024): Jedes fünfte Unternehmen nutzt künstliche Intelligenz. Pressemitteilung Nr. 444 vom 25.11.2024.</a:t>
            </a:r>
          </a:p>
          <a:p>
            <a:pPr algn="l" marL="164592" indent="-164592">
              <a:spcAft>
                <a:spcPts val="300"/>
              </a:spcAft>
              <a:buClr>
                <a:srgbClr val="FB2762"/>
              </a:buClr>
              <a:buFont typeface="Arial"/>
              <a:buChar char="•"/>
            </a:pPr>
            <a:r>
              <a:rPr sz="1200" b="0" i="0">
                <a:solidFill>
                  <a:srgbClr val="0E1F53"/>
                </a:solidFill>
                <a:latin typeface="Roboto"/>
              </a:rPr>
              <a:t>Hochschule Rhein-Waal (2025): Pressemitteilung zu den Studierendenzahlen im Wintersemester 2025/26 (Stichtag 31.10.2025).</a:t>
            </a:r>
          </a:p>
          <a:p>
            <a:pPr algn="l" marL="164592" indent="-164592">
              <a:spcAft>
                <a:spcPts val="300"/>
              </a:spcAft>
              <a:buClr>
                <a:srgbClr val="FB2762"/>
              </a:buClr>
              <a:buFont typeface="Arial"/>
              <a:buChar char="•"/>
            </a:pPr>
            <a:r>
              <a:rPr sz="1200" b="0" i="0">
                <a:solidFill>
                  <a:srgbClr val="0E1F53"/>
                </a:solidFill>
                <a:latin typeface="Roboto"/>
              </a:rPr>
              <a:t>Hochschule Rhein-Waal (2021, 2022): Zahlen der Hochschule Rhein-Waal 2020 und 2021.</a:t>
            </a:r>
          </a:p>
          <a:p>
            <a:pPr algn="l" marL="164592" indent="-164592">
              <a:spcAft>
                <a:spcPts val="300"/>
              </a:spcAft>
              <a:buClr>
                <a:srgbClr val="FB2762"/>
              </a:buClr>
              <a:buFont typeface="Arial"/>
              <a:buChar char="•"/>
            </a:pPr>
            <a:r>
              <a:rPr sz="1200" b="0" i="0">
                <a:solidFill>
                  <a:srgbClr val="0E1F53"/>
                </a:solidFill>
                <a:latin typeface="Roboto"/>
              </a:rPr>
              <a:t>HPI School of Design Thinking, Hasso-Plattner-Institut Potsdam: Design-Thinking-Methoden und Prozess.</a:t>
            </a:r>
          </a:p>
          <a:p>
            <a:pPr algn="l" marL="164592" indent="-164592">
              <a:spcAft>
                <a:spcPts val="300"/>
              </a:spcAft>
              <a:buClr>
                <a:srgbClr val="FB2762"/>
              </a:buClr>
              <a:buFont typeface="Arial"/>
              <a:buChar char="•"/>
            </a:pPr>
            <a:r>
              <a:rPr sz="1200" b="0" i="0">
                <a:solidFill>
                  <a:srgbClr val="0E1F53"/>
                </a:solidFill>
                <a:latin typeface="Roboto"/>
              </a:rPr>
              <a:t>KfW Research (2026): KfW-Innovationsbericht Mittelstand 2025.</a:t>
            </a:r>
          </a:p>
          <a:p>
            <a:pPr algn="l" marL="164592" indent="-164592">
              <a:spcAft>
                <a:spcPts val="300"/>
              </a:spcAft>
              <a:buClr>
                <a:srgbClr val="FB2762"/>
              </a:buClr>
              <a:buFont typeface="Arial"/>
              <a:buChar char="•"/>
            </a:pPr>
            <a:r>
              <a:rPr sz="1200" b="0" i="0">
                <a:solidFill>
                  <a:srgbClr val="0E1F53"/>
                </a:solidFill>
                <a:latin typeface="Roboto"/>
              </a:rPr>
              <a:t>Landtag NRW (2025): Drucksache 18/16085 mit Angaben von IT.NRW zu Studienanfänger:innen.</a:t>
            </a:r>
          </a:p>
          <a:p>
            <a:pPr algn="l" marL="164592" indent="-164592">
              <a:spcAft>
                <a:spcPts val="300"/>
              </a:spcAft>
              <a:buClr>
                <a:srgbClr val="FB2762"/>
              </a:buClr>
              <a:buFont typeface="Arial"/>
              <a:buChar char="•"/>
            </a:pPr>
            <a:r>
              <a:rPr sz="1200" b="0" i="0">
                <a:solidFill>
                  <a:srgbClr val="0E1F53"/>
                </a:solidFill>
                <a:latin typeface="Roboto"/>
              </a:rPr>
              <a:t>OECD/Eurostat (2018): Oslo Manual 2018, 4. Auflage. Paris/Luxemburg.</a:t>
            </a:r>
          </a:p>
          <a:p>
            <a:pPr algn="l" marL="164592" indent="-164592">
              <a:spcAft>
                <a:spcPts val="300"/>
              </a:spcAft>
              <a:buClr>
                <a:srgbClr val="FB2762"/>
              </a:buClr>
              <a:buFont typeface="Arial"/>
              <a:buChar char="•"/>
            </a:pPr>
            <a:r>
              <a:rPr sz="1200" b="0" i="0">
                <a:solidFill>
                  <a:srgbClr val="0E1F53"/>
                </a:solidFill>
                <a:latin typeface="Roboto"/>
              </a:rPr>
              <a:t>Verordnung (EU) 2024/1689 (KI-Verordnung), Art. 4 KI-Kompetenz, gültig seit 02.02.2025.</a:t>
            </a:r>
          </a:p>
          <a:p>
            <a:pPr algn="l" marL="164592" indent="-164592">
              <a:spcAft>
                <a:spcPts val="300"/>
              </a:spcAft>
              <a:buClr>
                <a:srgbClr val="FB2762"/>
              </a:buClr>
              <a:buFont typeface="Arial"/>
              <a:buChar char="•"/>
            </a:pPr>
            <a:r>
              <a:rPr sz="1200" b="0" i="0">
                <a:solidFill>
                  <a:srgbClr val="0E1F53"/>
                </a:solidFill>
                <a:latin typeface="Roboto"/>
              </a:rPr>
              <a:t>Agent Skills: agentskills.io; GitHub: anthropics/skills, deanpeters/Product-Manager-Skills, product-on-purpose/pm-skills, VoltAgent/awesome-agent-skills (Okt. 2026).</a:t>
            </a:r>
          </a:p>
          <a:p>
            <a:pPr algn="l" marL="164592" indent="-164592">
              <a:spcAft>
                <a:spcPts val="300"/>
              </a:spcAft>
              <a:buClr>
                <a:srgbClr val="FB2762"/>
              </a:buClr>
              <a:buFont typeface="Arial"/>
              <a:buChar char="•"/>
            </a:pPr>
            <a:r>
              <a:rPr sz="1200" b="0" i="0">
                <a:solidFill>
                  <a:srgbClr val="0E1F53"/>
                </a:solidFill>
                <a:latin typeface="Roboto"/>
              </a:rPr>
              <a:t>KI für KMU NiederRhein: Veranstaltungsseite KI.INNOVATION, b2match.com/e/ki-innovation.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a:themeElements>
    <a:clrScheme name="KI für KMU">
      <a:dk1>
        <a:srgbClr val="0E1F53"/>
      </a:dk1>
      <a:lt1>
        <a:srgbClr val="D5ECFE"/>
      </a:lt1>
      <a:dk2>
        <a:srgbClr val="0E1F53"/>
      </a:dk2>
      <a:lt2>
        <a:srgbClr val="D5ECFE"/>
      </a:lt2>
      <a:accent1>
        <a:srgbClr val="0E1F53"/>
      </a:accent1>
      <a:accent2>
        <a:srgbClr val="D5ECFE"/>
      </a:accent2>
      <a:accent3>
        <a:srgbClr val="FFFFFF"/>
      </a:accent3>
      <a:accent4>
        <a:srgbClr val="FB2762"/>
      </a:accent4>
      <a:accent5>
        <a:srgbClr val="FFFF00"/>
      </a:accent5>
      <a:accent6>
        <a:srgbClr val="00B050"/>
      </a:accent6>
      <a:hlink>
        <a:srgbClr val="000000"/>
      </a:hlink>
      <a:folHlink>
        <a:srgbClr val="0000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8AB1A8060D28FA43BB9900564A78FB5F" ma:contentTypeVersion="11" ma:contentTypeDescription="Ein neues Dokument erstellen." ma:contentTypeScope="" ma:versionID="144e6748869825956ab089d46687b714">
  <xsd:schema xmlns:xsd="http://www.w3.org/2001/XMLSchema" xmlns:xs="http://www.w3.org/2001/XMLSchema" xmlns:p="http://schemas.microsoft.com/office/2006/metadata/properties" xmlns:ns2="2f2b9811-e224-499d-9cee-5ea94efd50cd" xmlns:ns3="0d50e631-021e-46c4-8466-675917dabca7" targetNamespace="http://schemas.microsoft.com/office/2006/metadata/properties" ma:root="true" ma:fieldsID="46124d4402fc9abb362099b213c94ac0" ns2:_="" ns3:_="">
    <xsd:import namespace="2f2b9811-e224-499d-9cee-5ea94efd50cd"/>
    <xsd:import namespace="0d50e631-021e-46c4-8466-675917dabca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2b9811-e224-499d-9cee-5ea94efd50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7a9c7e18-6737-40fa-b448-03ddc414b1f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50e631-021e-46c4-8466-675917dabca7"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16abe772-63e3-48a9-946e-7b19bff8b72d}" ma:internalName="TaxCatchAll" ma:showField="CatchAllData" ma:web="0d50e631-021e-46c4-8466-675917dabca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f2b9811-e224-499d-9cee-5ea94efd50cd">
      <Terms xmlns="http://schemas.microsoft.com/office/infopath/2007/PartnerControls"/>
    </lcf76f155ced4ddcb4097134ff3c332f>
    <TaxCatchAll xmlns="0d50e631-021e-46c4-8466-675917dabca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51883B-F1CC-4AE1-8B47-ACC0C47EE8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f2b9811-e224-499d-9cee-5ea94efd50cd"/>
    <ds:schemaRef ds:uri="0d50e631-021e-46c4-8466-675917dabc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696C649-5B39-4CB8-8F3E-47F05CFF70B1}">
  <ds:schemaRefs>
    <ds:schemaRef ds:uri="http://schemas.microsoft.com/office/2006/metadata/properties"/>
    <ds:schemaRef ds:uri="http://schemas.microsoft.com/office/infopath/2007/PartnerControls"/>
    <ds:schemaRef ds:uri="72c6d9d0-3d9b-424b-95f4-b197d81fd0e7"/>
    <ds:schemaRef ds:uri="8b3dfbf8-1ae1-4b5f-be9c-68dbb0ad3816"/>
    <ds:schemaRef ds:uri="2f2b9811-e224-499d-9cee-5ea94efd50cd"/>
    <ds:schemaRef ds:uri="0d50e631-021e-46c4-8466-675917dabca7"/>
  </ds:schemaRefs>
</ds:datastoreItem>
</file>

<file path=customXml/itemProps3.xml><?xml version="1.0" encoding="utf-8"?>
<ds:datastoreItem xmlns:ds="http://schemas.openxmlformats.org/officeDocument/2006/customXml" ds:itemID="{A1E9A523-2ADD-48B3-AD86-64F03EEAF6C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24</Words>
  <Application>Microsoft Office PowerPoint</Application>
  <PresentationFormat>Widescreen</PresentationFormat>
  <Paragraphs>6</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Helen Dutzi</dc:creator>
  <cp:lastModifiedBy>Helen Dutzi</cp:lastModifiedBy>
  <cp:revision>3</cp:revision>
  <dcterms:created xsi:type="dcterms:W3CDTF">2026-04-01T07:51:41Z</dcterms:created>
  <dcterms:modified xsi:type="dcterms:W3CDTF">2026-10-14T12:40:27Z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0x0101008AB1A8060D28FA43BB9900564A78FB5F</vt:lpwstr>
  </property>
  <property fmtid="{D5CDD505-2E9C-101B-9397-08002B2CF9AE}" pid="3" name="MediaServiceImageTags">
    <vt:lpwstr/>
  </property>
</Properties>
</file>