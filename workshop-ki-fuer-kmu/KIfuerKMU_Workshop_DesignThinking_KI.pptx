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8"/>
    <p:sldId id="258" r:id="rId7"/>
    <p:sldId id="259" r:id="rId6"/>
    <p:sldId id="260" r:id="rId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6"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D53A7-A6F8-4D7A-92A0-B761737A18BF}" v="1" dt="2026-04-14T14:29:15.273"/>
    <p1510:client id="{832B96DA-4D16-4391-89A1-C43C48631DDD}" v="6" dt="2026-04-15T06:06:27.490"/>
    <p1510:client id="{8ADB1845-F5F4-49FC-9783-0BE813E3BFE9}" v="3" dt="2026-04-15T06:09:22.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88182" autoAdjust="0"/>
  </p:normalViewPr>
  <p:slideViewPr>
    <p:cSldViewPr showGuides="1">
      <p:cViewPr varScale="1">
        <p:scale>
          <a:sx n="66" d="100"/>
          <a:sy n="66" d="100"/>
        </p:scale>
        <p:origin x="1032" y="48"/>
      </p:cViewPr>
      <p:guideLst>
        <p:guide orient="horz" pos="1296"/>
        <p:guide pos="576"/>
      </p:guideLst>
    </p:cSldViewPr>
  </p:slideViewPr>
  <p:notesTextViewPr>
    <p:cViewPr>
      <p:scale>
        <a:sx n="3" d="2"/>
        <a:sy n="3" d="2"/>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Kurz vorstellen, Ziel des Tages nennen: Heute erleben Sie den kompletten Design-Thinking-Prozess einmal an einem echten Fall und sehen, wie KI-Agenten jede Phase unterstützen. Platzhalter für Datum und Masterclass-Nummer vor dem Termin ersetzen.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Überblick über den Tag. Die Teile 5 und 6 sind der Kern: jede Phase mit Input, KI-Werkzeugen und dem HSRW-Beispiel.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Ziele: verstehen, erleben, übertragen. Wichtig: Es geht nicht um ein bestimmtes KI-Tool. Alle Prompts funktionieren in ChatGPT, Claude, Copilot oder Gemini.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Zeiten sind ein Vorschlag für einen ganztägigen Workshop und lassen sich anpassen.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Erfindung ist noch keine Innovation. Innovation entsteht erst, wenn eine neue Idee umgesetzt wird und bei Kundinnen und Kunden oder im Betrieb einen Nutzen stiftet. Definition angelehnt an das Oslo Manual (OECD/Eurostat 2018).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 denken bei Innovation an Hightech-Produkte. In KMU sind Prozess- und Serviceinnovationen oft der schnellere Hebel. Frage ans Publikum: Welche Art von Innovation gab es in Ihrem Betrieb in den letzten drei Jahren?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Zahlen aus dem KfW-Innovationsbericht Mittelstand 2025 und der Destatis-Erhebung zur KI-Nutzung. Kernaussage: Große Mittelständler sind fast doppelt so oft erfolgreich wie kleine. Bei KI ist die Lücke noch größer. Genau diese Lücke soll das Projekt KI für KMU schließen.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Treiber kennt jedes KMU am Niederrhein. Kurze Abfrage: Welcher Treiber drückt bei Ihnen am stärksten?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Positiv starten: KMU sind nah an der Kundschaft und entscheiden schnell. Die Hürden sind real, aber genau dort setzen Design Thinking (Struktur) und KI (Zeit und Know-how) 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Minuten Einzelarbeit. Jede Person bewertet die fünf Aussagen von 1 (trifft nicht zu) bis 5 (trifft voll zu). Danach kurzer Austausch am Tisch: Wo ist der größte Hebel?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Thinking ist ein nutzerzentrierter, iterativer Innovationsansatz. In Deutschland vor allem durch die HPI School of Design Thinking in Potsdam bekannt geworden. Drei Erfolgsfaktoren: Menschen, Raum, Prozess.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zentrale Schaubild des Tages. Die ersten drei Phasen gehören zum Problemraum: Wir verstehen das Problem, bevor wir Lösungen suchen. Phasen 4 bis 6 bilden den Lösungsraum. Wichtig: Der Prozess ist nicht linear. Erkenntnisse aus einem Test führen oft zurück in eine frühere Phase.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jedem Raum öffnen wir zuerst (divergieren: möglichst viel sammeln) und fokussieren dann (konvergieren: auswählen). Viele Teams springen zu früh zur Lösung. Die Raute macht sichtbar, warum das gefährlich 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Linsen nach IDEO: Eine Lösung muss erwünscht, machbar und wirtschaftlich tragfähig sein. Design Thinking startet bewusst bei der Erwünschtheit, prüft die anderen beiden aber mit.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Methoden sind schnell gelernt, die Haltung braucht Übung. Diese sechs Regeln gelten den ganzen Tag, auch für die Arbeit mit KI: Die KI liefert Material, das Team entscheidet.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Übersicht ist die Landkarte für den Rest des Tages. Faustregel: KI beschleunigt Recherche, Strukturierung und Variantenbildung. Empathie, echte Gespräche und Entscheidungen bleiben beim Team.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großen Anbieter bieten diese Bausteine inzwischen an, nur unter anderen Namen. Wir bleiben heute werkzeugneutral. Die Beispiele funktionieren in ChatGPT, Claude, Microsoft Copilot und Google Gemini.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Stufen bauen aufeinander auf. Ein Prompt ist eine einzelne Anweisung. Ein Systemprompt ist die dauerhafte Grundanweisung. Ein Agent ist ein Systemprompt plus Wissen plus Werkzeuge. Ein Skill ist ein Handgriff, den sich Agenten bei Bedarf dazuladen.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Dieser Farbcode zieht sich durch den ganzen Workshop. Bei jedem Agenten sehen Sie dieselben sechs Bausteine. Tipp: Rolle und Kontext werden am häufigsten vergessen und machen den größten Qualitätsunterschied.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Gleiche Aufgabe, zwei Prompts. Der linke liefert generische Allgemeinplätze. Der rechte liefert verwertbare, überprüfbare Ergebnisse. Lassen Sie die Teilnehmenden beide Varianten live ausprobieren.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Weg ist in allen Tools gleich, nur die Menüs heißen anders. Zeigen Sie live das Anlegen eines Agenten im Tool, das die Teilnehmenden im Betrieb nutzen. Wichtig ist Schritt 5: Agenten werden durch Testen gut, nicht durch Nachdenken.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Research ist ein Agent, der eine Frage in Teilfragen zerlegt, selbstständig dutzende Quellen durchsucht und einen Bericht mit Quellenangaben schreibt. Dauert typischerweise einige Minuten bis eine halbe Stunde. Ideal für Phase 1 und für Markt- und Wettbewerbsanalysen. Ergebnisse immer stichprobenartig an den Quellen prüfen.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sind ein offener Standard, den Anthropic im Dezember 2025 veröffentlicht hat (agentskills.io). Ein Skill ist ein Ordner mit einer Datei SKILL.md: oben Name und Beschreibung, darunter die Anleitung. Der Agent lädt den Skill nur, wenn er ihn braucht. Inzwischen unterstützen viele Werkzeuge das Format, u. a. Claude, ChatGPT/Codex, GitHub Copilot und Cursor. Fertige Skills gibt es z. B. im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Auswahl aus dem öffentlichen Repository github.com/anthropics/skills. Die Skills lassen sich herunterladen und in kompatiblen Werkzeugen installieren. Mit dem Skill skill-creator bauen Sie eigene Skills, etwa für Ihren Angebotsprozess.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eigentliche Hebel für KMU: Agenten, die regelmäßig von selbst laufen. Zwei Wege: ohne Programmierung über die geplanten Aufgaben in ChatGPT, Claude oder Copilot, oder mit Workflow-Tools wie n8n (auch selbst gehostet, gut für Datenschutz), Make oder Power Automate.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Seit 2. Februar 2025 verpflichtet Art. 4 der KI-Verordnung (EU AI Act) Unternehmen, die KI einsetzen, für ausreichende KI-Kompetenz ihrer Beschäftigten zu sorgen. Dieser Workshop ist ein Baustein dafür. Bei personenbezogenen Daten gelten die DSGVO-Regeln: Business-Versionen mit Auftragsverarbeitungsvertrag nutzen.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Zahlen hat der Challenge-Scout per Deep Research zusammengetragen (Quellen unten). Spannend: Die Erstsemesterzahl ist 2025 um rund 20 % gestiegen, die Gesamtzahl liegt aber deutlich unter dem früheren Niveau von 7.000 bis 7.400. Und 2026 fehlt in NRW wegen der Rückkehr zu G9 fast ein ganzer Abiturjahrgang.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würde die Hochschulleitung das Problem heute beschreiben. Wichtig für Design Thinking: Das sind zunächst Beobachtungen und Annahmen. Ob der Campus wirklich leer ist und warum, prüfen wir in Phase 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jede Phase setzen wir einen eigenen Agenten mit eigenem Systemprompt auf. Dazu kommt ein Dauerläufer, der Markt-Radar, der jeden Montag von selbst neue Marktsignale liefert. Das Innovationsteam in der Mitte steuert, prüft und entscheidet.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Welches Problem lösen wir eigentlich, und für wen? Ziel: Gemeinsames Verständnis von Problem, Umfeld und Zielgruppen schaffen.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Dossier trennt sauber Fakten und Annahmen. Die Annahmen gehen als Prüfaufträge in Phase 2. Aus der Ausgangsfrage der Hochschulleitung wird eine offene Design Challenge, die noch keine Lösung vorwegnimmt.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Was erleben die Menschen wirklich, und was brauchen sie? Ziel: Zielgruppen in ihrem Alltag erleben und befragen. Annahmen aus Phase 1 prüfen.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Leitfaden-Auszug und erste Stimmen. Die Zitate sind für den Workshop erfunden, aber typisch für das, was solche Interviews ergeben können. In einem echten Projekt stammen sie aus den Transkripten.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Was haben wir gelernt, und welches Problem lösen wir genau? Ziel: Erkenntnisse verdichten, Muster erkennen, eine klare Sichtweise formulieren.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Personas aus den Clustern. Für den weiteren Prozess wählt das Team Jonas als primäre Persona, Priya profitiert aber von denselben Lösungen. Die Wie-können-wir-Frage unten ist der Startpunkt für Phase 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Wie könnten wir es lösen? Erst viele Ideen, dann die besten. Ziel: Viele, auch ungewöhnliche Lösungsideen entwickeln und die vielversprechendsten auswählen.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32 Team-Ideen und 15 KI-Ergänzungen bleiben nach Clustern acht Konzepte. Der Agent hat einen Bewertungsvorschlag gemacht, das Team hat per Dot-Voting entschieden: Der Campus-Mittwoch mit KMU-Challenges geht in den Prototyp. Er verbindet beide Personas und knüpft an das Projekt KI für KMU an.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Wie machen wir die Idee schnell und günstig erlebbar? Ziel: Ausgewählte Ideen so greifbar machen, dass echte Menschen sie ausprobieren können.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Prototypen in wenigen Stunden: Ein Storyboard aus Sicht von Jonas und eine Landingpage für den Fake-Door-Test. Die Landingpage hat die Prototyp-Werkstatt mit dem Skill landingpage-prototyp erzeugt.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Funktioniert die Lösung, und was lernen wir daraus? Ziel: Prototypen mit echten Nutzer:innen testen, lernen und entscheiden.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in der Prompt-Bibliothek.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einmal geschrieben, von jedem Agenten nutzbar. Rechts oben: wie sich der Schritt automatisieren lässt. Rechts unten: passende fertige Skills aus dem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Derselbe Systemprompt wie eben, jetzt ausgefüllt für die Hochschule Rhein-Waal.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Testplan mit klarer Hypothese und Erfolgskriterium. Das Ergebnis im Beispiel: Die Nachfrage ist da, aber Uhrzeit, Anerkennung und Sprache müssen angepasst werden. Also: weiter mit Änderungen, zurück in Phase 5. Genau das ist Iteration.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 in Kleingruppen am eigenen Fall. Moderation geht herum. Am Ende zwei Gruppen kurz vorstellen lassen.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Workshop endet, die Agenten arbeiten weiter. Vier Rhythmen: wöchentlich, monatlich, quartalsweise und ereignisgesteuert. Fangen Sie mit einem einzigen Dauerläufer an, meist dem Markt-Radar.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wichtigste Dauerläufer für KMU. Achtung: Bei geplanten Aufgaben startet jeder Lauf ohne Erinnerung an den letzten. Deshalb steht im Prompt ausdrücklich: nur Neues der letzten sieben Tage.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Weg A ist in 10 Minuten eingerichtet und reicht für die meisten KMU. Weg B lohnt sich, wenn Sie eigene Quellen wie Branchen-Newsletter einbinden, Ergebnisse archivieren oder Daten im eigenen Haus behalten wollen. n8n lässt sich selbst hosten.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könnte die Mail für das Innovationsteam der HSRW aussehen. Die Inhalte sind für den Workshop erfunden. Entscheidend ist das Format: drei Signale, jeweils mit Quelle und konkreter Handlungsidee, in unter drei Minuten lesbar.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bewährte Muster. Jedes lässt sich mit der Systemprompt-Vorlage in unter einer Stunde aufsetzen. Fragen Sie in die Runde: Welcher wäre für Ihren Betrieb der erste?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realistischer Fahrplan für ein KMU: ein Innovationsprojekt, ein kleines Team, ein Agent nach dem anderen. Nach 90 Tagen haben Sie einen getesteten Prototyp und laufende Automatisierungen.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Bitten Sie alle Teilnehmenden, sich einen der fünf Schritte mit Datum in den Kalender zu schreiben, bevor sie gehen.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Abschlussübung. Jede Person füllt den Canvas für das eigene Unternehmen aus. Der Canvas liegt auch als Ausdruck auf den Tischen.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Links finden sich auch in der Prompt-Bibliothek, die die Teilnehmenden nach dem Workshop erhalten.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 der Recherche: Oktober 2026.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 Hinweis auf Ansprechpersonen im Projekt KI für KMU und auf die Prompt-Bibliothek.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66996F0A-761E-DEB6-45D2-3621742AC7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7"/>
          <p:cNvSpPr>
            <a:spLocks/>
          </p:cNvSpPr>
          <p:nvPr userDrawn="1"/>
        </p:nvSpPr>
        <p:spPr>
          <a:xfrm>
            <a:off x="0" y="-1"/>
            <a:ext cx="12192000" cy="6858000"/>
          </a:xfrm>
          <a:prstGeom prst="rect">
            <a:avLst/>
          </a:prstGeom>
          <a:solidFill>
            <a:schemeClr val="accent1">
              <a:alpha val="37000"/>
            </a:schemeClr>
          </a:solidFill>
          <a:ln w="12700">
            <a:noFill/>
            <a:miter/>
          </a:ln>
        </p:spPr>
        <p:txBody>
          <a:bodyPr lIns="45719" rIns="45719" anchor="ctr"/>
          <a:lstStyle/>
          <a:p>
            <a:pPr algn="ctr">
              <a:defRPr>
                <a:solidFill>
                  <a:schemeClr val="accent2"/>
                </a:solidFill>
              </a:defRPr>
            </a:pPr>
            <a:endParaRPr dirty="0">
              <a:solidFill>
                <a:schemeClr val="accent2"/>
              </a:solidFill>
              <a:latin typeface="Arial" panose="020B0604020202020204" pitchFamily="34" charset="0"/>
              <a:cs typeface="Arial" panose="020B0604020202020204" pitchFamily="34" charset="0"/>
            </a:endParaRPr>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pic>
        <p:nvPicPr>
          <p:cNvPr id="2" name="Förderlogos EU Landesregierung_white.png" descr="Förderlogos EU Landesregierung_white.png">
            <a:extLst>
              <a:ext uri="{FF2B5EF4-FFF2-40B4-BE49-F238E27FC236}">
                <a16:creationId xmlns:a16="http://schemas.microsoft.com/office/drawing/2014/main" id="{837FCD26-0F02-C76B-533A-B85AD0A62070}"/>
              </a:ext>
            </a:extLst>
          </p:cNvPr>
          <p:cNvPicPr>
            <a:picLocks noChangeAspect="1"/>
          </p:cNvPicPr>
          <p:nvPr userDrawn="1"/>
        </p:nvPicPr>
        <p:blipFill>
          <a:blip r:embed="rId4"/>
          <a:stretch>
            <a:fillRect/>
          </a:stretch>
        </p:blipFill>
        <p:spPr>
          <a:xfrm>
            <a:off x="692072" y="6098941"/>
            <a:ext cx="4513493" cy="681421"/>
          </a:xfrm>
          <a:prstGeom prst="rect">
            <a:avLst/>
          </a:prstGeom>
          <a:ln w="12700">
            <a:miter lim="400000"/>
          </a:ln>
        </p:spPr>
      </p:pic>
      <p:sp>
        <p:nvSpPr>
          <p:cNvPr id="4" name="Textplatzhalter 3">
            <a:extLst>
              <a:ext uri="{FF2B5EF4-FFF2-40B4-BE49-F238E27FC236}">
                <a16:creationId xmlns:a16="http://schemas.microsoft.com/office/drawing/2014/main" id="{B1417894-3158-262D-E698-DFADE710472D}"/>
              </a:ext>
            </a:extLst>
          </p:cNvPr>
          <p:cNvSpPr>
            <a:spLocks noGrp="1"/>
          </p:cNvSpPr>
          <p:nvPr>
            <p:ph type="body" sz="quarter" idx="10" hasCustomPrompt="1"/>
          </p:nvPr>
        </p:nvSpPr>
        <p:spPr>
          <a:xfrm>
            <a:off x="838200" y="5715000"/>
            <a:ext cx="1600200" cy="306388"/>
          </a:xfrm>
        </p:spPr>
        <p:txBody>
          <a:bodyPr/>
          <a:lstStyle>
            <a:lvl1pPr>
              <a:defRPr sz="1000">
                <a:solidFill>
                  <a:schemeClr val="accent2"/>
                </a:solidFill>
              </a:defRPr>
            </a:lvl1pPr>
            <a:lvl2pPr>
              <a:defRPr sz="1000"/>
            </a:lvl2pPr>
            <a:lvl3pPr>
              <a:defRPr sz="1000"/>
            </a:lvl3pPr>
            <a:lvl4pPr>
              <a:defRPr sz="1000"/>
            </a:lvl4pPr>
            <a:lvl5pPr>
              <a:defRPr sz="1000"/>
            </a:lvl5pPr>
          </a:lstStyle>
          <a:p>
            <a:pPr lvl="0"/>
            <a:r>
              <a:rPr lang="de-DE" dirty="0"/>
              <a:t>Datum</a:t>
            </a:r>
          </a:p>
        </p:txBody>
      </p:sp>
      <p:sp>
        <p:nvSpPr>
          <p:cNvPr id="5" name="Textplatzhalter 10">
            <a:extLst>
              <a:ext uri="{FF2B5EF4-FFF2-40B4-BE49-F238E27FC236}">
                <a16:creationId xmlns:a16="http://schemas.microsoft.com/office/drawing/2014/main" id="{1F51AA21-1A88-D2ED-1A1F-491F5EA23AB6}"/>
              </a:ext>
            </a:extLst>
          </p:cNvPr>
          <p:cNvSpPr>
            <a:spLocks noGrp="1"/>
          </p:cNvSpPr>
          <p:nvPr>
            <p:ph type="body" sz="quarter" idx="12" hasCustomPrompt="1"/>
          </p:nvPr>
        </p:nvSpPr>
        <p:spPr>
          <a:xfrm>
            <a:off x="850491" y="2294923"/>
            <a:ext cx="4637482" cy="677863"/>
          </a:xfrm>
          <a:ln w="12700">
            <a:miter lim="400000"/>
          </a:ln>
        </p:spPr>
        <p:txBody>
          <a:bodyPr lIns="45719" rIns="45719">
            <a:normAutofit fontScale="92500" lnSpcReduction="10000"/>
          </a:bodyPr>
          <a:lstStyle>
            <a:lvl1pPr>
              <a:defRPr kumimoji="0" lang="de-DE" sz="4800" b="1"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1pPr>
            <a:lvl2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2pPr>
            <a:lvl3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3pPr>
            <a:lvl4pPr>
              <a:defRPr kumimoji="0" lang="de-DE" sz="4800" b="0"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4pPr>
            <a:lvl5pPr>
              <a:defRPr kumimoji="0" lang="de-DE" sz="4800" b="0" i="0" u="none" strike="noStrike" kern="0" cap="none" spc="0" normalizeH="0" baseline="0" dirty="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5pPr>
          </a:lstStyle>
          <a:p>
            <a:pPr marR="0" lvl="0" fontAlgn="auto">
              <a:spcAft>
                <a:spcPts val="0"/>
              </a:spcAft>
              <a:buClrTx/>
              <a:buSzTx/>
              <a:tabLst/>
            </a:pPr>
            <a:r>
              <a:rPr lang="de-DE" dirty="0"/>
              <a:t>Titel</a:t>
            </a:r>
          </a:p>
        </p:txBody>
      </p:sp>
      <p:sp>
        <p:nvSpPr>
          <p:cNvPr id="6" name="Textplatzhalter 14">
            <a:extLst>
              <a:ext uri="{FF2B5EF4-FFF2-40B4-BE49-F238E27FC236}">
                <a16:creationId xmlns:a16="http://schemas.microsoft.com/office/drawing/2014/main" id="{BB378DE6-CCE8-F60F-AFA8-278A81840B56}"/>
              </a:ext>
            </a:extLst>
          </p:cNvPr>
          <p:cNvSpPr>
            <a:spLocks noGrp="1"/>
          </p:cNvSpPr>
          <p:nvPr>
            <p:ph type="body" sz="quarter" idx="13" hasCustomPrompt="1"/>
          </p:nvPr>
        </p:nvSpPr>
        <p:spPr>
          <a:xfrm>
            <a:off x="850491" y="3011563"/>
            <a:ext cx="4637482" cy="904875"/>
          </a:xfrm>
          <a:ln w="12700">
            <a:miter lim="400000"/>
          </a:ln>
        </p:spPr>
        <p:txBody>
          <a:bodyPr lIns="45719" rIns="45719">
            <a:normAutofit/>
          </a:bodyPr>
          <a:lstStyle>
            <a:lvl1pPr>
              <a:lnSpc>
                <a:spcPct val="100000"/>
              </a:lnSpc>
              <a:defRPr kumimoji="0" lang="de-DE" sz="3300"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err="1"/>
              <a:t>Subtitle</a:t>
            </a:r>
            <a:endParaRPr lang="de-DE" dirty="0"/>
          </a:p>
        </p:txBody>
      </p:sp>
      <p:sp>
        <p:nvSpPr>
          <p:cNvPr id="8" name="Textplatzhalter 17">
            <a:extLst>
              <a:ext uri="{FF2B5EF4-FFF2-40B4-BE49-F238E27FC236}">
                <a16:creationId xmlns:a16="http://schemas.microsoft.com/office/drawing/2014/main" id="{0F0ADED2-AD16-F89F-45B7-84A298308FD6}"/>
              </a:ext>
            </a:extLst>
          </p:cNvPr>
          <p:cNvSpPr>
            <a:spLocks noGrp="1"/>
          </p:cNvSpPr>
          <p:nvPr>
            <p:ph type="body" sz="quarter" idx="14" hasCustomPrompt="1"/>
          </p:nvPr>
        </p:nvSpPr>
        <p:spPr>
          <a:xfrm>
            <a:off x="850490" y="4194811"/>
            <a:ext cx="4637481" cy="656548"/>
          </a:xfrm>
          <a:ln w="12700">
            <a:miter lim="400000"/>
          </a:ln>
        </p:spPr>
        <p:txBody>
          <a:bodyPr lIns="45719" rIns="45719">
            <a:noAutofit/>
          </a:bodyPr>
          <a:lstStyle>
            <a:lvl1pPr>
              <a:defRPr kumimoji="0" lang="de-DE"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a:t>Beschreibung</a:t>
            </a:r>
          </a:p>
        </p:txBody>
      </p:sp>
    </p:spTree>
    <p:extLst>
      <p:ext uri="{BB962C8B-B14F-4D97-AF65-F5344CB8AC3E}">
        <p14:creationId xmlns:p14="http://schemas.microsoft.com/office/powerpoint/2010/main" val="154725032"/>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t">
    <p:spTree>
      <p:nvGrpSpPr>
        <p:cNvPr id="1" name=""/>
        <p:cNvGrpSpPr/>
        <p:nvPr/>
      </p:nvGrpSpPr>
      <p:grpSpPr>
        <a:xfrm>
          <a:off x="0" y="0"/>
          <a:ext cx="0" cy="0"/>
          <a:chOff x="0" y="0"/>
          <a:chExt cx="0" cy="0"/>
        </a:xfrm>
      </p:grpSpPr>
      <p:sp>
        <p:nvSpPr>
          <p:cNvPr id="89" name="Rechteck 88">
            <a:extLst>
              <a:ext uri="{FF2B5EF4-FFF2-40B4-BE49-F238E27FC236}">
                <a16:creationId xmlns:a16="http://schemas.microsoft.com/office/drawing/2014/main" id="{6795310C-2FC9-E703-5BDB-AAE1E40A3852}"/>
              </a:ext>
            </a:extLst>
          </p:cNvPr>
          <p:cNvSpPr>
            <a:spLocks noGrp="1" noRot="1" noMove="1" noResize="1" noEditPoints="1" noAdjustHandles="1" noChangeArrowheads="1" noChangeShapeType="1"/>
          </p:cNvSpPr>
          <p:nvPr userDrawn="1"/>
        </p:nvSpPr>
        <p:spPr>
          <a:xfrm>
            <a:off x="0" y="762000"/>
            <a:ext cx="12192000" cy="6096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66" name="Textplatzhalter 65">
            <a:extLst>
              <a:ext uri="{FF2B5EF4-FFF2-40B4-BE49-F238E27FC236}">
                <a16:creationId xmlns:a16="http://schemas.microsoft.com/office/drawing/2014/main" id="{160B682C-8BAA-CB57-34C9-5B4AA3E3BD43}"/>
              </a:ext>
            </a:extLst>
          </p:cNvPr>
          <p:cNvSpPr>
            <a:spLocks noGrp="1"/>
          </p:cNvSpPr>
          <p:nvPr>
            <p:ph type="body" sz="quarter" idx="10" hasCustomPrompt="1"/>
          </p:nvPr>
        </p:nvSpPr>
        <p:spPr>
          <a:xfrm>
            <a:off x="857693" y="13715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1</a:t>
            </a:r>
          </a:p>
        </p:txBody>
      </p:sp>
      <p:sp>
        <p:nvSpPr>
          <p:cNvPr id="71" name="Textplatzhalter 70">
            <a:extLst>
              <a:ext uri="{FF2B5EF4-FFF2-40B4-BE49-F238E27FC236}">
                <a16:creationId xmlns:a16="http://schemas.microsoft.com/office/drawing/2014/main" id="{EF13C968-583D-F71E-827A-E3F2A0C3D7DD}"/>
              </a:ext>
            </a:extLst>
          </p:cNvPr>
          <p:cNvSpPr>
            <a:spLocks noGrp="1"/>
          </p:cNvSpPr>
          <p:nvPr>
            <p:ph type="body" sz="quarter" idx="11" hasCustomPrompt="1"/>
          </p:nvPr>
        </p:nvSpPr>
        <p:spPr>
          <a:xfrm>
            <a:off x="1772093" y="13715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2" name="Textplatzhalter 65">
            <a:extLst>
              <a:ext uri="{FF2B5EF4-FFF2-40B4-BE49-F238E27FC236}">
                <a16:creationId xmlns:a16="http://schemas.microsoft.com/office/drawing/2014/main" id="{AB741820-9379-07E2-FB30-C5E0E4A1FD39}"/>
              </a:ext>
            </a:extLst>
          </p:cNvPr>
          <p:cNvSpPr>
            <a:spLocks noGrp="1"/>
          </p:cNvSpPr>
          <p:nvPr>
            <p:ph type="body" sz="quarter" idx="12" hasCustomPrompt="1"/>
          </p:nvPr>
        </p:nvSpPr>
        <p:spPr>
          <a:xfrm>
            <a:off x="867525" y="19811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2</a:t>
            </a:r>
          </a:p>
        </p:txBody>
      </p:sp>
      <p:sp>
        <p:nvSpPr>
          <p:cNvPr id="73" name="Textplatzhalter 70">
            <a:extLst>
              <a:ext uri="{FF2B5EF4-FFF2-40B4-BE49-F238E27FC236}">
                <a16:creationId xmlns:a16="http://schemas.microsoft.com/office/drawing/2014/main" id="{FCD5209A-5C7D-6254-D436-877E1451B70E}"/>
              </a:ext>
            </a:extLst>
          </p:cNvPr>
          <p:cNvSpPr>
            <a:spLocks noGrp="1"/>
          </p:cNvSpPr>
          <p:nvPr>
            <p:ph type="body" sz="quarter" idx="13" hasCustomPrompt="1"/>
          </p:nvPr>
        </p:nvSpPr>
        <p:spPr>
          <a:xfrm>
            <a:off x="1781925" y="19811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4" name="Textplatzhalter 65">
            <a:extLst>
              <a:ext uri="{FF2B5EF4-FFF2-40B4-BE49-F238E27FC236}">
                <a16:creationId xmlns:a16="http://schemas.microsoft.com/office/drawing/2014/main" id="{E21D8006-24BD-EA37-95DD-243B62556299}"/>
              </a:ext>
            </a:extLst>
          </p:cNvPr>
          <p:cNvSpPr>
            <a:spLocks noGrp="1"/>
          </p:cNvSpPr>
          <p:nvPr>
            <p:ph type="body" sz="quarter" idx="14" hasCustomPrompt="1"/>
          </p:nvPr>
        </p:nvSpPr>
        <p:spPr>
          <a:xfrm>
            <a:off x="872441" y="25907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3</a:t>
            </a:r>
          </a:p>
        </p:txBody>
      </p:sp>
      <p:sp>
        <p:nvSpPr>
          <p:cNvPr id="75" name="Textplatzhalter 70">
            <a:extLst>
              <a:ext uri="{FF2B5EF4-FFF2-40B4-BE49-F238E27FC236}">
                <a16:creationId xmlns:a16="http://schemas.microsoft.com/office/drawing/2014/main" id="{A1A5FE3A-9FA7-D4F9-3CC5-76874F48FBD3}"/>
              </a:ext>
            </a:extLst>
          </p:cNvPr>
          <p:cNvSpPr>
            <a:spLocks noGrp="1"/>
          </p:cNvSpPr>
          <p:nvPr>
            <p:ph type="body" sz="quarter" idx="15" hasCustomPrompt="1"/>
          </p:nvPr>
        </p:nvSpPr>
        <p:spPr>
          <a:xfrm>
            <a:off x="1786841" y="25907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6" name="Textplatzhalter 65">
            <a:extLst>
              <a:ext uri="{FF2B5EF4-FFF2-40B4-BE49-F238E27FC236}">
                <a16:creationId xmlns:a16="http://schemas.microsoft.com/office/drawing/2014/main" id="{1E5EBA11-0531-F6C3-56A3-8D8545D2254A}"/>
              </a:ext>
            </a:extLst>
          </p:cNvPr>
          <p:cNvSpPr>
            <a:spLocks noGrp="1"/>
          </p:cNvSpPr>
          <p:nvPr>
            <p:ph type="body" sz="quarter" idx="16" hasCustomPrompt="1"/>
          </p:nvPr>
        </p:nvSpPr>
        <p:spPr>
          <a:xfrm>
            <a:off x="869983" y="32384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4</a:t>
            </a:r>
          </a:p>
        </p:txBody>
      </p:sp>
      <p:sp>
        <p:nvSpPr>
          <p:cNvPr id="77" name="Textplatzhalter 70">
            <a:extLst>
              <a:ext uri="{FF2B5EF4-FFF2-40B4-BE49-F238E27FC236}">
                <a16:creationId xmlns:a16="http://schemas.microsoft.com/office/drawing/2014/main" id="{A84E6EA4-62BE-DBDC-C27A-CBD5EC1B51BB}"/>
              </a:ext>
            </a:extLst>
          </p:cNvPr>
          <p:cNvSpPr>
            <a:spLocks noGrp="1"/>
          </p:cNvSpPr>
          <p:nvPr>
            <p:ph type="body" sz="quarter" idx="17" hasCustomPrompt="1"/>
          </p:nvPr>
        </p:nvSpPr>
        <p:spPr>
          <a:xfrm>
            <a:off x="1784383" y="32384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8" name="Textplatzhalter 65">
            <a:extLst>
              <a:ext uri="{FF2B5EF4-FFF2-40B4-BE49-F238E27FC236}">
                <a16:creationId xmlns:a16="http://schemas.microsoft.com/office/drawing/2014/main" id="{C2886185-9642-FDB1-F912-CA918DD200DF}"/>
              </a:ext>
            </a:extLst>
          </p:cNvPr>
          <p:cNvSpPr>
            <a:spLocks noGrp="1"/>
          </p:cNvSpPr>
          <p:nvPr>
            <p:ph type="body" sz="quarter" idx="18" hasCustomPrompt="1"/>
          </p:nvPr>
        </p:nvSpPr>
        <p:spPr>
          <a:xfrm>
            <a:off x="879815" y="38480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5</a:t>
            </a:r>
          </a:p>
        </p:txBody>
      </p:sp>
      <p:sp>
        <p:nvSpPr>
          <p:cNvPr id="79" name="Textplatzhalter 70">
            <a:extLst>
              <a:ext uri="{FF2B5EF4-FFF2-40B4-BE49-F238E27FC236}">
                <a16:creationId xmlns:a16="http://schemas.microsoft.com/office/drawing/2014/main" id="{D6B0BF4A-E545-1763-E245-D6305EC2F88B}"/>
              </a:ext>
            </a:extLst>
          </p:cNvPr>
          <p:cNvSpPr>
            <a:spLocks noGrp="1"/>
          </p:cNvSpPr>
          <p:nvPr>
            <p:ph type="body" sz="quarter" idx="19" hasCustomPrompt="1"/>
          </p:nvPr>
        </p:nvSpPr>
        <p:spPr>
          <a:xfrm>
            <a:off x="1794215" y="38480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0" name="Textplatzhalter 65">
            <a:extLst>
              <a:ext uri="{FF2B5EF4-FFF2-40B4-BE49-F238E27FC236}">
                <a16:creationId xmlns:a16="http://schemas.microsoft.com/office/drawing/2014/main" id="{ADA145ED-2296-4158-BF39-A33910298D52}"/>
              </a:ext>
            </a:extLst>
          </p:cNvPr>
          <p:cNvSpPr>
            <a:spLocks noGrp="1"/>
          </p:cNvSpPr>
          <p:nvPr>
            <p:ph type="body" sz="quarter" idx="20" hasCustomPrompt="1"/>
          </p:nvPr>
        </p:nvSpPr>
        <p:spPr>
          <a:xfrm>
            <a:off x="884731" y="44576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6</a:t>
            </a:r>
          </a:p>
        </p:txBody>
      </p:sp>
      <p:sp>
        <p:nvSpPr>
          <p:cNvPr id="81" name="Textplatzhalter 70">
            <a:extLst>
              <a:ext uri="{FF2B5EF4-FFF2-40B4-BE49-F238E27FC236}">
                <a16:creationId xmlns:a16="http://schemas.microsoft.com/office/drawing/2014/main" id="{742F63B3-5E50-A834-0349-3CDEB5F3C46D}"/>
              </a:ext>
            </a:extLst>
          </p:cNvPr>
          <p:cNvSpPr>
            <a:spLocks noGrp="1"/>
          </p:cNvSpPr>
          <p:nvPr>
            <p:ph type="body" sz="quarter" idx="21" hasCustomPrompt="1"/>
          </p:nvPr>
        </p:nvSpPr>
        <p:spPr>
          <a:xfrm>
            <a:off x="1799131" y="44576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2" name="Textplatzhalter 65">
            <a:extLst>
              <a:ext uri="{FF2B5EF4-FFF2-40B4-BE49-F238E27FC236}">
                <a16:creationId xmlns:a16="http://schemas.microsoft.com/office/drawing/2014/main" id="{5DC0753C-23CB-8AB8-6858-D0D928A52267}"/>
              </a:ext>
            </a:extLst>
          </p:cNvPr>
          <p:cNvSpPr>
            <a:spLocks noGrp="1"/>
          </p:cNvSpPr>
          <p:nvPr>
            <p:ph type="body" sz="quarter" idx="22" hasCustomPrompt="1"/>
          </p:nvPr>
        </p:nvSpPr>
        <p:spPr>
          <a:xfrm>
            <a:off x="874899" y="51054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7</a:t>
            </a:r>
          </a:p>
        </p:txBody>
      </p:sp>
      <p:sp>
        <p:nvSpPr>
          <p:cNvPr id="83" name="Textplatzhalter 70">
            <a:extLst>
              <a:ext uri="{FF2B5EF4-FFF2-40B4-BE49-F238E27FC236}">
                <a16:creationId xmlns:a16="http://schemas.microsoft.com/office/drawing/2014/main" id="{D2428D57-EB9D-5ACF-AD67-D2F8A2F3B2CC}"/>
              </a:ext>
            </a:extLst>
          </p:cNvPr>
          <p:cNvSpPr>
            <a:spLocks noGrp="1"/>
          </p:cNvSpPr>
          <p:nvPr>
            <p:ph type="body" sz="quarter" idx="23" hasCustomPrompt="1"/>
          </p:nvPr>
        </p:nvSpPr>
        <p:spPr>
          <a:xfrm>
            <a:off x="1789299" y="51054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4" name="Textplatzhalter 65">
            <a:extLst>
              <a:ext uri="{FF2B5EF4-FFF2-40B4-BE49-F238E27FC236}">
                <a16:creationId xmlns:a16="http://schemas.microsoft.com/office/drawing/2014/main" id="{30B1108D-6917-FE20-979A-1057353AD5E2}"/>
              </a:ext>
            </a:extLst>
          </p:cNvPr>
          <p:cNvSpPr>
            <a:spLocks noGrp="1"/>
          </p:cNvSpPr>
          <p:nvPr>
            <p:ph type="body" sz="quarter" idx="24" hasCustomPrompt="1"/>
          </p:nvPr>
        </p:nvSpPr>
        <p:spPr>
          <a:xfrm>
            <a:off x="879815" y="57150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8</a:t>
            </a:r>
          </a:p>
        </p:txBody>
      </p:sp>
      <p:sp>
        <p:nvSpPr>
          <p:cNvPr id="85" name="Textplatzhalter 70">
            <a:extLst>
              <a:ext uri="{FF2B5EF4-FFF2-40B4-BE49-F238E27FC236}">
                <a16:creationId xmlns:a16="http://schemas.microsoft.com/office/drawing/2014/main" id="{3D290B68-E708-7F29-DC75-FB9EC59CB4E9}"/>
              </a:ext>
            </a:extLst>
          </p:cNvPr>
          <p:cNvSpPr>
            <a:spLocks noGrp="1"/>
          </p:cNvSpPr>
          <p:nvPr>
            <p:ph type="body" sz="quarter" idx="25" hasCustomPrompt="1"/>
          </p:nvPr>
        </p:nvSpPr>
        <p:spPr>
          <a:xfrm>
            <a:off x="1794215" y="57150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pic>
        <p:nvPicPr>
          <p:cNvPr id="88" name="Grafik 87">
            <a:extLst>
              <a:ext uri="{FF2B5EF4-FFF2-40B4-BE49-F238E27FC236}">
                <a16:creationId xmlns:a16="http://schemas.microsoft.com/office/drawing/2014/main" id="{8595A25F-93F0-3A97-2497-4B667BA69E12}"/>
              </a:ext>
            </a:extLst>
          </p:cNvPr>
          <p:cNvPicPr>
            <a:picLocks noChangeAspect="1"/>
          </p:cNvPicPr>
          <p:nvPr userDrawn="1"/>
        </p:nvPicPr>
        <p:blipFill>
          <a:blip r:embed="rId2">
            <a:alphaModFix/>
            <a:extLst>
              <a:ext uri="{28A0092B-C50C-407E-A947-70E740481C1C}">
                <a14:useLocalDpi xmlns:a14="http://schemas.microsoft.com/office/drawing/2010/main" val="0"/>
              </a:ext>
            </a:extLst>
          </a:blip>
          <a:srcRect r="830" b="90288"/>
          <a:stretch>
            <a:fillRect/>
          </a:stretch>
        </p:blipFill>
        <p:spPr>
          <a:xfrm>
            <a:off x="0" y="-11946"/>
            <a:ext cx="12192000" cy="671605"/>
          </a:xfrm>
          <a:prstGeom prst="rect">
            <a:avLst/>
          </a:prstGeom>
        </p:spPr>
      </p:pic>
    </p:spTree>
    <p:extLst>
      <p:ext uri="{BB962C8B-B14F-4D97-AF65-F5344CB8AC3E}">
        <p14:creationId xmlns:p14="http://schemas.microsoft.com/office/powerpoint/2010/main" val="338310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175364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89837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E50B5517-37C0-4226-FC70-FEB1E085BCD1}"/>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3" name="Textplatzhalter 12">
            <a:extLst>
              <a:ext uri="{FF2B5EF4-FFF2-40B4-BE49-F238E27FC236}">
                <a16:creationId xmlns:a16="http://schemas.microsoft.com/office/drawing/2014/main" id="{0515B767-F434-5EFE-A550-57B4B797800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87677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BI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Tree>
    <p:extLst>
      <p:ext uri="{BB962C8B-B14F-4D97-AF65-F5344CB8AC3E}">
        <p14:creationId xmlns:p14="http://schemas.microsoft.com/office/powerpoint/2010/main" val="166178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BI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76A30B38-AE1D-297E-7553-CA049636B28F}"/>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3" name="Textplatzhalter 12">
            <a:extLst>
              <a:ext uri="{FF2B5EF4-FFF2-40B4-BE49-F238E27FC236}">
                <a16:creationId xmlns:a16="http://schemas.microsoft.com/office/drawing/2014/main" id="{8D507E73-2554-9966-5F18-D1B42E5F08C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6" name="Textplatzhalter 12">
            <a:extLst>
              <a:ext uri="{FF2B5EF4-FFF2-40B4-BE49-F238E27FC236}">
                <a16:creationId xmlns:a16="http://schemas.microsoft.com/office/drawing/2014/main" id="{F2B1DAFD-E6F5-8EF3-0EA5-C4EF9674EE59}"/>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69817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BI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C9D1AD3A-0877-3087-9154-FF0D2A79B449}"/>
              </a:ext>
            </a:extLst>
          </p:cNvPr>
          <p:cNvPicPr>
            <a:picLocks noChangeAspect="1"/>
          </p:cNvPicPr>
          <p:nvPr userDrawn="1"/>
        </p:nvPicPr>
        <p:blipFill>
          <a:blip r:embed="rId2">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2" name="Textplatzhalter 12">
            <a:extLst>
              <a:ext uri="{FF2B5EF4-FFF2-40B4-BE49-F238E27FC236}">
                <a16:creationId xmlns:a16="http://schemas.microsoft.com/office/drawing/2014/main" id="{C9CA9EF5-268D-C624-9FF8-5FE2EA42AE4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54775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Bi_Kleve_Wesel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Tree>
    <p:extLst>
      <p:ext uri="{BB962C8B-B14F-4D97-AF65-F5344CB8AC3E}">
        <p14:creationId xmlns:p14="http://schemas.microsoft.com/office/powerpoint/2010/main" val="308261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BI_Kleve_Wesel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B35E5E6D-4032-7B0C-C73D-269F91DCB9FF}"/>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6" name="Textplatzhalter 12">
            <a:extLst>
              <a:ext uri="{FF2B5EF4-FFF2-40B4-BE49-F238E27FC236}">
                <a16:creationId xmlns:a16="http://schemas.microsoft.com/office/drawing/2014/main" id="{4A6487C4-1467-1325-5EE8-1B6ED7498F1E}"/>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D604B747-810E-C7E6-7EF4-5E96D49BEA2F}"/>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53282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BI_Kleve_Wesel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6D5F2E56-CAB6-4FC2-A553-55BB9B95067B}"/>
              </a:ext>
            </a:extLst>
          </p:cNvPr>
          <p:cNvPicPr>
            <a:picLocks noChangeAspect="1"/>
          </p:cNvPicPr>
          <p:nvPr userDrawn="1"/>
        </p:nvPicPr>
        <p:blipFill>
          <a:blip r:embed="rId2">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5" name="Textplatzhalter 12">
            <a:extLst>
              <a:ext uri="{FF2B5EF4-FFF2-40B4-BE49-F238E27FC236}">
                <a16:creationId xmlns:a16="http://schemas.microsoft.com/office/drawing/2014/main" id="{3D3F1ECB-FF9D-5B9B-F809-55FCE436325B}"/>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4183009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DE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logo_claim_vorschau_png.png">
            <a:extLst>
              <a:ext uri="{FF2B5EF4-FFF2-40B4-BE49-F238E27FC236}">
                <a16:creationId xmlns:a16="http://schemas.microsoft.com/office/drawing/2014/main" id="{E1FDB0BD-636A-16F1-6294-DFB5F77C500C}"/>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Tree>
    <p:extLst>
      <p:ext uri="{BB962C8B-B14F-4D97-AF65-F5344CB8AC3E}">
        <p14:creationId xmlns:p14="http://schemas.microsoft.com/office/powerpoint/2010/main" val="232920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DE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logo_claim_vorschau_png.png">
            <a:extLst>
              <a:ext uri="{FF2B5EF4-FFF2-40B4-BE49-F238E27FC236}">
                <a16:creationId xmlns:a16="http://schemas.microsoft.com/office/drawing/2014/main" id="{D83FF166-373C-D6F3-291E-A9C70F1F6A0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2DCF2CA3-9B31-1F84-D423-994006DF13A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9" name="Textplatzhalter 12">
            <a:extLst>
              <a:ext uri="{FF2B5EF4-FFF2-40B4-BE49-F238E27FC236}">
                <a16:creationId xmlns:a16="http://schemas.microsoft.com/office/drawing/2014/main" id="{A29E7F47-EBAB-DBDF-D9E1-F9E93A95D238}"/>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884762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DE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logo_claim_vorschau_png.png">
            <a:extLst>
              <a:ext uri="{FF2B5EF4-FFF2-40B4-BE49-F238E27FC236}">
                <a16:creationId xmlns:a16="http://schemas.microsoft.com/office/drawing/2014/main" id="{DEF69894-E344-AEBC-7DFF-8CB7296C7CD7}"/>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5F67D8BB-A92A-82AD-BDC1-416166DAA7E6}"/>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606212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SRW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78946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SRW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C6EF630A-1EAC-4F00-91C5-1AE1ACAFAA1A}"/>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AA0B4866-9CF9-4ED7-CDC4-D99431B1923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EE38E761-A36E-7594-B560-D57397A0D7FE}"/>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131313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SRW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31FDEEC8-9420-0C31-D39A-7E33FA21185F}"/>
              </a:ext>
            </a:extLst>
          </p:cNvPr>
          <p:cNvPicPr>
            <a:picLocks noChangeAspect="1"/>
          </p:cNvPicPr>
          <p:nvPr userDrawn="1"/>
        </p:nvPicPr>
        <p:blipFill>
          <a:blip r:embed="rId2">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4" name="Textplatzhalter 12">
            <a:extLst>
              <a:ext uri="{FF2B5EF4-FFF2-40B4-BE49-F238E27FC236}">
                <a16:creationId xmlns:a16="http://schemas.microsoft.com/office/drawing/2014/main" id="{F331DDE3-EC64-B396-CC65-C0D73D52E02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1636677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AN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40786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AN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619D5115-409A-6ED2-6556-F72412D279EC}"/>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6" name="Textplatzhalter 12">
            <a:extLst>
              <a:ext uri="{FF2B5EF4-FFF2-40B4-BE49-F238E27FC236}">
                <a16:creationId xmlns:a16="http://schemas.microsoft.com/office/drawing/2014/main" id="{5C4BA39F-0B27-C8D3-C439-E510D2B1D984}"/>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A5161A92-3246-82E5-EA8D-E99934AADFF5}"/>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3482398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AN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8BBEBF3C-BF84-7E8C-68F1-7768628A2405}"/>
              </a:ext>
            </a:extLst>
          </p:cNvPr>
          <p:cNvPicPr>
            <a:picLocks noChangeAspect="1"/>
          </p:cNvPicPr>
          <p:nvPr userDrawn="1"/>
        </p:nvPicPr>
        <p:blipFill>
          <a:blip r:embed="rId2">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8EB30946-4AED-54CB-D38B-4439361B0C0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3395133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S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2" t="-1" r="4182" b="90028"/>
          <a:stretch>
            <a:fillRect/>
          </a:stretch>
        </p:blipFill>
        <p:spPr>
          <a:xfrm>
            <a:off x="6660981" y="-12490"/>
            <a:ext cx="5493488" cy="690351"/>
          </a:xfrm>
          <a:prstGeom prst="rect">
            <a:avLst/>
          </a:prstGeom>
        </p:spPr>
      </p:pic>
    </p:spTree>
    <p:extLst>
      <p:ext uri="{BB962C8B-B14F-4D97-AF65-F5344CB8AC3E}">
        <p14:creationId xmlns:p14="http://schemas.microsoft.com/office/powerpoint/2010/main" val="41175184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8FDDA4EA-B9B8-EE7B-C004-D565A5216F8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2" name="Google Shape;104;p11">
            <a:extLst>
              <a:ext uri="{FF2B5EF4-FFF2-40B4-BE49-F238E27FC236}">
                <a16:creationId xmlns:a16="http://schemas.microsoft.com/office/drawing/2014/main" id="{F465557D-4C9B-B280-F35B-5EE1352DDF3E}"/>
              </a:ext>
            </a:extLst>
          </p:cNvPr>
          <p:cNvSpPr txBox="1"/>
          <p:nvPr userDrawn="1"/>
        </p:nvSpPr>
        <p:spPr>
          <a:xfrm>
            <a:off x="821598" y="4676304"/>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Helen Dutzi</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Projektleitung</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Duisburg Business &amp; Innovation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+49 171 21 13 567</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a:t>
            </a:r>
            <a:r>
              <a:rPr lang="de-DE" sz="1200" dirty="0" err="1">
                <a:latin typeface="Roboto" panose="02000000000000000000" pitchFamily="2" charset="0"/>
                <a:ea typeface="Roboto" panose="02000000000000000000" pitchFamily="2" charset="0"/>
                <a:cs typeface="Roboto" panose="02000000000000000000" pitchFamily="2" charset="0"/>
              </a:rPr>
              <a:t>dutzi@duisburg.business</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3" name="Google Shape;103;p11">
            <a:extLst>
              <a:ext uri="{FF2B5EF4-FFF2-40B4-BE49-F238E27FC236}">
                <a16:creationId xmlns:a16="http://schemas.microsoft.com/office/drawing/2014/main" id="{A6DD31AA-EA14-3C53-E8BA-47F184B071D2}"/>
              </a:ext>
            </a:extLst>
          </p:cNvPr>
          <p:cNvSpPr txBox="1"/>
          <p:nvPr userDrawn="1"/>
        </p:nvSpPr>
        <p:spPr>
          <a:xfrm>
            <a:off x="846999" y="1397599"/>
            <a:ext cx="4004401" cy="16251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lnSpc>
                <a:spcPct val="70000"/>
              </a:lnSpc>
              <a:defRPr sz="6500">
                <a:solidFill>
                  <a:srgbClr val="FFFFFF"/>
                </a:solidFill>
                <a:latin typeface="Open Sans Regular Bold"/>
                <a:ea typeface="Open Sans Regular Bold"/>
                <a:cs typeface="Open Sans Regular Bold"/>
                <a:sym typeface="Open Sans Regular Bold"/>
              </a:defRPr>
            </a:pPr>
            <a:r>
              <a:rPr lang="de-DE" dirty="0">
                <a:latin typeface="Roboto" panose="02000000000000000000" pitchFamily="2" charset="0"/>
                <a:ea typeface="Roboto" panose="02000000000000000000" pitchFamily="2" charset="0"/>
                <a:cs typeface="Roboto" panose="02000000000000000000" pitchFamily="2" charset="0"/>
              </a:rPr>
              <a:t>Vielen Dank</a:t>
            </a:r>
            <a:r>
              <a:rPr dirty="0">
                <a:latin typeface="Roboto" panose="02000000000000000000" pitchFamily="2" charset="0"/>
                <a:ea typeface="Roboto" panose="02000000000000000000" pitchFamily="2" charset="0"/>
                <a:cs typeface="Roboto" panose="02000000000000000000" pitchFamily="2" charset="0"/>
              </a:rPr>
              <a:t>!</a:t>
            </a:r>
          </a:p>
        </p:txBody>
      </p:sp>
      <p:sp>
        <p:nvSpPr>
          <p:cNvPr id="4" name="Google Shape;104;p11">
            <a:extLst>
              <a:ext uri="{FF2B5EF4-FFF2-40B4-BE49-F238E27FC236}">
                <a16:creationId xmlns:a16="http://schemas.microsoft.com/office/drawing/2014/main" id="{8E826662-C620-DD4A-B030-9DFE4A072686}"/>
              </a:ext>
            </a:extLst>
          </p:cNvPr>
          <p:cNvSpPr txBox="1"/>
          <p:nvPr userDrawn="1"/>
        </p:nvSpPr>
        <p:spPr>
          <a:xfrm>
            <a:off x="796198" y="4038600"/>
            <a:ext cx="4055202" cy="4308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defRPr sz="1600">
                <a:solidFill>
                  <a:srgbClr val="FFFFFF"/>
                </a:solidFill>
                <a:latin typeface="Roboto"/>
                <a:ea typeface="Roboto"/>
                <a:cs typeface="Roboto"/>
                <a:sym typeface="Roboto"/>
              </a:defRPr>
            </a:pPr>
            <a:r>
              <a:rPr lang="de-DE" dirty="0">
                <a:latin typeface="Roboto" panose="02000000000000000000" pitchFamily="2" charset="0"/>
                <a:ea typeface="Roboto" panose="02000000000000000000" pitchFamily="2" charset="0"/>
                <a:cs typeface="Roboto" panose="02000000000000000000" pitchFamily="2" charset="0"/>
              </a:rPr>
              <a:t>Fragen? Sprechen Sie uns an!</a:t>
            </a:r>
            <a:endParaRPr dirty="0">
              <a:latin typeface="Roboto" panose="02000000000000000000" pitchFamily="2" charset="0"/>
              <a:ea typeface="Roboto" panose="02000000000000000000" pitchFamily="2" charset="0"/>
              <a:cs typeface="Roboto" panose="02000000000000000000" pitchFamily="2" charset="0"/>
            </a:endParaRPr>
          </a:p>
        </p:txBody>
      </p:sp>
      <p:pic>
        <p:nvPicPr>
          <p:cNvPr id="5" name="Förderlogos EU Landesregierung_white.png" descr="Förderlogos EU Landesregierung_white.png">
            <a:extLst>
              <a:ext uri="{FF2B5EF4-FFF2-40B4-BE49-F238E27FC236}">
                <a16:creationId xmlns:a16="http://schemas.microsoft.com/office/drawing/2014/main" id="{98A65A3A-C8C9-0667-F1EC-1A29403A290C}"/>
              </a:ext>
            </a:extLst>
          </p:cNvPr>
          <p:cNvPicPr>
            <a:picLocks noChangeAspect="1"/>
          </p:cNvPicPr>
          <p:nvPr userDrawn="1"/>
        </p:nvPicPr>
        <p:blipFill>
          <a:blip r:embed="rId3"/>
          <a:stretch>
            <a:fillRect/>
          </a:stretch>
        </p:blipFill>
        <p:spPr>
          <a:xfrm>
            <a:off x="692072" y="6098941"/>
            <a:ext cx="4513493" cy="681421"/>
          </a:xfrm>
          <a:prstGeom prst="rect">
            <a:avLst/>
          </a:prstGeom>
          <a:ln w="12700">
            <a:miter lim="400000"/>
          </a:ln>
        </p:spPr>
      </p:pic>
      <p:pic>
        <p:nvPicPr>
          <p:cNvPr id="8" name="Grafik 7">
            <a:extLst>
              <a:ext uri="{FF2B5EF4-FFF2-40B4-BE49-F238E27FC236}">
                <a16:creationId xmlns:a16="http://schemas.microsoft.com/office/drawing/2014/main" id="{7BBA8F97-2053-1DBF-2BE4-43A7B3CCDEB7}"/>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3700064" y="719093"/>
            <a:ext cx="4791871" cy="5419814"/>
          </a:xfrm>
          <a:prstGeom prst="rect">
            <a:avLst/>
          </a:prstGeom>
        </p:spPr>
      </p:pic>
      <p:sp>
        <p:nvSpPr>
          <p:cNvPr id="11" name="Google Shape;104;p11">
            <a:extLst>
              <a:ext uri="{FF2B5EF4-FFF2-40B4-BE49-F238E27FC236}">
                <a16:creationId xmlns:a16="http://schemas.microsoft.com/office/drawing/2014/main" id="{E9284B26-9B0F-897B-F5A6-3970EEEA9516}"/>
              </a:ext>
            </a:extLst>
          </p:cNvPr>
          <p:cNvSpPr txBox="1"/>
          <p:nvPr userDrawn="1"/>
        </p:nvSpPr>
        <p:spPr>
          <a:xfrm>
            <a:off x="8305800" y="4675552"/>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Julian Hüsken</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Kreis Wesel </a:t>
            </a:r>
            <a:r>
              <a:rPr lang="de-DE" sz="1200" dirty="0" err="1">
                <a:latin typeface="Roboto" panose="02000000000000000000" pitchFamily="2" charset="0"/>
                <a:ea typeface="Roboto" panose="02000000000000000000" pitchFamily="2" charset="0"/>
                <a:cs typeface="Roboto" panose="02000000000000000000" pitchFamily="2" charset="0"/>
              </a:rPr>
              <a:t>EntwicklungsAgentur</a:t>
            </a:r>
            <a:r>
              <a:rPr lang="de-DE" sz="1200" dirty="0">
                <a:latin typeface="Roboto" panose="02000000000000000000" pitchFamily="2" charset="0"/>
                <a:ea typeface="Roboto" panose="02000000000000000000" pitchFamily="2" charset="0"/>
                <a:cs typeface="Roboto" panose="02000000000000000000" pitchFamily="2" charset="0"/>
              </a:rPr>
              <a:t> Wirtschaft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+49 281 / 207 3022</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julian.huesken@kreis-wesel.de</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12" name="Google Shape;104;p11">
            <a:extLst>
              <a:ext uri="{FF2B5EF4-FFF2-40B4-BE49-F238E27FC236}">
                <a16:creationId xmlns:a16="http://schemas.microsoft.com/office/drawing/2014/main" id="{FCB945A6-AAC1-08F6-F3C6-DF1170B9AD43}"/>
              </a:ext>
            </a:extLst>
          </p:cNvPr>
          <p:cNvSpPr txBox="1"/>
          <p:nvPr userDrawn="1"/>
        </p:nvSpPr>
        <p:spPr>
          <a:xfrm>
            <a:off x="4575006" y="4675552"/>
            <a:ext cx="3041985"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Paul Langfahl</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Wirtschaftsförderung Kreis Kleve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2821 / 72 8120</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p.langfahl@wfg-kreis-kleve.de</a:t>
            </a:r>
            <a:endParaRPr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951481739"/>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60;p6" descr="Google Shape;60;p6">
            <a:extLst>
              <a:ext uri="{FF2B5EF4-FFF2-40B4-BE49-F238E27FC236}">
                <a16:creationId xmlns:a16="http://schemas.microsoft.com/office/drawing/2014/main" id="{D3BCFF5B-C91C-34DE-8115-CCA088D2B522}"/>
              </a:ext>
            </a:extLst>
          </p:cNvPr>
          <p:cNvPicPr>
            <a:picLocks noChangeAspect="1"/>
          </p:cNvPicPr>
          <p:nvPr userDrawn="1"/>
        </p:nvPicPr>
        <p:blipFill>
          <a:blip r:embed="rId24">
            <a:alphaModFix amt="10000"/>
          </a:blip>
          <a:stretch>
            <a:fillRect/>
          </a:stretch>
        </p:blipFill>
        <p:spPr>
          <a:xfrm>
            <a:off x="3699619" y="820625"/>
            <a:ext cx="4792762" cy="5424143"/>
          </a:xfrm>
          <a:prstGeom prst="rect">
            <a:avLst/>
          </a:prstGeom>
          <a:ln w="12700">
            <a:miter lim="400000"/>
          </a:ln>
        </p:spPr>
      </p:pic>
      <p:sp>
        <p:nvSpPr>
          <p:cNvPr id="2" name="Titelplatzhalter 1">
            <a:extLst>
              <a:ext uri="{FF2B5EF4-FFF2-40B4-BE49-F238E27FC236}">
                <a16:creationId xmlns:a16="http://schemas.microsoft.com/office/drawing/2014/main" id="{DE57A77C-DD24-FACC-1D5F-C496318D1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79EAA1CF-CB17-AD9B-2591-12CF806E3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F4FF2D70-DBE9-3161-4185-C5EF328AA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F3E3BC-98DD-41EE-9C48-48F535956578}" type="datetimeFigureOut">
              <a:rPr lang="de-DE" smtClean="0"/>
              <a:t>14.10.2026</a:t>
            </a:fld>
            <a:endParaRPr lang="de-DE"/>
          </a:p>
        </p:txBody>
      </p:sp>
      <p:sp>
        <p:nvSpPr>
          <p:cNvPr id="5" name="Fußzeilenplatzhalter 4">
            <a:extLst>
              <a:ext uri="{FF2B5EF4-FFF2-40B4-BE49-F238E27FC236}">
                <a16:creationId xmlns:a16="http://schemas.microsoft.com/office/drawing/2014/main" id="{6BB0BA34-3C8E-CBD1-EB79-D1E2CFCC4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C2A35D8-CF22-6C75-1B38-E47BE13B9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E70882-9F88-48A5-AAB8-90B40D16CB51}" type="slidenum">
              <a:rPr lang="de-DE" smtClean="0"/>
              <a:t>‹#›</a:t>
            </a:fld>
            <a:endParaRPr lang="de-DE"/>
          </a:p>
        </p:txBody>
      </p:sp>
    </p:spTree>
    <p:extLst>
      <p:ext uri="{BB962C8B-B14F-4D97-AF65-F5344CB8AC3E}">
        <p14:creationId xmlns:p14="http://schemas.microsoft.com/office/powerpoint/2010/main" val="3355087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2" r:id="rId12"/>
    <p:sldLayoutId id="2147483683" r:id="rId13"/>
    <p:sldLayoutId id="2147483681"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Lst>
  <p:txStyles>
    <p:titleStyle>
      <a:lvl1pPr algn="l" defTabSz="914400" rtl="0" eaLnBrk="1" latinLnBrk="0" hangingPunct="1">
        <a:lnSpc>
          <a:spcPct val="150000"/>
        </a:lnSpc>
        <a:spcBef>
          <a:spcPct val="0"/>
        </a:spcBef>
        <a:buNone/>
        <a:defRPr sz="1800" kern="1200">
          <a:solidFill>
            <a:srgbClr val="002060"/>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914400" rtl="0" eaLnBrk="1" latinLnBrk="0" hangingPunct="1">
        <a:lnSpc>
          <a:spcPct val="90000"/>
        </a:lnSpc>
        <a:spcBef>
          <a:spcPts val="1000"/>
        </a:spcBef>
        <a:buFontTx/>
        <a:buNone/>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68" userDrawn="1">
          <p15:clr>
            <a:srgbClr val="F26B43"/>
          </p15:clr>
        </p15:guide>
        <p15:guide id="2" pos="5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8.png"/><Relationship Id="rId7" Type="http://schemas.openxmlformats.org/officeDocument/2006/relationships/image" Target="../media/image29.png"/><Relationship Id="rId8"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9.png"/><Relationship Id="rId7" Type="http://schemas.openxmlformats.org/officeDocument/2006/relationships/image" Target="../media/image25.png"/><Relationship Id="rId8"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10.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36.png"/><Relationship Id="rId5" Type="http://schemas.openxmlformats.org/officeDocument/2006/relationships/image" Target="../media/image39.png"/><Relationship Id="rId6" Type="http://schemas.openxmlformats.org/officeDocument/2006/relationships/image" Target="../media/image37.png"/><Relationship Id="rId7"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40.png"/><Relationship Id="rId5" Type="http://schemas.openxmlformats.org/officeDocument/2006/relationships/image" Target="../media/image26.png"/><Relationship Id="rId6" Type="http://schemas.openxmlformats.org/officeDocument/2006/relationships/image" Target="../media/image18.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44.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10.png"/><Relationship Id="rId5" Type="http://schemas.openxmlformats.org/officeDocument/2006/relationships/image" Target="../media/image37.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31.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48.png"/><Relationship Id="rId4" Type="http://schemas.openxmlformats.org/officeDocument/2006/relationships/image" Target="../media/image26.png"/><Relationship Id="rId5" Type="http://schemas.openxmlformats.org/officeDocument/2006/relationships/image" Target="../media/image47.png"/><Relationship Id="rId6" Type="http://schemas.openxmlformats.org/officeDocument/2006/relationships/image" Target="../media/image49.png"/><Relationship Id="rId7"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38.png"/><Relationship Id="rId6"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35.png"/><Relationship Id="rId4" Type="http://schemas.openxmlformats.org/officeDocument/2006/relationships/image" Target="../media/image10.png"/><Relationship Id="rId5" Type="http://schemas.openxmlformats.org/officeDocument/2006/relationships/image" Target="../media/image39.png"/><Relationship Id="rId6"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20.png"/><Relationship Id="rId5"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58.png"/><Relationship Id="rId4" Type="http://schemas.openxmlformats.org/officeDocument/2006/relationships/image" Target="../media/image27.png"/><Relationship Id="rId5" Type="http://schemas.openxmlformats.org/officeDocument/2006/relationships/image" Target="../media/image47.png"/><Relationship Id="rId6"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10.png"/><Relationship Id="rId4" Type="http://schemas.openxmlformats.org/officeDocument/2006/relationships/image" Target="../media/image58.png"/><Relationship Id="rId5" Type="http://schemas.openxmlformats.org/officeDocument/2006/relationships/image" Target="../media/image21.png"/><Relationship Id="rId6"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51.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33.png"/><Relationship Id="rId4" Type="http://schemas.openxmlformats.org/officeDocument/2006/relationships/image" Target="../media/image47.png"/><Relationship Id="rId5" Type="http://schemas.openxmlformats.org/officeDocument/2006/relationships/image" Target="../media/image61.png"/><Relationship Id="rId6"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10.png"/><Relationship Id="rId4" Type="http://schemas.openxmlformats.org/officeDocument/2006/relationships/image" Target="../media/image47.png"/><Relationship Id="rId5" Type="http://schemas.openxmlformats.org/officeDocument/2006/relationships/image" Target="../media/image61.png"/><Relationship Id="rId6" Type="http://schemas.openxmlformats.org/officeDocument/2006/relationships/image" Target="../media/image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14.png"/><Relationship Id="rId4" Type="http://schemas.openxmlformats.org/officeDocument/2006/relationships/image" Target="../media/image54.png"/><Relationship Id="rId5" Type="http://schemas.openxmlformats.org/officeDocument/2006/relationships/image" Target="../media/image51.png"/><Relationship Id="rId6" Type="http://schemas.openxmlformats.org/officeDocument/2006/relationships/image" Target="../media/image63.png"/><Relationship Id="rId7" Type="http://schemas.openxmlformats.org/officeDocument/2006/relationships/image" Target="../media/image55.png"/><Relationship Id="rId8"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28.png"/><Relationship Id="rId4" Type="http://schemas.openxmlformats.org/officeDocument/2006/relationships/image" Target="../media/image5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21.png"/><Relationship Id="rId6" Type="http://schemas.openxmlformats.org/officeDocument/2006/relationships/image" Target="../media/image4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6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 Id="rId3" Type="http://schemas.openxmlformats.org/officeDocument/2006/relationships/image" Target="../media/image14.png"/><Relationship Id="rId4" Type="http://schemas.openxmlformats.org/officeDocument/2006/relationships/image" Target="../media/image65.png"/><Relationship Id="rId5" Type="http://schemas.openxmlformats.org/officeDocument/2006/relationships/image" Target="../media/image51.png"/><Relationship Id="rId6" Type="http://schemas.openxmlformats.org/officeDocument/2006/relationships/image" Target="../media/image59.png"/><Relationship Id="rId7" Type="http://schemas.openxmlformats.org/officeDocument/2006/relationships/image" Target="../media/image55.png"/><Relationship Id="rId8"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8.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 Id="rId3"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 Id="rId3" Type="http://schemas.openxmlformats.org/officeDocument/2006/relationships/image" Target="../media/image10.png"/><Relationship Id="rId4" Type="http://schemas.openxmlformats.org/officeDocument/2006/relationships/image" Target="../media/image62.png"/><Relationship Id="rId5" Type="http://schemas.openxmlformats.org/officeDocument/2006/relationships/image" Target="../media/image66.png"/><Relationship Id="rId6" Type="http://schemas.openxmlformats.org/officeDocument/2006/relationships/image" Target="../media/image3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 Id="rId3" Type="http://schemas.openxmlformats.org/officeDocument/2006/relationships/image" Target="../media/image14.png"/><Relationship Id="rId4" Type="http://schemas.openxmlformats.org/officeDocument/2006/relationships/image" Target="../media/image45.png"/><Relationship Id="rId5" Type="http://schemas.openxmlformats.org/officeDocument/2006/relationships/image" Target="../media/image51.png"/><Relationship Id="rId6" Type="http://schemas.openxmlformats.org/officeDocument/2006/relationships/image" Target="../media/image67.png"/><Relationship Id="rId7" Type="http://schemas.openxmlformats.org/officeDocument/2006/relationships/image" Target="../media/image59.png"/><Relationship Id="rId8"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 Id="rId3" Type="http://schemas.openxmlformats.org/officeDocument/2006/relationships/image" Target="../media/image29.png"/><Relationship Id="rId4" Type="http://schemas.openxmlformats.org/officeDocument/2006/relationships/image" Target="../media/image5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5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 Id="rId3" Type="http://schemas.openxmlformats.org/officeDocument/2006/relationships/image" Target="../media/image3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0.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13.png"/><Relationship Id="rId6"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1.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72.png"/><Relationship Id="rId6" Type="http://schemas.openxmlformats.org/officeDocument/2006/relationships/image" Target="../media/image6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 Id="rId3" Type="http://schemas.openxmlformats.org/officeDocument/2006/relationships/image" Target="../media/image10.png"/><Relationship Id="rId4" Type="http://schemas.openxmlformats.org/officeDocument/2006/relationships/image" Target="../media/image33.png"/><Relationship Id="rId5" Type="http://schemas.openxmlformats.org/officeDocument/2006/relationships/image" Target="../media/image64.png"/><Relationship Id="rId6" Type="http://schemas.openxmlformats.org/officeDocument/2006/relationships/image" Target="../media/image1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 Id="rId3" Type="http://schemas.openxmlformats.org/officeDocument/2006/relationships/image" Target="../media/image14.png"/><Relationship Id="rId4" Type="http://schemas.openxmlformats.org/officeDocument/2006/relationships/image" Target="../media/image52.png"/><Relationship Id="rId5" Type="http://schemas.openxmlformats.org/officeDocument/2006/relationships/image" Target="../media/image65.png"/><Relationship Id="rId6" Type="http://schemas.openxmlformats.org/officeDocument/2006/relationships/image" Target="../media/image51.png"/><Relationship Id="rId7" Type="http://schemas.openxmlformats.org/officeDocument/2006/relationships/image" Target="../media/image55.png"/><Relationship Id="rId8" Type="http://schemas.openxmlformats.org/officeDocument/2006/relationships/image" Target="../media/image5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 Id="rId3" Type="http://schemas.openxmlformats.org/officeDocument/2006/relationships/image" Target="../media/image30.png"/><Relationship Id="rId4" Type="http://schemas.openxmlformats.org/officeDocument/2006/relationships/image" Target="../media/image5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 Id="rId3" Type="http://schemas.openxmlformats.org/officeDocument/2006/relationships/image" Target="../media/image2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 Id="rId3" Type="http://schemas.openxmlformats.org/officeDocument/2006/relationships/image" Target="../media/image3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 Id="rId3" Type="http://schemas.openxmlformats.org/officeDocument/2006/relationships/image" Target="../media/image38.png"/><Relationship Id="rId4" Type="http://schemas.openxmlformats.org/officeDocument/2006/relationships/image" Target="../media/image73.png"/><Relationship Id="rId5" Type="http://schemas.openxmlformats.org/officeDocument/2006/relationships/image" Target="../media/image12.png"/><Relationship Id="rId6" Type="http://schemas.openxmlformats.org/officeDocument/2006/relationships/image" Target="../media/image7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9.xml"/><Relationship Id="rId3" Type="http://schemas.openxmlformats.org/officeDocument/2006/relationships/image" Target="../media/image38.png"/><Relationship Id="rId4" Type="http://schemas.openxmlformats.org/officeDocument/2006/relationships/image" Target="../media/image26.png"/><Relationship Id="rId5" Type="http://schemas.openxmlformats.org/officeDocument/2006/relationships/image" Target="../media/image46.png"/><Relationship Id="rId6" Type="http://schemas.openxmlformats.org/officeDocument/2006/relationships/image" Target="../media/image4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0.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10.png"/><Relationship Id="rId6" Type="http://schemas.openxmlformats.org/officeDocument/2006/relationships/image" Target="../media/image46.png"/><Relationship Id="rId7" Type="http://schemas.openxmlformats.org/officeDocument/2006/relationships/image" Target="../media/image6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2.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3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4.xml"/><Relationship Id="rId3" Type="http://schemas.openxmlformats.org/officeDocument/2006/relationships/image" Target="../media/image75.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76.png"/><Relationship Id="rId7" Type="http://schemas.openxmlformats.org/officeDocument/2006/relationships/image" Target="../media/image6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5.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64.png"/><Relationship Id="rId8" Type="http://schemas.openxmlformats.org/officeDocument/2006/relationships/image" Target="../media/image1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6.xml"/><Relationship Id="rId3" Type="http://schemas.openxmlformats.org/officeDocument/2006/relationships/image" Target="../media/image9.png"/><Relationship Id="rId4" Type="http://schemas.openxmlformats.org/officeDocument/2006/relationships/image" Target="../media/image36.png"/><Relationship Id="rId5" Type="http://schemas.openxmlformats.org/officeDocument/2006/relationships/image" Target="../media/image14.png"/><Relationship Id="rId6" Type="http://schemas.openxmlformats.org/officeDocument/2006/relationships/image" Target="../media/image48.png"/><Relationship Id="rId7" Type="http://schemas.openxmlformats.org/officeDocument/2006/relationships/image" Target="../media/image24.png"/><Relationship Id="rId8" Type="http://schemas.openxmlformats.org/officeDocument/2006/relationships/image" Target="../media/image4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[TT.MM.JJJJ]</a:t>
            </a:r>
          </a:p>
        </p:txBody>
      </p:sp>
      <p:sp>
        <p:nvSpPr>
          <p:cNvPr id="3" name="Text Placeholder 2"/>
          <p:cNvSpPr>
            <a:spLocks noGrp="1"/>
          </p:cNvSpPr>
          <p:nvPr>
            <p:ph type="body" idx="12" sz="quarter"/>
          </p:nvPr>
        </p:nvSpPr>
        <p:spPr/>
        <p:txBody>
          <a:bodyPr/>
          <a:lstStyle/>
          <a:p>
            <a:r>
              <a:rPr b="1" sz="2000"/>
              <a:t>Ideen mit System entwickeln.</a:t>
            </a:r>
          </a:p>
          <a:p>
            <a:r>
              <a:rPr b="1" sz="2000"/>
              <a:t>Design Thinking trifft KI.</a:t>
            </a:r>
          </a:p>
        </p:txBody>
      </p:sp>
      <p:sp>
        <p:nvSpPr>
          <p:cNvPr id="4" name="Text Placeholder 3"/>
          <p:cNvSpPr>
            <a:spLocks noGrp="1"/>
          </p:cNvSpPr>
          <p:nvPr>
            <p:ph type="body" idx="13" sz="quarter"/>
          </p:nvPr>
        </p:nvSpPr>
        <p:spPr/>
        <p:txBody>
          <a:bodyPr/>
          <a:lstStyle/>
          <a:p>
            <a:r>
              <a:rPr b="0" sz="2800"/>
              <a:t>Masterclass [Nr.]</a:t>
            </a:r>
          </a:p>
        </p:txBody>
      </p:sp>
      <p:sp>
        <p:nvSpPr>
          <p:cNvPr id="5" name="Text Placeholder 4"/>
          <p:cNvSpPr>
            <a:spLocks noGrp="1"/>
          </p:cNvSpPr>
          <p:nvPr>
            <p:ph type="body" idx="14" sz="quarter"/>
          </p:nvPr>
        </p:nvSpPr>
        <p:spPr/>
        <p:txBody>
          <a:bodyPr/>
          <a:lstStyle/>
          <a:p>
            <a:r>
              <a:rPr b="0" sz="1600"/>
              <a:t>Prof. Dr. Kathrin Weidner</a:t>
            </a:r>
          </a:p>
          <a:p>
            <a:r>
              <a:rPr b="0" sz="1600"/>
              <a:t>Nina Nüchter</a:t>
            </a:r>
          </a:p>
          <a:p>
            <a:r>
              <a:rPr b="0" sz="1600"/>
              <a:t>- Hochschule Rhein-Waal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2000"/>
              <a:t>01</a:t>
            </a:r>
          </a:p>
        </p:txBody>
      </p:sp>
      <p:sp>
        <p:nvSpPr>
          <p:cNvPr id="3" name="Text Placeholder 2"/>
          <p:cNvSpPr>
            <a:spLocks noGrp="1"/>
          </p:cNvSpPr>
          <p:nvPr>
            <p:ph type="body" idx="11" sz="quarter"/>
          </p:nvPr>
        </p:nvSpPr>
        <p:spPr/>
        <p:txBody>
          <a:bodyPr/>
          <a:lstStyle/>
          <a:p>
            <a:r>
              <a:rPr b="0" sz="1900"/>
              <a:t>Innovation: Warum sie für KMU über die Zukunft entscheidet</a:t>
            </a:r>
          </a:p>
        </p:txBody>
      </p:sp>
      <p:sp>
        <p:nvSpPr>
          <p:cNvPr id="4" name="Text Placeholder 3"/>
          <p:cNvSpPr>
            <a:spLocks noGrp="1"/>
          </p:cNvSpPr>
          <p:nvPr>
            <p:ph type="body" idx="12" sz="quarter"/>
          </p:nvPr>
        </p:nvSpPr>
        <p:spPr/>
        <p:txBody>
          <a:bodyPr/>
          <a:lstStyle/>
          <a:p>
            <a:r>
              <a:rPr b="1" sz="2000"/>
              <a:t>02</a:t>
            </a:r>
          </a:p>
        </p:txBody>
      </p:sp>
      <p:sp>
        <p:nvSpPr>
          <p:cNvPr id="5" name="Text Placeholder 4"/>
          <p:cNvSpPr>
            <a:spLocks noGrp="1"/>
          </p:cNvSpPr>
          <p:nvPr>
            <p:ph type="body" idx="13" sz="quarter"/>
          </p:nvPr>
        </p:nvSpPr>
        <p:spPr/>
        <p:txBody>
          <a:bodyPr/>
          <a:lstStyle/>
          <a:p>
            <a:r>
              <a:rPr b="0" sz="1900"/>
              <a:t>Design Thinking: Der Innovationsprozess im Überblick</a:t>
            </a:r>
          </a:p>
        </p:txBody>
      </p:sp>
      <p:sp>
        <p:nvSpPr>
          <p:cNvPr id="6" name="Text Placeholder 5"/>
          <p:cNvSpPr>
            <a:spLocks noGrp="1"/>
          </p:cNvSpPr>
          <p:nvPr>
            <p:ph type="body" idx="14" sz="quarter"/>
          </p:nvPr>
        </p:nvSpPr>
        <p:spPr/>
        <p:txBody>
          <a:bodyPr/>
          <a:lstStyle/>
          <a:p>
            <a:r>
              <a:rPr b="1" sz="2000"/>
              <a:t>03</a:t>
            </a:r>
          </a:p>
        </p:txBody>
      </p:sp>
      <p:sp>
        <p:nvSpPr>
          <p:cNvPr id="7" name="Text Placeholder 6"/>
          <p:cNvSpPr>
            <a:spLocks noGrp="1"/>
          </p:cNvSpPr>
          <p:nvPr>
            <p:ph type="body" idx="15" sz="quarter"/>
          </p:nvPr>
        </p:nvSpPr>
        <p:spPr/>
        <p:txBody>
          <a:bodyPr/>
          <a:lstStyle/>
          <a:p>
            <a:r>
              <a:rPr b="0" sz="1900"/>
              <a:t>KI-Werkzeugkasten: Prompts, Agenten, Skills, Automatisierung</a:t>
            </a:r>
          </a:p>
        </p:txBody>
      </p:sp>
      <p:sp>
        <p:nvSpPr>
          <p:cNvPr id="8" name="Text Placeholder 7"/>
          <p:cNvSpPr>
            <a:spLocks noGrp="1"/>
          </p:cNvSpPr>
          <p:nvPr>
            <p:ph type="body" idx="16" sz="quarter"/>
          </p:nvPr>
        </p:nvSpPr>
        <p:spPr/>
        <p:txBody>
          <a:bodyPr/>
          <a:lstStyle/>
          <a:p>
            <a:r>
              <a:rPr b="1" sz="2000"/>
              <a:t>04</a:t>
            </a:r>
          </a:p>
        </p:txBody>
      </p:sp>
      <p:sp>
        <p:nvSpPr>
          <p:cNvPr id="9" name="Text Placeholder 8"/>
          <p:cNvSpPr>
            <a:spLocks noGrp="1"/>
          </p:cNvSpPr>
          <p:nvPr>
            <p:ph type="body" idx="17" sz="quarter"/>
          </p:nvPr>
        </p:nvSpPr>
        <p:spPr/>
        <p:txBody>
          <a:bodyPr/>
          <a:lstStyle/>
          <a:p>
            <a:r>
              <a:rPr b="0" sz="1900"/>
              <a:t>Praxisfall HSRW: Ausgangslage und Agenten-Team</a:t>
            </a:r>
          </a:p>
        </p:txBody>
      </p:sp>
      <p:sp>
        <p:nvSpPr>
          <p:cNvPr id="10" name="Text Placeholder 9"/>
          <p:cNvSpPr>
            <a:spLocks noGrp="1"/>
          </p:cNvSpPr>
          <p:nvPr>
            <p:ph type="body" idx="18" sz="quarter"/>
          </p:nvPr>
        </p:nvSpPr>
        <p:spPr/>
        <p:txBody>
          <a:bodyPr/>
          <a:lstStyle/>
          <a:p>
            <a:r>
              <a:rPr b="1" sz="2000"/>
              <a:t>05</a:t>
            </a:r>
          </a:p>
        </p:txBody>
      </p:sp>
      <p:sp>
        <p:nvSpPr>
          <p:cNvPr id="11" name="Text Placeholder 10"/>
          <p:cNvSpPr>
            <a:spLocks noGrp="1"/>
          </p:cNvSpPr>
          <p:nvPr>
            <p:ph type="body" idx="19" sz="quarter"/>
          </p:nvPr>
        </p:nvSpPr>
        <p:spPr/>
        <p:txBody>
          <a:bodyPr/>
          <a:lstStyle/>
          <a:p>
            <a:r>
              <a:rPr b="0" sz="1900"/>
              <a:t>Phasen 1–3: Verstehen, Beobachten, Sichtweise definieren</a:t>
            </a:r>
          </a:p>
        </p:txBody>
      </p:sp>
      <p:sp>
        <p:nvSpPr>
          <p:cNvPr id="12" name="Text Placeholder 11"/>
          <p:cNvSpPr>
            <a:spLocks noGrp="1"/>
          </p:cNvSpPr>
          <p:nvPr>
            <p:ph type="body" idx="20" sz="quarter"/>
          </p:nvPr>
        </p:nvSpPr>
        <p:spPr/>
        <p:txBody>
          <a:bodyPr/>
          <a:lstStyle/>
          <a:p>
            <a:r>
              <a:rPr b="1" sz="2000"/>
              <a:t>06</a:t>
            </a:r>
          </a:p>
        </p:txBody>
      </p:sp>
      <p:sp>
        <p:nvSpPr>
          <p:cNvPr id="13" name="Text Placeholder 12"/>
          <p:cNvSpPr>
            <a:spLocks noGrp="1"/>
          </p:cNvSpPr>
          <p:nvPr>
            <p:ph type="body" idx="21" sz="quarter"/>
          </p:nvPr>
        </p:nvSpPr>
        <p:spPr/>
        <p:txBody>
          <a:bodyPr/>
          <a:lstStyle/>
          <a:p>
            <a:r>
              <a:rPr b="0" sz="1900"/>
              <a:t>Phasen 4–6: Ideen finden, Prototypen entwickeln, Testen</a:t>
            </a:r>
          </a:p>
        </p:txBody>
      </p:sp>
      <p:sp>
        <p:nvSpPr>
          <p:cNvPr id="14" name="Text Placeholder 13"/>
          <p:cNvSpPr>
            <a:spLocks noGrp="1"/>
          </p:cNvSpPr>
          <p:nvPr>
            <p:ph type="body" idx="22" sz="quarter"/>
          </p:nvPr>
        </p:nvSpPr>
        <p:spPr/>
        <p:txBody>
          <a:bodyPr/>
          <a:lstStyle/>
          <a:p>
            <a:r>
              <a:rPr b="1" sz="2000"/>
              <a:t>07</a:t>
            </a:r>
          </a:p>
        </p:txBody>
      </p:sp>
      <p:sp>
        <p:nvSpPr>
          <p:cNvPr id="15" name="Text Placeholder 14"/>
          <p:cNvSpPr>
            <a:spLocks noGrp="1"/>
          </p:cNvSpPr>
          <p:nvPr>
            <p:ph type="body" idx="23" sz="quarter"/>
          </p:nvPr>
        </p:nvSpPr>
        <p:spPr/>
        <p:txBody>
          <a:bodyPr/>
          <a:lstStyle/>
          <a:p>
            <a:r>
              <a:rPr b="0" sz="1900"/>
              <a:t>Dauerbetrieb: Wiederkehrende Agenten im Alltag</a:t>
            </a:r>
          </a:p>
        </p:txBody>
      </p:sp>
      <p:sp>
        <p:nvSpPr>
          <p:cNvPr id="16" name="Text Placeholder 15"/>
          <p:cNvSpPr>
            <a:spLocks noGrp="1"/>
          </p:cNvSpPr>
          <p:nvPr>
            <p:ph type="body" idx="24" sz="quarter"/>
          </p:nvPr>
        </p:nvSpPr>
        <p:spPr/>
        <p:txBody>
          <a:bodyPr/>
          <a:lstStyle/>
          <a:p>
            <a:r>
              <a:rPr b="1" sz="2000"/>
              <a:t>08</a:t>
            </a:r>
          </a:p>
        </p:txBody>
      </p:sp>
      <p:sp>
        <p:nvSpPr>
          <p:cNvPr id="17" name="Text Placeholder 16"/>
          <p:cNvSpPr>
            <a:spLocks noGrp="1"/>
          </p:cNvSpPr>
          <p:nvPr>
            <p:ph type="body" idx="25" sz="quarter"/>
          </p:nvPr>
        </p:nvSpPr>
        <p:spPr/>
        <p:txBody>
          <a:bodyPr/>
          <a:lstStyle/>
          <a:p>
            <a:r>
              <a:rPr b="0" sz="1900"/>
              <a:t>Transfer: Ihr Fahrplan für die nächsten 90 Tage</a:t>
            </a:r>
          </a:p>
        </p:txBody>
      </p:sp>
      <p:sp>
        <p:nvSpPr>
          <p:cNvPr id="18" name="TextBox 17"/>
          <p:cNvSpPr txBox="1"/>
          <p:nvPr/>
        </p:nvSpPr>
        <p:spPr>
          <a:xfrm>
            <a:off x="9326880" y="1371600"/>
            <a:ext cx="2103120" cy="384048"/>
          </a:xfrm>
          <a:prstGeom prst="rect">
            <a:avLst/>
          </a:prstGeom>
          <a:noFill/>
        </p:spPr>
        <p:txBody>
          <a:bodyPr wrap="square" lIns="0" rIns="0" tIns="0" bIns="0" anchor="t"/>
          <a:lstStyle/>
          <a:p>
            <a:pPr algn="r">
              <a:spcAft>
                <a:spcPts val="400"/>
              </a:spcAft>
              <a:buNone/>
            </a:pPr>
            <a:r>
              <a:rPr sz="2800" b="1" i="0">
                <a:solidFill>
                  <a:srgbClr val="0E1F53"/>
                </a:solidFill>
                <a:latin typeface="Roboto"/>
              </a:rP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Was Sie heute mitnehmen</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ZIELE DES TAGES</a:t>
            </a:r>
          </a:p>
        </p:txBody>
      </p:sp>
      <p:sp>
        <p:nvSpPr>
          <p:cNvPr id="4" name="Rounded Rectangle 3"/>
          <p:cNvSpPr/>
          <p:nvPr/>
        </p:nvSpPr>
        <p:spPr>
          <a:xfrm>
            <a:off x="841248" y="2057400"/>
            <a:ext cx="3319272"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15568" y="2331720"/>
            <a:ext cx="777240" cy="7772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Lightbulb_w.png"/>
          <p:cNvPicPr>
            <a:picLocks noChangeAspect="1"/>
          </p:cNvPicPr>
          <p:nvPr/>
        </p:nvPicPr>
        <p:blipFill>
          <a:blip r:embed="rId3"/>
          <a:stretch>
            <a:fillRect/>
          </a:stretch>
        </p:blipFill>
        <p:spPr>
          <a:xfrm>
            <a:off x="1302105" y="2518257"/>
            <a:ext cx="404164" cy="404164"/>
          </a:xfrm>
          <a:prstGeom prst="rect">
            <a:avLst/>
          </a:prstGeom>
        </p:spPr>
      </p:pic>
      <p:sp>
        <p:nvSpPr>
          <p:cNvPr id="7" name="TextBox 6"/>
          <p:cNvSpPr txBox="1"/>
          <p:nvPr/>
        </p:nvSpPr>
        <p:spPr>
          <a:xfrm>
            <a:off x="1115568" y="3291840"/>
            <a:ext cx="2770632" cy="411480"/>
          </a:xfrm>
          <a:prstGeom prst="rect">
            <a:avLst/>
          </a:prstGeom>
          <a:noFill/>
        </p:spPr>
        <p:txBody>
          <a:bodyPr wrap="square" lIns="0" rIns="0" tIns="0" bIns="0" anchor="t"/>
          <a:lstStyle/>
          <a:p>
            <a:pPr algn="l">
              <a:spcAft>
                <a:spcPts val="400"/>
              </a:spcAft>
              <a:buNone/>
            </a:pPr>
            <a:r>
              <a:rPr sz="2000" b="1" i="0">
                <a:solidFill>
                  <a:srgbClr val="0E1F53"/>
                </a:solidFill>
                <a:latin typeface="Roboto"/>
              </a:rPr>
              <a:t>Verstehen</a:t>
            </a:r>
          </a:p>
        </p:txBody>
      </p:sp>
      <p:sp>
        <p:nvSpPr>
          <p:cNvPr id="8" name="TextBox 7"/>
          <p:cNvSpPr txBox="1"/>
          <p:nvPr/>
        </p:nvSpPr>
        <p:spPr>
          <a:xfrm>
            <a:off x="1115568" y="3794760"/>
            <a:ext cx="2770632" cy="1737360"/>
          </a:xfrm>
          <a:prstGeom prst="rect">
            <a:avLst/>
          </a:prstGeom>
          <a:noFill/>
        </p:spPr>
        <p:txBody>
          <a:bodyPr wrap="square" lIns="0" rIns="0" tIns="0" bIns="0" anchor="t"/>
          <a:lstStyle/>
          <a:p>
            <a:pPr algn="l">
              <a:lnSpc>
                <a:spcPct val="110000"/>
              </a:lnSpc>
              <a:spcAft>
                <a:spcPts val="400"/>
              </a:spcAft>
              <a:buNone/>
            </a:pPr>
            <a:r>
              <a:rPr sz="1500" b="0" i="0">
                <a:solidFill>
                  <a:srgbClr val="0E1F53"/>
                </a:solidFill>
                <a:latin typeface="Roboto"/>
              </a:rPr>
              <a:t>Warum Innovation für KMU kein Luxus ist, sondern Überlebensstrategie, und wie Design Thinking sie planbar macht.</a:t>
            </a:r>
          </a:p>
        </p:txBody>
      </p:sp>
      <p:sp>
        <p:nvSpPr>
          <p:cNvPr id="9" name="Rounded Rectangle 8"/>
          <p:cNvSpPr/>
          <p:nvPr/>
        </p:nvSpPr>
        <p:spPr>
          <a:xfrm>
            <a:off x="4434840" y="2057400"/>
            <a:ext cx="3319272"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09159" y="2331720"/>
            <a:ext cx="777240" cy="7772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Compass_w.png"/>
          <p:cNvPicPr>
            <a:picLocks noChangeAspect="1"/>
          </p:cNvPicPr>
          <p:nvPr/>
        </p:nvPicPr>
        <p:blipFill>
          <a:blip r:embed="rId4"/>
          <a:stretch>
            <a:fillRect/>
          </a:stretch>
        </p:blipFill>
        <p:spPr>
          <a:xfrm>
            <a:off x="4895697" y="2518257"/>
            <a:ext cx="404164" cy="404164"/>
          </a:xfrm>
          <a:prstGeom prst="rect">
            <a:avLst/>
          </a:prstGeom>
        </p:spPr>
      </p:pic>
      <p:sp>
        <p:nvSpPr>
          <p:cNvPr id="12" name="TextBox 11"/>
          <p:cNvSpPr txBox="1"/>
          <p:nvPr/>
        </p:nvSpPr>
        <p:spPr>
          <a:xfrm>
            <a:off x="4709159" y="3291840"/>
            <a:ext cx="2770632" cy="411480"/>
          </a:xfrm>
          <a:prstGeom prst="rect">
            <a:avLst/>
          </a:prstGeom>
          <a:noFill/>
        </p:spPr>
        <p:txBody>
          <a:bodyPr wrap="square" lIns="0" rIns="0" tIns="0" bIns="0" anchor="t"/>
          <a:lstStyle/>
          <a:p>
            <a:pPr algn="l">
              <a:spcAft>
                <a:spcPts val="400"/>
              </a:spcAft>
              <a:buNone/>
            </a:pPr>
            <a:r>
              <a:rPr sz="2000" b="1" i="0">
                <a:solidFill>
                  <a:srgbClr val="0E1F53"/>
                </a:solidFill>
                <a:latin typeface="Roboto"/>
              </a:rPr>
              <a:t>Erleben</a:t>
            </a:r>
          </a:p>
        </p:txBody>
      </p:sp>
      <p:sp>
        <p:nvSpPr>
          <p:cNvPr id="13" name="TextBox 12"/>
          <p:cNvSpPr txBox="1"/>
          <p:nvPr/>
        </p:nvSpPr>
        <p:spPr>
          <a:xfrm>
            <a:off x="4709159" y="3794760"/>
            <a:ext cx="2770632" cy="1737360"/>
          </a:xfrm>
          <a:prstGeom prst="rect">
            <a:avLst/>
          </a:prstGeom>
          <a:noFill/>
        </p:spPr>
        <p:txBody>
          <a:bodyPr wrap="square" lIns="0" rIns="0" tIns="0" bIns="0" anchor="t"/>
          <a:lstStyle/>
          <a:p>
            <a:pPr algn="l">
              <a:lnSpc>
                <a:spcPct val="110000"/>
              </a:lnSpc>
              <a:spcAft>
                <a:spcPts val="400"/>
              </a:spcAft>
              <a:buNone/>
            </a:pPr>
            <a:r>
              <a:rPr sz="1500" b="0" i="0">
                <a:solidFill>
                  <a:srgbClr val="0E1F53"/>
                </a:solidFill>
                <a:latin typeface="Roboto"/>
              </a:rPr>
              <a:t>Den kompletten Innovationsprozess einmal am Beispiel der Hochschule Rhein-Waal durchlaufen, Phase für Phase.</a:t>
            </a:r>
          </a:p>
        </p:txBody>
      </p:sp>
      <p:sp>
        <p:nvSpPr>
          <p:cNvPr id="14" name="Rounded Rectangle 13"/>
          <p:cNvSpPr/>
          <p:nvPr/>
        </p:nvSpPr>
        <p:spPr>
          <a:xfrm>
            <a:off x="8028431" y="2057400"/>
            <a:ext cx="3319272"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02752" y="2331720"/>
            <a:ext cx="777240" cy="7772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Bot_w.png"/>
          <p:cNvPicPr>
            <a:picLocks noChangeAspect="1"/>
          </p:cNvPicPr>
          <p:nvPr/>
        </p:nvPicPr>
        <p:blipFill>
          <a:blip r:embed="rId5"/>
          <a:stretch>
            <a:fillRect/>
          </a:stretch>
        </p:blipFill>
        <p:spPr>
          <a:xfrm>
            <a:off x="8489289" y="2518257"/>
            <a:ext cx="404164" cy="404164"/>
          </a:xfrm>
          <a:prstGeom prst="rect">
            <a:avLst/>
          </a:prstGeom>
        </p:spPr>
      </p:pic>
      <p:sp>
        <p:nvSpPr>
          <p:cNvPr id="17" name="TextBox 16"/>
          <p:cNvSpPr txBox="1"/>
          <p:nvPr/>
        </p:nvSpPr>
        <p:spPr>
          <a:xfrm>
            <a:off x="8302752" y="3291840"/>
            <a:ext cx="2770632" cy="411480"/>
          </a:xfrm>
          <a:prstGeom prst="rect">
            <a:avLst/>
          </a:prstGeom>
          <a:noFill/>
        </p:spPr>
        <p:txBody>
          <a:bodyPr wrap="square" lIns="0" rIns="0" tIns="0" bIns="0" anchor="t"/>
          <a:lstStyle/>
          <a:p>
            <a:pPr algn="l">
              <a:spcAft>
                <a:spcPts val="400"/>
              </a:spcAft>
              <a:buNone/>
            </a:pPr>
            <a:r>
              <a:rPr sz="2000" b="1" i="0">
                <a:solidFill>
                  <a:srgbClr val="0E1F53"/>
                </a:solidFill>
                <a:latin typeface="Roboto"/>
              </a:rPr>
              <a:t>Automatisieren</a:t>
            </a:r>
          </a:p>
        </p:txBody>
      </p:sp>
      <p:sp>
        <p:nvSpPr>
          <p:cNvPr id="18" name="TextBox 17"/>
          <p:cNvSpPr txBox="1"/>
          <p:nvPr/>
        </p:nvSpPr>
        <p:spPr>
          <a:xfrm>
            <a:off x="8302752" y="3794760"/>
            <a:ext cx="2770632" cy="1737360"/>
          </a:xfrm>
          <a:prstGeom prst="rect">
            <a:avLst/>
          </a:prstGeom>
          <a:noFill/>
        </p:spPr>
        <p:txBody>
          <a:bodyPr wrap="square" lIns="0" rIns="0" tIns="0" bIns="0" anchor="t"/>
          <a:lstStyle/>
          <a:p>
            <a:pPr algn="l">
              <a:lnSpc>
                <a:spcPct val="110000"/>
              </a:lnSpc>
              <a:spcAft>
                <a:spcPts val="400"/>
              </a:spcAft>
              <a:buNone/>
            </a:pPr>
            <a:r>
              <a:rPr sz="1500" b="0" i="0">
                <a:solidFill>
                  <a:srgbClr val="0E1F53"/>
                </a:solidFill>
                <a:latin typeface="Roboto"/>
              </a:rPr>
              <a:t>Eigene KI-Agenten mit Systemprompts aufsetzen, Skills nutzen und wiederkehrende Aufgaben automatisieren.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Ablauf des Tages</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ABLAUF</a:t>
            </a:r>
          </a:p>
        </p:txBody>
      </p:sp>
      <p:cxnSp>
        <p:nvCxnSpPr>
          <p:cNvPr id="4" name="Connector 3"/>
          <p:cNvCxnSpPr/>
          <p:nvPr/>
        </p:nvCxnSpPr>
        <p:spPr>
          <a:xfrm>
            <a:off x="932688" y="3611880"/>
            <a:ext cx="10323576" cy="0"/>
          </a:xfrm>
          <a:prstGeom prst="line">
            <a:avLst/>
          </a:prstGeom>
          <a:ln w="25400">
            <a:solidFill>
              <a:srgbClr val="0E1F5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13816"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404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09:00</a:t>
            </a:r>
          </a:p>
        </p:txBody>
      </p:sp>
      <p:sp>
        <p:nvSpPr>
          <p:cNvPr id="7" name="TextBox 6"/>
          <p:cNvSpPr txBox="1"/>
          <p:nvPr/>
        </p:nvSpPr>
        <p:spPr>
          <a:xfrm>
            <a:off x="365760"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Begrüßung &amp; Innovation für KMU</a:t>
            </a:r>
          </a:p>
        </p:txBody>
      </p:sp>
      <p:sp>
        <p:nvSpPr>
          <p:cNvPr id="8" name="Oval 7"/>
          <p:cNvSpPr/>
          <p:nvPr/>
        </p:nvSpPr>
        <p:spPr>
          <a:xfrm>
            <a:off x="1846173"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416405"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09:45</a:t>
            </a:r>
          </a:p>
        </p:txBody>
      </p:sp>
      <p:sp>
        <p:nvSpPr>
          <p:cNvPr id="10" name="TextBox 9"/>
          <p:cNvSpPr txBox="1"/>
          <p:nvPr/>
        </p:nvSpPr>
        <p:spPr>
          <a:xfrm>
            <a:off x="1398117" y="4206240"/>
            <a:ext cx="1133856" cy="777240"/>
          </a:xfrm>
          <a:prstGeom prst="rect">
            <a:avLst/>
          </a:prstGeom>
          <a:noFill/>
        </p:spPr>
        <p:txBody>
          <a:bodyPr wrap="square" lIns="0" rIns="0" tIns="0" bIns="0" anchor="t"/>
          <a:lstStyle/>
          <a:p>
            <a:pPr algn="ctr">
              <a:spcAft>
                <a:spcPts val="400"/>
              </a:spcAft>
              <a:buNone/>
            </a:pPr>
            <a:r>
              <a:rPr sz="1200" b="0" i="0">
                <a:solidFill>
                  <a:srgbClr val="0E1F53"/>
                </a:solidFill>
                <a:latin typeface="Roboto"/>
              </a:rPr>
              <a:t>Design Thinking im Überblick</a:t>
            </a:r>
          </a:p>
        </p:txBody>
      </p:sp>
      <p:sp>
        <p:nvSpPr>
          <p:cNvPr id="11" name="Oval 10"/>
          <p:cNvSpPr/>
          <p:nvPr/>
        </p:nvSpPr>
        <p:spPr>
          <a:xfrm>
            <a:off x="2878531"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48763"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10:30</a:t>
            </a:r>
          </a:p>
        </p:txBody>
      </p:sp>
      <p:sp>
        <p:nvSpPr>
          <p:cNvPr id="13" name="TextBox 12"/>
          <p:cNvSpPr txBox="1"/>
          <p:nvPr/>
        </p:nvSpPr>
        <p:spPr>
          <a:xfrm>
            <a:off x="2430475"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Pause</a:t>
            </a:r>
          </a:p>
        </p:txBody>
      </p:sp>
      <p:sp>
        <p:nvSpPr>
          <p:cNvPr id="14" name="Oval 13"/>
          <p:cNvSpPr/>
          <p:nvPr/>
        </p:nvSpPr>
        <p:spPr>
          <a:xfrm>
            <a:off x="3910888"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481120"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10:45</a:t>
            </a:r>
          </a:p>
        </p:txBody>
      </p:sp>
      <p:sp>
        <p:nvSpPr>
          <p:cNvPr id="16" name="TextBox 15"/>
          <p:cNvSpPr txBox="1"/>
          <p:nvPr/>
        </p:nvSpPr>
        <p:spPr>
          <a:xfrm>
            <a:off x="3462832" y="4206240"/>
            <a:ext cx="1133856" cy="777240"/>
          </a:xfrm>
          <a:prstGeom prst="rect">
            <a:avLst/>
          </a:prstGeom>
          <a:noFill/>
        </p:spPr>
        <p:txBody>
          <a:bodyPr wrap="square" lIns="0" rIns="0" tIns="0" bIns="0" anchor="t"/>
          <a:lstStyle/>
          <a:p>
            <a:pPr algn="ctr">
              <a:spcAft>
                <a:spcPts val="400"/>
              </a:spcAft>
              <a:buNone/>
            </a:pPr>
            <a:r>
              <a:rPr sz="1200" b="0" i="0">
                <a:solidFill>
                  <a:srgbClr val="0E1F53"/>
                </a:solidFill>
                <a:latin typeface="Roboto"/>
              </a:rPr>
              <a:t>KI-Werkzeugkasten</a:t>
            </a:r>
          </a:p>
        </p:txBody>
      </p:sp>
      <p:sp>
        <p:nvSpPr>
          <p:cNvPr id="17" name="Oval 16"/>
          <p:cNvSpPr/>
          <p:nvPr/>
        </p:nvSpPr>
        <p:spPr>
          <a:xfrm>
            <a:off x="4943246"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1347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11:30</a:t>
            </a:r>
          </a:p>
        </p:txBody>
      </p:sp>
      <p:sp>
        <p:nvSpPr>
          <p:cNvPr id="19" name="TextBox 18"/>
          <p:cNvSpPr txBox="1"/>
          <p:nvPr/>
        </p:nvSpPr>
        <p:spPr>
          <a:xfrm>
            <a:off x="4495190"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Praxisfall HSRW · Phase 1–2</a:t>
            </a:r>
          </a:p>
        </p:txBody>
      </p:sp>
      <p:sp>
        <p:nvSpPr>
          <p:cNvPr id="20" name="Oval 19"/>
          <p:cNvSpPr/>
          <p:nvPr/>
        </p:nvSpPr>
        <p:spPr>
          <a:xfrm>
            <a:off x="5975603"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545836"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12:30</a:t>
            </a:r>
          </a:p>
        </p:txBody>
      </p:sp>
      <p:sp>
        <p:nvSpPr>
          <p:cNvPr id="22" name="TextBox 21"/>
          <p:cNvSpPr txBox="1"/>
          <p:nvPr/>
        </p:nvSpPr>
        <p:spPr>
          <a:xfrm>
            <a:off x="5527547" y="4206240"/>
            <a:ext cx="1133856" cy="777240"/>
          </a:xfrm>
          <a:prstGeom prst="rect">
            <a:avLst/>
          </a:prstGeom>
          <a:noFill/>
        </p:spPr>
        <p:txBody>
          <a:bodyPr wrap="square" lIns="0" rIns="0" tIns="0" bIns="0" anchor="t"/>
          <a:lstStyle/>
          <a:p>
            <a:pPr algn="ctr">
              <a:spcAft>
                <a:spcPts val="400"/>
              </a:spcAft>
              <a:buNone/>
            </a:pPr>
            <a:r>
              <a:rPr sz="1200" b="0" i="0">
                <a:solidFill>
                  <a:srgbClr val="0E1F53"/>
                </a:solidFill>
                <a:latin typeface="Roboto"/>
              </a:rPr>
              <a:t>Mittagspause</a:t>
            </a:r>
          </a:p>
        </p:txBody>
      </p:sp>
      <p:sp>
        <p:nvSpPr>
          <p:cNvPr id="23" name="Oval 22"/>
          <p:cNvSpPr/>
          <p:nvPr/>
        </p:nvSpPr>
        <p:spPr>
          <a:xfrm>
            <a:off x="7007961"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78193"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13:15</a:t>
            </a:r>
          </a:p>
        </p:txBody>
      </p:sp>
      <p:sp>
        <p:nvSpPr>
          <p:cNvPr id="25" name="TextBox 24"/>
          <p:cNvSpPr txBox="1"/>
          <p:nvPr/>
        </p:nvSpPr>
        <p:spPr>
          <a:xfrm>
            <a:off x="6559905"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Phase 3–4 mit Übungen</a:t>
            </a:r>
          </a:p>
        </p:txBody>
      </p:sp>
      <p:sp>
        <p:nvSpPr>
          <p:cNvPr id="26" name="Oval 25"/>
          <p:cNvSpPr/>
          <p:nvPr/>
        </p:nvSpPr>
        <p:spPr>
          <a:xfrm>
            <a:off x="8040319"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10551"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14:30</a:t>
            </a:r>
          </a:p>
        </p:txBody>
      </p:sp>
      <p:sp>
        <p:nvSpPr>
          <p:cNvPr id="28" name="TextBox 27"/>
          <p:cNvSpPr txBox="1"/>
          <p:nvPr/>
        </p:nvSpPr>
        <p:spPr>
          <a:xfrm>
            <a:off x="7592263" y="4206240"/>
            <a:ext cx="1133856" cy="777240"/>
          </a:xfrm>
          <a:prstGeom prst="rect">
            <a:avLst/>
          </a:prstGeom>
          <a:noFill/>
        </p:spPr>
        <p:txBody>
          <a:bodyPr wrap="square" lIns="0" rIns="0" tIns="0" bIns="0" anchor="t"/>
          <a:lstStyle/>
          <a:p>
            <a:pPr algn="ctr">
              <a:spcAft>
                <a:spcPts val="400"/>
              </a:spcAft>
              <a:buNone/>
            </a:pPr>
            <a:r>
              <a:rPr sz="1200" b="0" i="0">
                <a:solidFill>
                  <a:srgbClr val="0E1F53"/>
                </a:solidFill>
                <a:latin typeface="Roboto"/>
              </a:rPr>
              <a:t>Pause</a:t>
            </a:r>
          </a:p>
        </p:txBody>
      </p:sp>
      <p:sp>
        <p:nvSpPr>
          <p:cNvPr id="29" name="Oval 28"/>
          <p:cNvSpPr/>
          <p:nvPr/>
        </p:nvSpPr>
        <p:spPr>
          <a:xfrm>
            <a:off x="9072676"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4290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14:45</a:t>
            </a:r>
          </a:p>
        </p:txBody>
      </p:sp>
      <p:sp>
        <p:nvSpPr>
          <p:cNvPr id="31" name="TextBox 30"/>
          <p:cNvSpPr txBox="1"/>
          <p:nvPr/>
        </p:nvSpPr>
        <p:spPr>
          <a:xfrm>
            <a:off x="8624620"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Phase 5–6 mit Übungen</a:t>
            </a:r>
          </a:p>
        </p:txBody>
      </p:sp>
      <p:sp>
        <p:nvSpPr>
          <p:cNvPr id="32" name="Oval 31"/>
          <p:cNvSpPr/>
          <p:nvPr/>
        </p:nvSpPr>
        <p:spPr>
          <a:xfrm>
            <a:off x="10105034"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75266"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15:45</a:t>
            </a:r>
          </a:p>
        </p:txBody>
      </p:sp>
      <p:sp>
        <p:nvSpPr>
          <p:cNvPr id="34" name="TextBox 33"/>
          <p:cNvSpPr txBox="1"/>
          <p:nvPr/>
        </p:nvSpPr>
        <p:spPr>
          <a:xfrm>
            <a:off x="9656978" y="4206240"/>
            <a:ext cx="1133856" cy="777240"/>
          </a:xfrm>
          <a:prstGeom prst="rect">
            <a:avLst/>
          </a:prstGeom>
          <a:noFill/>
        </p:spPr>
        <p:txBody>
          <a:bodyPr wrap="square" lIns="0" rIns="0" tIns="0" bIns="0" anchor="t"/>
          <a:lstStyle/>
          <a:p>
            <a:pPr algn="ctr">
              <a:spcAft>
                <a:spcPts val="400"/>
              </a:spcAft>
              <a:buNone/>
            </a:pPr>
            <a:r>
              <a:rPr sz="1200" b="0" i="0">
                <a:solidFill>
                  <a:srgbClr val="0E1F53"/>
                </a:solidFill>
                <a:latin typeface="Roboto"/>
              </a:rPr>
              <a:t>Dauerbetrieb &amp; Transfer</a:t>
            </a:r>
          </a:p>
        </p:txBody>
      </p:sp>
      <p:sp>
        <p:nvSpPr>
          <p:cNvPr id="35" name="Oval 34"/>
          <p:cNvSpPr/>
          <p:nvPr/>
        </p:nvSpPr>
        <p:spPr>
          <a:xfrm>
            <a:off x="11137391"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707624"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16:30</a:t>
            </a:r>
          </a:p>
        </p:txBody>
      </p:sp>
      <p:sp>
        <p:nvSpPr>
          <p:cNvPr id="37" name="TextBox 36"/>
          <p:cNvSpPr txBox="1"/>
          <p:nvPr/>
        </p:nvSpPr>
        <p:spPr>
          <a:xfrm>
            <a:off x="10689336" y="2240280"/>
            <a:ext cx="1133856" cy="777240"/>
          </a:xfrm>
          <a:prstGeom prst="rect">
            <a:avLst/>
          </a:prstGeom>
          <a:noFill/>
        </p:spPr>
        <p:txBody>
          <a:bodyPr wrap="square" lIns="0" rIns="0" tIns="0" bIns="0" anchor="b"/>
          <a:lstStyle/>
          <a:p>
            <a:pPr algn="ctr">
              <a:spcAft>
                <a:spcPts val="400"/>
              </a:spcAft>
              <a:buNone/>
            </a:pPr>
            <a:r>
              <a:rPr sz="1200" b="0" i="0">
                <a:solidFill>
                  <a:srgbClr val="0E1F53"/>
                </a:solidFill>
                <a:latin typeface="Roboto"/>
              </a:rPr>
              <a:t>Abschluss</a:t>
            </a:r>
          </a:p>
        </p:txBody>
      </p:sp>
      <p:sp>
        <p:nvSpPr>
          <p:cNvPr id="38" name="Rounded Rectangle 37"/>
          <p:cNvSpPr/>
          <p:nvPr/>
        </p:nvSpPr>
        <p:spPr>
          <a:xfrm>
            <a:off x="841248" y="5303520"/>
            <a:ext cx="10506456" cy="685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115568" y="5303520"/>
            <a:ext cx="9957816" cy="685800"/>
          </a:xfrm>
          <a:prstGeom prst="rect">
            <a:avLst/>
          </a:prstGeom>
          <a:noFill/>
        </p:spPr>
        <p:txBody>
          <a:bodyPr wrap="square" lIns="0" rIns="0" tIns="0" bIns="0" anchor="ctr"/>
          <a:lstStyle/>
          <a:p>
            <a:pPr algn="l">
              <a:spcAft>
                <a:spcPts val="400"/>
              </a:spcAft>
              <a:buNone/>
            </a:pPr>
            <a:r>
              <a:rPr sz="1400" b="1" i="0">
                <a:solidFill>
                  <a:srgbClr val="0E1F53"/>
                </a:solidFill>
                <a:latin typeface="Roboto"/>
              </a:rPr>
              <a:t>Arbeitsweise: </a:t>
            </a:r>
            <a:r>
              <a:rPr sz="1400" b="0" i="0">
                <a:solidFill>
                  <a:srgbClr val="0E1F53"/>
                </a:solidFill>
                <a:latin typeface="Roboto"/>
              </a:rPr>
              <a:t>Jede Phase folgt demselben Muster: Input → Leitfragen → KI-Werkzeuge → Systemprompt → Skill &amp; Automatisierung → HSRW-Beispiel → Ihre Übung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1 · Innovation</a:t>
            </a:r>
          </a:p>
        </p:txBody>
      </p:sp>
      <p:sp>
        <p:nvSpPr>
          <p:cNvPr id="3" name="Text Placeholder 2"/>
          <p:cNvSpPr>
            <a:spLocks noGrp="1"/>
          </p:cNvSpPr>
          <p:nvPr>
            <p:ph type="body" idx="11" sz="quarter"/>
          </p:nvPr>
        </p:nvSpPr>
        <p:spPr/>
        <p:txBody>
          <a:bodyPr/>
          <a:lstStyle/>
          <a:p>
            <a:r>
              <a:rPr b="0" sz="2000"/>
              <a:t>Warum Innovation für KMU über die Zukunft entscheidet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 Idee × Umsetzung × Nutzen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92024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Lightbulb_w.png"/>
          <p:cNvPicPr>
            <a:picLocks noChangeAspect="1"/>
          </p:cNvPicPr>
          <p:nvPr/>
        </p:nvPicPr>
        <p:blipFill>
          <a:blip r:embed="rId3"/>
          <a:stretch>
            <a:fillRect/>
          </a:stretch>
        </p:blipFill>
        <p:spPr>
          <a:xfrm>
            <a:off x="2104583" y="2516063"/>
            <a:ext cx="399409" cy="399409"/>
          </a:xfrm>
          <a:prstGeom prst="rect">
            <a:avLst/>
          </a:prstGeom>
        </p:spPr>
      </p:pic>
      <p:sp>
        <p:nvSpPr>
          <p:cNvPr id="7" name="TextBox 6"/>
          <p:cNvSpPr txBox="1"/>
          <p:nvPr/>
        </p:nvSpPr>
        <p:spPr>
          <a:xfrm>
            <a:off x="102412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Idee</a:t>
            </a:r>
          </a:p>
        </p:txBody>
      </p:sp>
      <p:sp>
        <p:nvSpPr>
          <p:cNvPr id="8" name="TextBox 7"/>
          <p:cNvSpPr txBox="1"/>
          <p:nvPr/>
        </p:nvSpPr>
        <p:spPr>
          <a:xfrm>
            <a:off x="106984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Etwas Neues oder deutlich Verbessertes: Produkt, Service, Prozess oder Geschäftsmodell</a:t>
            </a:r>
          </a:p>
        </p:txBody>
      </p:sp>
      <p:sp>
        <p:nvSpPr>
          <p:cNvPr id="9" name="TextBox 8"/>
          <p:cNvSpPr txBox="1"/>
          <p:nvPr/>
        </p:nvSpPr>
        <p:spPr>
          <a:xfrm>
            <a:off x="3767328" y="3017520"/>
            <a:ext cx="868680" cy="640080"/>
          </a:xfrm>
          <a:prstGeom prst="rect">
            <a:avLst/>
          </a:prstGeom>
          <a:noFill/>
        </p:spPr>
        <p:txBody>
          <a:bodyPr wrap="square" lIns="0" rIns="0" tIns="0" bIns="0" anchor="ctr"/>
          <a:lstStyle/>
          <a:p>
            <a:pPr algn="ctr">
              <a:spcAft>
                <a:spcPts val="400"/>
              </a:spcAft>
              <a:buNone/>
            </a:pPr>
            <a:r>
              <a:rPr sz="4000" b="1" i="0">
                <a:solidFill>
                  <a:srgbClr val="FB2762"/>
                </a:solidFill>
                <a:latin typeface="Roboto"/>
              </a:rPr>
              <a:t>×</a:t>
            </a:r>
          </a:p>
        </p:txBody>
      </p:sp>
      <p:sp>
        <p:nvSpPr>
          <p:cNvPr id="10" name="Rounded Rectangle 9"/>
          <p:cNvSpPr/>
          <p:nvPr/>
        </p:nvSpPr>
        <p:spPr>
          <a:xfrm>
            <a:off x="463600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71500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Settings_w.png"/>
          <p:cNvPicPr>
            <a:picLocks noChangeAspect="1"/>
          </p:cNvPicPr>
          <p:nvPr/>
        </p:nvPicPr>
        <p:blipFill>
          <a:blip r:embed="rId4"/>
          <a:stretch>
            <a:fillRect/>
          </a:stretch>
        </p:blipFill>
        <p:spPr>
          <a:xfrm>
            <a:off x="5899343" y="2516063"/>
            <a:ext cx="399409" cy="399409"/>
          </a:xfrm>
          <a:prstGeom prst="rect">
            <a:avLst/>
          </a:prstGeom>
        </p:spPr>
      </p:pic>
      <p:sp>
        <p:nvSpPr>
          <p:cNvPr id="13" name="TextBox 12"/>
          <p:cNvSpPr txBox="1"/>
          <p:nvPr/>
        </p:nvSpPr>
        <p:spPr>
          <a:xfrm>
            <a:off x="481888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Umsetzung</a:t>
            </a:r>
          </a:p>
        </p:txBody>
      </p:sp>
      <p:sp>
        <p:nvSpPr>
          <p:cNvPr id="14" name="TextBox 13"/>
          <p:cNvSpPr txBox="1"/>
          <p:nvPr/>
        </p:nvSpPr>
        <p:spPr>
          <a:xfrm>
            <a:off x="486460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Die Idee wird eingeführt: am Markt oder im eigenen Betrieb</a:t>
            </a:r>
          </a:p>
        </p:txBody>
      </p:sp>
      <p:sp>
        <p:nvSpPr>
          <p:cNvPr id="15" name="TextBox 14"/>
          <p:cNvSpPr txBox="1"/>
          <p:nvPr/>
        </p:nvSpPr>
        <p:spPr>
          <a:xfrm>
            <a:off x="7562088" y="3017520"/>
            <a:ext cx="868680" cy="640080"/>
          </a:xfrm>
          <a:prstGeom prst="rect">
            <a:avLst/>
          </a:prstGeom>
          <a:noFill/>
        </p:spPr>
        <p:txBody>
          <a:bodyPr wrap="square" lIns="0" rIns="0" tIns="0" bIns="0" anchor="ctr"/>
          <a:lstStyle/>
          <a:p>
            <a:pPr algn="ctr">
              <a:spcAft>
                <a:spcPts val="400"/>
              </a:spcAft>
              <a:buNone/>
            </a:pPr>
            <a:r>
              <a:rPr sz="4000" b="1" i="0">
                <a:solidFill>
                  <a:srgbClr val="FB2762"/>
                </a:solidFill>
                <a:latin typeface="Roboto"/>
              </a:rPr>
              <a:t>×</a:t>
            </a:r>
          </a:p>
        </p:txBody>
      </p:sp>
      <p:sp>
        <p:nvSpPr>
          <p:cNvPr id="16" name="Rounded Rectangle 15"/>
          <p:cNvSpPr/>
          <p:nvPr/>
        </p:nvSpPr>
        <p:spPr>
          <a:xfrm>
            <a:off x="843076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50976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TrendingUp_w.png"/>
          <p:cNvPicPr>
            <a:picLocks noChangeAspect="1"/>
          </p:cNvPicPr>
          <p:nvPr/>
        </p:nvPicPr>
        <p:blipFill>
          <a:blip r:embed="rId5"/>
          <a:stretch>
            <a:fillRect/>
          </a:stretch>
        </p:blipFill>
        <p:spPr>
          <a:xfrm>
            <a:off x="9694103" y="2516063"/>
            <a:ext cx="399409" cy="399409"/>
          </a:xfrm>
          <a:prstGeom prst="rect">
            <a:avLst/>
          </a:prstGeom>
        </p:spPr>
      </p:pic>
      <p:sp>
        <p:nvSpPr>
          <p:cNvPr id="19" name="TextBox 18"/>
          <p:cNvSpPr txBox="1"/>
          <p:nvPr/>
        </p:nvSpPr>
        <p:spPr>
          <a:xfrm>
            <a:off x="861364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Nutzen</a:t>
            </a:r>
          </a:p>
        </p:txBody>
      </p:sp>
      <p:sp>
        <p:nvSpPr>
          <p:cNvPr id="20" name="TextBox 19"/>
          <p:cNvSpPr txBox="1"/>
          <p:nvPr/>
        </p:nvSpPr>
        <p:spPr>
          <a:xfrm>
            <a:off x="865936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Kundschaft oder Unternehmen haben einen spürbaren Mehrwert</a:t>
            </a:r>
          </a:p>
        </p:txBody>
      </p:sp>
      <p:sp>
        <p:nvSpPr>
          <p:cNvPr id="21" name="Rounded Rectangle 20"/>
          <p:cNvSpPr/>
          <p:nvPr/>
        </p:nvSpPr>
        <p:spPr>
          <a:xfrm>
            <a:off x="841248" y="4937760"/>
            <a:ext cx="10506456" cy="100584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61288" y="4937760"/>
            <a:ext cx="9866376" cy="1005840"/>
          </a:xfrm>
          <a:prstGeom prst="rect">
            <a:avLst/>
          </a:prstGeom>
          <a:noFill/>
        </p:spPr>
        <p:txBody>
          <a:bodyPr wrap="square" lIns="0" rIns="0" tIns="0" bIns="0" anchor="ctr"/>
          <a:lstStyle/>
          <a:p>
            <a:pPr algn="l">
              <a:spcAft>
                <a:spcPts val="400"/>
              </a:spcAft>
              <a:buNone/>
            </a:pPr>
            <a:r>
              <a:rPr sz="1500" b="1" i="0">
                <a:solidFill>
                  <a:srgbClr val="9FD0FF"/>
                </a:solidFill>
                <a:latin typeface="Roboto"/>
              </a:rPr>
              <a:t>Merksatz: </a:t>
            </a:r>
            <a:r>
              <a:rPr sz="1500" b="0" i="0">
                <a:solidFill>
                  <a:srgbClr val="FFFFFF"/>
                </a:solidFill>
                <a:latin typeface="Roboto"/>
              </a:rPr>
              <a:t>Ist einer der drei Faktoren null, ist das Ergebnis null. Eine geniale Idee ohne Umsetzung ist keine Innovation, eine perfekte Umsetzung ohne Nutzen auch nicht.</a:t>
            </a:r>
          </a:p>
        </p:txBody>
      </p:sp>
      <p:sp>
        <p:nvSpPr>
          <p:cNvPr id="23" name="TextBox 22"/>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Definition angelehnt an OECD/Eurostat (2018): Oslo Manual, 4. Auflage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hat viele Gesichter</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057400"/>
            <a:ext cx="2420874"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8600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Boxes_w.png"/>
          <p:cNvPicPr>
            <a:picLocks noChangeAspect="1"/>
          </p:cNvPicPr>
          <p:nvPr/>
        </p:nvPicPr>
        <p:blipFill>
          <a:blip r:embed="rId3"/>
          <a:stretch>
            <a:fillRect/>
          </a:stretch>
        </p:blipFill>
        <p:spPr>
          <a:xfrm>
            <a:off x="1223467" y="2439619"/>
            <a:ext cx="332841" cy="332841"/>
          </a:xfrm>
          <a:prstGeom prst="rect">
            <a:avLst/>
          </a:prstGeom>
        </p:spPr>
      </p:pic>
      <p:sp>
        <p:nvSpPr>
          <p:cNvPr id="7" name="TextBox 6"/>
          <p:cNvSpPr txBox="1"/>
          <p:nvPr/>
        </p:nvSpPr>
        <p:spPr>
          <a:xfrm>
            <a:off x="1069848" y="3063240"/>
            <a:ext cx="1963674" cy="384048"/>
          </a:xfrm>
          <a:prstGeom prst="rect">
            <a:avLst/>
          </a:prstGeom>
          <a:noFill/>
        </p:spPr>
        <p:txBody>
          <a:bodyPr wrap="square" lIns="0" rIns="0" tIns="0" bIns="0" anchor="t"/>
          <a:lstStyle/>
          <a:p>
            <a:pPr algn="l">
              <a:spcAft>
                <a:spcPts val="400"/>
              </a:spcAft>
              <a:buNone/>
            </a:pPr>
            <a:r>
              <a:rPr sz="1800" b="1" i="0">
                <a:solidFill>
                  <a:srgbClr val="0E1F53"/>
                </a:solidFill>
                <a:latin typeface="Roboto"/>
              </a:rPr>
              <a:t>Produkt</a:t>
            </a:r>
          </a:p>
        </p:txBody>
      </p:sp>
      <p:sp>
        <p:nvSpPr>
          <p:cNvPr id="8" name="TextBox 7"/>
          <p:cNvSpPr txBox="1"/>
          <p:nvPr/>
        </p:nvSpPr>
        <p:spPr>
          <a:xfrm>
            <a:off x="1069848" y="3456432"/>
            <a:ext cx="196367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Neues Angebot oder neue Funktion</a:t>
            </a:r>
          </a:p>
        </p:txBody>
      </p:sp>
      <p:sp>
        <p:nvSpPr>
          <p:cNvPr id="9" name="TextBox 8"/>
          <p:cNvSpPr txBox="1"/>
          <p:nvPr/>
        </p:nvSpPr>
        <p:spPr>
          <a:xfrm>
            <a:off x="1069848" y="4069080"/>
            <a:ext cx="1963674" cy="685800"/>
          </a:xfrm>
          <a:prstGeom prst="rect">
            <a:avLst/>
          </a:prstGeom>
          <a:noFill/>
        </p:spPr>
        <p:txBody>
          <a:bodyPr wrap="square" lIns="0" rIns="0" tIns="0" bIns="0" anchor="t"/>
          <a:lstStyle/>
          <a:p>
            <a:pPr algn="l">
              <a:spcAft>
                <a:spcPts val="400"/>
              </a:spcAft>
              <a:buNone/>
            </a:pPr>
            <a:r>
              <a:rPr sz="1200" b="0" i="1">
                <a:solidFill>
                  <a:srgbClr val="5A6684"/>
                </a:solidFill>
                <a:latin typeface="Roboto"/>
              </a:rPr>
              <a:t>z. B. Ein Malerbetrieb bietet Fassaden-Begrünung an</a:t>
            </a:r>
          </a:p>
        </p:txBody>
      </p:sp>
      <p:sp>
        <p:nvSpPr>
          <p:cNvPr id="10" name="Rounded Rectangle 9"/>
          <p:cNvSpPr/>
          <p:nvPr/>
        </p:nvSpPr>
        <p:spPr>
          <a:xfrm>
            <a:off x="3536441" y="2057400"/>
            <a:ext cx="2420874"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765041" y="228600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Workflow_w.png"/>
          <p:cNvPicPr>
            <a:picLocks noChangeAspect="1"/>
          </p:cNvPicPr>
          <p:nvPr/>
        </p:nvPicPr>
        <p:blipFill>
          <a:blip r:embed="rId4"/>
          <a:stretch>
            <a:fillRect/>
          </a:stretch>
        </p:blipFill>
        <p:spPr>
          <a:xfrm>
            <a:off x="3918661" y="2439619"/>
            <a:ext cx="332841" cy="332841"/>
          </a:xfrm>
          <a:prstGeom prst="rect">
            <a:avLst/>
          </a:prstGeom>
        </p:spPr>
      </p:pic>
      <p:sp>
        <p:nvSpPr>
          <p:cNvPr id="13" name="TextBox 12"/>
          <p:cNvSpPr txBox="1"/>
          <p:nvPr/>
        </p:nvSpPr>
        <p:spPr>
          <a:xfrm>
            <a:off x="3765041" y="3063240"/>
            <a:ext cx="1963674" cy="384048"/>
          </a:xfrm>
          <a:prstGeom prst="rect">
            <a:avLst/>
          </a:prstGeom>
          <a:noFill/>
        </p:spPr>
        <p:txBody>
          <a:bodyPr wrap="square" lIns="0" rIns="0" tIns="0" bIns="0" anchor="t"/>
          <a:lstStyle/>
          <a:p>
            <a:pPr algn="l">
              <a:spcAft>
                <a:spcPts val="400"/>
              </a:spcAft>
              <a:buNone/>
            </a:pPr>
            <a:r>
              <a:rPr sz="1800" b="1" i="0">
                <a:solidFill>
                  <a:srgbClr val="0E1F53"/>
                </a:solidFill>
                <a:latin typeface="Roboto"/>
              </a:rPr>
              <a:t>Prozess</a:t>
            </a:r>
          </a:p>
        </p:txBody>
      </p:sp>
      <p:sp>
        <p:nvSpPr>
          <p:cNvPr id="14" name="TextBox 13"/>
          <p:cNvSpPr txBox="1"/>
          <p:nvPr/>
        </p:nvSpPr>
        <p:spPr>
          <a:xfrm>
            <a:off x="3765041" y="3456432"/>
            <a:ext cx="196367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Schneller, günstiger, besser arbeiten</a:t>
            </a:r>
          </a:p>
        </p:txBody>
      </p:sp>
      <p:sp>
        <p:nvSpPr>
          <p:cNvPr id="15" name="TextBox 14"/>
          <p:cNvSpPr txBox="1"/>
          <p:nvPr/>
        </p:nvSpPr>
        <p:spPr>
          <a:xfrm>
            <a:off x="3765041" y="4069080"/>
            <a:ext cx="1963674" cy="685800"/>
          </a:xfrm>
          <a:prstGeom prst="rect">
            <a:avLst/>
          </a:prstGeom>
          <a:noFill/>
        </p:spPr>
        <p:txBody>
          <a:bodyPr wrap="square" lIns="0" rIns="0" tIns="0" bIns="0" anchor="t"/>
          <a:lstStyle/>
          <a:p>
            <a:pPr algn="l">
              <a:spcAft>
                <a:spcPts val="400"/>
              </a:spcAft>
              <a:buNone/>
            </a:pPr>
            <a:r>
              <a:rPr sz="1200" b="0" i="1">
                <a:solidFill>
                  <a:srgbClr val="5A6684"/>
                </a:solidFill>
                <a:latin typeface="Roboto"/>
              </a:rPr>
              <a:t>z. B. KI erstellt Angebote aus Aufmaß-Fotos</a:t>
            </a:r>
          </a:p>
        </p:txBody>
      </p:sp>
      <p:sp>
        <p:nvSpPr>
          <p:cNvPr id="16" name="Rounded Rectangle 15"/>
          <p:cNvSpPr/>
          <p:nvPr/>
        </p:nvSpPr>
        <p:spPr>
          <a:xfrm>
            <a:off x="6231636" y="2057400"/>
            <a:ext cx="2420874"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60236" y="228600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Handshake_w.png"/>
          <p:cNvPicPr>
            <a:picLocks noChangeAspect="1"/>
          </p:cNvPicPr>
          <p:nvPr/>
        </p:nvPicPr>
        <p:blipFill>
          <a:blip r:embed="rId5"/>
          <a:stretch>
            <a:fillRect/>
          </a:stretch>
        </p:blipFill>
        <p:spPr>
          <a:xfrm>
            <a:off x="6613855" y="2439619"/>
            <a:ext cx="332841" cy="332841"/>
          </a:xfrm>
          <a:prstGeom prst="rect">
            <a:avLst/>
          </a:prstGeom>
        </p:spPr>
      </p:pic>
      <p:sp>
        <p:nvSpPr>
          <p:cNvPr id="19" name="TextBox 18"/>
          <p:cNvSpPr txBox="1"/>
          <p:nvPr/>
        </p:nvSpPr>
        <p:spPr>
          <a:xfrm>
            <a:off x="6460236" y="3063240"/>
            <a:ext cx="1963674" cy="384048"/>
          </a:xfrm>
          <a:prstGeom prst="rect">
            <a:avLst/>
          </a:prstGeom>
          <a:noFill/>
        </p:spPr>
        <p:txBody>
          <a:bodyPr wrap="square" lIns="0" rIns="0" tIns="0" bIns="0" anchor="t"/>
          <a:lstStyle/>
          <a:p>
            <a:pPr algn="l">
              <a:spcAft>
                <a:spcPts val="400"/>
              </a:spcAft>
              <a:buNone/>
            </a:pPr>
            <a:r>
              <a:rPr sz="1800" b="1" i="0">
                <a:solidFill>
                  <a:srgbClr val="0E1F53"/>
                </a:solidFill>
                <a:latin typeface="Roboto"/>
              </a:rPr>
              <a:t>Service</a:t>
            </a:r>
          </a:p>
        </p:txBody>
      </p:sp>
      <p:sp>
        <p:nvSpPr>
          <p:cNvPr id="20" name="TextBox 19"/>
          <p:cNvSpPr txBox="1"/>
          <p:nvPr/>
        </p:nvSpPr>
        <p:spPr>
          <a:xfrm>
            <a:off x="6460236" y="3456432"/>
            <a:ext cx="196367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Neues Kundenerlebnis</a:t>
            </a:r>
          </a:p>
        </p:txBody>
      </p:sp>
      <p:sp>
        <p:nvSpPr>
          <p:cNvPr id="21" name="TextBox 20"/>
          <p:cNvSpPr txBox="1"/>
          <p:nvPr/>
        </p:nvSpPr>
        <p:spPr>
          <a:xfrm>
            <a:off x="6460236" y="4069080"/>
            <a:ext cx="1963674" cy="685800"/>
          </a:xfrm>
          <a:prstGeom prst="rect">
            <a:avLst/>
          </a:prstGeom>
          <a:noFill/>
        </p:spPr>
        <p:txBody>
          <a:bodyPr wrap="square" lIns="0" rIns="0" tIns="0" bIns="0" anchor="t"/>
          <a:lstStyle/>
          <a:p>
            <a:pPr algn="l">
              <a:spcAft>
                <a:spcPts val="400"/>
              </a:spcAft>
              <a:buNone/>
            </a:pPr>
            <a:r>
              <a:rPr sz="1200" b="0" i="1">
                <a:solidFill>
                  <a:srgbClr val="5A6684"/>
                </a:solidFill>
                <a:latin typeface="Roboto"/>
              </a:rPr>
              <a:t>z. B. Online-Terminbuchung mit Erinnerung per WhatsApp</a:t>
            </a:r>
          </a:p>
        </p:txBody>
      </p:sp>
      <p:sp>
        <p:nvSpPr>
          <p:cNvPr id="22" name="Rounded Rectangle 21"/>
          <p:cNvSpPr/>
          <p:nvPr/>
        </p:nvSpPr>
        <p:spPr>
          <a:xfrm>
            <a:off x="8926830" y="2057400"/>
            <a:ext cx="2420874"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155430" y="228600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Network_w.png"/>
          <p:cNvPicPr>
            <a:picLocks noChangeAspect="1"/>
          </p:cNvPicPr>
          <p:nvPr/>
        </p:nvPicPr>
        <p:blipFill>
          <a:blip r:embed="rId6"/>
          <a:stretch>
            <a:fillRect/>
          </a:stretch>
        </p:blipFill>
        <p:spPr>
          <a:xfrm>
            <a:off x="9309049" y="2439619"/>
            <a:ext cx="332841" cy="332841"/>
          </a:xfrm>
          <a:prstGeom prst="rect">
            <a:avLst/>
          </a:prstGeom>
        </p:spPr>
      </p:pic>
      <p:sp>
        <p:nvSpPr>
          <p:cNvPr id="25" name="TextBox 24"/>
          <p:cNvSpPr txBox="1"/>
          <p:nvPr/>
        </p:nvSpPr>
        <p:spPr>
          <a:xfrm>
            <a:off x="9155430" y="3063240"/>
            <a:ext cx="1963674" cy="384048"/>
          </a:xfrm>
          <a:prstGeom prst="rect">
            <a:avLst/>
          </a:prstGeom>
          <a:noFill/>
        </p:spPr>
        <p:txBody>
          <a:bodyPr wrap="square" lIns="0" rIns="0" tIns="0" bIns="0" anchor="t"/>
          <a:lstStyle/>
          <a:p>
            <a:pPr algn="l">
              <a:spcAft>
                <a:spcPts val="400"/>
              </a:spcAft>
              <a:buNone/>
            </a:pPr>
            <a:r>
              <a:rPr sz="1800" b="1" i="0">
                <a:solidFill>
                  <a:srgbClr val="0E1F53"/>
                </a:solidFill>
                <a:latin typeface="Roboto"/>
              </a:rPr>
              <a:t>Geschäftsmodell</a:t>
            </a:r>
          </a:p>
        </p:txBody>
      </p:sp>
      <p:sp>
        <p:nvSpPr>
          <p:cNvPr id="26" name="TextBox 25"/>
          <p:cNvSpPr txBox="1"/>
          <p:nvPr/>
        </p:nvSpPr>
        <p:spPr>
          <a:xfrm>
            <a:off x="9155430" y="3456432"/>
            <a:ext cx="196367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Anders Geld verdienen</a:t>
            </a:r>
          </a:p>
        </p:txBody>
      </p:sp>
      <p:sp>
        <p:nvSpPr>
          <p:cNvPr id="27" name="TextBox 26"/>
          <p:cNvSpPr txBox="1"/>
          <p:nvPr/>
        </p:nvSpPr>
        <p:spPr>
          <a:xfrm>
            <a:off x="9155430" y="4069080"/>
            <a:ext cx="1963674" cy="685800"/>
          </a:xfrm>
          <a:prstGeom prst="rect">
            <a:avLst/>
          </a:prstGeom>
          <a:noFill/>
        </p:spPr>
        <p:txBody>
          <a:bodyPr wrap="square" lIns="0" rIns="0" tIns="0" bIns="0" anchor="t"/>
          <a:lstStyle/>
          <a:p>
            <a:pPr algn="l">
              <a:spcAft>
                <a:spcPts val="400"/>
              </a:spcAft>
              <a:buNone/>
            </a:pPr>
            <a:r>
              <a:rPr sz="1200" b="0" i="1">
                <a:solidFill>
                  <a:srgbClr val="5A6684"/>
                </a:solidFill>
                <a:latin typeface="Roboto"/>
              </a:rPr>
              <a:t>z. B. Maschinen mieten statt kaufen (Pay-per-Use)</a:t>
            </a:r>
          </a:p>
        </p:txBody>
      </p:sp>
      <p:sp>
        <p:nvSpPr>
          <p:cNvPr id="28" name="TextBox 27"/>
          <p:cNvSpPr txBox="1"/>
          <p:nvPr/>
        </p:nvSpPr>
        <p:spPr>
          <a:xfrm>
            <a:off x="841248" y="5074920"/>
            <a:ext cx="2743200"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Neuheitsgrad</a:t>
            </a:r>
          </a:p>
        </p:txBody>
      </p:sp>
      <p:sp>
        <p:nvSpPr>
          <p:cNvPr id="29" name="Rounded Rectangle 28"/>
          <p:cNvSpPr/>
          <p:nvPr/>
        </p:nvSpPr>
        <p:spPr>
          <a:xfrm>
            <a:off x="841248" y="5440680"/>
            <a:ext cx="10506456"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15568" y="5440680"/>
            <a:ext cx="3657600"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inkrementell: verbessern</a:t>
            </a:r>
          </a:p>
        </p:txBody>
      </p:sp>
      <p:sp>
        <p:nvSpPr>
          <p:cNvPr id="31" name="TextBox 30"/>
          <p:cNvSpPr txBox="1"/>
          <p:nvPr/>
        </p:nvSpPr>
        <p:spPr>
          <a:xfrm>
            <a:off x="4498848" y="5440680"/>
            <a:ext cx="3200400" cy="457200"/>
          </a:xfrm>
          <a:prstGeom prst="rect">
            <a:avLst/>
          </a:prstGeom>
          <a:noFill/>
        </p:spPr>
        <p:txBody>
          <a:bodyPr wrap="square" lIns="0" rIns="0" tIns="0" bIns="0" anchor="ctr"/>
          <a:lstStyle/>
          <a:p>
            <a:pPr algn="ctr">
              <a:spcAft>
                <a:spcPts val="400"/>
              </a:spcAft>
              <a:buNone/>
            </a:pPr>
            <a:r>
              <a:rPr sz="1300" b="1" i="0">
                <a:solidFill>
                  <a:srgbClr val="FB2762"/>
                </a:solidFill>
                <a:latin typeface="Roboto"/>
              </a:rPr>
              <a:t>→  →  →</a:t>
            </a:r>
          </a:p>
        </p:txBody>
      </p:sp>
      <p:sp>
        <p:nvSpPr>
          <p:cNvPr id="32" name="TextBox 31"/>
          <p:cNvSpPr txBox="1"/>
          <p:nvPr/>
        </p:nvSpPr>
        <p:spPr>
          <a:xfrm>
            <a:off x="7415783" y="5440680"/>
            <a:ext cx="3657600" cy="457200"/>
          </a:xfrm>
          <a:prstGeom prst="rect">
            <a:avLst/>
          </a:prstGeom>
          <a:noFill/>
        </p:spPr>
        <p:txBody>
          <a:bodyPr wrap="square" lIns="0" rIns="0" tIns="0" bIns="0" anchor="ctr"/>
          <a:lstStyle/>
          <a:p>
            <a:pPr algn="r">
              <a:spcAft>
                <a:spcPts val="400"/>
              </a:spcAft>
              <a:buNone/>
            </a:pPr>
            <a:r>
              <a:rPr sz="1300" b="1" i="0">
                <a:solidFill>
                  <a:srgbClr val="0E1F53"/>
                </a:solidFill>
                <a:latin typeface="Roboto"/>
              </a:rPr>
              <a:t>radikal: neu erfinden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Der Mittelstand innoviert, aber zu wenige und zu ungleich</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ZAHLEN &amp; FAKTEN</a:t>
            </a:r>
          </a:p>
        </p:txBody>
      </p:sp>
      <p:sp>
        <p:nvSpPr>
          <p:cNvPr id="4" name="Rounded Rectangle 3"/>
          <p:cNvSpPr/>
          <p:nvPr/>
        </p:nvSpPr>
        <p:spPr>
          <a:xfrm>
            <a:off x="841248" y="205740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61288" y="2240280"/>
            <a:ext cx="4475988" cy="777240"/>
          </a:xfrm>
          <a:prstGeom prst="rect">
            <a:avLst/>
          </a:prstGeom>
          <a:noFill/>
        </p:spPr>
        <p:txBody>
          <a:bodyPr wrap="square" lIns="0" rIns="0" tIns="0" bIns="0" anchor="t"/>
          <a:lstStyle/>
          <a:p>
            <a:pPr algn="l">
              <a:spcAft>
                <a:spcPts val="400"/>
              </a:spcAft>
              <a:buNone/>
            </a:pPr>
            <a:r>
              <a:rPr sz="3600" b="1" i="0">
                <a:solidFill>
                  <a:srgbClr val="0E1F53"/>
                </a:solidFill>
                <a:latin typeface="Roboto"/>
              </a:rPr>
              <a:t>41 %</a:t>
            </a:r>
          </a:p>
        </p:txBody>
      </p:sp>
      <p:sp>
        <p:nvSpPr>
          <p:cNvPr id="6" name="TextBox 5"/>
          <p:cNvSpPr txBox="1"/>
          <p:nvPr/>
        </p:nvSpPr>
        <p:spPr>
          <a:xfrm>
            <a:off x="1161288" y="299008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der mittelständischen Unternehmen haben 2022–2024 mindestens eine Innovation eingeführt</a:t>
            </a:r>
          </a:p>
        </p:txBody>
      </p:sp>
      <p:sp>
        <p:nvSpPr>
          <p:cNvPr id="7" name="TextBox 6"/>
          <p:cNvSpPr txBox="1"/>
          <p:nvPr/>
        </p:nvSpPr>
        <p:spPr>
          <a:xfrm>
            <a:off x="4311396" y="228600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KfW 2025</a:t>
            </a:r>
          </a:p>
        </p:txBody>
      </p:sp>
      <p:sp>
        <p:nvSpPr>
          <p:cNvPr id="8" name="Rounded Rectangle 7"/>
          <p:cNvSpPr/>
          <p:nvPr/>
        </p:nvSpPr>
        <p:spPr>
          <a:xfrm>
            <a:off x="6231636" y="205740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51675" y="2240280"/>
            <a:ext cx="4475988" cy="777240"/>
          </a:xfrm>
          <a:prstGeom prst="rect">
            <a:avLst/>
          </a:prstGeom>
          <a:noFill/>
        </p:spPr>
        <p:txBody>
          <a:bodyPr wrap="square" lIns="0" rIns="0" tIns="0" bIns="0" anchor="t"/>
          <a:lstStyle/>
          <a:p>
            <a:pPr algn="l">
              <a:spcAft>
                <a:spcPts val="400"/>
              </a:spcAft>
              <a:buNone/>
            </a:pPr>
            <a:r>
              <a:rPr sz="3600" b="1" i="0">
                <a:solidFill>
                  <a:srgbClr val="FB2762"/>
                </a:solidFill>
                <a:latin typeface="Roboto"/>
              </a:rPr>
              <a:t>73 % vs. 37 %</a:t>
            </a:r>
          </a:p>
        </p:txBody>
      </p:sp>
      <p:sp>
        <p:nvSpPr>
          <p:cNvPr id="10" name="TextBox 9"/>
          <p:cNvSpPr txBox="1"/>
          <p:nvPr/>
        </p:nvSpPr>
        <p:spPr>
          <a:xfrm>
            <a:off x="6551675" y="299008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Innovationserfolg: größere Mittelständler gegenüber kleinen Unternehmen</a:t>
            </a:r>
          </a:p>
        </p:txBody>
      </p:sp>
      <p:sp>
        <p:nvSpPr>
          <p:cNvPr id="11" name="TextBox 10"/>
          <p:cNvSpPr txBox="1"/>
          <p:nvPr/>
        </p:nvSpPr>
        <p:spPr>
          <a:xfrm>
            <a:off x="9701784" y="228600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KfW 2025</a:t>
            </a:r>
          </a:p>
        </p:txBody>
      </p:sp>
      <p:sp>
        <p:nvSpPr>
          <p:cNvPr id="12" name="Rounded Rectangle 11"/>
          <p:cNvSpPr/>
          <p:nvPr/>
        </p:nvSpPr>
        <p:spPr>
          <a:xfrm>
            <a:off x="841248" y="406908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61288" y="4251960"/>
            <a:ext cx="4475988" cy="777240"/>
          </a:xfrm>
          <a:prstGeom prst="rect">
            <a:avLst/>
          </a:prstGeom>
          <a:noFill/>
        </p:spPr>
        <p:txBody>
          <a:bodyPr wrap="square" lIns="0" rIns="0" tIns="0" bIns="0" anchor="t"/>
          <a:lstStyle/>
          <a:p>
            <a:pPr algn="l">
              <a:spcAft>
                <a:spcPts val="400"/>
              </a:spcAft>
              <a:buNone/>
            </a:pPr>
            <a:r>
              <a:rPr sz="3600" b="1" i="0">
                <a:solidFill>
                  <a:srgbClr val="FB2762"/>
                </a:solidFill>
                <a:latin typeface="Roboto"/>
              </a:rPr>
              <a:t>48 % vs. 17 %</a:t>
            </a:r>
          </a:p>
        </p:txBody>
      </p:sp>
      <p:sp>
        <p:nvSpPr>
          <p:cNvPr id="14" name="TextBox 13"/>
          <p:cNvSpPr txBox="1"/>
          <p:nvPr/>
        </p:nvSpPr>
        <p:spPr>
          <a:xfrm>
            <a:off x="1161288" y="500176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KI-Nutzung 2024: große Unternehmen gegenüber kleinen (10–49 Beschäftigte)</a:t>
            </a:r>
          </a:p>
        </p:txBody>
      </p:sp>
      <p:sp>
        <p:nvSpPr>
          <p:cNvPr id="15" name="TextBox 14"/>
          <p:cNvSpPr txBox="1"/>
          <p:nvPr/>
        </p:nvSpPr>
        <p:spPr>
          <a:xfrm>
            <a:off x="4311396" y="429768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Destatis 2024</a:t>
            </a:r>
          </a:p>
        </p:txBody>
      </p:sp>
      <p:sp>
        <p:nvSpPr>
          <p:cNvPr id="16" name="Rounded Rectangle 15"/>
          <p:cNvSpPr/>
          <p:nvPr/>
        </p:nvSpPr>
        <p:spPr>
          <a:xfrm>
            <a:off x="6231636" y="406908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51675" y="4251960"/>
            <a:ext cx="4475988" cy="777240"/>
          </a:xfrm>
          <a:prstGeom prst="rect">
            <a:avLst/>
          </a:prstGeom>
          <a:noFill/>
        </p:spPr>
        <p:txBody>
          <a:bodyPr wrap="square" lIns="0" rIns="0" tIns="0" bIns="0" anchor="t"/>
          <a:lstStyle/>
          <a:p>
            <a:pPr algn="l">
              <a:spcAft>
                <a:spcPts val="400"/>
              </a:spcAft>
              <a:buNone/>
            </a:pPr>
            <a:r>
              <a:rPr sz="3600" b="1" i="0">
                <a:solidFill>
                  <a:srgbClr val="0E1F53"/>
                </a:solidFill>
                <a:latin typeface="Roboto"/>
              </a:rPr>
              <a:t>36 %</a:t>
            </a:r>
          </a:p>
        </p:txBody>
      </p:sp>
      <p:sp>
        <p:nvSpPr>
          <p:cNvPr id="18" name="TextBox 17"/>
          <p:cNvSpPr txBox="1"/>
          <p:nvPr/>
        </p:nvSpPr>
        <p:spPr>
          <a:xfrm>
            <a:off x="6551675" y="500176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der Unternehmen ab 20 Beschäftigten nutzen KI – fast doppelt so viele wie im Vorjahr</a:t>
            </a:r>
          </a:p>
        </p:txBody>
      </p:sp>
      <p:sp>
        <p:nvSpPr>
          <p:cNvPr id="19" name="TextBox 18"/>
          <p:cNvSpPr txBox="1"/>
          <p:nvPr/>
        </p:nvSpPr>
        <p:spPr>
          <a:xfrm>
            <a:off x="9701784" y="429768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Bitkom 2025</a:t>
            </a:r>
          </a:p>
        </p:txBody>
      </p:sp>
      <p:sp>
        <p:nvSpPr>
          <p:cNvPr id="20" name="TextBox 19"/>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Quellen: KfW-Innovationsbericht Mittelstand 2025; Destatis, Pressemitteilung Nr. 444 vom 25.11.2024; Bitkom-Befragung, Sept.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Fünf Kräfte, die KMU zum Handeln zwingen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103120"/>
            <a:ext cx="1954987"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33172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Users_w.png"/>
          <p:cNvPicPr>
            <a:picLocks noChangeAspect="1"/>
          </p:cNvPicPr>
          <p:nvPr/>
        </p:nvPicPr>
        <p:blipFill>
          <a:blip r:embed="rId3"/>
          <a:stretch>
            <a:fillRect/>
          </a:stretch>
        </p:blipFill>
        <p:spPr>
          <a:xfrm>
            <a:off x="1159459" y="2485339"/>
            <a:ext cx="332841" cy="332841"/>
          </a:xfrm>
          <a:prstGeom prst="rect">
            <a:avLst/>
          </a:prstGeom>
        </p:spPr>
      </p:pic>
      <p:sp>
        <p:nvSpPr>
          <p:cNvPr id="7" name="TextBox 6"/>
          <p:cNvSpPr txBox="1"/>
          <p:nvPr/>
        </p:nvSpPr>
        <p:spPr>
          <a:xfrm>
            <a:off x="1005840" y="3108960"/>
            <a:ext cx="1680667" cy="685800"/>
          </a:xfrm>
          <a:prstGeom prst="rect">
            <a:avLst/>
          </a:prstGeom>
          <a:noFill/>
        </p:spPr>
        <p:txBody>
          <a:bodyPr wrap="square" lIns="0" rIns="0" tIns="0" bIns="0" anchor="t"/>
          <a:lstStyle/>
          <a:p>
            <a:pPr algn="l">
              <a:spcAft>
                <a:spcPts val="400"/>
              </a:spcAft>
              <a:buNone/>
            </a:pPr>
            <a:r>
              <a:rPr sz="1400" b="1" i="0">
                <a:solidFill>
                  <a:srgbClr val="0E1F53"/>
                </a:solidFill>
                <a:latin typeface="Roboto"/>
              </a:rPr>
              <a:t>Fachkräfte-</a:t>
            </a:r>
          </a:p>
          <a:p>
            <a:pPr algn="l">
              <a:spcAft>
                <a:spcPts val="400"/>
              </a:spcAft>
              <a:buNone/>
            </a:pPr>
            <a:r>
              <a:rPr sz="1400" b="1" i="0">
                <a:solidFill>
                  <a:srgbClr val="0E1F53"/>
                </a:solidFill>
                <a:latin typeface="Roboto"/>
              </a:rPr>
              <a:t>mangel</a:t>
            </a:r>
          </a:p>
        </p:txBody>
      </p:sp>
      <p:sp>
        <p:nvSpPr>
          <p:cNvPr id="8" name="TextBox 7"/>
          <p:cNvSpPr txBox="1"/>
          <p:nvPr/>
        </p:nvSpPr>
        <p:spPr>
          <a:xfrm>
            <a:off x="1005840" y="3794760"/>
            <a:ext cx="1680667" cy="1325880"/>
          </a:xfrm>
          <a:prstGeom prst="rect">
            <a:avLst/>
          </a:prstGeom>
          <a:noFill/>
        </p:spPr>
        <p:txBody>
          <a:bodyPr wrap="square" lIns="0" rIns="0" tIns="0" bIns="0" anchor="t"/>
          <a:lstStyle/>
          <a:p>
            <a:pPr algn="l">
              <a:spcAft>
                <a:spcPts val="400"/>
              </a:spcAft>
              <a:buNone/>
            </a:pPr>
            <a:r>
              <a:rPr sz="1300" b="0" i="0">
                <a:solidFill>
                  <a:srgbClr val="0E1F53"/>
                </a:solidFill>
                <a:latin typeface="Roboto"/>
              </a:rPr>
              <a:t>Weniger Hände für dieselbe Arbeit: Prozesse müssen effizienter werden.</a:t>
            </a:r>
          </a:p>
        </p:txBody>
      </p:sp>
      <p:sp>
        <p:nvSpPr>
          <p:cNvPr id="9" name="Rounded Rectangle 8"/>
          <p:cNvSpPr/>
          <p:nvPr/>
        </p:nvSpPr>
        <p:spPr>
          <a:xfrm>
            <a:off x="2979115" y="2103120"/>
            <a:ext cx="1954987"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143707" y="233172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Brain_w.png"/>
          <p:cNvPicPr>
            <a:picLocks noChangeAspect="1"/>
          </p:cNvPicPr>
          <p:nvPr/>
        </p:nvPicPr>
        <p:blipFill>
          <a:blip r:embed="rId4"/>
          <a:stretch>
            <a:fillRect/>
          </a:stretch>
        </p:blipFill>
        <p:spPr>
          <a:xfrm>
            <a:off x="3297326" y="2485339"/>
            <a:ext cx="332841" cy="332841"/>
          </a:xfrm>
          <a:prstGeom prst="rect">
            <a:avLst/>
          </a:prstGeom>
        </p:spPr>
      </p:pic>
      <p:sp>
        <p:nvSpPr>
          <p:cNvPr id="12" name="TextBox 11"/>
          <p:cNvSpPr txBox="1"/>
          <p:nvPr/>
        </p:nvSpPr>
        <p:spPr>
          <a:xfrm>
            <a:off x="3143707" y="3108960"/>
            <a:ext cx="1680667" cy="685800"/>
          </a:xfrm>
          <a:prstGeom prst="rect">
            <a:avLst/>
          </a:prstGeom>
          <a:noFill/>
        </p:spPr>
        <p:txBody>
          <a:bodyPr wrap="square" lIns="0" rIns="0" tIns="0" bIns="0" anchor="t"/>
          <a:lstStyle/>
          <a:p>
            <a:pPr algn="l">
              <a:spcAft>
                <a:spcPts val="400"/>
              </a:spcAft>
              <a:buNone/>
            </a:pPr>
            <a:r>
              <a:rPr sz="1400" b="1" i="0">
                <a:solidFill>
                  <a:srgbClr val="0E1F53"/>
                </a:solidFill>
                <a:latin typeface="Roboto"/>
              </a:rPr>
              <a:t>KI &amp; Digitalisierung</a:t>
            </a:r>
          </a:p>
        </p:txBody>
      </p:sp>
      <p:sp>
        <p:nvSpPr>
          <p:cNvPr id="13" name="TextBox 12"/>
          <p:cNvSpPr txBox="1"/>
          <p:nvPr/>
        </p:nvSpPr>
        <p:spPr>
          <a:xfrm>
            <a:off x="3143707" y="3794760"/>
            <a:ext cx="1680667" cy="1325880"/>
          </a:xfrm>
          <a:prstGeom prst="rect">
            <a:avLst/>
          </a:prstGeom>
          <a:noFill/>
        </p:spPr>
        <p:txBody>
          <a:bodyPr wrap="square" lIns="0" rIns="0" tIns="0" bIns="0" anchor="t"/>
          <a:lstStyle/>
          <a:p>
            <a:pPr algn="l">
              <a:spcAft>
                <a:spcPts val="400"/>
              </a:spcAft>
              <a:buNone/>
            </a:pPr>
            <a:r>
              <a:rPr sz="1300" b="0" i="0">
                <a:solidFill>
                  <a:srgbClr val="0E1F53"/>
                </a:solidFill>
                <a:latin typeface="Roboto"/>
              </a:rPr>
              <a:t>Was gestern Wochen dauerte, schafft ein Agent heute in Minuten.</a:t>
            </a:r>
          </a:p>
        </p:txBody>
      </p:sp>
      <p:sp>
        <p:nvSpPr>
          <p:cNvPr id="14" name="Rounded Rectangle 13"/>
          <p:cNvSpPr/>
          <p:nvPr/>
        </p:nvSpPr>
        <p:spPr>
          <a:xfrm>
            <a:off x="5116982" y="2103120"/>
            <a:ext cx="1954987"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81574" y="233172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Smartphone_w.png"/>
          <p:cNvPicPr>
            <a:picLocks noChangeAspect="1"/>
          </p:cNvPicPr>
          <p:nvPr/>
        </p:nvPicPr>
        <p:blipFill>
          <a:blip r:embed="rId5"/>
          <a:stretch>
            <a:fillRect/>
          </a:stretch>
        </p:blipFill>
        <p:spPr>
          <a:xfrm>
            <a:off x="5435193" y="2485339"/>
            <a:ext cx="332841" cy="332841"/>
          </a:xfrm>
          <a:prstGeom prst="rect">
            <a:avLst/>
          </a:prstGeom>
        </p:spPr>
      </p:pic>
      <p:sp>
        <p:nvSpPr>
          <p:cNvPr id="17" name="TextBox 16"/>
          <p:cNvSpPr txBox="1"/>
          <p:nvPr/>
        </p:nvSpPr>
        <p:spPr>
          <a:xfrm>
            <a:off x="5281574" y="3108960"/>
            <a:ext cx="1680667" cy="685800"/>
          </a:xfrm>
          <a:prstGeom prst="rect">
            <a:avLst/>
          </a:prstGeom>
          <a:noFill/>
        </p:spPr>
        <p:txBody>
          <a:bodyPr wrap="square" lIns="0" rIns="0" tIns="0" bIns="0" anchor="t"/>
          <a:lstStyle/>
          <a:p>
            <a:pPr algn="l">
              <a:spcAft>
                <a:spcPts val="400"/>
              </a:spcAft>
              <a:buNone/>
            </a:pPr>
            <a:r>
              <a:rPr sz="1400" b="1" i="0">
                <a:solidFill>
                  <a:srgbClr val="0E1F53"/>
                </a:solidFill>
                <a:latin typeface="Roboto"/>
              </a:rPr>
              <a:t>Kunden-</a:t>
            </a:r>
          </a:p>
          <a:p>
            <a:pPr algn="l">
              <a:spcAft>
                <a:spcPts val="400"/>
              </a:spcAft>
              <a:buNone/>
            </a:pPr>
            <a:r>
              <a:rPr sz="1400" b="1" i="0">
                <a:solidFill>
                  <a:srgbClr val="0E1F53"/>
                </a:solidFill>
                <a:latin typeface="Roboto"/>
              </a:rPr>
              <a:t>erwartungen</a:t>
            </a:r>
          </a:p>
        </p:txBody>
      </p:sp>
      <p:sp>
        <p:nvSpPr>
          <p:cNvPr id="18" name="TextBox 17"/>
          <p:cNvSpPr txBox="1"/>
          <p:nvPr/>
        </p:nvSpPr>
        <p:spPr>
          <a:xfrm>
            <a:off x="5281574" y="3794760"/>
            <a:ext cx="1680667" cy="1325880"/>
          </a:xfrm>
          <a:prstGeom prst="rect">
            <a:avLst/>
          </a:prstGeom>
          <a:noFill/>
        </p:spPr>
        <p:txBody>
          <a:bodyPr wrap="square" lIns="0" rIns="0" tIns="0" bIns="0" anchor="t"/>
          <a:lstStyle/>
          <a:p>
            <a:pPr algn="l">
              <a:spcAft>
                <a:spcPts val="400"/>
              </a:spcAft>
              <a:buNone/>
            </a:pPr>
            <a:r>
              <a:rPr sz="1300" b="0" i="0">
                <a:solidFill>
                  <a:srgbClr val="0E1F53"/>
                </a:solidFill>
                <a:latin typeface="Roboto"/>
              </a:rPr>
              <a:t>Kundschaft erwartet Tempo, Transparenz und digitale Services.</a:t>
            </a:r>
          </a:p>
        </p:txBody>
      </p:sp>
      <p:sp>
        <p:nvSpPr>
          <p:cNvPr id="19" name="Rounded Rectangle 18"/>
          <p:cNvSpPr/>
          <p:nvPr/>
        </p:nvSpPr>
        <p:spPr>
          <a:xfrm>
            <a:off x="7254849" y="2103120"/>
            <a:ext cx="1954987"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19441" y="233172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cale_w.png"/>
          <p:cNvPicPr>
            <a:picLocks noChangeAspect="1"/>
          </p:cNvPicPr>
          <p:nvPr/>
        </p:nvPicPr>
        <p:blipFill>
          <a:blip r:embed="rId6"/>
          <a:stretch>
            <a:fillRect/>
          </a:stretch>
        </p:blipFill>
        <p:spPr>
          <a:xfrm>
            <a:off x="7573060" y="2485339"/>
            <a:ext cx="332841" cy="332841"/>
          </a:xfrm>
          <a:prstGeom prst="rect">
            <a:avLst/>
          </a:prstGeom>
        </p:spPr>
      </p:pic>
      <p:sp>
        <p:nvSpPr>
          <p:cNvPr id="22" name="TextBox 21"/>
          <p:cNvSpPr txBox="1"/>
          <p:nvPr/>
        </p:nvSpPr>
        <p:spPr>
          <a:xfrm>
            <a:off x="7419441" y="3108960"/>
            <a:ext cx="1680667" cy="685800"/>
          </a:xfrm>
          <a:prstGeom prst="rect">
            <a:avLst/>
          </a:prstGeom>
          <a:noFill/>
        </p:spPr>
        <p:txBody>
          <a:bodyPr wrap="square" lIns="0" rIns="0" tIns="0" bIns="0" anchor="t"/>
          <a:lstStyle/>
          <a:p>
            <a:pPr algn="l">
              <a:spcAft>
                <a:spcPts val="400"/>
              </a:spcAft>
              <a:buNone/>
            </a:pPr>
            <a:r>
              <a:rPr sz="1400" b="1" i="0">
                <a:solidFill>
                  <a:srgbClr val="0E1F53"/>
                </a:solidFill>
                <a:latin typeface="Roboto"/>
              </a:rPr>
              <a:t>Regulierung &amp; Nachhaltigkeit</a:t>
            </a:r>
          </a:p>
        </p:txBody>
      </p:sp>
      <p:sp>
        <p:nvSpPr>
          <p:cNvPr id="23" name="TextBox 22"/>
          <p:cNvSpPr txBox="1"/>
          <p:nvPr/>
        </p:nvSpPr>
        <p:spPr>
          <a:xfrm>
            <a:off x="7419441" y="3794760"/>
            <a:ext cx="1680667" cy="1325880"/>
          </a:xfrm>
          <a:prstGeom prst="rect">
            <a:avLst/>
          </a:prstGeom>
          <a:noFill/>
        </p:spPr>
        <p:txBody>
          <a:bodyPr wrap="square" lIns="0" rIns="0" tIns="0" bIns="0" anchor="t"/>
          <a:lstStyle/>
          <a:p>
            <a:pPr algn="l">
              <a:spcAft>
                <a:spcPts val="400"/>
              </a:spcAft>
              <a:buNone/>
            </a:pPr>
            <a:r>
              <a:rPr sz="1300" b="0" i="0">
                <a:solidFill>
                  <a:srgbClr val="0E1F53"/>
                </a:solidFill>
                <a:latin typeface="Roboto"/>
              </a:rPr>
              <a:t>Berichtspflichten, Energiepreise und CO₂ verändern Geschäftsmodelle.</a:t>
            </a:r>
          </a:p>
        </p:txBody>
      </p:sp>
      <p:sp>
        <p:nvSpPr>
          <p:cNvPr id="24" name="Rounded Rectangle 23"/>
          <p:cNvSpPr/>
          <p:nvPr/>
        </p:nvSpPr>
        <p:spPr>
          <a:xfrm>
            <a:off x="9392716" y="2103120"/>
            <a:ext cx="1954987"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557308" y="233172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lobe_w.png"/>
          <p:cNvPicPr>
            <a:picLocks noChangeAspect="1"/>
          </p:cNvPicPr>
          <p:nvPr/>
        </p:nvPicPr>
        <p:blipFill>
          <a:blip r:embed="rId7"/>
          <a:stretch>
            <a:fillRect/>
          </a:stretch>
        </p:blipFill>
        <p:spPr>
          <a:xfrm>
            <a:off x="9710928" y="2485339"/>
            <a:ext cx="332841" cy="332841"/>
          </a:xfrm>
          <a:prstGeom prst="rect">
            <a:avLst/>
          </a:prstGeom>
        </p:spPr>
      </p:pic>
      <p:sp>
        <p:nvSpPr>
          <p:cNvPr id="27" name="TextBox 26"/>
          <p:cNvSpPr txBox="1"/>
          <p:nvPr/>
        </p:nvSpPr>
        <p:spPr>
          <a:xfrm>
            <a:off x="9557308" y="3108960"/>
            <a:ext cx="1680667" cy="685800"/>
          </a:xfrm>
          <a:prstGeom prst="rect">
            <a:avLst/>
          </a:prstGeom>
          <a:noFill/>
        </p:spPr>
        <p:txBody>
          <a:bodyPr wrap="square" lIns="0" rIns="0" tIns="0" bIns="0" anchor="t"/>
          <a:lstStyle/>
          <a:p>
            <a:pPr algn="l">
              <a:spcAft>
                <a:spcPts val="400"/>
              </a:spcAft>
              <a:buNone/>
            </a:pPr>
            <a:r>
              <a:rPr sz="1400" b="1" i="0">
                <a:solidFill>
                  <a:srgbClr val="0E1F53"/>
                </a:solidFill>
                <a:latin typeface="Roboto"/>
              </a:rPr>
              <a:t>Neue Wettbewerber</a:t>
            </a:r>
          </a:p>
        </p:txBody>
      </p:sp>
      <p:sp>
        <p:nvSpPr>
          <p:cNvPr id="28" name="TextBox 27"/>
          <p:cNvSpPr txBox="1"/>
          <p:nvPr/>
        </p:nvSpPr>
        <p:spPr>
          <a:xfrm>
            <a:off x="9557308" y="3794760"/>
            <a:ext cx="1680667" cy="1325880"/>
          </a:xfrm>
          <a:prstGeom prst="rect">
            <a:avLst/>
          </a:prstGeom>
          <a:noFill/>
        </p:spPr>
        <p:txBody>
          <a:bodyPr wrap="square" lIns="0" rIns="0" tIns="0" bIns="0" anchor="t"/>
          <a:lstStyle/>
          <a:p>
            <a:pPr algn="l">
              <a:spcAft>
                <a:spcPts val="400"/>
              </a:spcAft>
              <a:buNone/>
            </a:pPr>
            <a:r>
              <a:rPr sz="1300" b="0" i="0">
                <a:solidFill>
                  <a:srgbClr val="0E1F53"/>
                </a:solidFill>
                <a:latin typeface="Roboto"/>
              </a:rPr>
              <a:t>Plattformen und Start-ups greifen etablierte Märkte an.</a:t>
            </a:r>
          </a:p>
        </p:txBody>
      </p:sp>
      <p:sp>
        <p:nvSpPr>
          <p:cNvPr id="29" name="Rounded Rectangle 28"/>
          <p:cNvSpPr/>
          <p:nvPr/>
        </p:nvSpPr>
        <p:spPr>
          <a:xfrm>
            <a:off x="841248" y="5440680"/>
            <a:ext cx="10506456" cy="54864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15568" y="5440680"/>
            <a:ext cx="9957816" cy="548640"/>
          </a:xfrm>
          <a:prstGeom prst="rect">
            <a:avLst/>
          </a:prstGeom>
          <a:noFill/>
        </p:spPr>
        <p:txBody>
          <a:bodyPr wrap="square" lIns="0" rIns="0" tIns="0" bIns="0" anchor="ctr"/>
          <a:lstStyle/>
          <a:p>
            <a:pPr algn="l">
              <a:spcAft>
                <a:spcPts val="400"/>
              </a:spcAft>
              <a:buNone/>
            </a:pPr>
            <a:r>
              <a:rPr sz="1500" b="1" i="0">
                <a:solidFill>
                  <a:srgbClr val="FFFFFF"/>
                </a:solidFill>
                <a:latin typeface="Roboto"/>
              </a:rPr>
              <a:t>Wer nicht innoviert, verliert nicht sofort, aber schleichend: Marge, Mitarbeitende, Marktanteile.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KMU haben Innovations-Vorteile, die Konzerne nicht haben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057400"/>
            <a:ext cx="5116068"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15568" y="2286000"/>
            <a:ext cx="548640" cy="54864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Rocket_w.png"/>
          <p:cNvPicPr>
            <a:picLocks noChangeAspect="1"/>
          </p:cNvPicPr>
          <p:nvPr/>
        </p:nvPicPr>
        <p:blipFill>
          <a:blip r:embed="rId3"/>
          <a:stretch>
            <a:fillRect/>
          </a:stretch>
        </p:blipFill>
        <p:spPr>
          <a:xfrm>
            <a:off x="1247241" y="2417673"/>
            <a:ext cx="285292" cy="285292"/>
          </a:xfrm>
          <a:prstGeom prst="rect">
            <a:avLst/>
          </a:prstGeom>
        </p:spPr>
      </p:pic>
      <p:sp>
        <p:nvSpPr>
          <p:cNvPr id="7" name="TextBox 6"/>
          <p:cNvSpPr txBox="1"/>
          <p:nvPr/>
        </p:nvSpPr>
        <p:spPr>
          <a:xfrm>
            <a:off x="1801368" y="2286000"/>
            <a:ext cx="3927348" cy="548640"/>
          </a:xfrm>
          <a:prstGeom prst="rect">
            <a:avLst/>
          </a:prstGeom>
          <a:noFill/>
        </p:spPr>
        <p:txBody>
          <a:bodyPr wrap="square" lIns="0" rIns="0" tIns="0" bIns="0" anchor="ctr"/>
          <a:lstStyle/>
          <a:p>
            <a:pPr algn="l">
              <a:spcAft>
                <a:spcPts val="400"/>
              </a:spcAft>
              <a:buNone/>
            </a:pPr>
            <a:r>
              <a:rPr sz="2000" b="1" i="0">
                <a:solidFill>
                  <a:srgbClr val="0E1F53"/>
                </a:solidFill>
                <a:latin typeface="Roboto"/>
              </a:rPr>
              <a:t>Stärken</a:t>
            </a:r>
          </a:p>
        </p:txBody>
      </p:sp>
      <p:sp>
        <p:nvSpPr>
          <p:cNvPr id="8" name="TextBox 7"/>
          <p:cNvSpPr txBox="1"/>
          <p:nvPr/>
        </p:nvSpPr>
        <p:spPr>
          <a:xfrm>
            <a:off x="1115568" y="3017520"/>
            <a:ext cx="4567428" cy="2834640"/>
          </a:xfrm>
          <a:prstGeom prst="rect">
            <a:avLst/>
          </a:prstGeom>
          <a:noFill/>
        </p:spPr>
        <p:txBody>
          <a:bodyPr wrap="square" lIns="0" rIns="0" tIns="0" bIns="0" anchor="t"/>
          <a:lstStyle/>
          <a:p>
            <a:pPr algn="l" marL="164592" indent="-164592">
              <a:spcAft>
                <a:spcPts val="800"/>
              </a:spcAft>
              <a:buClr>
                <a:srgbClr val="1E8E4E"/>
              </a:buClr>
              <a:buFont typeface="Arial"/>
              <a:buChar char="•"/>
            </a:pPr>
            <a:r>
              <a:rPr sz="1500" b="0" i="0">
                <a:solidFill>
                  <a:srgbClr val="0E1F53"/>
                </a:solidFill>
                <a:latin typeface="Roboto"/>
              </a:rPr>
              <a:t>Nähe zur Kundschaft: Probleme werden direkt sichtbar</a:t>
            </a:r>
          </a:p>
          <a:p>
            <a:pPr algn="l" marL="164592" indent="-164592">
              <a:spcAft>
                <a:spcPts val="800"/>
              </a:spcAft>
              <a:buClr>
                <a:srgbClr val="1E8E4E"/>
              </a:buClr>
              <a:buFont typeface="Arial"/>
              <a:buChar char="•"/>
            </a:pPr>
            <a:r>
              <a:rPr sz="1500" b="0" i="0">
                <a:solidFill>
                  <a:srgbClr val="0E1F53"/>
                </a:solidFill>
                <a:latin typeface="Roboto"/>
              </a:rPr>
              <a:t>Kurze Wege: Entscheidungen in Tagen statt Monaten</a:t>
            </a:r>
          </a:p>
          <a:p>
            <a:pPr algn="l" marL="164592" indent="-164592">
              <a:spcAft>
                <a:spcPts val="800"/>
              </a:spcAft>
              <a:buClr>
                <a:srgbClr val="1E8E4E"/>
              </a:buClr>
              <a:buFont typeface="Arial"/>
              <a:buChar char="•"/>
            </a:pPr>
            <a:r>
              <a:rPr sz="1500" b="0" i="0">
                <a:solidFill>
                  <a:srgbClr val="0E1F53"/>
                </a:solidFill>
                <a:latin typeface="Roboto"/>
              </a:rPr>
              <a:t>Flexibilität: Pilotprojekte ohne großen Apparat</a:t>
            </a:r>
          </a:p>
          <a:p>
            <a:pPr algn="l" marL="164592" indent="-164592">
              <a:spcAft>
                <a:spcPts val="800"/>
              </a:spcAft>
              <a:buClr>
                <a:srgbClr val="1E8E4E"/>
              </a:buClr>
              <a:buFont typeface="Arial"/>
              <a:buChar char="•"/>
            </a:pPr>
            <a:r>
              <a:rPr sz="1500" b="0" i="0">
                <a:solidFill>
                  <a:srgbClr val="0E1F53"/>
                </a:solidFill>
                <a:latin typeface="Roboto"/>
              </a:rPr>
              <a:t>Hohe Identifikation: Mitarbeitende kennen das Ganze</a:t>
            </a:r>
          </a:p>
        </p:txBody>
      </p:sp>
      <p:sp>
        <p:nvSpPr>
          <p:cNvPr id="9" name="Rounded Rectangle 8"/>
          <p:cNvSpPr/>
          <p:nvPr/>
        </p:nvSpPr>
        <p:spPr>
          <a:xfrm>
            <a:off x="6231636" y="2057400"/>
            <a:ext cx="5116068"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05955" y="228600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TriangleAlert_w.png"/>
          <p:cNvPicPr>
            <a:picLocks noChangeAspect="1"/>
          </p:cNvPicPr>
          <p:nvPr/>
        </p:nvPicPr>
        <p:blipFill>
          <a:blip r:embed="rId4"/>
          <a:stretch>
            <a:fillRect/>
          </a:stretch>
        </p:blipFill>
        <p:spPr>
          <a:xfrm>
            <a:off x="6637629" y="2417673"/>
            <a:ext cx="285292" cy="285292"/>
          </a:xfrm>
          <a:prstGeom prst="rect">
            <a:avLst/>
          </a:prstGeom>
        </p:spPr>
      </p:pic>
      <p:sp>
        <p:nvSpPr>
          <p:cNvPr id="12" name="TextBox 11"/>
          <p:cNvSpPr txBox="1"/>
          <p:nvPr/>
        </p:nvSpPr>
        <p:spPr>
          <a:xfrm>
            <a:off x="7191755" y="2286000"/>
            <a:ext cx="3927348" cy="548640"/>
          </a:xfrm>
          <a:prstGeom prst="rect">
            <a:avLst/>
          </a:prstGeom>
          <a:noFill/>
        </p:spPr>
        <p:txBody>
          <a:bodyPr wrap="square" lIns="0" rIns="0" tIns="0" bIns="0" anchor="ctr"/>
          <a:lstStyle/>
          <a:p>
            <a:pPr algn="l">
              <a:spcAft>
                <a:spcPts val="400"/>
              </a:spcAft>
              <a:buNone/>
            </a:pPr>
            <a:r>
              <a:rPr sz="2000" b="1" i="0">
                <a:solidFill>
                  <a:srgbClr val="0E1F53"/>
                </a:solidFill>
                <a:latin typeface="Roboto"/>
              </a:rPr>
              <a:t>Hürden</a:t>
            </a:r>
          </a:p>
        </p:txBody>
      </p:sp>
      <p:sp>
        <p:nvSpPr>
          <p:cNvPr id="13" name="TextBox 12"/>
          <p:cNvSpPr txBox="1"/>
          <p:nvPr/>
        </p:nvSpPr>
        <p:spPr>
          <a:xfrm>
            <a:off x="6505955" y="3017520"/>
            <a:ext cx="4567428" cy="2011680"/>
          </a:xfrm>
          <a:prstGeom prst="rect">
            <a:avLst/>
          </a:prstGeom>
          <a:noFill/>
        </p:spPr>
        <p:txBody>
          <a:bodyPr wrap="square" lIns="0" rIns="0" tIns="0" bIns="0" anchor="t"/>
          <a:lstStyle/>
          <a:p>
            <a:pPr algn="l" marL="164592" indent="-164592">
              <a:spcAft>
                <a:spcPts val="800"/>
              </a:spcAft>
              <a:buClr>
                <a:srgbClr val="FB2762"/>
              </a:buClr>
              <a:buFont typeface="Arial"/>
              <a:buChar char="•"/>
            </a:pPr>
            <a:r>
              <a:rPr sz="1500" b="0" i="0">
                <a:solidFill>
                  <a:srgbClr val="0E1F53"/>
                </a:solidFill>
                <a:latin typeface="Roboto"/>
              </a:rPr>
              <a:t>Das Tagesgeschäft frisst die Zeit</a:t>
            </a:r>
          </a:p>
          <a:p>
            <a:pPr algn="l" marL="164592" indent="-164592">
              <a:spcAft>
                <a:spcPts val="800"/>
              </a:spcAft>
              <a:buClr>
                <a:srgbClr val="FB2762"/>
              </a:buClr>
              <a:buFont typeface="Arial"/>
              <a:buChar char="•"/>
            </a:pPr>
            <a:r>
              <a:rPr sz="1500" b="0" i="0">
                <a:solidFill>
                  <a:srgbClr val="0E1F53"/>
                </a:solidFill>
                <a:latin typeface="Roboto"/>
              </a:rPr>
              <a:t>Kein eigenes Innovations- oder Marktforschungsteam</a:t>
            </a:r>
          </a:p>
          <a:p>
            <a:pPr algn="l" marL="164592" indent="-164592">
              <a:spcAft>
                <a:spcPts val="800"/>
              </a:spcAft>
              <a:buClr>
                <a:srgbClr val="FB2762"/>
              </a:buClr>
              <a:buFont typeface="Arial"/>
              <a:buChar char="•"/>
            </a:pPr>
            <a:r>
              <a:rPr sz="1500" b="0" i="0">
                <a:solidFill>
                  <a:srgbClr val="0E1F53"/>
                </a:solidFill>
                <a:latin typeface="Roboto"/>
              </a:rPr>
              <a:t>Begrenztes Budget, hohes Risiko pro Projekt</a:t>
            </a:r>
          </a:p>
          <a:p>
            <a:pPr algn="l" marL="164592" indent="-164592">
              <a:spcAft>
                <a:spcPts val="800"/>
              </a:spcAft>
              <a:buClr>
                <a:srgbClr val="FB2762"/>
              </a:buClr>
              <a:buFont typeface="Arial"/>
              <a:buChar char="•"/>
            </a:pPr>
            <a:r>
              <a:rPr sz="1500" b="0" i="0">
                <a:solidFill>
                  <a:srgbClr val="0E1F53"/>
                </a:solidFill>
                <a:latin typeface="Roboto"/>
              </a:rPr>
              <a:t>Unsicherheit beim Thema KI und Datenschutz</a:t>
            </a:r>
          </a:p>
        </p:txBody>
      </p:sp>
      <p:sp>
        <p:nvSpPr>
          <p:cNvPr id="14" name="Rounded Rectangle 13"/>
          <p:cNvSpPr/>
          <p:nvPr/>
        </p:nvSpPr>
        <p:spPr>
          <a:xfrm>
            <a:off x="6505955" y="5029200"/>
            <a:ext cx="4567428" cy="77724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43116" y="5029200"/>
            <a:ext cx="4293107" cy="777240"/>
          </a:xfrm>
          <a:prstGeom prst="rect">
            <a:avLst/>
          </a:prstGeom>
          <a:noFill/>
        </p:spPr>
        <p:txBody>
          <a:bodyPr wrap="square" lIns="0" rIns="0" tIns="0" bIns="0" anchor="ctr"/>
          <a:lstStyle/>
          <a:p>
            <a:pPr algn="l">
              <a:spcAft>
                <a:spcPts val="400"/>
              </a:spcAft>
              <a:buNone/>
            </a:pPr>
            <a:r>
              <a:rPr sz="1350" b="1" i="0">
                <a:solidFill>
                  <a:srgbClr val="0E1F53"/>
                </a:solidFill>
                <a:latin typeface="Roboto"/>
              </a:rPr>
              <a:t>Lösungsansatz: </a:t>
            </a:r>
            <a:r>
              <a:rPr sz="1350" b="0" i="0">
                <a:solidFill>
                  <a:srgbClr val="0E1F53"/>
                </a:solidFill>
                <a:latin typeface="Roboto"/>
              </a:rPr>
              <a:t>Design Thinking gibt Struktur, KI-Agenten liefern Zeit und Know-how.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Wo steht Ihr Unternehmen?</a:t>
            </a:r>
          </a:p>
        </p:txBody>
      </p:sp>
      <p:sp>
        <p:nvSpPr>
          <p:cNvPr id="3" name="Rounded Rectangle 2"/>
          <p:cNvSpPr/>
          <p:nvPr/>
        </p:nvSpPr>
        <p:spPr>
          <a:xfrm>
            <a:off x="841248" y="850392"/>
            <a:ext cx="1452067"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5 MIN.</a:t>
            </a:r>
          </a:p>
        </p:txBody>
      </p:sp>
      <p:sp>
        <p:nvSpPr>
          <p:cNvPr id="4" name="Rounded Rectangle 3"/>
          <p:cNvSpPr/>
          <p:nvPr/>
        </p:nvSpPr>
        <p:spPr>
          <a:xfrm>
            <a:off x="841248" y="205740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5568" y="2057400"/>
            <a:ext cx="7223760" cy="640080"/>
          </a:xfrm>
          <a:prstGeom prst="rect">
            <a:avLst/>
          </a:prstGeom>
          <a:noFill/>
        </p:spPr>
        <p:txBody>
          <a:bodyPr wrap="square" lIns="0" rIns="0" tIns="0" bIns="0" anchor="ctr"/>
          <a:lstStyle/>
          <a:p>
            <a:pPr algn="l">
              <a:spcAft>
                <a:spcPts val="400"/>
              </a:spcAft>
              <a:buNone/>
            </a:pPr>
            <a:r>
              <a:rPr sz="1450" b="0" i="0">
                <a:solidFill>
                  <a:srgbClr val="0E1F53"/>
                </a:solidFill>
                <a:latin typeface="Roboto"/>
              </a:rPr>
              <a:t>1.  Wir sprechen regelmäßig und systematisch mit Kundinnen und Kunden über ihre Probleme.</a:t>
            </a:r>
          </a:p>
        </p:txBody>
      </p:sp>
      <p:sp>
        <p:nvSpPr>
          <p:cNvPr id="6" name="Oval 5"/>
          <p:cNvSpPr/>
          <p:nvPr/>
        </p:nvSpPr>
        <p:spPr>
          <a:xfrm>
            <a:off x="8659368" y="2176272"/>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1</a:t>
            </a:r>
          </a:p>
        </p:txBody>
      </p:sp>
      <p:sp>
        <p:nvSpPr>
          <p:cNvPr id="7" name="Oval 6"/>
          <p:cNvSpPr/>
          <p:nvPr/>
        </p:nvSpPr>
        <p:spPr>
          <a:xfrm>
            <a:off x="9208008" y="2176272"/>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2</a:t>
            </a:r>
          </a:p>
        </p:txBody>
      </p:sp>
      <p:sp>
        <p:nvSpPr>
          <p:cNvPr id="8" name="Oval 7"/>
          <p:cNvSpPr/>
          <p:nvPr/>
        </p:nvSpPr>
        <p:spPr>
          <a:xfrm>
            <a:off x="9756648" y="2176272"/>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3</a:t>
            </a:r>
          </a:p>
        </p:txBody>
      </p:sp>
      <p:sp>
        <p:nvSpPr>
          <p:cNvPr id="9" name="Oval 8"/>
          <p:cNvSpPr/>
          <p:nvPr/>
        </p:nvSpPr>
        <p:spPr>
          <a:xfrm>
            <a:off x="10305288" y="2176272"/>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4</a:t>
            </a:r>
          </a:p>
        </p:txBody>
      </p:sp>
      <p:sp>
        <p:nvSpPr>
          <p:cNvPr id="10" name="Oval 9"/>
          <p:cNvSpPr/>
          <p:nvPr/>
        </p:nvSpPr>
        <p:spPr>
          <a:xfrm>
            <a:off x="10853928" y="2176272"/>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5</a:t>
            </a:r>
          </a:p>
        </p:txBody>
      </p:sp>
      <p:sp>
        <p:nvSpPr>
          <p:cNvPr id="11" name="Rounded Rectangle 10"/>
          <p:cNvSpPr/>
          <p:nvPr/>
        </p:nvSpPr>
        <p:spPr>
          <a:xfrm>
            <a:off x="841248" y="2825496"/>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825496"/>
            <a:ext cx="7223760" cy="640080"/>
          </a:xfrm>
          <a:prstGeom prst="rect">
            <a:avLst/>
          </a:prstGeom>
          <a:noFill/>
        </p:spPr>
        <p:txBody>
          <a:bodyPr wrap="square" lIns="0" rIns="0" tIns="0" bIns="0" anchor="ctr"/>
          <a:lstStyle/>
          <a:p>
            <a:pPr algn="l">
              <a:spcAft>
                <a:spcPts val="400"/>
              </a:spcAft>
              <a:buNone/>
            </a:pPr>
            <a:r>
              <a:rPr sz="1450" b="0" i="0">
                <a:solidFill>
                  <a:srgbClr val="0E1F53"/>
                </a:solidFill>
                <a:latin typeface="Roboto"/>
              </a:rPr>
              <a:t>2.  Wir haben einen festen Prozess, um neue Ideen zu sammeln und zu bewerten.</a:t>
            </a:r>
          </a:p>
        </p:txBody>
      </p:sp>
      <p:sp>
        <p:nvSpPr>
          <p:cNvPr id="13" name="Oval 12"/>
          <p:cNvSpPr/>
          <p:nvPr/>
        </p:nvSpPr>
        <p:spPr>
          <a:xfrm>
            <a:off x="8659368" y="2944368"/>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1</a:t>
            </a:r>
          </a:p>
        </p:txBody>
      </p:sp>
      <p:sp>
        <p:nvSpPr>
          <p:cNvPr id="14" name="Oval 13"/>
          <p:cNvSpPr/>
          <p:nvPr/>
        </p:nvSpPr>
        <p:spPr>
          <a:xfrm>
            <a:off x="9208008" y="2944368"/>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2</a:t>
            </a:r>
          </a:p>
        </p:txBody>
      </p:sp>
      <p:sp>
        <p:nvSpPr>
          <p:cNvPr id="15" name="Oval 14"/>
          <p:cNvSpPr/>
          <p:nvPr/>
        </p:nvSpPr>
        <p:spPr>
          <a:xfrm>
            <a:off x="9756648" y="2944368"/>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3</a:t>
            </a:r>
          </a:p>
        </p:txBody>
      </p:sp>
      <p:sp>
        <p:nvSpPr>
          <p:cNvPr id="16" name="Oval 15"/>
          <p:cNvSpPr/>
          <p:nvPr/>
        </p:nvSpPr>
        <p:spPr>
          <a:xfrm>
            <a:off x="10305288" y="2944368"/>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4</a:t>
            </a:r>
          </a:p>
        </p:txBody>
      </p:sp>
      <p:sp>
        <p:nvSpPr>
          <p:cNvPr id="17" name="Oval 16"/>
          <p:cNvSpPr/>
          <p:nvPr/>
        </p:nvSpPr>
        <p:spPr>
          <a:xfrm>
            <a:off x="10853928" y="2944368"/>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5</a:t>
            </a:r>
          </a:p>
        </p:txBody>
      </p:sp>
      <p:sp>
        <p:nvSpPr>
          <p:cNvPr id="18" name="Rounded Rectangle 17"/>
          <p:cNvSpPr/>
          <p:nvPr/>
        </p:nvSpPr>
        <p:spPr>
          <a:xfrm>
            <a:off x="841248" y="3593591"/>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15568" y="3593591"/>
            <a:ext cx="7223760" cy="640080"/>
          </a:xfrm>
          <a:prstGeom prst="rect">
            <a:avLst/>
          </a:prstGeom>
          <a:noFill/>
        </p:spPr>
        <p:txBody>
          <a:bodyPr wrap="square" lIns="0" rIns="0" tIns="0" bIns="0" anchor="ctr"/>
          <a:lstStyle/>
          <a:p>
            <a:pPr algn="l">
              <a:spcAft>
                <a:spcPts val="400"/>
              </a:spcAft>
              <a:buNone/>
            </a:pPr>
            <a:r>
              <a:rPr sz="1450" b="0" i="0">
                <a:solidFill>
                  <a:srgbClr val="0E1F53"/>
                </a:solidFill>
                <a:latin typeface="Roboto"/>
              </a:rPr>
              <a:t>3.  Wir testen neue Ideen klein und schnell, bevor wir viel Geld investieren.</a:t>
            </a:r>
          </a:p>
        </p:txBody>
      </p:sp>
      <p:sp>
        <p:nvSpPr>
          <p:cNvPr id="20" name="Oval 19"/>
          <p:cNvSpPr/>
          <p:nvPr/>
        </p:nvSpPr>
        <p:spPr>
          <a:xfrm>
            <a:off x="8659368" y="3712463"/>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1</a:t>
            </a:r>
          </a:p>
        </p:txBody>
      </p:sp>
      <p:sp>
        <p:nvSpPr>
          <p:cNvPr id="21" name="Oval 20"/>
          <p:cNvSpPr/>
          <p:nvPr/>
        </p:nvSpPr>
        <p:spPr>
          <a:xfrm>
            <a:off x="9208008" y="3712463"/>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2</a:t>
            </a:r>
          </a:p>
        </p:txBody>
      </p:sp>
      <p:sp>
        <p:nvSpPr>
          <p:cNvPr id="22" name="Oval 21"/>
          <p:cNvSpPr/>
          <p:nvPr/>
        </p:nvSpPr>
        <p:spPr>
          <a:xfrm>
            <a:off x="9756648" y="3712463"/>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3</a:t>
            </a:r>
          </a:p>
        </p:txBody>
      </p:sp>
      <p:sp>
        <p:nvSpPr>
          <p:cNvPr id="23" name="Oval 22"/>
          <p:cNvSpPr/>
          <p:nvPr/>
        </p:nvSpPr>
        <p:spPr>
          <a:xfrm>
            <a:off x="10305288" y="3712463"/>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4</a:t>
            </a:r>
          </a:p>
        </p:txBody>
      </p:sp>
      <p:sp>
        <p:nvSpPr>
          <p:cNvPr id="24" name="Oval 23"/>
          <p:cNvSpPr/>
          <p:nvPr/>
        </p:nvSpPr>
        <p:spPr>
          <a:xfrm>
            <a:off x="10853928" y="3712463"/>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5</a:t>
            </a:r>
          </a:p>
        </p:txBody>
      </p:sp>
      <p:sp>
        <p:nvSpPr>
          <p:cNvPr id="25" name="Rounded Rectangle 24"/>
          <p:cNvSpPr/>
          <p:nvPr/>
        </p:nvSpPr>
        <p:spPr>
          <a:xfrm>
            <a:off x="841248" y="4361688"/>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15568" y="4361688"/>
            <a:ext cx="7223760" cy="640080"/>
          </a:xfrm>
          <a:prstGeom prst="rect">
            <a:avLst/>
          </a:prstGeom>
          <a:noFill/>
        </p:spPr>
        <p:txBody>
          <a:bodyPr wrap="square" lIns="0" rIns="0" tIns="0" bIns="0" anchor="ctr"/>
          <a:lstStyle/>
          <a:p>
            <a:pPr algn="l">
              <a:spcAft>
                <a:spcPts val="400"/>
              </a:spcAft>
              <a:buNone/>
            </a:pPr>
            <a:r>
              <a:rPr sz="1450" b="0" i="0">
                <a:solidFill>
                  <a:srgbClr val="0E1F53"/>
                </a:solidFill>
                <a:latin typeface="Roboto"/>
              </a:rPr>
              <a:t>4.  Wir beobachten Markt und Wettbewerb kontinuierlich, nicht nur bei Anlass.</a:t>
            </a:r>
          </a:p>
        </p:txBody>
      </p:sp>
      <p:sp>
        <p:nvSpPr>
          <p:cNvPr id="27" name="Oval 26"/>
          <p:cNvSpPr/>
          <p:nvPr/>
        </p:nvSpPr>
        <p:spPr>
          <a:xfrm>
            <a:off x="8659368" y="4480559"/>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1</a:t>
            </a:r>
          </a:p>
        </p:txBody>
      </p:sp>
      <p:sp>
        <p:nvSpPr>
          <p:cNvPr id="28" name="Oval 27"/>
          <p:cNvSpPr/>
          <p:nvPr/>
        </p:nvSpPr>
        <p:spPr>
          <a:xfrm>
            <a:off x="9208008" y="4480559"/>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2</a:t>
            </a:r>
          </a:p>
        </p:txBody>
      </p:sp>
      <p:sp>
        <p:nvSpPr>
          <p:cNvPr id="29" name="Oval 28"/>
          <p:cNvSpPr/>
          <p:nvPr/>
        </p:nvSpPr>
        <p:spPr>
          <a:xfrm>
            <a:off x="9756648" y="4480559"/>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3</a:t>
            </a:r>
          </a:p>
        </p:txBody>
      </p:sp>
      <p:sp>
        <p:nvSpPr>
          <p:cNvPr id="30" name="Oval 29"/>
          <p:cNvSpPr/>
          <p:nvPr/>
        </p:nvSpPr>
        <p:spPr>
          <a:xfrm>
            <a:off x="10305288" y="4480559"/>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4</a:t>
            </a:r>
          </a:p>
        </p:txBody>
      </p:sp>
      <p:sp>
        <p:nvSpPr>
          <p:cNvPr id="31" name="Oval 30"/>
          <p:cNvSpPr/>
          <p:nvPr/>
        </p:nvSpPr>
        <p:spPr>
          <a:xfrm>
            <a:off x="10853928" y="4480559"/>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5</a:t>
            </a:r>
          </a:p>
        </p:txBody>
      </p:sp>
      <p:sp>
        <p:nvSpPr>
          <p:cNvPr id="32" name="Rounded Rectangle 31"/>
          <p:cNvSpPr/>
          <p:nvPr/>
        </p:nvSpPr>
        <p:spPr>
          <a:xfrm>
            <a:off x="841248" y="5129783"/>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115568" y="5129783"/>
            <a:ext cx="7223760" cy="640080"/>
          </a:xfrm>
          <a:prstGeom prst="rect">
            <a:avLst/>
          </a:prstGeom>
          <a:noFill/>
        </p:spPr>
        <p:txBody>
          <a:bodyPr wrap="square" lIns="0" rIns="0" tIns="0" bIns="0" anchor="ctr"/>
          <a:lstStyle/>
          <a:p>
            <a:pPr algn="l">
              <a:spcAft>
                <a:spcPts val="400"/>
              </a:spcAft>
              <a:buNone/>
            </a:pPr>
            <a:r>
              <a:rPr sz="1450" b="0" i="0">
                <a:solidFill>
                  <a:srgbClr val="0E1F53"/>
                </a:solidFill>
                <a:latin typeface="Roboto"/>
              </a:rPr>
              <a:t>5.  Wir nutzen KI bereits gezielt für Recherche, Texte oder Analysen.</a:t>
            </a:r>
          </a:p>
        </p:txBody>
      </p:sp>
      <p:sp>
        <p:nvSpPr>
          <p:cNvPr id="34" name="Oval 33"/>
          <p:cNvSpPr/>
          <p:nvPr/>
        </p:nvSpPr>
        <p:spPr>
          <a:xfrm>
            <a:off x="8659368" y="5248655"/>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1</a:t>
            </a:r>
          </a:p>
        </p:txBody>
      </p:sp>
      <p:sp>
        <p:nvSpPr>
          <p:cNvPr id="35" name="Oval 34"/>
          <p:cNvSpPr/>
          <p:nvPr/>
        </p:nvSpPr>
        <p:spPr>
          <a:xfrm>
            <a:off x="9208008" y="5248655"/>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2</a:t>
            </a:r>
          </a:p>
        </p:txBody>
      </p:sp>
      <p:sp>
        <p:nvSpPr>
          <p:cNvPr id="36" name="Oval 35"/>
          <p:cNvSpPr/>
          <p:nvPr/>
        </p:nvSpPr>
        <p:spPr>
          <a:xfrm>
            <a:off x="9756648" y="5248655"/>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3</a:t>
            </a:r>
          </a:p>
        </p:txBody>
      </p:sp>
      <p:sp>
        <p:nvSpPr>
          <p:cNvPr id="37" name="Oval 36"/>
          <p:cNvSpPr/>
          <p:nvPr/>
        </p:nvSpPr>
        <p:spPr>
          <a:xfrm>
            <a:off x="10305288" y="5248655"/>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4</a:t>
            </a:r>
          </a:p>
        </p:txBody>
      </p:sp>
      <p:sp>
        <p:nvSpPr>
          <p:cNvPr id="38" name="Oval 37"/>
          <p:cNvSpPr/>
          <p:nvPr/>
        </p:nvSpPr>
        <p:spPr>
          <a:xfrm>
            <a:off x="10853928" y="5248655"/>
            <a:ext cx="402336" cy="402336"/>
          </a:xfrm>
          <a:prstGeom prst="ellipse">
            <a:avLst/>
          </a:prstGeom>
          <a:solidFill>
            <a:srgbClr val="FFFFFF"/>
          </a:solidFill>
          <a:ln w="15875">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0E1F53"/>
                </a:solidFill>
                <a:latin typeface="Roboto"/>
              </a:rPr>
              <a:t>5</a:t>
            </a:r>
          </a:p>
        </p:txBody>
      </p:sp>
      <p:sp>
        <p:nvSpPr>
          <p:cNvPr id="39" name="TextBox 38"/>
          <p:cNvSpPr txBox="1"/>
          <p:nvPr/>
        </p:nvSpPr>
        <p:spPr>
          <a:xfrm>
            <a:off x="8659368" y="5943600"/>
            <a:ext cx="2743200" cy="274320"/>
          </a:xfrm>
          <a:prstGeom prst="rect">
            <a:avLst/>
          </a:prstGeom>
          <a:noFill/>
        </p:spPr>
        <p:txBody>
          <a:bodyPr wrap="square" lIns="0" rIns="0" tIns="0" bIns="0" anchor="t"/>
          <a:lstStyle/>
          <a:p>
            <a:pPr algn="l">
              <a:spcAft>
                <a:spcPts val="400"/>
              </a:spcAft>
              <a:buNone/>
            </a:pPr>
            <a:r>
              <a:rPr sz="1000" b="0" i="0">
                <a:solidFill>
                  <a:srgbClr val="5A6684"/>
                </a:solidFill>
                <a:latin typeface="Roboto"/>
              </a:rPr>
              <a:t>1 = trifft nicht zu · 5 = trifft voll zu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2 · Design Thinking</a:t>
            </a:r>
          </a:p>
        </p:txBody>
      </p:sp>
      <p:sp>
        <p:nvSpPr>
          <p:cNvPr id="3" name="Text Placeholder 2"/>
          <p:cNvSpPr>
            <a:spLocks noGrp="1"/>
          </p:cNvSpPr>
          <p:nvPr>
            <p:ph type="body" idx="11" sz="quarter"/>
          </p:nvPr>
        </p:nvSpPr>
        <p:spPr/>
        <p:txBody>
          <a:bodyPr/>
          <a:lstStyle/>
          <a:p>
            <a:r>
              <a:rPr b="0" sz="2000"/>
              <a:t>Der Innovationsprozess, der beim Menschen beginnt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Design Thinking: Probleme lösen wie Designerinnen und Designer</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TextBox 3"/>
          <p:cNvSpPr txBox="1"/>
          <p:nvPr/>
        </p:nvSpPr>
        <p:spPr>
          <a:xfrm>
            <a:off x="841248" y="2011680"/>
            <a:ext cx="4937760" cy="2926080"/>
          </a:xfrm>
          <a:prstGeom prst="rect">
            <a:avLst/>
          </a:prstGeom>
          <a:noFill/>
        </p:spPr>
        <p:txBody>
          <a:bodyPr wrap="square" lIns="0" rIns="0" tIns="0" bIns="0" anchor="t"/>
          <a:lstStyle/>
          <a:p>
            <a:pPr algn="l">
              <a:lnSpc>
                <a:spcPct val="110000"/>
              </a:lnSpc>
              <a:spcAft>
                <a:spcPts val="1200"/>
              </a:spcAft>
              <a:buNone/>
            </a:pPr>
            <a:r>
              <a:rPr sz="1700" b="0" i="0">
                <a:solidFill>
                  <a:srgbClr val="0E1F53"/>
                </a:solidFill>
                <a:latin typeface="Roboto"/>
              </a:rPr>
              <a:t>Ein strukturierter Ansatz, um komplexe Probleme zu lösen, ausgehend von den echten Bedürfnissen der Menschen, für die man eine Lösung entwickelt.</a:t>
            </a:r>
          </a:p>
          <a:p>
            <a:pPr algn="l">
              <a:lnSpc>
                <a:spcPct val="110000"/>
              </a:lnSpc>
              <a:spcAft>
                <a:spcPts val="400"/>
              </a:spcAft>
              <a:buNone/>
            </a:pPr>
            <a:r>
              <a:rPr sz="1600" b="1" i="0">
                <a:solidFill>
                  <a:srgbClr val="FB2762"/>
                </a:solidFill>
                <a:latin typeface="Roboto"/>
              </a:rPr>
              <a:t>Nicht: </a:t>
            </a:r>
            <a:r>
              <a:rPr sz="1600" b="0" i="0">
                <a:solidFill>
                  <a:srgbClr val="0E1F53"/>
                </a:solidFill>
                <a:latin typeface="Roboto"/>
              </a:rPr>
              <a:t>„Was können wir bauen?“</a:t>
            </a:r>
          </a:p>
          <a:p>
            <a:pPr algn="l">
              <a:lnSpc>
                <a:spcPct val="110000"/>
              </a:lnSpc>
              <a:spcAft>
                <a:spcPts val="400"/>
              </a:spcAft>
              <a:buNone/>
            </a:pPr>
            <a:r>
              <a:rPr sz="1600" b="1" i="0">
                <a:solidFill>
                  <a:srgbClr val="1E8E4E"/>
                </a:solidFill>
                <a:latin typeface="Roboto"/>
              </a:rPr>
              <a:t>Sondern: </a:t>
            </a:r>
            <a:r>
              <a:rPr sz="1600" b="0" i="0">
                <a:solidFill>
                  <a:srgbClr val="0E1F53"/>
                </a:solidFill>
                <a:latin typeface="Roboto"/>
              </a:rPr>
              <a:t>„Was brauchen unsere Kundinnen und Kunden wirklich?“</a:t>
            </a:r>
          </a:p>
        </p:txBody>
      </p:sp>
      <p:sp>
        <p:nvSpPr>
          <p:cNvPr id="5" name="Rounded Rectangle 4"/>
          <p:cNvSpPr/>
          <p:nvPr/>
        </p:nvSpPr>
        <p:spPr>
          <a:xfrm>
            <a:off x="6172200" y="2011680"/>
            <a:ext cx="5175504" cy="1143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382512" y="2240280"/>
            <a:ext cx="685800" cy="6858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uUsers_w.png"/>
          <p:cNvPicPr>
            <a:picLocks noChangeAspect="1"/>
          </p:cNvPicPr>
          <p:nvPr/>
        </p:nvPicPr>
        <p:blipFill>
          <a:blip r:embed="rId3"/>
          <a:stretch>
            <a:fillRect/>
          </a:stretch>
        </p:blipFill>
        <p:spPr>
          <a:xfrm>
            <a:off x="6547104" y="2404872"/>
            <a:ext cx="356616" cy="356616"/>
          </a:xfrm>
          <a:prstGeom prst="rect">
            <a:avLst/>
          </a:prstGeom>
        </p:spPr>
      </p:pic>
      <p:sp>
        <p:nvSpPr>
          <p:cNvPr id="8" name="TextBox 7"/>
          <p:cNvSpPr txBox="1"/>
          <p:nvPr/>
        </p:nvSpPr>
        <p:spPr>
          <a:xfrm>
            <a:off x="7269480" y="2167128"/>
            <a:ext cx="3849624" cy="365760"/>
          </a:xfrm>
          <a:prstGeom prst="rect">
            <a:avLst/>
          </a:prstGeom>
          <a:noFill/>
        </p:spPr>
        <p:txBody>
          <a:bodyPr wrap="square" lIns="0" rIns="0" tIns="0" bIns="0" anchor="t"/>
          <a:lstStyle/>
          <a:p>
            <a:pPr algn="l">
              <a:spcAft>
                <a:spcPts val="400"/>
              </a:spcAft>
              <a:buNone/>
            </a:pPr>
            <a:r>
              <a:rPr sz="1700" b="1" i="0">
                <a:solidFill>
                  <a:srgbClr val="0E1F53"/>
                </a:solidFill>
                <a:latin typeface="Roboto"/>
              </a:rPr>
              <a:t>Menschen</a:t>
            </a:r>
          </a:p>
        </p:txBody>
      </p:sp>
      <p:sp>
        <p:nvSpPr>
          <p:cNvPr id="9" name="TextBox 8"/>
          <p:cNvSpPr txBox="1"/>
          <p:nvPr/>
        </p:nvSpPr>
        <p:spPr>
          <a:xfrm>
            <a:off x="7269480" y="2542032"/>
            <a:ext cx="384962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Gemischte Teams aus verschiedenen Bereichen und Perspektiven</a:t>
            </a:r>
          </a:p>
        </p:txBody>
      </p:sp>
      <p:sp>
        <p:nvSpPr>
          <p:cNvPr id="10" name="Rounded Rectangle 9"/>
          <p:cNvSpPr/>
          <p:nvPr/>
        </p:nvSpPr>
        <p:spPr>
          <a:xfrm>
            <a:off x="6172200" y="3337560"/>
            <a:ext cx="5175504" cy="1143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82512" y="3566160"/>
            <a:ext cx="685800" cy="6858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uilding2_w.png"/>
          <p:cNvPicPr>
            <a:picLocks noChangeAspect="1"/>
          </p:cNvPicPr>
          <p:nvPr/>
        </p:nvPicPr>
        <p:blipFill>
          <a:blip r:embed="rId4"/>
          <a:stretch>
            <a:fillRect/>
          </a:stretch>
        </p:blipFill>
        <p:spPr>
          <a:xfrm>
            <a:off x="6547104" y="3730752"/>
            <a:ext cx="356616" cy="356616"/>
          </a:xfrm>
          <a:prstGeom prst="rect">
            <a:avLst/>
          </a:prstGeom>
        </p:spPr>
      </p:pic>
      <p:sp>
        <p:nvSpPr>
          <p:cNvPr id="13" name="TextBox 12"/>
          <p:cNvSpPr txBox="1"/>
          <p:nvPr/>
        </p:nvSpPr>
        <p:spPr>
          <a:xfrm>
            <a:off x="7269480" y="3493008"/>
            <a:ext cx="3849624" cy="365760"/>
          </a:xfrm>
          <a:prstGeom prst="rect">
            <a:avLst/>
          </a:prstGeom>
          <a:noFill/>
        </p:spPr>
        <p:txBody>
          <a:bodyPr wrap="square" lIns="0" rIns="0" tIns="0" bIns="0" anchor="t"/>
          <a:lstStyle/>
          <a:p>
            <a:pPr algn="l">
              <a:spcAft>
                <a:spcPts val="400"/>
              </a:spcAft>
              <a:buNone/>
            </a:pPr>
            <a:r>
              <a:rPr sz="1700" b="1" i="0">
                <a:solidFill>
                  <a:srgbClr val="0E1F53"/>
                </a:solidFill>
                <a:latin typeface="Roboto"/>
              </a:rPr>
              <a:t>Raum</a:t>
            </a:r>
          </a:p>
        </p:txBody>
      </p:sp>
      <p:sp>
        <p:nvSpPr>
          <p:cNvPr id="14" name="TextBox 13"/>
          <p:cNvSpPr txBox="1"/>
          <p:nvPr/>
        </p:nvSpPr>
        <p:spPr>
          <a:xfrm>
            <a:off x="7269480" y="3867912"/>
            <a:ext cx="384962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Flexible Arbeitsumgebung: Wände, Post-its, Material zum Bauen</a:t>
            </a:r>
          </a:p>
        </p:txBody>
      </p:sp>
      <p:sp>
        <p:nvSpPr>
          <p:cNvPr id="15" name="Rounded Rectangle 14"/>
          <p:cNvSpPr/>
          <p:nvPr/>
        </p:nvSpPr>
        <p:spPr>
          <a:xfrm>
            <a:off x="6172200" y="4663440"/>
            <a:ext cx="5175504" cy="1143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82512" y="4892040"/>
            <a:ext cx="685800" cy="6858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RefreshCw_w.png"/>
          <p:cNvPicPr>
            <a:picLocks noChangeAspect="1"/>
          </p:cNvPicPr>
          <p:nvPr/>
        </p:nvPicPr>
        <p:blipFill>
          <a:blip r:embed="rId5"/>
          <a:stretch>
            <a:fillRect/>
          </a:stretch>
        </p:blipFill>
        <p:spPr>
          <a:xfrm>
            <a:off x="6547104" y="5056631"/>
            <a:ext cx="356616" cy="356616"/>
          </a:xfrm>
          <a:prstGeom prst="rect">
            <a:avLst/>
          </a:prstGeom>
        </p:spPr>
      </p:pic>
      <p:sp>
        <p:nvSpPr>
          <p:cNvPr id="18" name="TextBox 17"/>
          <p:cNvSpPr txBox="1"/>
          <p:nvPr/>
        </p:nvSpPr>
        <p:spPr>
          <a:xfrm>
            <a:off x="7269480" y="4818888"/>
            <a:ext cx="3849624" cy="365760"/>
          </a:xfrm>
          <a:prstGeom prst="rect">
            <a:avLst/>
          </a:prstGeom>
          <a:noFill/>
        </p:spPr>
        <p:txBody>
          <a:bodyPr wrap="square" lIns="0" rIns="0" tIns="0" bIns="0" anchor="t"/>
          <a:lstStyle/>
          <a:p>
            <a:pPr algn="l">
              <a:spcAft>
                <a:spcPts val="400"/>
              </a:spcAft>
              <a:buNone/>
            </a:pPr>
            <a:r>
              <a:rPr sz="1700" b="1" i="0">
                <a:solidFill>
                  <a:srgbClr val="0E1F53"/>
                </a:solidFill>
                <a:latin typeface="Roboto"/>
              </a:rPr>
              <a:t>Prozess</a:t>
            </a:r>
          </a:p>
        </p:txBody>
      </p:sp>
      <p:sp>
        <p:nvSpPr>
          <p:cNvPr id="19" name="TextBox 18"/>
          <p:cNvSpPr txBox="1"/>
          <p:nvPr/>
        </p:nvSpPr>
        <p:spPr>
          <a:xfrm>
            <a:off x="7269480" y="5193792"/>
            <a:ext cx="3849624" cy="548640"/>
          </a:xfrm>
          <a:prstGeom prst="rect">
            <a:avLst/>
          </a:prstGeom>
          <a:noFill/>
        </p:spPr>
        <p:txBody>
          <a:bodyPr wrap="square" lIns="0" rIns="0" tIns="0" bIns="0" anchor="t"/>
          <a:lstStyle/>
          <a:p>
            <a:pPr algn="l">
              <a:spcAft>
                <a:spcPts val="400"/>
              </a:spcAft>
              <a:buNone/>
            </a:pPr>
            <a:r>
              <a:rPr sz="1350" b="0" i="0">
                <a:solidFill>
                  <a:srgbClr val="0E1F53"/>
                </a:solidFill>
                <a:latin typeface="Roboto"/>
              </a:rPr>
              <a:t>Sechs Phasen, die in Schleifen durchlaufen werden</a:t>
            </a:r>
          </a:p>
        </p:txBody>
      </p:sp>
      <p:sp>
        <p:nvSpPr>
          <p:cNvPr id="20" name="TextBox 19"/>
          <p:cNvSpPr txBox="1"/>
          <p:nvPr/>
        </p:nvSpPr>
        <p:spPr>
          <a:xfrm>
            <a:off x="841248" y="5074920"/>
            <a:ext cx="4937760" cy="731520"/>
          </a:xfrm>
          <a:prstGeom prst="rect">
            <a:avLst/>
          </a:prstGeom>
          <a:noFill/>
        </p:spPr>
        <p:txBody>
          <a:bodyPr wrap="square" lIns="0" rIns="0" tIns="0" bIns="0" anchor="t"/>
          <a:lstStyle/>
          <a:p>
            <a:pPr algn="l">
              <a:spcAft>
                <a:spcPts val="400"/>
              </a:spcAft>
              <a:buNone/>
            </a:pPr>
            <a:r>
              <a:rPr sz="1300" b="0" i="1">
                <a:solidFill>
                  <a:srgbClr val="5A6684"/>
                </a:solidFill>
                <a:latin typeface="Roboto"/>
              </a:rPr>
              <a:t>Die drei Erfolgsfaktoren nach der HPI School of Design Thinking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Der Design-Thinking-Prozess in sechs Phasen</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SCHAUBILD</a:t>
            </a:r>
          </a:p>
        </p:txBody>
      </p:sp>
      <p:sp>
        <p:nvSpPr>
          <p:cNvPr id="4" name="Rounded Rectangle 3"/>
          <p:cNvSpPr/>
          <p:nvPr/>
        </p:nvSpPr>
        <p:spPr>
          <a:xfrm>
            <a:off x="841248" y="1965960"/>
            <a:ext cx="5116068" cy="384048"/>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965960"/>
            <a:ext cx="5116068" cy="384048"/>
          </a:xfrm>
          <a:prstGeom prst="rect">
            <a:avLst/>
          </a:prstGeom>
          <a:noFill/>
        </p:spPr>
        <p:txBody>
          <a:bodyPr wrap="square" lIns="0" rIns="0" tIns="0" bIns="0" anchor="ctr"/>
          <a:lstStyle/>
          <a:p>
            <a:pPr algn="ctr">
              <a:spcAft>
                <a:spcPts val="400"/>
              </a:spcAft>
              <a:buNone/>
            </a:pPr>
            <a:r>
              <a:rPr sz="1200" b="1" i="0">
                <a:solidFill>
                  <a:srgbClr val="FFFFFF"/>
                </a:solidFill>
                <a:latin typeface="Roboto"/>
              </a:rPr>
              <a:t>PROBLEMRAUM</a:t>
            </a:r>
          </a:p>
        </p:txBody>
      </p:sp>
      <p:sp>
        <p:nvSpPr>
          <p:cNvPr id="6" name="Rounded Rectangle 5"/>
          <p:cNvSpPr/>
          <p:nvPr/>
        </p:nvSpPr>
        <p:spPr>
          <a:xfrm>
            <a:off x="6231636" y="1965960"/>
            <a:ext cx="5116068" cy="384048"/>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31636" y="1965960"/>
            <a:ext cx="5116068" cy="384048"/>
          </a:xfrm>
          <a:prstGeom prst="rect">
            <a:avLst/>
          </a:prstGeom>
          <a:noFill/>
        </p:spPr>
        <p:txBody>
          <a:bodyPr wrap="square" lIns="0" rIns="0" tIns="0" bIns="0" anchor="ctr"/>
          <a:lstStyle/>
          <a:p>
            <a:pPr algn="ctr">
              <a:spcAft>
                <a:spcPts val="400"/>
              </a:spcAft>
              <a:buNone/>
            </a:pPr>
            <a:r>
              <a:rPr sz="1200" b="1" i="0">
                <a:solidFill>
                  <a:srgbClr val="FFFFFF"/>
                </a:solidFill>
                <a:latin typeface="Roboto"/>
              </a:rPr>
              <a:t>LÖSUNGSRAUM</a:t>
            </a:r>
          </a:p>
        </p:txBody>
      </p:sp>
      <p:sp>
        <p:nvSpPr>
          <p:cNvPr id="8" name="Rounded Rectangle 7"/>
          <p:cNvSpPr/>
          <p:nvPr/>
        </p:nvSpPr>
        <p:spPr>
          <a:xfrm>
            <a:off x="841248"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82445" y="2743200"/>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uSearch_w.png"/>
          <p:cNvPicPr>
            <a:picLocks noChangeAspect="1"/>
          </p:cNvPicPr>
          <p:nvPr/>
        </p:nvPicPr>
        <p:blipFill>
          <a:blip r:embed="rId3"/>
          <a:stretch>
            <a:fillRect/>
          </a:stretch>
        </p:blipFill>
        <p:spPr>
          <a:xfrm>
            <a:off x="1458010" y="2918764"/>
            <a:ext cx="380390" cy="380390"/>
          </a:xfrm>
          <a:prstGeom prst="rect">
            <a:avLst/>
          </a:prstGeom>
        </p:spPr>
      </p:pic>
      <p:sp>
        <p:nvSpPr>
          <p:cNvPr id="11" name="TextBox 10"/>
          <p:cNvSpPr txBox="1"/>
          <p:nvPr/>
        </p:nvSpPr>
        <p:spPr>
          <a:xfrm>
            <a:off x="932688" y="3566160"/>
            <a:ext cx="1431036" cy="274320"/>
          </a:xfrm>
          <a:prstGeom prst="rect">
            <a:avLst/>
          </a:prstGeom>
          <a:noFill/>
        </p:spPr>
        <p:txBody>
          <a:bodyPr wrap="square" lIns="0" rIns="0" tIns="0" bIns="0" anchor="t"/>
          <a:lstStyle/>
          <a:p>
            <a:pPr algn="ctr">
              <a:spcAft>
                <a:spcPts val="400"/>
              </a:spcAft>
              <a:buNone/>
            </a:pPr>
            <a:r>
              <a:rPr sz="1200" b="1" i="0">
                <a:solidFill>
                  <a:srgbClr val="0E1F53"/>
                </a:solidFill>
                <a:latin typeface="Roboto"/>
              </a:rPr>
              <a:t>1</a:t>
            </a:r>
          </a:p>
        </p:txBody>
      </p:sp>
      <p:sp>
        <p:nvSpPr>
          <p:cNvPr id="12" name="TextBox 11"/>
          <p:cNvSpPr txBox="1"/>
          <p:nvPr/>
        </p:nvSpPr>
        <p:spPr>
          <a:xfrm>
            <a:off x="932688"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Verstehen</a:t>
            </a:r>
          </a:p>
        </p:txBody>
      </p:sp>
      <p:sp>
        <p:nvSpPr>
          <p:cNvPr id="13" name="TextBox 12"/>
          <p:cNvSpPr txBox="1"/>
          <p:nvPr/>
        </p:nvSpPr>
        <p:spPr>
          <a:xfrm>
            <a:off x="950976"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Problem &amp; Umfeld klären</a:t>
            </a:r>
          </a:p>
        </p:txBody>
      </p:sp>
      <p:sp>
        <p:nvSpPr>
          <p:cNvPr id="14" name="Right Arrow 13"/>
          <p:cNvSpPr/>
          <p:nvPr/>
        </p:nvSpPr>
        <p:spPr>
          <a:xfrm>
            <a:off x="2436876" y="301752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619756"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060953" y="2743200"/>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Eye_w.png"/>
          <p:cNvPicPr>
            <a:picLocks noChangeAspect="1"/>
          </p:cNvPicPr>
          <p:nvPr/>
        </p:nvPicPr>
        <p:blipFill>
          <a:blip r:embed="rId4"/>
          <a:stretch>
            <a:fillRect/>
          </a:stretch>
        </p:blipFill>
        <p:spPr>
          <a:xfrm>
            <a:off x="3236518" y="2918764"/>
            <a:ext cx="380390" cy="380390"/>
          </a:xfrm>
          <a:prstGeom prst="rect">
            <a:avLst/>
          </a:prstGeom>
        </p:spPr>
      </p:pic>
      <p:sp>
        <p:nvSpPr>
          <p:cNvPr id="18" name="TextBox 17"/>
          <p:cNvSpPr txBox="1"/>
          <p:nvPr/>
        </p:nvSpPr>
        <p:spPr>
          <a:xfrm>
            <a:off x="2711196" y="3566160"/>
            <a:ext cx="1431036" cy="274320"/>
          </a:xfrm>
          <a:prstGeom prst="rect">
            <a:avLst/>
          </a:prstGeom>
          <a:noFill/>
        </p:spPr>
        <p:txBody>
          <a:bodyPr wrap="square" lIns="0" rIns="0" tIns="0" bIns="0" anchor="t"/>
          <a:lstStyle/>
          <a:p>
            <a:pPr algn="ctr">
              <a:spcAft>
                <a:spcPts val="400"/>
              </a:spcAft>
              <a:buNone/>
            </a:pPr>
            <a:r>
              <a:rPr sz="1200" b="1" i="0">
                <a:solidFill>
                  <a:srgbClr val="0E1F53"/>
                </a:solidFill>
                <a:latin typeface="Roboto"/>
              </a:rPr>
              <a:t>2</a:t>
            </a:r>
          </a:p>
        </p:txBody>
      </p:sp>
      <p:sp>
        <p:nvSpPr>
          <p:cNvPr id="19" name="TextBox 18"/>
          <p:cNvSpPr txBox="1"/>
          <p:nvPr/>
        </p:nvSpPr>
        <p:spPr>
          <a:xfrm>
            <a:off x="2711196"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Beobachten</a:t>
            </a:r>
          </a:p>
        </p:txBody>
      </p:sp>
      <p:sp>
        <p:nvSpPr>
          <p:cNvPr id="20" name="TextBox 19"/>
          <p:cNvSpPr txBox="1"/>
          <p:nvPr/>
        </p:nvSpPr>
        <p:spPr>
          <a:xfrm>
            <a:off x="2729484"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Nutzer:innen erleben &amp; befragen</a:t>
            </a:r>
          </a:p>
        </p:txBody>
      </p:sp>
      <p:sp>
        <p:nvSpPr>
          <p:cNvPr id="21" name="Right Arrow 20"/>
          <p:cNvSpPr/>
          <p:nvPr/>
        </p:nvSpPr>
        <p:spPr>
          <a:xfrm>
            <a:off x="4215384" y="301752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398264"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839462" y="2743200"/>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Target_w.png"/>
          <p:cNvPicPr>
            <a:picLocks noChangeAspect="1"/>
          </p:cNvPicPr>
          <p:nvPr/>
        </p:nvPicPr>
        <p:blipFill>
          <a:blip r:embed="rId5"/>
          <a:stretch>
            <a:fillRect/>
          </a:stretch>
        </p:blipFill>
        <p:spPr>
          <a:xfrm>
            <a:off x="5015026" y="2918764"/>
            <a:ext cx="380390" cy="380390"/>
          </a:xfrm>
          <a:prstGeom prst="rect">
            <a:avLst/>
          </a:prstGeom>
        </p:spPr>
      </p:pic>
      <p:sp>
        <p:nvSpPr>
          <p:cNvPr id="25" name="TextBox 24"/>
          <p:cNvSpPr txBox="1"/>
          <p:nvPr/>
        </p:nvSpPr>
        <p:spPr>
          <a:xfrm>
            <a:off x="4489703" y="3566160"/>
            <a:ext cx="1431036" cy="274320"/>
          </a:xfrm>
          <a:prstGeom prst="rect">
            <a:avLst/>
          </a:prstGeom>
          <a:noFill/>
        </p:spPr>
        <p:txBody>
          <a:bodyPr wrap="square" lIns="0" rIns="0" tIns="0" bIns="0" anchor="t"/>
          <a:lstStyle/>
          <a:p>
            <a:pPr algn="ctr">
              <a:spcAft>
                <a:spcPts val="400"/>
              </a:spcAft>
              <a:buNone/>
            </a:pPr>
            <a:r>
              <a:rPr sz="1200" b="1" i="0">
                <a:solidFill>
                  <a:srgbClr val="0E1F53"/>
                </a:solidFill>
                <a:latin typeface="Roboto"/>
              </a:rPr>
              <a:t>3</a:t>
            </a:r>
          </a:p>
        </p:txBody>
      </p:sp>
      <p:sp>
        <p:nvSpPr>
          <p:cNvPr id="26" name="TextBox 25"/>
          <p:cNvSpPr txBox="1"/>
          <p:nvPr/>
        </p:nvSpPr>
        <p:spPr>
          <a:xfrm>
            <a:off x="4489703"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Sichtweise</a:t>
            </a:r>
          </a:p>
          <a:p>
            <a:pPr algn="ctr">
              <a:spcAft>
                <a:spcPts val="0"/>
              </a:spcAft>
              <a:buNone/>
            </a:pPr>
            <a:r>
              <a:rPr sz="1450" b="1" i="0">
                <a:solidFill>
                  <a:srgbClr val="0E1F53"/>
                </a:solidFill>
                <a:latin typeface="Roboto"/>
              </a:rPr>
              <a:t>definieren</a:t>
            </a:r>
          </a:p>
        </p:txBody>
      </p:sp>
      <p:sp>
        <p:nvSpPr>
          <p:cNvPr id="27" name="TextBox 26"/>
          <p:cNvSpPr txBox="1"/>
          <p:nvPr/>
        </p:nvSpPr>
        <p:spPr>
          <a:xfrm>
            <a:off x="4507992"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Erkenntnisse zu einer Sichtweise verdichten</a:t>
            </a:r>
          </a:p>
        </p:txBody>
      </p:sp>
      <p:sp>
        <p:nvSpPr>
          <p:cNvPr id="28" name="Right Arrow 27"/>
          <p:cNvSpPr/>
          <p:nvPr/>
        </p:nvSpPr>
        <p:spPr>
          <a:xfrm>
            <a:off x="5993892" y="301752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176771"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617969" y="2743200"/>
            <a:ext cx="731520" cy="7315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Lightbulb_w.png"/>
          <p:cNvPicPr>
            <a:picLocks noChangeAspect="1"/>
          </p:cNvPicPr>
          <p:nvPr/>
        </p:nvPicPr>
        <p:blipFill>
          <a:blip r:embed="rId6"/>
          <a:stretch>
            <a:fillRect/>
          </a:stretch>
        </p:blipFill>
        <p:spPr>
          <a:xfrm>
            <a:off x="6793534" y="2918764"/>
            <a:ext cx="380390" cy="380390"/>
          </a:xfrm>
          <a:prstGeom prst="rect">
            <a:avLst/>
          </a:prstGeom>
        </p:spPr>
      </p:pic>
      <p:sp>
        <p:nvSpPr>
          <p:cNvPr id="32" name="TextBox 31"/>
          <p:cNvSpPr txBox="1"/>
          <p:nvPr/>
        </p:nvSpPr>
        <p:spPr>
          <a:xfrm>
            <a:off x="6268211" y="3566160"/>
            <a:ext cx="1431036" cy="274320"/>
          </a:xfrm>
          <a:prstGeom prst="rect">
            <a:avLst/>
          </a:prstGeom>
          <a:noFill/>
        </p:spPr>
        <p:txBody>
          <a:bodyPr wrap="square" lIns="0" rIns="0" tIns="0" bIns="0" anchor="t"/>
          <a:lstStyle/>
          <a:p>
            <a:pPr algn="ctr">
              <a:spcAft>
                <a:spcPts val="400"/>
              </a:spcAft>
              <a:buNone/>
            </a:pPr>
            <a:r>
              <a:rPr sz="1200" b="1" i="0">
                <a:solidFill>
                  <a:srgbClr val="FB2762"/>
                </a:solidFill>
                <a:latin typeface="Roboto"/>
              </a:rPr>
              <a:t>4</a:t>
            </a:r>
          </a:p>
        </p:txBody>
      </p:sp>
      <p:sp>
        <p:nvSpPr>
          <p:cNvPr id="33" name="TextBox 32"/>
          <p:cNvSpPr txBox="1"/>
          <p:nvPr/>
        </p:nvSpPr>
        <p:spPr>
          <a:xfrm>
            <a:off x="6268211"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Ideen finden</a:t>
            </a:r>
          </a:p>
        </p:txBody>
      </p:sp>
      <p:sp>
        <p:nvSpPr>
          <p:cNvPr id="34" name="TextBox 33"/>
          <p:cNvSpPr txBox="1"/>
          <p:nvPr/>
        </p:nvSpPr>
        <p:spPr>
          <a:xfrm>
            <a:off x="6286499"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Viele Lösungsideen entwickeln</a:t>
            </a:r>
          </a:p>
        </p:txBody>
      </p:sp>
      <p:sp>
        <p:nvSpPr>
          <p:cNvPr id="35" name="Right Arrow 34"/>
          <p:cNvSpPr/>
          <p:nvPr/>
        </p:nvSpPr>
        <p:spPr>
          <a:xfrm>
            <a:off x="7772400" y="301752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7955279"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96478" y="2743200"/>
            <a:ext cx="731520" cy="7315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PencilRuler_w.png"/>
          <p:cNvPicPr>
            <a:picLocks noChangeAspect="1"/>
          </p:cNvPicPr>
          <p:nvPr/>
        </p:nvPicPr>
        <p:blipFill>
          <a:blip r:embed="rId7"/>
          <a:stretch>
            <a:fillRect/>
          </a:stretch>
        </p:blipFill>
        <p:spPr>
          <a:xfrm>
            <a:off x="8572042" y="2918764"/>
            <a:ext cx="380390" cy="380390"/>
          </a:xfrm>
          <a:prstGeom prst="rect">
            <a:avLst/>
          </a:prstGeom>
        </p:spPr>
      </p:pic>
      <p:sp>
        <p:nvSpPr>
          <p:cNvPr id="39" name="TextBox 38"/>
          <p:cNvSpPr txBox="1"/>
          <p:nvPr/>
        </p:nvSpPr>
        <p:spPr>
          <a:xfrm>
            <a:off x="8046719" y="3566160"/>
            <a:ext cx="1431036" cy="274320"/>
          </a:xfrm>
          <a:prstGeom prst="rect">
            <a:avLst/>
          </a:prstGeom>
          <a:noFill/>
        </p:spPr>
        <p:txBody>
          <a:bodyPr wrap="square" lIns="0" rIns="0" tIns="0" bIns="0" anchor="t"/>
          <a:lstStyle/>
          <a:p>
            <a:pPr algn="ctr">
              <a:spcAft>
                <a:spcPts val="400"/>
              </a:spcAft>
              <a:buNone/>
            </a:pPr>
            <a:r>
              <a:rPr sz="1200" b="1" i="0">
                <a:solidFill>
                  <a:srgbClr val="FB2762"/>
                </a:solidFill>
                <a:latin typeface="Roboto"/>
              </a:rPr>
              <a:t>5</a:t>
            </a:r>
          </a:p>
        </p:txBody>
      </p:sp>
      <p:sp>
        <p:nvSpPr>
          <p:cNvPr id="40" name="TextBox 39"/>
          <p:cNvSpPr txBox="1"/>
          <p:nvPr/>
        </p:nvSpPr>
        <p:spPr>
          <a:xfrm>
            <a:off x="8046719"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Prototypen</a:t>
            </a:r>
          </a:p>
        </p:txBody>
      </p:sp>
      <p:sp>
        <p:nvSpPr>
          <p:cNvPr id="41" name="TextBox 40"/>
          <p:cNvSpPr txBox="1"/>
          <p:nvPr/>
        </p:nvSpPr>
        <p:spPr>
          <a:xfrm>
            <a:off x="8065007"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Ideen greifbar machen</a:t>
            </a:r>
          </a:p>
        </p:txBody>
      </p:sp>
      <p:sp>
        <p:nvSpPr>
          <p:cNvPr id="42" name="Right Arrow 41"/>
          <p:cNvSpPr/>
          <p:nvPr/>
        </p:nvSpPr>
        <p:spPr>
          <a:xfrm>
            <a:off x="9550908" y="301752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9733788" y="2560320"/>
            <a:ext cx="1613916"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10174986" y="2743200"/>
            <a:ext cx="731520" cy="7315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LuFlaskConical_w.png"/>
          <p:cNvPicPr>
            <a:picLocks noChangeAspect="1"/>
          </p:cNvPicPr>
          <p:nvPr/>
        </p:nvPicPr>
        <p:blipFill>
          <a:blip r:embed="rId8"/>
          <a:stretch>
            <a:fillRect/>
          </a:stretch>
        </p:blipFill>
        <p:spPr>
          <a:xfrm>
            <a:off x="10350550" y="2918764"/>
            <a:ext cx="380390" cy="380390"/>
          </a:xfrm>
          <a:prstGeom prst="rect">
            <a:avLst/>
          </a:prstGeom>
        </p:spPr>
      </p:pic>
      <p:sp>
        <p:nvSpPr>
          <p:cNvPr id="46" name="TextBox 45"/>
          <p:cNvSpPr txBox="1"/>
          <p:nvPr/>
        </p:nvSpPr>
        <p:spPr>
          <a:xfrm>
            <a:off x="9825228" y="3566160"/>
            <a:ext cx="1431036" cy="274320"/>
          </a:xfrm>
          <a:prstGeom prst="rect">
            <a:avLst/>
          </a:prstGeom>
          <a:noFill/>
        </p:spPr>
        <p:txBody>
          <a:bodyPr wrap="square" lIns="0" rIns="0" tIns="0" bIns="0" anchor="t"/>
          <a:lstStyle/>
          <a:p>
            <a:pPr algn="ctr">
              <a:spcAft>
                <a:spcPts val="400"/>
              </a:spcAft>
              <a:buNone/>
            </a:pPr>
            <a:r>
              <a:rPr sz="1200" b="1" i="0">
                <a:solidFill>
                  <a:srgbClr val="FB2762"/>
                </a:solidFill>
                <a:latin typeface="Roboto"/>
              </a:rPr>
              <a:t>6</a:t>
            </a:r>
          </a:p>
        </p:txBody>
      </p:sp>
      <p:sp>
        <p:nvSpPr>
          <p:cNvPr id="47" name="TextBox 46"/>
          <p:cNvSpPr txBox="1"/>
          <p:nvPr/>
        </p:nvSpPr>
        <p:spPr>
          <a:xfrm>
            <a:off x="9825228" y="3813048"/>
            <a:ext cx="1431036" cy="502920"/>
          </a:xfrm>
          <a:prstGeom prst="rect">
            <a:avLst/>
          </a:prstGeom>
          <a:noFill/>
        </p:spPr>
        <p:txBody>
          <a:bodyPr wrap="square" lIns="0" rIns="0" tIns="0" bIns="0" anchor="t"/>
          <a:lstStyle/>
          <a:p>
            <a:pPr algn="ctr">
              <a:spcAft>
                <a:spcPts val="0"/>
              </a:spcAft>
              <a:buNone/>
            </a:pPr>
            <a:r>
              <a:rPr sz="1450" b="1" i="0">
                <a:solidFill>
                  <a:srgbClr val="0E1F53"/>
                </a:solidFill>
                <a:latin typeface="Roboto"/>
              </a:rPr>
              <a:t>Testen</a:t>
            </a:r>
          </a:p>
        </p:txBody>
      </p:sp>
      <p:sp>
        <p:nvSpPr>
          <p:cNvPr id="48" name="TextBox 47"/>
          <p:cNvSpPr txBox="1"/>
          <p:nvPr/>
        </p:nvSpPr>
        <p:spPr>
          <a:xfrm>
            <a:off x="9843515" y="4315968"/>
            <a:ext cx="1394460" cy="548640"/>
          </a:xfrm>
          <a:prstGeom prst="rect">
            <a:avLst/>
          </a:prstGeom>
          <a:noFill/>
        </p:spPr>
        <p:txBody>
          <a:bodyPr wrap="square" lIns="0" rIns="0" tIns="0" bIns="0" anchor="t"/>
          <a:lstStyle/>
          <a:p>
            <a:pPr algn="ctr">
              <a:spcAft>
                <a:spcPts val="400"/>
              </a:spcAft>
              <a:buNone/>
            </a:pPr>
            <a:r>
              <a:rPr sz="1150" b="0" i="0">
                <a:solidFill>
                  <a:srgbClr val="5A6684"/>
                </a:solidFill>
                <a:latin typeface="Roboto"/>
              </a:rPr>
              <a:t>Mit echten Nutzer:innen prüfen</a:t>
            </a:r>
          </a:p>
        </p:txBody>
      </p:sp>
      <p:cxnSp>
        <p:nvCxnSpPr>
          <p:cNvPr id="49" name="Connector 48"/>
          <p:cNvCxnSpPr/>
          <p:nvPr/>
        </p:nvCxnSpPr>
        <p:spPr>
          <a:xfrm>
            <a:off x="10540746" y="4892040"/>
            <a:ext cx="0" cy="365760"/>
          </a:xfrm>
          <a:prstGeom prst="line">
            <a:avLst/>
          </a:prstGeom>
          <a:ln w="25400">
            <a:solidFill>
              <a:srgbClr val="FB276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648206" y="5257800"/>
            <a:ext cx="8892540" cy="0"/>
          </a:xfrm>
          <a:prstGeom prst="line">
            <a:avLst/>
          </a:prstGeom>
          <a:ln w="25400">
            <a:solidFill>
              <a:srgbClr val="FB2762"/>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648206" y="4910328"/>
            <a:ext cx="0" cy="347472"/>
          </a:xfrm>
          <a:prstGeom prst="line">
            <a:avLst/>
          </a:prstGeom>
          <a:ln w="25400">
            <a:solidFill>
              <a:srgbClr val="FB2762"/>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426713" y="4910328"/>
            <a:ext cx="0" cy="347472"/>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205222" y="4910328"/>
            <a:ext cx="0" cy="347472"/>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983729" y="4910328"/>
            <a:ext cx="0" cy="347472"/>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762238" y="4910328"/>
            <a:ext cx="0" cy="347472"/>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3218688" y="5440680"/>
            <a:ext cx="5751576"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18688" y="5440680"/>
            <a:ext cx="5751576" cy="457200"/>
          </a:xfrm>
          <a:prstGeom prst="rect">
            <a:avLst/>
          </a:prstGeom>
          <a:noFill/>
        </p:spPr>
        <p:txBody>
          <a:bodyPr wrap="square" lIns="0" rIns="0" tIns="0" bIns="0" anchor="ctr"/>
          <a:lstStyle/>
          <a:p>
            <a:pPr algn="ctr">
              <a:spcAft>
                <a:spcPts val="400"/>
              </a:spcAft>
              <a:buNone/>
            </a:pPr>
            <a:r>
              <a:rPr sz="1350" b="1" i="0">
                <a:solidFill>
                  <a:srgbClr val="FB2762"/>
                </a:solidFill>
                <a:latin typeface="Roboto"/>
              </a:rPr>
              <a:t>Iteration: </a:t>
            </a:r>
            <a:r>
              <a:rPr sz="1350" b="0" i="0">
                <a:solidFill>
                  <a:srgbClr val="0E1F53"/>
                </a:solidFill>
                <a:latin typeface="Roboto"/>
              </a:rPr>
              <a:t>Jeder Test kann in jede frühere Phase zurückführen.</a:t>
            </a:r>
          </a:p>
        </p:txBody>
      </p:sp>
      <p:sp>
        <p:nvSpPr>
          <p:cNvPr id="58" name="TextBox 57"/>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Prozessmodell nach HPI School of Design Thinking, Potsdam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Öffnen und fokussieren: der Rhythmus des Prozesses</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Diamond 3"/>
          <p:cNvSpPr/>
          <p:nvPr/>
        </p:nvSpPr>
        <p:spPr>
          <a:xfrm>
            <a:off x="841248" y="2103120"/>
            <a:ext cx="5070348" cy="2651760"/>
          </a:xfrm>
          <a:prstGeom prst="diamond">
            <a:avLst/>
          </a:prstGeom>
          <a:solidFill>
            <a:srgbClr val="0E1F53">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3376422" y="2194560"/>
            <a:ext cx="0" cy="2468880"/>
          </a:xfrm>
          <a:prstGeom prst="line">
            <a:avLst/>
          </a:prstGeom>
          <a:ln w="15875">
            <a:solidFill>
              <a:srgbClr val="0E1F53"/>
            </a:solidFill>
            <a:prstDash val="dash"/>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44168" y="3063240"/>
            <a:ext cx="1940814" cy="731520"/>
          </a:xfrm>
          <a:prstGeom prst="rect">
            <a:avLst/>
          </a:prstGeom>
          <a:noFill/>
        </p:spPr>
        <p:txBody>
          <a:bodyPr wrap="square" lIns="0" rIns="0" tIns="0" bIns="0" anchor="t"/>
          <a:lstStyle/>
          <a:p>
            <a:pPr algn="ctr">
              <a:spcAft>
                <a:spcPts val="400"/>
              </a:spcAft>
              <a:buNone/>
            </a:pPr>
            <a:r>
              <a:rPr sz="1500" b="1" i="0">
                <a:solidFill>
                  <a:srgbClr val="0E1F53"/>
                </a:solidFill>
                <a:latin typeface="Roboto"/>
              </a:rPr>
              <a:t>divergieren</a:t>
            </a:r>
          </a:p>
          <a:p>
            <a:pPr algn="ctr">
              <a:spcAft>
                <a:spcPts val="400"/>
              </a:spcAft>
              <a:buNone/>
            </a:pPr>
            <a:r>
              <a:rPr sz="1300" b="0" i="0">
                <a:solidFill>
                  <a:srgbClr val="0E1F53"/>
                </a:solidFill>
                <a:latin typeface="Roboto"/>
              </a:rPr>
              <a:t>Problem erkunden</a:t>
            </a:r>
          </a:p>
        </p:txBody>
      </p:sp>
      <p:sp>
        <p:nvSpPr>
          <p:cNvPr id="7" name="TextBox 6"/>
          <p:cNvSpPr txBox="1"/>
          <p:nvPr/>
        </p:nvSpPr>
        <p:spPr>
          <a:xfrm>
            <a:off x="3467862" y="3063240"/>
            <a:ext cx="1940814" cy="731520"/>
          </a:xfrm>
          <a:prstGeom prst="rect">
            <a:avLst/>
          </a:prstGeom>
          <a:noFill/>
        </p:spPr>
        <p:txBody>
          <a:bodyPr wrap="square" lIns="0" rIns="0" tIns="0" bIns="0" anchor="t"/>
          <a:lstStyle/>
          <a:p>
            <a:pPr algn="ctr">
              <a:spcAft>
                <a:spcPts val="400"/>
              </a:spcAft>
              <a:buNone/>
            </a:pPr>
            <a:r>
              <a:rPr sz="1500" b="1" i="0">
                <a:solidFill>
                  <a:srgbClr val="0E1F53"/>
                </a:solidFill>
                <a:latin typeface="Roboto"/>
              </a:rPr>
              <a:t>konvergieren</a:t>
            </a:r>
          </a:p>
          <a:p>
            <a:pPr algn="ctr">
              <a:spcAft>
                <a:spcPts val="400"/>
              </a:spcAft>
              <a:buNone/>
            </a:pPr>
            <a:r>
              <a:rPr sz="1300" b="0" i="0">
                <a:solidFill>
                  <a:srgbClr val="0E1F53"/>
                </a:solidFill>
                <a:latin typeface="Roboto"/>
              </a:rPr>
              <a:t>Fokus finden</a:t>
            </a:r>
          </a:p>
        </p:txBody>
      </p:sp>
      <p:sp>
        <p:nvSpPr>
          <p:cNvPr id="8" name="TextBox 7"/>
          <p:cNvSpPr txBox="1"/>
          <p:nvPr/>
        </p:nvSpPr>
        <p:spPr>
          <a:xfrm>
            <a:off x="841248" y="4800600"/>
            <a:ext cx="5070348"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Phasen 1–3  →  Sichtweise (POV)</a:t>
            </a:r>
          </a:p>
        </p:txBody>
      </p:sp>
      <p:sp>
        <p:nvSpPr>
          <p:cNvPr id="9" name="Diamond 8"/>
          <p:cNvSpPr/>
          <p:nvPr/>
        </p:nvSpPr>
        <p:spPr>
          <a:xfrm>
            <a:off x="6277356" y="2103120"/>
            <a:ext cx="5070348" cy="2651760"/>
          </a:xfrm>
          <a:prstGeom prst="diamond">
            <a:avLst/>
          </a:prstGeom>
          <a:solidFill>
            <a:srgbClr val="FB2762">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8812530" y="2194560"/>
            <a:ext cx="0" cy="2468880"/>
          </a:xfrm>
          <a:prstGeom prst="line">
            <a:avLst/>
          </a:prstGeom>
          <a:ln w="15875">
            <a:solidFill>
              <a:srgbClr val="FB2762"/>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780276" y="3063240"/>
            <a:ext cx="1940814" cy="731520"/>
          </a:xfrm>
          <a:prstGeom prst="rect">
            <a:avLst/>
          </a:prstGeom>
          <a:noFill/>
        </p:spPr>
        <p:txBody>
          <a:bodyPr wrap="square" lIns="0" rIns="0" tIns="0" bIns="0" anchor="t"/>
          <a:lstStyle/>
          <a:p>
            <a:pPr algn="ctr">
              <a:spcAft>
                <a:spcPts val="400"/>
              </a:spcAft>
              <a:buNone/>
            </a:pPr>
            <a:r>
              <a:rPr sz="1500" b="1" i="0">
                <a:solidFill>
                  <a:srgbClr val="FB2762"/>
                </a:solidFill>
                <a:latin typeface="Roboto"/>
              </a:rPr>
              <a:t>divergieren</a:t>
            </a:r>
          </a:p>
          <a:p>
            <a:pPr algn="ctr">
              <a:spcAft>
                <a:spcPts val="400"/>
              </a:spcAft>
              <a:buNone/>
            </a:pPr>
            <a:r>
              <a:rPr sz="1300" b="0" i="0">
                <a:solidFill>
                  <a:srgbClr val="0E1F53"/>
                </a:solidFill>
                <a:latin typeface="Roboto"/>
              </a:rPr>
              <a:t>Lösungen erkunden</a:t>
            </a:r>
          </a:p>
        </p:txBody>
      </p:sp>
      <p:sp>
        <p:nvSpPr>
          <p:cNvPr id="12" name="TextBox 11"/>
          <p:cNvSpPr txBox="1"/>
          <p:nvPr/>
        </p:nvSpPr>
        <p:spPr>
          <a:xfrm>
            <a:off x="8903969" y="3063240"/>
            <a:ext cx="1940814" cy="731520"/>
          </a:xfrm>
          <a:prstGeom prst="rect">
            <a:avLst/>
          </a:prstGeom>
          <a:noFill/>
        </p:spPr>
        <p:txBody>
          <a:bodyPr wrap="square" lIns="0" rIns="0" tIns="0" bIns="0" anchor="t"/>
          <a:lstStyle/>
          <a:p>
            <a:pPr algn="ctr">
              <a:spcAft>
                <a:spcPts val="400"/>
              </a:spcAft>
              <a:buNone/>
            </a:pPr>
            <a:r>
              <a:rPr sz="1500" b="1" i="0">
                <a:solidFill>
                  <a:srgbClr val="FB2762"/>
                </a:solidFill>
                <a:latin typeface="Roboto"/>
              </a:rPr>
              <a:t>konvergieren</a:t>
            </a:r>
          </a:p>
          <a:p>
            <a:pPr algn="ctr">
              <a:spcAft>
                <a:spcPts val="400"/>
              </a:spcAft>
              <a:buNone/>
            </a:pPr>
            <a:r>
              <a:rPr sz="1300" b="0" i="0">
                <a:solidFill>
                  <a:srgbClr val="0E1F53"/>
                </a:solidFill>
                <a:latin typeface="Roboto"/>
              </a:rPr>
              <a:t>Lösung auswählen</a:t>
            </a:r>
          </a:p>
        </p:txBody>
      </p:sp>
      <p:sp>
        <p:nvSpPr>
          <p:cNvPr id="13" name="TextBox 12"/>
          <p:cNvSpPr txBox="1"/>
          <p:nvPr/>
        </p:nvSpPr>
        <p:spPr>
          <a:xfrm>
            <a:off x="6277356" y="4800600"/>
            <a:ext cx="5070348" cy="320040"/>
          </a:xfrm>
          <a:prstGeom prst="rect">
            <a:avLst/>
          </a:prstGeom>
          <a:noFill/>
        </p:spPr>
        <p:txBody>
          <a:bodyPr wrap="square" lIns="0" rIns="0" tIns="0" bIns="0" anchor="t"/>
          <a:lstStyle/>
          <a:p>
            <a:pPr algn="ctr">
              <a:spcAft>
                <a:spcPts val="400"/>
              </a:spcAft>
              <a:buNone/>
            </a:pPr>
            <a:r>
              <a:rPr sz="1400" b="1" i="0">
                <a:solidFill>
                  <a:srgbClr val="FB2762"/>
                </a:solidFill>
                <a:latin typeface="Roboto"/>
              </a:rPr>
              <a:t>Phasen 4–6  →  getestete Lösung</a:t>
            </a:r>
          </a:p>
        </p:txBody>
      </p:sp>
      <p:sp>
        <p:nvSpPr>
          <p:cNvPr id="14" name="Rounded Rectangle 13"/>
          <p:cNvSpPr/>
          <p:nvPr/>
        </p:nvSpPr>
        <p:spPr>
          <a:xfrm>
            <a:off x="841248" y="5349240"/>
            <a:ext cx="10506456" cy="64008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500" b="1" i="0">
                <a:solidFill>
                  <a:srgbClr val="9FD0FF"/>
                </a:solidFill>
                <a:latin typeface="Roboto"/>
              </a:rPr>
              <a:t>Typischer Fehler: </a:t>
            </a:r>
            <a:r>
              <a:rPr sz="1500" b="0" i="0">
                <a:solidFill>
                  <a:srgbClr val="FFFFFF"/>
                </a:solidFill>
                <a:latin typeface="Roboto"/>
              </a:rPr>
              <a:t>Sofort in den Lösungsraum springen. Wer das falsche Problem löst, löst es meist sehr effizient.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Gute Innovation liegt in der Schnittmenge</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1577340" y="2217420"/>
            <a:ext cx="2331720" cy="2331720"/>
          </a:xfrm>
          <a:prstGeom prst="ellipse">
            <a:avLst/>
          </a:prstGeom>
          <a:solidFill>
            <a:srgbClr val="1E8E4E">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3040379" y="2217420"/>
            <a:ext cx="2331720" cy="2331720"/>
          </a:xfrm>
          <a:prstGeom prst="ellipse">
            <a:avLst/>
          </a:prstGeom>
          <a:solidFill>
            <a:srgbClr val="1F6FD1">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308860" y="3406140"/>
            <a:ext cx="2331720" cy="2331720"/>
          </a:xfrm>
          <a:prstGeom prst="ellipse">
            <a:avLst/>
          </a:prstGeom>
          <a:solidFill>
            <a:srgbClr val="FB2762">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17319" y="2331720"/>
            <a:ext cx="1463040" cy="640080"/>
          </a:xfrm>
          <a:prstGeom prst="rect">
            <a:avLst/>
          </a:prstGeom>
          <a:noFill/>
        </p:spPr>
        <p:txBody>
          <a:bodyPr wrap="square" lIns="0" rIns="0" tIns="0" bIns="0" anchor="t"/>
          <a:lstStyle/>
          <a:p>
            <a:pPr algn="ctr">
              <a:spcAft>
                <a:spcPts val="400"/>
              </a:spcAft>
              <a:buNone/>
            </a:pPr>
            <a:r>
              <a:rPr sz="1500" b="1" i="0">
                <a:solidFill>
                  <a:srgbClr val="1E8E4E"/>
                </a:solidFill>
                <a:latin typeface="Roboto"/>
              </a:rPr>
              <a:t>Erwünscht</a:t>
            </a:r>
          </a:p>
        </p:txBody>
      </p:sp>
      <p:sp>
        <p:nvSpPr>
          <p:cNvPr id="8" name="TextBox 7"/>
          <p:cNvSpPr txBox="1"/>
          <p:nvPr/>
        </p:nvSpPr>
        <p:spPr>
          <a:xfrm>
            <a:off x="4069080" y="2331720"/>
            <a:ext cx="1463040" cy="640080"/>
          </a:xfrm>
          <a:prstGeom prst="rect">
            <a:avLst/>
          </a:prstGeom>
          <a:noFill/>
        </p:spPr>
        <p:txBody>
          <a:bodyPr wrap="square" lIns="0" rIns="0" tIns="0" bIns="0" anchor="t"/>
          <a:lstStyle/>
          <a:p>
            <a:pPr algn="ctr">
              <a:spcAft>
                <a:spcPts val="400"/>
              </a:spcAft>
              <a:buNone/>
            </a:pPr>
            <a:r>
              <a:rPr sz="1500" b="1" i="0">
                <a:solidFill>
                  <a:srgbClr val="1F6FD1"/>
                </a:solidFill>
                <a:latin typeface="Roboto"/>
              </a:rPr>
              <a:t>Machbar</a:t>
            </a:r>
          </a:p>
        </p:txBody>
      </p:sp>
      <p:sp>
        <p:nvSpPr>
          <p:cNvPr id="9" name="TextBox 8"/>
          <p:cNvSpPr txBox="1"/>
          <p:nvPr/>
        </p:nvSpPr>
        <p:spPr>
          <a:xfrm>
            <a:off x="2743200" y="5166360"/>
            <a:ext cx="1463040" cy="365760"/>
          </a:xfrm>
          <a:prstGeom prst="rect">
            <a:avLst/>
          </a:prstGeom>
          <a:noFill/>
        </p:spPr>
        <p:txBody>
          <a:bodyPr wrap="square" lIns="0" rIns="0" tIns="0" bIns="0" anchor="t"/>
          <a:lstStyle/>
          <a:p>
            <a:pPr algn="ctr">
              <a:spcAft>
                <a:spcPts val="400"/>
              </a:spcAft>
              <a:buNone/>
            </a:pPr>
            <a:r>
              <a:rPr sz="1500" b="1" i="0">
                <a:solidFill>
                  <a:srgbClr val="FB2762"/>
                </a:solidFill>
                <a:latin typeface="Roboto"/>
              </a:rPr>
              <a:t>Wirtschaftlich</a:t>
            </a:r>
          </a:p>
        </p:txBody>
      </p:sp>
      <p:sp>
        <p:nvSpPr>
          <p:cNvPr id="10" name="Oval 9"/>
          <p:cNvSpPr/>
          <p:nvPr/>
        </p:nvSpPr>
        <p:spPr>
          <a:xfrm>
            <a:off x="3172968" y="3538728"/>
            <a:ext cx="603504" cy="60350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parkles_w.png"/>
          <p:cNvPicPr>
            <a:picLocks noChangeAspect="1"/>
          </p:cNvPicPr>
          <p:nvPr/>
        </p:nvPicPr>
        <p:blipFill>
          <a:blip r:embed="rId3"/>
          <a:stretch>
            <a:fillRect/>
          </a:stretch>
        </p:blipFill>
        <p:spPr>
          <a:xfrm>
            <a:off x="3317808" y="3683568"/>
            <a:ext cx="313822" cy="313822"/>
          </a:xfrm>
          <a:prstGeom prst="rect">
            <a:avLst/>
          </a:prstGeom>
        </p:spPr>
      </p:pic>
      <p:sp>
        <p:nvSpPr>
          <p:cNvPr id="12" name="Rounded Rectangle 11"/>
          <p:cNvSpPr/>
          <p:nvPr/>
        </p:nvSpPr>
        <p:spPr>
          <a:xfrm>
            <a:off x="6309360" y="2148840"/>
            <a:ext cx="503834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10528" y="2350008"/>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31152" y="2286000"/>
            <a:ext cx="4215384" cy="384048"/>
          </a:xfrm>
          <a:prstGeom prst="rect">
            <a:avLst/>
          </a:prstGeom>
          <a:noFill/>
        </p:spPr>
        <p:txBody>
          <a:bodyPr wrap="square" lIns="0" rIns="0" tIns="0" bIns="0" anchor="t"/>
          <a:lstStyle/>
          <a:p>
            <a:pPr algn="l">
              <a:spcAft>
                <a:spcPts val="400"/>
              </a:spcAft>
              <a:buNone/>
            </a:pPr>
            <a:r>
              <a:rPr sz="1600" b="1" i="0">
                <a:solidFill>
                  <a:srgbClr val="1E8E4E"/>
                </a:solidFill>
                <a:latin typeface="Roboto"/>
              </a:rPr>
              <a:t>Erwünscht (Mensch)</a:t>
            </a:r>
          </a:p>
        </p:txBody>
      </p:sp>
      <p:sp>
        <p:nvSpPr>
          <p:cNvPr id="15" name="TextBox 14"/>
          <p:cNvSpPr txBox="1"/>
          <p:nvPr/>
        </p:nvSpPr>
        <p:spPr>
          <a:xfrm>
            <a:off x="6931152" y="2651760"/>
            <a:ext cx="4215384" cy="502920"/>
          </a:xfrm>
          <a:prstGeom prst="rect">
            <a:avLst/>
          </a:prstGeom>
          <a:noFill/>
        </p:spPr>
        <p:txBody>
          <a:bodyPr wrap="square" lIns="0" rIns="0" tIns="0" bIns="0" anchor="t"/>
          <a:lstStyle/>
          <a:p>
            <a:pPr algn="l">
              <a:spcAft>
                <a:spcPts val="400"/>
              </a:spcAft>
              <a:buNone/>
            </a:pPr>
            <a:r>
              <a:rPr sz="1350" b="0" i="0">
                <a:solidFill>
                  <a:srgbClr val="0E1F53"/>
                </a:solidFill>
                <a:latin typeface="Roboto"/>
              </a:rPr>
              <a:t>Wollen die Menschen das wirklich? Löst es ein echtes Problem?</a:t>
            </a:r>
          </a:p>
        </p:txBody>
      </p:sp>
      <p:sp>
        <p:nvSpPr>
          <p:cNvPr id="16" name="Rounded Rectangle 15"/>
          <p:cNvSpPr/>
          <p:nvPr/>
        </p:nvSpPr>
        <p:spPr>
          <a:xfrm>
            <a:off x="6309360" y="3383280"/>
            <a:ext cx="503834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510528" y="3584448"/>
            <a:ext cx="274320" cy="27432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31152" y="3520440"/>
            <a:ext cx="4215384" cy="384048"/>
          </a:xfrm>
          <a:prstGeom prst="rect">
            <a:avLst/>
          </a:prstGeom>
          <a:noFill/>
        </p:spPr>
        <p:txBody>
          <a:bodyPr wrap="square" lIns="0" rIns="0" tIns="0" bIns="0" anchor="t"/>
          <a:lstStyle/>
          <a:p>
            <a:pPr algn="l">
              <a:spcAft>
                <a:spcPts val="400"/>
              </a:spcAft>
              <a:buNone/>
            </a:pPr>
            <a:r>
              <a:rPr sz="1600" b="1" i="0">
                <a:solidFill>
                  <a:srgbClr val="1F6FD1"/>
                </a:solidFill>
                <a:latin typeface="Roboto"/>
              </a:rPr>
              <a:t>Machbar (Technik)</a:t>
            </a:r>
          </a:p>
        </p:txBody>
      </p:sp>
      <p:sp>
        <p:nvSpPr>
          <p:cNvPr id="19" name="TextBox 18"/>
          <p:cNvSpPr txBox="1"/>
          <p:nvPr/>
        </p:nvSpPr>
        <p:spPr>
          <a:xfrm>
            <a:off x="6931152" y="3886200"/>
            <a:ext cx="4215384" cy="502920"/>
          </a:xfrm>
          <a:prstGeom prst="rect">
            <a:avLst/>
          </a:prstGeom>
          <a:noFill/>
        </p:spPr>
        <p:txBody>
          <a:bodyPr wrap="square" lIns="0" rIns="0" tIns="0" bIns="0" anchor="t"/>
          <a:lstStyle/>
          <a:p>
            <a:pPr algn="l">
              <a:spcAft>
                <a:spcPts val="400"/>
              </a:spcAft>
              <a:buNone/>
            </a:pPr>
            <a:r>
              <a:rPr sz="1350" b="0" i="0">
                <a:solidFill>
                  <a:srgbClr val="0E1F53"/>
                </a:solidFill>
                <a:latin typeface="Roboto"/>
              </a:rPr>
              <a:t>Können wir das mit unseren Mitteln, Daten und Partnern umsetzen?</a:t>
            </a:r>
          </a:p>
        </p:txBody>
      </p:sp>
      <p:sp>
        <p:nvSpPr>
          <p:cNvPr id="20" name="Rounded Rectangle 19"/>
          <p:cNvSpPr/>
          <p:nvPr/>
        </p:nvSpPr>
        <p:spPr>
          <a:xfrm>
            <a:off x="6309360" y="4617720"/>
            <a:ext cx="503834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510528" y="4818888"/>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31152" y="4754880"/>
            <a:ext cx="4215384" cy="384048"/>
          </a:xfrm>
          <a:prstGeom prst="rect">
            <a:avLst/>
          </a:prstGeom>
          <a:noFill/>
        </p:spPr>
        <p:txBody>
          <a:bodyPr wrap="square" lIns="0" rIns="0" tIns="0" bIns="0" anchor="t"/>
          <a:lstStyle/>
          <a:p>
            <a:pPr algn="l">
              <a:spcAft>
                <a:spcPts val="400"/>
              </a:spcAft>
              <a:buNone/>
            </a:pPr>
            <a:r>
              <a:rPr sz="1600" b="1" i="0">
                <a:solidFill>
                  <a:srgbClr val="FB2762"/>
                </a:solidFill>
                <a:latin typeface="Roboto"/>
              </a:rPr>
              <a:t>Wirtschaftlich (Business)</a:t>
            </a:r>
          </a:p>
        </p:txBody>
      </p:sp>
      <p:sp>
        <p:nvSpPr>
          <p:cNvPr id="23" name="TextBox 22"/>
          <p:cNvSpPr txBox="1"/>
          <p:nvPr/>
        </p:nvSpPr>
        <p:spPr>
          <a:xfrm>
            <a:off x="6931152" y="5120640"/>
            <a:ext cx="4215384" cy="502920"/>
          </a:xfrm>
          <a:prstGeom prst="rect">
            <a:avLst/>
          </a:prstGeom>
          <a:noFill/>
        </p:spPr>
        <p:txBody>
          <a:bodyPr wrap="square" lIns="0" rIns="0" tIns="0" bIns="0" anchor="t"/>
          <a:lstStyle/>
          <a:p>
            <a:pPr algn="l">
              <a:spcAft>
                <a:spcPts val="400"/>
              </a:spcAft>
              <a:buNone/>
            </a:pPr>
            <a:r>
              <a:rPr sz="1350" b="0" i="0">
                <a:solidFill>
                  <a:srgbClr val="0E1F53"/>
                </a:solidFill>
                <a:latin typeface="Roboto"/>
              </a:rPr>
              <a:t>Trägt es sich? Passt es zu Strategie und Ressourcen?</a:t>
            </a:r>
          </a:p>
        </p:txBody>
      </p:sp>
      <p:sp>
        <p:nvSpPr>
          <p:cNvPr id="24" name="TextBox 23"/>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Modell der drei Linsen nach IDEO / Tim Brown (2009): Change by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Die Haltung macht den Unterschied</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05740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86000"/>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Users_w.png"/>
          <p:cNvPicPr>
            <a:picLocks noChangeAspect="1"/>
          </p:cNvPicPr>
          <p:nvPr/>
        </p:nvPicPr>
        <p:blipFill>
          <a:blip r:embed="rId3"/>
          <a:stretch>
            <a:fillRect/>
          </a:stretch>
        </p:blipFill>
        <p:spPr>
          <a:xfrm>
            <a:off x="1201521" y="2417673"/>
            <a:ext cx="285292" cy="285292"/>
          </a:xfrm>
          <a:prstGeom prst="rect">
            <a:avLst/>
          </a:prstGeom>
        </p:spPr>
      </p:pic>
      <p:sp>
        <p:nvSpPr>
          <p:cNvPr id="7" name="TextBox 6"/>
          <p:cNvSpPr txBox="1"/>
          <p:nvPr/>
        </p:nvSpPr>
        <p:spPr>
          <a:xfrm>
            <a:off x="1755648" y="228600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Menschen im Mittelpunkt</a:t>
            </a:r>
          </a:p>
        </p:txBody>
      </p:sp>
      <p:sp>
        <p:nvSpPr>
          <p:cNvPr id="8" name="TextBox 7"/>
          <p:cNvSpPr txBox="1"/>
          <p:nvPr/>
        </p:nvSpPr>
        <p:spPr>
          <a:xfrm>
            <a:off x="1069848" y="297180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Wir lösen Probleme von Menschen, nicht von Technologien.</a:t>
            </a:r>
          </a:p>
        </p:txBody>
      </p:sp>
      <p:sp>
        <p:nvSpPr>
          <p:cNvPr id="9" name="Rounded Rectangle 8"/>
          <p:cNvSpPr/>
          <p:nvPr/>
        </p:nvSpPr>
        <p:spPr>
          <a:xfrm>
            <a:off x="4434840" y="205740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63440" y="228600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MessagesSquare_w.png"/>
          <p:cNvPicPr>
            <a:picLocks noChangeAspect="1"/>
          </p:cNvPicPr>
          <p:nvPr/>
        </p:nvPicPr>
        <p:blipFill>
          <a:blip r:embed="rId4"/>
          <a:stretch>
            <a:fillRect/>
          </a:stretch>
        </p:blipFill>
        <p:spPr>
          <a:xfrm>
            <a:off x="4795113" y="2417673"/>
            <a:ext cx="285292" cy="285292"/>
          </a:xfrm>
          <a:prstGeom prst="rect">
            <a:avLst/>
          </a:prstGeom>
        </p:spPr>
      </p:pic>
      <p:sp>
        <p:nvSpPr>
          <p:cNvPr id="12" name="TextBox 11"/>
          <p:cNvSpPr txBox="1"/>
          <p:nvPr/>
        </p:nvSpPr>
        <p:spPr>
          <a:xfrm>
            <a:off x="5349240" y="228600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„Ja, und …“ statt „Ja, aber …“</a:t>
            </a:r>
          </a:p>
        </p:txBody>
      </p:sp>
      <p:sp>
        <p:nvSpPr>
          <p:cNvPr id="13" name="TextBox 12"/>
          <p:cNvSpPr txBox="1"/>
          <p:nvPr/>
        </p:nvSpPr>
        <p:spPr>
          <a:xfrm>
            <a:off x="4663440" y="297180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Ideen anderer weiterdenken, nicht zerreden.</a:t>
            </a:r>
          </a:p>
        </p:txBody>
      </p:sp>
      <p:sp>
        <p:nvSpPr>
          <p:cNvPr id="14" name="Rounded Rectangle 13"/>
          <p:cNvSpPr/>
          <p:nvPr/>
        </p:nvSpPr>
        <p:spPr>
          <a:xfrm>
            <a:off x="8028432" y="205740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57032" y="2286000"/>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Layers_w.png"/>
          <p:cNvPicPr>
            <a:picLocks noChangeAspect="1"/>
          </p:cNvPicPr>
          <p:nvPr/>
        </p:nvPicPr>
        <p:blipFill>
          <a:blip r:embed="rId5"/>
          <a:stretch>
            <a:fillRect/>
          </a:stretch>
        </p:blipFill>
        <p:spPr>
          <a:xfrm>
            <a:off x="8388705" y="2417673"/>
            <a:ext cx="285292" cy="285292"/>
          </a:xfrm>
          <a:prstGeom prst="rect">
            <a:avLst/>
          </a:prstGeom>
        </p:spPr>
      </p:pic>
      <p:sp>
        <p:nvSpPr>
          <p:cNvPr id="17" name="TextBox 16"/>
          <p:cNvSpPr txBox="1"/>
          <p:nvPr/>
        </p:nvSpPr>
        <p:spPr>
          <a:xfrm>
            <a:off x="8942832" y="228600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Menge vor Qualität</a:t>
            </a:r>
          </a:p>
        </p:txBody>
      </p:sp>
      <p:sp>
        <p:nvSpPr>
          <p:cNvPr id="18" name="TextBox 17"/>
          <p:cNvSpPr txBox="1"/>
          <p:nvPr/>
        </p:nvSpPr>
        <p:spPr>
          <a:xfrm>
            <a:off x="8257032" y="297180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In der Ideenphase zählt zuerst die Anzahl.</a:t>
            </a:r>
          </a:p>
        </p:txBody>
      </p:sp>
      <p:sp>
        <p:nvSpPr>
          <p:cNvPr id="19" name="Rounded Rectangle 18"/>
          <p:cNvSpPr/>
          <p:nvPr/>
        </p:nvSpPr>
        <p:spPr>
          <a:xfrm>
            <a:off x="841248" y="406908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69848" y="429768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PencilRuler_w.png"/>
          <p:cNvPicPr>
            <a:picLocks noChangeAspect="1"/>
          </p:cNvPicPr>
          <p:nvPr/>
        </p:nvPicPr>
        <p:blipFill>
          <a:blip r:embed="rId6"/>
          <a:stretch>
            <a:fillRect/>
          </a:stretch>
        </p:blipFill>
        <p:spPr>
          <a:xfrm>
            <a:off x="1201521" y="4429353"/>
            <a:ext cx="285292" cy="285292"/>
          </a:xfrm>
          <a:prstGeom prst="rect">
            <a:avLst/>
          </a:prstGeom>
        </p:spPr>
      </p:pic>
      <p:sp>
        <p:nvSpPr>
          <p:cNvPr id="22" name="TextBox 21"/>
          <p:cNvSpPr txBox="1"/>
          <p:nvPr/>
        </p:nvSpPr>
        <p:spPr>
          <a:xfrm>
            <a:off x="1755648" y="429768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Zeigen statt erzählen</a:t>
            </a:r>
          </a:p>
        </p:txBody>
      </p:sp>
      <p:sp>
        <p:nvSpPr>
          <p:cNvPr id="23" name="TextBox 22"/>
          <p:cNvSpPr txBox="1"/>
          <p:nvPr/>
        </p:nvSpPr>
        <p:spPr>
          <a:xfrm>
            <a:off x="1069848" y="498348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Skizzen und Prototypen sagen mehr als Folien.</a:t>
            </a:r>
          </a:p>
        </p:txBody>
      </p:sp>
      <p:sp>
        <p:nvSpPr>
          <p:cNvPr id="24" name="Rounded Rectangle 23"/>
          <p:cNvSpPr/>
          <p:nvPr/>
        </p:nvSpPr>
        <p:spPr>
          <a:xfrm>
            <a:off x="4434840" y="406908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663440" y="4297680"/>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RefreshCw_w.png"/>
          <p:cNvPicPr>
            <a:picLocks noChangeAspect="1"/>
          </p:cNvPicPr>
          <p:nvPr/>
        </p:nvPicPr>
        <p:blipFill>
          <a:blip r:embed="rId7"/>
          <a:stretch>
            <a:fillRect/>
          </a:stretch>
        </p:blipFill>
        <p:spPr>
          <a:xfrm>
            <a:off x="4795113" y="4429353"/>
            <a:ext cx="285292" cy="285292"/>
          </a:xfrm>
          <a:prstGeom prst="rect">
            <a:avLst/>
          </a:prstGeom>
        </p:spPr>
      </p:pic>
      <p:sp>
        <p:nvSpPr>
          <p:cNvPr id="27" name="TextBox 26"/>
          <p:cNvSpPr txBox="1"/>
          <p:nvPr/>
        </p:nvSpPr>
        <p:spPr>
          <a:xfrm>
            <a:off x="5349240" y="429768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Früh scheitern, schnell lernen</a:t>
            </a:r>
          </a:p>
        </p:txBody>
      </p:sp>
      <p:sp>
        <p:nvSpPr>
          <p:cNvPr id="28" name="TextBox 27"/>
          <p:cNvSpPr txBox="1"/>
          <p:nvPr/>
        </p:nvSpPr>
        <p:spPr>
          <a:xfrm>
            <a:off x="4663440" y="498348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Kleine Tests statt großer Wetten.</a:t>
            </a:r>
          </a:p>
        </p:txBody>
      </p:sp>
      <p:sp>
        <p:nvSpPr>
          <p:cNvPr id="29" name="Rounded Rectangle 28"/>
          <p:cNvSpPr/>
          <p:nvPr/>
        </p:nvSpPr>
        <p:spPr>
          <a:xfrm>
            <a:off x="8028432" y="4069080"/>
            <a:ext cx="3319272"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57032" y="429768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Timer_w.png"/>
          <p:cNvPicPr>
            <a:picLocks noChangeAspect="1"/>
          </p:cNvPicPr>
          <p:nvPr/>
        </p:nvPicPr>
        <p:blipFill>
          <a:blip r:embed="rId8"/>
          <a:stretch>
            <a:fillRect/>
          </a:stretch>
        </p:blipFill>
        <p:spPr>
          <a:xfrm>
            <a:off x="8388705" y="4429353"/>
            <a:ext cx="285292" cy="285292"/>
          </a:xfrm>
          <a:prstGeom prst="rect">
            <a:avLst/>
          </a:prstGeom>
        </p:spPr>
      </p:pic>
      <p:sp>
        <p:nvSpPr>
          <p:cNvPr id="32" name="TextBox 31"/>
          <p:cNvSpPr txBox="1"/>
          <p:nvPr/>
        </p:nvSpPr>
        <p:spPr>
          <a:xfrm>
            <a:off x="8942832" y="4297680"/>
            <a:ext cx="2221992" cy="548640"/>
          </a:xfrm>
          <a:prstGeom prst="rect">
            <a:avLst/>
          </a:prstGeom>
          <a:noFill/>
        </p:spPr>
        <p:txBody>
          <a:bodyPr wrap="square" lIns="0" rIns="0" tIns="0" bIns="0" anchor="ctr"/>
          <a:lstStyle/>
          <a:p>
            <a:pPr algn="l">
              <a:spcAft>
                <a:spcPts val="400"/>
              </a:spcAft>
              <a:buNone/>
            </a:pPr>
            <a:r>
              <a:rPr sz="1500" b="1" i="0">
                <a:solidFill>
                  <a:srgbClr val="0E1F53"/>
                </a:solidFill>
                <a:latin typeface="Roboto"/>
              </a:rPr>
              <a:t>Machen statt planen</a:t>
            </a:r>
          </a:p>
        </p:txBody>
      </p:sp>
      <p:sp>
        <p:nvSpPr>
          <p:cNvPr id="33" name="TextBox 32"/>
          <p:cNvSpPr txBox="1"/>
          <p:nvPr/>
        </p:nvSpPr>
        <p:spPr>
          <a:xfrm>
            <a:off x="8257032" y="4983480"/>
            <a:ext cx="2862072" cy="731520"/>
          </a:xfrm>
          <a:prstGeom prst="rect">
            <a:avLst/>
          </a:prstGeom>
          <a:noFill/>
        </p:spPr>
        <p:txBody>
          <a:bodyPr wrap="square" lIns="0" rIns="0" tIns="0" bIns="0" anchor="t"/>
          <a:lstStyle/>
          <a:p>
            <a:pPr algn="l">
              <a:spcAft>
                <a:spcPts val="400"/>
              </a:spcAft>
              <a:buNone/>
            </a:pPr>
            <a:r>
              <a:rPr sz="1350" b="0" i="0">
                <a:solidFill>
                  <a:srgbClr val="0E1F53"/>
                </a:solidFill>
                <a:latin typeface="Roboto"/>
              </a:rPr>
              <a:t>Timeboxing: lieber 80 % heute als 100 % nie.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Wo KI im Prozess hilft und wo der Mensch bleibt</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ÜBERBLICK</a:t>
            </a:r>
          </a:p>
        </p:txBody>
      </p:sp>
      <p:sp>
        <p:nvSpPr>
          <p:cNvPr id="4" name="TextBox 3"/>
          <p:cNvSpPr txBox="1"/>
          <p:nvPr/>
        </p:nvSpPr>
        <p:spPr>
          <a:xfrm>
            <a:off x="841248" y="2578608"/>
            <a:ext cx="1645920" cy="1097280"/>
          </a:xfrm>
          <a:prstGeom prst="rect">
            <a:avLst/>
          </a:prstGeom>
          <a:noFill/>
        </p:spPr>
        <p:txBody>
          <a:bodyPr wrap="square" lIns="0" rIns="0" tIns="0" bIns="0" anchor="ctr"/>
          <a:lstStyle/>
          <a:p>
            <a:pPr algn="l">
              <a:spcAft>
                <a:spcPts val="400"/>
              </a:spcAft>
              <a:buNone/>
            </a:pPr>
            <a:r>
              <a:rPr sz="1400" b="1" i="0">
                <a:solidFill>
                  <a:srgbClr val="1F6FD1"/>
                </a:solidFill>
                <a:latin typeface="Roboto"/>
              </a:rPr>
              <a:t>KI unterstützt</a:t>
            </a:r>
          </a:p>
        </p:txBody>
      </p:sp>
      <p:sp>
        <p:nvSpPr>
          <p:cNvPr id="5" name="TextBox 4"/>
          <p:cNvSpPr txBox="1"/>
          <p:nvPr/>
        </p:nvSpPr>
        <p:spPr>
          <a:xfrm>
            <a:off x="841248" y="3904487"/>
            <a:ext cx="1645920" cy="1097280"/>
          </a:xfrm>
          <a:prstGeom prst="rect">
            <a:avLst/>
          </a:prstGeom>
          <a:noFill/>
        </p:spPr>
        <p:txBody>
          <a:bodyPr wrap="square" lIns="0" rIns="0" tIns="0" bIns="0" anchor="ctr"/>
          <a:lstStyle/>
          <a:p>
            <a:pPr algn="l">
              <a:spcAft>
                <a:spcPts val="400"/>
              </a:spcAft>
              <a:buNone/>
            </a:pPr>
            <a:r>
              <a:rPr sz="1400" b="1" i="0">
                <a:solidFill>
                  <a:srgbClr val="1E8E4E"/>
                </a:solidFill>
                <a:latin typeface="Roboto"/>
              </a:rPr>
              <a:t>Mensch bleibt</a:t>
            </a:r>
          </a:p>
        </p:txBody>
      </p:sp>
      <p:sp>
        <p:nvSpPr>
          <p:cNvPr id="6" name="Rounded Rectangle 5"/>
          <p:cNvSpPr/>
          <p:nvPr/>
        </p:nvSpPr>
        <p:spPr>
          <a:xfrm>
            <a:off x="2578608" y="2011680"/>
            <a:ext cx="1385316" cy="457200"/>
          </a:xfrm>
          <a:prstGeom prst="roundRect">
            <a:avLst>
              <a:gd name="adj" fmla="val 2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578608"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1 Verstehen</a:t>
            </a:r>
          </a:p>
        </p:txBody>
      </p:sp>
      <p:sp>
        <p:nvSpPr>
          <p:cNvPr id="8" name="Rounded Rectangle 7"/>
          <p:cNvSpPr/>
          <p:nvPr/>
        </p:nvSpPr>
        <p:spPr>
          <a:xfrm>
            <a:off x="2578608"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70048"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Deep Research zu Markt, Trends, Wettbewerb</a:t>
            </a:r>
          </a:p>
        </p:txBody>
      </p:sp>
      <p:sp>
        <p:nvSpPr>
          <p:cNvPr id="10" name="Rounded Rectangle 9"/>
          <p:cNvSpPr/>
          <p:nvPr/>
        </p:nvSpPr>
        <p:spPr>
          <a:xfrm>
            <a:off x="2578608"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70048"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Challenge festlegen</a:t>
            </a:r>
          </a:p>
        </p:txBody>
      </p:sp>
      <p:sp>
        <p:nvSpPr>
          <p:cNvPr id="12" name="Rounded Rectangle 11"/>
          <p:cNvSpPr/>
          <p:nvPr/>
        </p:nvSpPr>
        <p:spPr>
          <a:xfrm>
            <a:off x="4055363" y="2011680"/>
            <a:ext cx="1385316" cy="457200"/>
          </a:xfrm>
          <a:prstGeom prst="roundRect">
            <a:avLst>
              <a:gd name="adj" fmla="val 2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55363"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2 Beobachten</a:t>
            </a:r>
          </a:p>
        </p:txBody>
      </p:sp>
      <p:sp>
        <p:nvSpPr>
          <p:cNvPr id="14" name="Rounded Rectangle 13"/>
          <p:cNvSpPr/>
          <p:nvPr/>
        </p:nvSpPr>
        <p:spPr>
          <a:xfrm>
            <a:off x="4055363"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46803"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Interview-</a:t>
            </a:r>
          </a:p>
          <a:p>
            <a:pPr algn="ctr">
              <a:spcAft>
                <a:spcPts val="400"/>
              </a:spcAft>
              <a:buNone/>
            </a:pPr>
            <a:r>
              <a:rPr sz="1200" b="0" i="0">
                <a:solidFill>
                  <a:srgbClr val="0E1F53"/>
                </a:solidFill>
                <a:latin typeface="Roboto"/>
              </a:rPr>
              <a:t>leitfaden, Transkription, Auswertung</a:t>
            </a:r>
          </a:p>
        </p:txBody>
      </p:sp>
      <p:sp>
        <p:nvSpPr>
          <p:cNvPr id="16" name="Rounded Rectangle 15"/>
          <p:cNvSpPr/>
          <p:nvPr/>
        </p:nvSpPr>
        <p:spPr>
          <a:xfrm>
            <a:off x="4055363"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46803"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Echte Gespräche führen</a:t>
            </a:r>
          </a:p>
        </p:txBody>
      </p:sp>
      <p:sp>
        <p:nvSpPr>
          <p:cNvPr id="18" name="Rounded Rectangle 17"/>
          <p:cNvSpPr/>
          <p:nvPr/>
        </p:nvSpPr>
        <p:spPr>
          <a:xfrm>
            <a:off x="5532120" y="2011680"/>
            <a:ext cx="1385316" cy="457200"/>
          </a:xfrm>
          <a:prstGeom prst="roundRect">
            <a:avLst>
              <a:gd name="adj" fmla="val 2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32120"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3 Sichtweise</a:t>
            </a:r>
          </a:p>
        </p:txBody>
      </p:sp>
      <p:sp>
        <p:nvSpPr>
          <p:cNvPr id="20" name="Rounded Rectangle 19"/>
          <p:cNvSpPr/>
          <p:nvPr/>
        </p:nvSpPr>
        <p:spPr>
          <a:xfrm>
            <a:off x="5532120"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623559"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Cluster, Persona- und POV-Entwürfe</a:t>
            </a:r>
          </a:p>
        </p:txBody>
      </p:sp>
      <p:sp>
        <p:nvSpPr>
          <p:cNvPr id="22" name="Rounded Rectangle 21"/>
          <p:cNvSpPr/>
          <p:nvPr/>
        </p:nvSpPr>
        <p:spPr>
          <a:xfrm>
            <a:off x="5532120"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23559"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Mit Empathie interpretieren</a:t>
            </a:r>
          </a:p>
        </p:txBody>
      </p:sp>
      <p:sp>
        <p:nvSpPr>
          <p:cNvPr id="24" name="Rounded Rectangle 23"/>
          <p:cNvSpPr/>
          <p:nvPr/>
        </p:nvSpPr>
        <p:spPr>
          <a:xfrm>
            <a:off x="7008875" y="2011680"/>
            <a:ext cx="138531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08875"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4 Ideen finden</a:t>
            </a:r>
          </a:p>
        </p:txBody>
      </p:sp>
      <p:sp>
        <p:nvSpPr>
          <p:cNvPr id="26" name="Rounded Rectangle 25"/>
          <p:cNvSpPr/>
          <p:nvPr/>
        </p:nvSpPr>
        <p:spPr>
          <a:xfrm>
            <a:off x="7008875"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100315"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Sparring, Perspektiv-</a:t>
            </a:r>
          </a:p>
          <a:p>
            <a:pPr algn="ctr">
              <a:spcAft>
                <a:spcPts val="400"/>
              </a:spcAft>
              <a:buNone/>
            </a:pPr>
            <a:r>
              <a:rPr sz="1200" b="0" i="0">
                <a:solidFill>
                  <a:srgbClr val="0E1F53"/>
                </a:solidFill>
                <a:latin typeface="Roboto"/>
              </a:rPr>
              <a:t>wechsel, Bewertung</a:t>
            </a:r>
          </a:p>
        </p:txBody>
      </p:sp>
      <p:sp>
        <p:nvSpPr>
          <p:cNvPr id="28" name="Rounded Rectangle 27"/>
          <p:cNvSpPr/>
          <p:nvPr/>
        </p:nvSpPr>
        <p:spPr>
          <a:xfrm>
            <a:off x="7008875"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00315"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Ideen auswählen</a:t>
            </a:r>
          </a:p>
        </p:txBody>
      </p:sp>
      <p:sp>
        <p:nvSpPr>
          <p:cNvPr id="30" name="Rounded Rectangle 29"/>
          <p:cNvSpPr/>
          <p:nvPr/>
        </p:nvSpPr>
        <p:spPr>
          <a:xfrm>
            <a:off x="8485632" y="2011680"/>
            <a:ext cx="138531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85632"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5 Prototypen</a:t>
            </a:r>
          </a:p>
        </p:txBody>
      </p:sp>
      <p:sp>
        <p:nvSpPr>
          <p:cNvPr id="32" name="Rounded Rectangle 31"/>
          <p:cNvSpPr/>
          <p:nvPr/>
        </p:nvSpPr>
        <p:spPr>
          <a:xfrm>
            <a:off x="8485632"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577072"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Texte, Bilder, Klick-Prototypen in Minuten</a:t>
            </a:r>
          </a:p>
        </p:txBody>
      </p:sp>
      <p:sp>
        <p:nvSpPr>
          <p:cNvPr id="34" name="Rounded Rectangle 33"/>
          <p:cNvSpPr/>
          <p:nvPr/>
        </p:nvSpPr>
        <p:spPr>
          <a:xfrm>
            <a:off x="8485632"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577072"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Mit Material bauen und spielen</a:t>
            </a:r>
          </a:p>
        </p:txBody>
      </p:sp>
      <p:sp>
        <p:nvSpPr>
          <p:cNvPr id="36" name="Rounded Rectangle 35"/>
          <p:cNvSpPr/>
          <p:nvPr/>
        </p:nvSpPr>
        <p:spPr>
          <a:xfrm>
            <a:off x="9962388" y="2011680"/>
            <a:ext cx="138531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962388" y="2011680"/>
            <a:ext cx="1385316" cy="457200"/>
          </a:xfrm>
          <a:prstGeom prst="rect">
            <a:avLst/>
          </a:prstGeom>
          <a:noFill/>
        </p:spPr>
        <p:txBody>
          <a:bodyPr wrap="square" lIns="0" rIns="0" tIns="0" bIns="0" anchor="ctr"/>
          <a:lstStyle/>
          <a:p>
            <a:pPr algn="ctr">
              <a:spcAft>
                <a:spcPts val="400"/>
              </a:spcAft>
              <a:buNone/>
            </a:pPr>
            <a:r>
              <a:rPr sz="1200" b="1" i="0">
                <a:solidFill>
                  <a:srgbClr val="FFFFFF"/>
                </a:solidFill>
                <a:latin typeface="Roboto"/>
              </a:rPr>
              <a:t>6 Testen</a:t>
            </a:r>
          </a:p>
        </p:txBody>
      </p:sp>
      <p:sp>
        <p:nvSpPr>
          <p:cNvPr id="38" name="Rounded Rectangle 37"/>
          <p:cNvSpPr/>
          <p:nvPr/>
        </p:nvSpPr>
        <p:spPr>
          <a:xfrm>
            <a:off x="9962388" y="2578608"/>
            <a:ext cx="138531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053828" y="2578608"/>
            <a:ext cx="1202436" cy="118872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Testplan, Fragebogen, Feedback-Analyse</a:t>
            </a:r>
          </a:p>
        </p:txBody>
      </p:sp>
      <p:sp>
        <p:nvSpPr>
          <p:cNvPr id="40" name="Rounded Rectangle 39"/>
          <p:cNvSpPr/>
          <p:nvPr/>
        </p:nvSpPr>
        <p:spPr>
          <a:xfrm>
            <a:off x="9962388" y="3904487"/>
            <a:ext cx="138531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053828" y="3904487"/>
            <a:ext cx="1202436" cy="1097280"/>
          </a:xfrm>
          <a:prstGeom prst="rect">
            <a:avLst/>
          </a:prstGeom>
          <a:noFill/>
        </p:spPr>
        <p:txBody>
          <a:bodyPr wrap="square" lIns="0" rIns="0" tIns="0" bIns="0" anchor="ctr"/>
          <a:lstStyle/>
          <a:p>
            <a:pPr algn="ctr">
              <a:spcAft>
                <a:spcPts val="400"/>
              </a:spcAft>
              <a:buNone/>
            </a:pPr>
            <a:r>
              <a:rPr sz="1200" b="0" i="0">
                <a:solidFill>
                  <a:srgbClr val="0E1F53"/>
                </a:solidFill>
                <a:latin typeface="Roboto"/>
              </a:rPr>
              <a:t>Entscheiden: weiter, ändern, stoppen</a:t>
            </a:r>
          </a:p>
        </p:txBody>
      </p:sp>
      <p:sp>
        <p:nvSpPr>
          <p:cNvPr id="42" name="Rounded Rectangle 41"/>
          <p:cNvSpPr/>
          <p:nvPr/>
        </p:nvSpPr>
        <p:spPr>
          <a:xfrm>
            <a:off x="841248" y="5303520"/>
            <a:ext cx="10506456" cy="64008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15568" y="5303520"/>
            <a:ext cx="9957816" cy="640080"/>
          </a:xfrm>
          <a:prstGeom prst="rect">
            <a:avLst/>
          </a:prstGeom>
          <a:noFill/>
        </p:spPr>
        <p:txBody>
          <a:bodyPr wrap="square" lIns="0" rIns="0" tIns="0" bIns="0" anchor="ctr"/>
          <a:lstStyle/>
          <a:p>
            <a:pPr algn="l">
              <a:spcAft>
                <a:spcPts val="400"/>
              </a:spcAft>
              <a:buNone/>
            </a:pPr>
            <a:r>
              <a:rPr sz="1500" b="1" i="0">
                <a:solidFill>
                  <a:srgbClr val="FFFFFF"/>
                </a:solidFill>
                <a:latin typeface="Roboto"/>
              </a:rPr>
              <a:t>Faustregel: KI liefert Material und Tempo. Empathie und Entscheidungen bleiben im Team.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3 · KI-Werkzeugkasten</a:t>
            </a:r>
          </a:p>
        </p:txBody>
      </p:sp>
      <p:sp>
        <p:nvSpPr>
          <p:cNvPr id="3" name="Text Placeholder 2"/>
          <p:cNvSpPr>
            <a:spLocks noGrp="1"/>
          </p:cNvSpPr>
          <p:nvPr>
            <p:ph type="body" idx="11" sz="quarter"/>
          </p:nvPr>
        </p:nvSpPr>
        <p:spPr/>
        <p:txBody>
          <a:bodyPr/>
          <a:lstStyle/>
          <a:p>
            <a:r>
              <a:rPr b="0" sz="2000"/>
              <a:t>Prompts, Agenten, Skills und Automatisierung, werkzeugneutral erklärt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Sechs Werkzeuge, ein Baukasten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MessagesSquare_w.png"/>
          <p:cNvPicPr>
            <a:picLocks noChangeAspect="1"/>
          </p:cNvPicPr>
          <p:nvPr/>
        </p:nvPicPr>
        <p:blipFill>
          <a:blip r:embed="rId3"/>
          <a:stretch>
            <a:fillRect/>
          </a:stretch>
        </p:blipFill>
        <p:spPr>
          <a:xfrm>
            <a:off x="1201521" y="2344521"/>
            <a:ext cx="285292" cy="285292"/>
          </a:xfrm>
          <a:prstGeom prst="rect">
            <a:avLst/>
          </a:prstGeom>
        </p:spPr>
      </p:pic>
      <p:sp>
        <p:nvSpPr>
          <p:cNvPr id="7" name="TextBox 6"/>
          <p:cNvSpPr txBox="1"/>
          <p:nvPr/>
        </p:nvSpPr>
        <p:spPr>
          <a:xfrm>
            <a:off x="1755648"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Chat-Assistent</a:t>
            </a:r>
          </a:p>
        </p:txBody>
      </p:sp>
      <p:sp>
        <p:nvSpPr>
          <p:cNvPr id="8" name="TextBox 7"/>
          <p:cNvSpPr txBox="1"/>
          <p:nvPr/>
        </p:nvSpPr>
        <p:spPr>
          <a:xfrm>
            <a:off x="1069848"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Fragen, Texte, Zusammenfassungen. Der Einstieg für alles.</a:t>
            </a:r>
          </a:p>
        </p:txBody>
      </p:sp>
      <p:sp>
        <p:nvSpPr>
          <p:cNvPr id="9" name="TextBox 8"/>
          <p:cNvSpPr txBox="1"/>
          <p:nvPr/>
        </p:nvSpPr>
        <p:spPr>
          <a:xfrm>
            <a:off x="1069848"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ChatGPT · Claude · Copilot · Gemini</a:t>
            </a:r>
          </a:p>
        </p:txBody>
      </p:sp>
      <p:sp>
        <p:nvSpPr>
          <p:cNvPr id="10" name="Rounded Rectangle 9"/>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63440"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ScanSearch_w.png"/>
          <p:cNvPicPr>
            <a:picLocks noChangeAspect="1"/>
          </p:cNvPicPr>
          <p:nvPr/>
        </p:nvPicPr>
        <p:blipFill>
          <a:blip r:embed="rId4"/>
          <a:stretch>
            <a:fillRect/>
          </a:stretch>
        </p:blipFill>
        <p:spPr>
          <a:xfrm>
            <a:off x="4795113" y="2344521"/>
            <a:ext cx="285292" cy="285292"/>
          </a:xfrm>
          <a:prstGeom prst="rect">
            <a:avLst/>
          </a:prstGeom>
        </p:spPr>
      </p:pic>
      <p:sp>
        <p:nvSpPr>
          <p:cNvPr id="13" name="TextBox 12"/>
          <p:cNvSpPr txBox="1"/>
          <p:nvPr/>
        </p:nvSpPr>
        <p:spPr>
          <a:xfrm>
            <a:off x="5349240"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Deep Research</a:t>
            </a:r>
          </a:p>
        </p:txBody>
      </p:sp>
      <p:sp>
        <p:nvSpPr>
          <p:cNvPr id="14" name="TextBox 13"/>
          <p:cNvSpPr txBox="1"/>
          <p:nvPr/>
        </p:nvSpPr>
        <p:spPr>
          <a:xfrm>
            <a:off x="4663440"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Agent recherchiert selbstständig in vielen Quellen und schreibt einen Bericht mit Belegen.</a:t>
            </a:r>
          </a:p>
        </p:txBody>
      </p:sp>
      <p:sp>
        <p:nvSpPr>
          <p:cNvPr id="15" name="TextBox 14"/>
          <p:cNvSpPr txBox="1"/>
          <p:nvPr/>
        </p:nvSpPr>
        <p:spPr>
          <a:xfrm>
            <a:off x="4663440"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in allen großen Assistenten und Perplexity</a:t>
            </a:r>
          </a:p>
        </p:txBody>
      </p:sp>
      <p:sp>
        <p:nvSpPr>
          <p:cNvPr id="16" name="Rounded Rectangle 15"/>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57032"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Bot_w.png"/>
          <p:cNvPicPr>
            <a:picLocks noChangeAspect="1"/>
          </p:cNvPicPr>
          <p:nvPr/>
        </p:nvPicPr>
        <p:blipFill>
          <a:blip r:embed="rId5"/>
          <a:stretch>
            <a:fillRect/>
          </a:stretch>
        </p:blipFill>
        <p:spPr>
          <a:xfrm>
            <a:off x="8388705" y="2344521"/>
            <a:ext cx="285292" cy="285292"/>
          </a:xfrm>
          <a:prstGeom prst="rect">
            <a:avLst/>
          </a:prstGeom>
        </p:spPr>
      </p:pic>
      <p:sp>
        <p:nvSpPr>
          <p:cNvPr id="19" name="TextBox 18"/>
          <p:cNvSpPr txBox="1"/>
          <p:nvPr/>
        </p:nvSpPr>
        <p:spPr>
          <a:xfrm>
            <a:off x="8942832"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Eigener Agent</a:t>
            </a:r>
          </a:p>
        </p:txBody>
      </p:sp>
      <p:sp>
        <p:nvSpPr>
          <p:cNvPr id="20" name="TextBox 19"/>
          <p:cNvSpPr txBox="1"/>
          <p:nvPr/>
        </p:nvSpPr>
        <p:spPr>
          <a:xfrm>
            <a:off x="8257032"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Assistent mit festem Systemprompt, eigenem Wissen und Werkzeugen für eine Aufgabe.</a:t>
            </a:r>
          </a:p>
        </p:txBody>
      </p:sp>
      <p:sp>
        <p:nvSpPr>
          <p:cNvPr id="21" name="TextBox 20"/>
          <p:cNvSpPr txBox="1"/>
          <p:nvPr/>
        </p:nvSpPr>
        <p:spPr>
          <a:xfrm>
            <a:off x="8257032"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GPTs · Projekte · Gems · Copilot-Agenten</a:t>
            </a:r>
          </a:p>
        </p:txBody>
      </p:sp>
      <p:sp>
        <p:nvSpPr>
          <p:cNvPr id="22" name="Rounded Rectangle 21"/>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69848"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FileCode_w.png"/>
          <p:cNvPicPr>
            <a:picLocks noChangeAspect="1"/>
          </p:cNvPicPr>
          <p:nvPr/>
        </p:nvPicPr>
        <p:blipFill>
          <a:blip r:embed="rId6"/>
          <a:stretch>
            <a:fillRect/>
          </a:stretch>
        </p:blipFill>
        <p:spPr>
          <a:xfrm>
            <a:off x="1201521" y="4374489"/>
            <a:ext cx="285292" cy="285292"/>
          </a:xfrm>
          <a:prstGeom prst="rect">
            <a:avLst/>
          </a:prstGeom>
        </p:spPr>
      </p:pic>
      <p:sp>
        <p:nvSpPr>
          <p:cNvPr id="25" name="TextBox 24"/>
          <p:cNvSpPr txBox="1"/>
          <p:nvPr/>
        </p:nvSpPr>
        <p:spPr>
          <a:xfrm>
            <a:off x="1755648"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Skills</a:t>
            </a:r>
          </a:p>
        </p:txBody>
      </p:sp>
      <p:sp>
        <p:nvSpPr>
          <p:cNvPr id="26" name="TextBox 25"/>
          <p:cNvSpPr txBox="1"/>
          <p:nvPr/>
        </p:nvSpPr>
        <p:spPr>
          <a:xfrm>
            <a:off x="1069848"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Wiederverwendbares Know-how als Datei: Anleitungen, Vorlagen, Skripte.</a:t>
            </a:r>
          </a:p>
        </p:txBody>
      </p:sp>
      <p:sp>
        <p:nvSpPr>
          <p:cNvPr id="27" name="TextBox 26"/>
          <p:cNvSpPr txBox="1"/>
          <p:nvPr/>
        </p:nvSpPr>
        <p:spPr>
          <a:xfrm>
            <a:off x="1069848"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offener Standard SKILL.md</a:t>
            </a:r>
          </a:p>
        </p:txBody>
      </p:sp>
      <p:sp>
        <p:nvSpPr>
          <p:cNvPr id="28" name="Rounded Rectangle 27"/>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663440"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Plug_w.png"/>
          <p:cNvPicPr>
            <a:picLocks noChangeAspect="1"/>
          </p:cNvPicPr>
          <p:nvPr/>
        </p:nvPicPr>
        <p:blipFill>
          <a:blip r:embed="rId7"/>
          <a:stretch>
            <a:fillRect/>
          </a:stretch>
        </p:blipFill>
        <p:spPr>
          <a:xfrm>
            <a:off x="4795113" y="4374489"/>
            <a:ext cx="285292" cy="285292"/>
          </a:xfrm>
          <a:prstGeom prst="rect">
            <a:avLst/>
          </a:prstGeom>
        </p:spPr>
      </p:pic>
      <p:sp>
        <p:nvSpPr>
          <p:cNvPr id="31" name="TextBox 30"/>
          <p:cNvSpPr txBox="1"/>
          <p:nvPr/>
        </p:nvSpPr>
        <p:spPr>
          <a:xfrm>
            <a:off x="5349240"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Konnektoren</a:t>
            </a:r>
          </a:p>
        </p:txBody>
      </p:sp>
      <p:sp>
        <p:nvSpPr>
          <p:cNvPr id="32" name="TextBox 31"/>
          <p:cNvSpPr txBox="1"/>
          <p:nvPr/>
        </p:nvSpPr>
        <p:spPr>
          <a:xfrm>
            <a:off x="4663440"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Zugriff auf Mail, Kalender, Ablage, CRM: der Agent arbeitet mit Ihren Daten.</a:t>
            </a:r>
          </a:p>
        </p:txBody>
      </p:sp>
      <p:sp>
        <p:nvSpPr>
          <p:cNvPr id="33" name="TextBox 32"/>
          <p:cNvSpPr txBox="1"/>
          <p:nvPr/>
        </p:nvSpPr>
        <p:spPr>
          <a:xfrm>
            <a:off x="4663440"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z. B. über MCP-Schnittstellen</a:t>
            </a:r>
          </a:p>
        </p:txBody>
      </p:sp>
      <p:sp>
        <p:nvSpPr>
          <p:cNvPr id="34" name="Rounded Rectangle 33"/>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57032"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CalendarClock_w.png"/>
          <p:cNvPicPr>
            <a:picLocks noChangeAspect="1"/>
          </p:cNvPicPr>
          <p:nvPr/>
        </p:nvPicPr>
        <p:blipFill>
          <a:blip r:embed="rId8"/>
          <a:stretch>
            <a:fillRect/>
          </a:stretch>
        </p:blipFill>
        <p:spPr>
          <a:xfrm>
            <a:off x="8388705" y="4374489"/>
            <a:ext cx="285292" cy="285292"/>
          </a:xfrm>
          <a:prstGeom prst="rect">
            <a:avLst/>
          </a:prstGeom>
        </p:spPr>
      </p:pic>
      <p:sp>
        <p:nvSpPr>
          <p:cNvPr id="37" name="TextBox 36"/>
          <p:cNvSpPr txBox="1"/>
          <p:nvPr/>
        </p:nvSpPr>
        <p:spPr>
          <a:xfrm>
            <a:off x="8942832"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Automatisierung</a:t>
            </a:r>
          </a:p>
        </p:txBody>
      </p:sp>
      <p:sp>
        <p:nvSpPr>
          <p:cNvPr id="38" name="TextBox 37"/>
          <p:cNvSpPr txBox="1"/>
          <p:nvPr/>
        </p:nvSpPr>
        <p:spPr>
          <a:xfrm>
            <a:off x="8257032"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Agenten laufen zeitgesteuert oder bei Ereignissen, ohne dass jemand klickt.</a:t>
            </a:r>
          </a:p>
        </p:txBody>
      </p:sp>
      <p:sp>
        <p:nvSpPr>
          <p:cNvPr id="39" name="TextBox 38"/>
          <p:cNvSpPr txBox="1"/>
          <p:nvPr/>
        </p:nvSpPr>
        <p:spPr>
          <a:xfrm>
            <a:off x="8257032"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geplante Aufgaben · n8n · Make · Power Automate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Vom Prompt zum Agenten: vier Begriffe, die Sie kennen sollten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603504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011680"/>
            <a:ext cx="1920240" cy="841248"/>
          </a:xfrm>
          <a:prstGeom prst="rect">
            <a:avLst/>
          </a:prstGeom>
          <a:noFill/>
        </p:spPr>
        <p:txBody>
          <a:bodyPr wrap="square" lIns="0" rIns="0" tIns="0" bIns="0" anchor="ctr"/>
          <a:lstStyle/>
          <a:p>
            <a:pPr algn="l">
              <a:spcAft>
                <a:spcPts val="400"/>
              </a:spcAft>
              <a:buNone/>
            </a:pPr>
            <a:r>
              <a:rPr sz="1800" b="1" i="0">
                <a:solidFill>
                  <a:srgbClr val="0E1F53"/>
                </a:solidFill>
                <a:latin typeface="Roboto"/>
              </a:rPr>
              <a:t>Prompt</a:t>
            </a:r>
          </a:p>
        </p:txBody>
      </p:sp>
      <p:sp>
        <p:nvSpPr>
          <p:cNvPr id="6" name="TextBox 5"/>
          <p:cNvSpPr txBox="1"/>
          <p:nvPr/>
        </p:nvSpPr>
        <p:spPr>
          <a:xfrm>
            <a:off x="2990088" y="2084832"/>
            <a:ext cx="3703320" cy="384048"/>
          </a:xfrm>
          <a:prstGeom prst="rect">
            <a:avLst/>
          </a:prstGeom>
          <a:noFill/>
        </p:spPr>
        <p:txBody>
          <a:bodyPr wrap="square" lIns="0" rIns="0" tIns="0" bIns="0" anchor="t"/>
          <a:lstStyle/>
          <a:p>
            <a:pPr algn="l">
              <a:spcAft>
                <a:spcPts val="400"/>
              </a:spcAft>
              <a:buNone/>
            </a:pPr>
            <a:r>
              <a:rPr sz="1350" b="1" i="0">
                <a:solidFill>
                  <a:srgbClr val="0E1F53"/>
                </a:solidFill>
                <a:latin typeface="Roboto"/>
              </a:rPr>
              <a:t>Eine einzelne Anweisung im Chat</a:t>
            </a:r>
          </a:p>
        </p:txBody>
      </p:sp>
      <p:sp>
        <p:nvSpPr>
          <p:cNvPr id="7" name="TextBox 6"/>
          <p:cNvSpPr txBox="1"/>
          <p:nvPr/>
        </p:nvSpPr>
        <p:spPr>
          <a:xfrm>
            <a:off x="2990088" y="2450592"/>
            <a:ext cx="3703320" cy="347472"/>
          </a:xfrm>
          <a:prstGeom prst="rect">
            <a:avLst/>
          </a:prstGeom>
          <a:noFill/>
        </p:spPr>
        <p:txBody>
          <a:bodyPr wrap="square" lIns="0" rIns="0" tIns="0" bIns="0" anchor="t"/>
          <a:lstStyle/>
          <a:p>
            <a:pPr algn="l">
              <a:spcAft>
                <a:spcPts val="400"/>
              </a:spcAft>
              <a:buNone/>
            </a:pPr>
            <a:r>
              <a:rPr sz="1200" b="0" i="1">
                <a:solidFill>
                  <a:srgbClr val="5A6684"/>
                </a:solidFill>
                <a:latin typeface="Roboto"/>
              </a:rPr>
              <a:t>„Fasse diesen Artikel in 5 Punkten zusammen.“</a:t>
            </a:r>
          </a:p>
        </p:txBody>
      </p:sp>
      <p:sp>
        <p:nvSpPr>
          <p:cNvPr id="8" name="Rounded Rectangle 7"/>
          <p:cNvSpPr/>
          <p:nvPr/>
        </p:nvSpPr>
        <p:spPr>
          <a:xfrm>
            <a:off x="1161288" y="2999232"/>
            <a:ext cx="603504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89888" y="2999232"/>
            <a:ext cx="1920240" cy="841248"/>
          </a:xfrm>
          <a:prstGeom prst="rect">
            <a:avLst/>
          </a:prstGeom>
          <a:noFill/>
        </p:spPr>
        <p:txBody>
          <a:bodyPr wrap="square" lIns="0" rIns="0" tIns="0" bIns="0" anchor="ctr"/>
          <a:lstStyle/>
          <a:p>
            <a:pPr algn="l">
              <a:spcAft>
                <a:spcPts val="400"/>
              </a:spcAft>
              <a:buNone/>
            </a:pPr>
            <a:r>
              <a:rPr sz="1800" b="1" i="0">
                <a:solidFill>
                  <a:srgbClr val="0E1F53"/>
                </a:solidFill>
                <a:latin typeface="Roboto"/>
              </a:rPr>
              <a:t>Systemprompt</a:t>
            </a:r>
          </a:p>
        </p:txBody>
      </p:sp>
      <p:sp>
        <p:nvSpPr>
          <p:cNvPr id="10" name="TextBox 9"/>
          <p:cNvSpPr txBox="1"/>
          <p:nvPr/>
        </p:nvSpPr>
        <p:spPr>
          <a:xfrm>
            <a:off x="3310128" y="3072384"/>
            <a:ext cx="3703320" cy="384048"/>
          </a:xfrm>
          <a:prstGeom prst="rect">
            <a:avLst/>
          </a:prstGeom>
          <a:noFill/>
        </p:spPr>
        <p:txBody>
          <a:bodyPr wrap="square" lIns="0" rIns="0" tIns="0" bIns="0" anchor="t"/>
          <a:lstStyle/>
          <a:p>
            <a:pPr algn="l">
              <a:spcAft>
                <a:spcPts val="400"/>
              </a:spcAft>
              <a:buNone/>
            </a:pPr>
            <a:r>
              <a:rPr sz="1350" b="1" i="0">
                <a:solidFill>
                  <a:srgbClr val="0E1F53"/>
                </a:solidFill>
                <a:latin typeface="Roboto"/>
              </a:rPr>
              <a:t>Die dauerhafte Grundanweisung</a:t>
            </a:r>
          </a:p>
        </p:txBody>
      </p:sp>
      <p:sp>
        <p:nvSpPr>
          <p:cNvPr id="11" name="TextBox 10"/>
          <p:cNvSpPr txBox="1"/>
          <p:nvPr/>
        </p:nvSpPr>
        <p:spPr>
          <a:xfrm>
            <a:off x="3310128" y="3438144"/>
            <a:ext cx="3703320" cy="347472"/>
          </a:xfrm>
          <a:prstGeom prst="rect">
            <a:avLst/>
          </a:prstGeom>
          <a:noFill/>
        </p:spPr>
        <p:txBody>
          <a:bodyPr wrap="square" lIns="0" rIns="0" tIns="0" bIns="0" anchor="t"/>
          <a:lstStyle/>
          <a:p>
            <a:pPr algn="l">
              <a:spcAft>
                <a:spcPts val="400"/>
              </a:spcAft>
              <a:buNone/>
            </a:pPr>
            <a:r>
              <a:rPr sz="1200" b="0" i="1">
                <a:solidFill>
                  <a:srgbClr val="5A6684"/>
                </a:solidFill>
                <a:latin typeface="Roboto"/>
              </a:rPr>
              <a:t>Rolle, Kontext, Regeln: gilt für jede Nachricht</a:t>
            </a:r>
          </a:p>
        </p:txBody>
      </p:sp>
      <p:sp>
        <p:nvSpPr>
          <p:cNvPr id="12" name="Rounded Rectangle 11"/>
          <p:cNvSpPr/>
          <p:nvPr/>
        </p:nvSpPr>
        <p:spPr>
          <a:xfrm>
            <a:off x="1481328" y="3986784"/>
            <a:ext cx="6035040" cy="8412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09928" y="3986784"/>
            <a:ext cx="1920240" cy="841248"/>
          </a:xfrm>
          <a:prstGeom prst="rect">
            <a:avLst/>
          </a:prstGeom>
          <a:noFill/>
        </p:spPr>
        <p:txBody>
          <a:bodyPr wrap="square" lIns="0" rIns="0" tIns="0" bIns="0" anchor="ctr"/>
          <a:lstStyle/>
          <a:p>
            <a:pPr algn="l">
              <a:spcAft>
                <a:spcPts val="400"/>
              </a:spcAft>
              <a:buNone/>
            </a:pPr>
            <a:r>
              <a:rPr sz="1800" b="1" i="0">
                <a:solidFill>
                  <a:srgbClr val="0E1F53"/>
                </a:solidFill>
                <a:latin typeface="Roboto"/>
              </a:rPr>
              <a:t>Agent</a:t>
            </a:r>
          </a:p>
        </p:txBody>
      </p:sp>
      <p:sp>
        <p:nvSpPr>
          <p:cNvPr id="14" name="TextBox 13"/>
          <p:cNvSpPr txBox="1"/>
          <p:nvPr/>
        </p:nvSpPr>
        <p:spPr>
          <a:xfrm>
            <a:off x="3630168" y="4059936"/>
            <a:ext cx="3703320" cy="384048"/>
          </a:xfrm>
          <a:prstGeom prst="rect">
            <a:avLst/>
          </a:prstGeom>
          <a:noFill/>
        </p:spPr>
        <p:txBody>
          <a:bodyPr wrap="square" lIns="0" rIns="0" tIns="0" bIns="0" anchor="t"/>
          <a:lstStyle/>
          <a:p>
            <a:pPr algn="l">
              <a:spcAft>
                <a:spcPts val="400"/>
              </a:spcAft>
              <a:buNone/>
            </a:pPr>
            <a:r>
              <a:rPr sz="1350" b="1" i="0">
                <a:solidFill>
                  <a:srgbClr val="0E1F53"/>
                </a:solidFill>
                <a:latin typeface="Roboto"/>
              </a:rPr>
              <a:t>Systemprompt + Wissen + Werkzeuge</a:t>
            </a:r>
          </a:p>
        </p:txBody>
      </p:sp>
      <p:sp>
        <p:nvSpPr>
          <p:cNvPr id="15" name="TextBox 14"/>
          <p:cNvSpPr txBox="1"/>
          <p:nvPr/>
        </p:nvSpPr>
        <p:spPr>
          <a:xfrm>
            <a:off x="3630168" y="4425696"/>
            <a:ext cx="3703320" cy="347472"/>
          </a:xfrm>
          <a:prstGeom prst="rect">
            <a:avLst/>
          </a:prstGeom>
          <a:noFill/>
        </p:spPr>
        <p:txBody>
          <a:bodyPr wrap="square" lIns="0" rIns="0" tIns="0" bIns="0" anchor="t"/>
          <a:lstStyle/>
          <a:p>
            <a:pPr algn="l">
              <a:spcAft>
                <a:spcPts val="400"/>
              </a:spcAft>
              <a:buNone/>
            </a:pPr>
            <a:r>
              <a:rPr sz="1200" b="0" i="1">
                <a:solidFill>
                  <a:srgbClr val="5A6684"/>
                </a:solidFill>
                <a:latin typeface="Roboto"/>
              </a:rPr>
              <a:t>Arbeitet mehrere Schritte selbstständig ab</a:t>
            </a:r>
          </a:p>
        </p:txBody>
      </p:sp>
      <p:sp>
        <p:nvSpPr>
          <p:cNvPr id="16" name="Rounded Rectangle 15"/>
          <p:cNvSpPr/>
          <p:nvPr/>
        </p:nvSpPr>
        <p:spPr>
          <a:xfrm>
            <a:off x="1801367" y="4974336"/>
            <a:ext cx="6035040" cy="84124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029967" y="4974336"/>
            <a:ext cx="1920240" cy="841248"/>
          </a:xfrm>
          <a:prstGeom prst="rect">
            <a:avLst/>
          </a:prstGeom>
          <a:noFill/>
        </p:spPr>
        <p:txBody>
          <a:bodyPr wrap="square" lIns="0" rIns="0" tIns="0" bIns="0" anchor="ctr"/>
          <a:lstStyle/>
          <a:p>
            <a:pPr algn="l">
              <a:spcAft>
                <a:spcPts val="400"/>
              </a:spcAft>
              <a:buNone/>
            </a:pPr>
            <a:r>
              <a:rPr sz="1800" b="1" i="0">
                <a:solidFill>
                  <a:srgbClr val="9FD0FF"/>
                </a:solidFill>
                <a:latin typeface="Roboto"/>
              </a:rPr>
              <a:t>Skill</a:t>
            </a:r>
          </a:p>
        </p:txBody>
      </p:sp>
      <p:sp>
        <p:nvSpPr>
          <p:cNvPr id="18" name="TextBox 17"/>
          <p:cNvSpPr txBox="1"/>
          <p:nvPr/>
        </p:nvSpPr>
        <p:spPr>
          <a:xfrm>
            <a:off x="3950208" y="5047488"/>
            <a:ext cx="3703320" cy="384048"/>
          </a:xfrm>
          <a:prstGeom prst="rect">
            <a:avLst/>
          </a:prstGeom>
          <a:noFill/>
        </p:spPr>
        <p:txBody>
          <a:bodyPr wrap="square" lIns="0" rIns="0" tIns="0" bIns="0" anchor="t"/>
          <a:lstStyle/>
          <a:p>
            <a:pPr algn="l">
              <a:spcAft>
                <a:spcPts val="400"/>
              </a:spcAft>
              <a:buNone/>
            </a:pPr>
            <a:r>
              <a:rPr sz="1350" b="1" i="0">
                <a:solidFill>
                  <a:srgbClr val="FFFFFF"/>
                </a:solidFill>
                <a:latin typeface="Roboto"/>
              </a:rPr>
              <a:t>Ein Handgriff als Datei</a:t>
            </a:r>
          </a:p>
        </p:txBody>
      </p:sp>
      <p:sp>
        <p:nvSpPr>
          <p:cNvPr id="19" name="TextBox 18"/>
          <p:cNvSpPr txBox="1"/>
          <p:nvPr/>
        </p:nvSpPr>
        <p:spPr>
          <a:xfrm>
            <a:off x="3950208" y="5413248"/>
            <a:ext cx="3703320" cy="347472"/>
          </a:xfrm>
          <a:prstGeom prst="rect">
            <a:avLst/>
          </a:prstGeom>
          <a:noFill/>
        </p:spPr>
        <p:txBody>
          <a:bodyPr wrap="square" lIns="0" rIns="0" tIns="0" bIns="0" anchor="t"/>
          <a:lstStyle/>
          <a:p>
            <a:pPr algn="l">
              <a:spcAft>
                <a:spcPts val="400"/>
              </a:spcAft>
              <a:buNone/>
            </a:pPr>
            <a:r>
              <a:rPr sz="1200" b="0" i="1">
                <a:solidFill>
                  <a:srgbClr val="C9D6EE"/>
                </a:solidFill>
                <a:latin typeface="Roboto"/>
              </a:rPr>
              <a:t>wird bei Bedarf geladen, z. B. ein Leitfaden-Standard</a:t>
            </a:r>
          </a:p>
        </p:txBody>
      </p:sp>
      <p:sp>
        <p:nvSpPr>
          <p:cNvPr id="20" name="Rounded Rectangle 19"/>
          <p:cNvSpPr/>
          <p:nvPr/>
        </p:nvSpPr>
        <p:spPr>
          <a:xfrm>
            <a:off x="8110728" y="2011680"/>
            <a:ext cx="3236975" cy="38039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3608" y="2148840"/>
            <a:ext cx="2871215" cy="3657600"/>
          </a:xfrm>
          <a:prstGeom prst="rect">
            <a:avLst/>
          </a:prstGeom>
          <a:noFill/>
        </p:spPr>
        <p:txBody>
          <a:bodyPr wrap="square" lIns="0" rIns="0" tIns="0" bIns="0" anchor="t"/>
          <a:lstStyle/>
          <a:p>
            <a:pPr algn="l">
              <a:spcAft>
                <a:spcPts val="800"/>
              </a:spcAft>
              <a:buNone/>
            </a:pPr>
            <a:r>
              <a:rPr sz="1600" b="1" i="0">
                <a:solidFill>
                  <a:srgbClr val="0E1F53"/>
                </a:solidFill>
                <a:latin typeface="Roboto"/>
              </a:rPr>
              <a:t>Merkbild</a:t>
            </a:r>
          </a:p>
          <a:p>
            <a:pPr algn="l">
              <a:spcAft>
                <a:spcPts val="600"/>
              </a:spcAft>
              <a:buNone/>
            </a:pPr>
            <a:r>
              <a:rPr sz="1350" b="0" i="0">
                <a:solidFill>
                  <a:srgbClr val="0E1F53"/>
                </a:solidFill>
                <a:latin typeface="Roboto"/>
              </a:rPr>
              <a:t>Der Agent ist die Fachkraft.</a:t>
            </a:r>
          </a:p>
          <a:p>
            <a:pPr algn="l">
              <a:spcAft>
                <a:spcPts val="600"/>
              </a:spcAft>
              <a:buNone/>
            </a:pPr>
            <a:r>
              <a:rPr sz="1350" b="0" i="0">
                <a:solidFill>
                  <a:srgbClr val="0E1F53"/>
                </a:solidFill>
                <a:latin typeface="Roboto"/>
              </a:rPr>
              <a:t>Der Systemprompt ist ihre Stellenbeschreibung.</a:t>
            </a:r>
          </a:p>
          <a:p>
            <a:pPr algn="l">
              <a:spcAft>
                <a:spcPts val="600"/>
              </a:spcAft>
              <a:buNone/>
            </a:pPr>
            <a:r>
              <a:rPr sz="1350" b="0" i="0">
                <a:solidFill>
                  <a:srgbClr val="0E1F53"/>
                </a:solidFill>
                <a:latin typeface="Roboto"/>
              </a:rPr>
              <a:t>Skills sind die Arbeitsanweisungen im Ordner.</a:t>
            </a:r>
          </a:p>
          <a:p>
            <a:pPr algn="l">
              <a:spcAft>
                <a:spcPts val="400"/>
              </a:spcAft>
              <a:buNone/>
            </a:pPr>
            <a:r>
              <a:rPr sz="1350" b="0" i="0">
                <a:solidFill>
                  <a:srgbClr val="0E1F53"/>
                </a:solidFill>
                <a:latin typeface="Roboto"/>
              </a:rPr>
              <a:t>Konnektoren sind ihr Zugang zu Mail und Ablage.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Anatomie eines Systemprompts: sechs Bausteine, sechs Farben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841248" y="215798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3856" y="2103120"/>
            <a:ext cx="3913631" cy="310896"/>
          </a:xfrm>
          <a:prstGeom prst="rect">
            <a:avLst/>
          </a:prstGeom>
          <a:noFill/>
        </p:spPr>
        <p:txBody>
          <a:bodyPr wrap="square" lIns="0" rIns="0" tIns="0" bIns="0" anchor="ctr"/>
          <a:lstStyle/>
          <a:p>
            <a:pPr algn="l">
              <a:spcAft>
                <a:spcPts val="400"/>
              </a:spcAft>
              <a:buNone/>
            </a:pPr>
            <a:r>
              <a:rPr sz="1400" b="1" i="0">
                <a:solidFill>
                  <a:srgbClr val="1E8E4E"/>
                </a:solidFill>
                <a:latin typeface="Roboto"/>
              </a:rPr>
              <a:t>Rolle  </a:t>
            </a:r>
            <a:r>
              <a:rPr sz="1400" b="0" i="0">
                <a:solidFill>
                  <a:srgbClr val="0E1F53"/>
                </a:solidFill>
                <a:latin typeface="Roboto"/>
              </a:rPr>
              <a:t>Wer ist der Agent?</a:t>
            </a:r>
          </a:p>
        </p:txBody>
      </p:sp>
      <p:sp>
        <p:nvSpPr>
          <p:cNvPr id="6" name="Oval 5"/>
          <p:cNvSpPr/>
          <p:nvPr/>
        </p:nvSpPr>
        <p:spPr>
          <a:xfrm>
            <a:off x="841248" y="272491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 y="2670048"/>
            <a:ext cx="3913631" cy="310896"/>
          </a:xfrm>
          <a:prstGeom prst="rect">
            <a:avLst/>
          </a:prstGeom>
          <a:noFill/>
        </p:spPr>
        <p:txBody>
          <a:bodyPr wrap="square" lIns="0" rIns="0" tIns="0" bIns="0" anchor="ctr"/>
          <a:lstStyle/>
          <a:p>
            <a:pPr algn="l">
              <a:spcAft>
                <a:spcPts val="400"/>
              </a:spcAft>
              <a:buNone/>
            </a:pPr>
            <a:r>
              <a:rPr sz="1400" b="1" i="0">
                <a:solidFill>
                  <a:srgbClr val="1F6FD1"/>
                </a:solidFill>
                <a:latin typeface="Roboto"/>
              </a:rPr>
              <a:t>Kontext  </a:t>
            </a:r>
            <a:r>
              <a:rPr sz="1400" b="0" i="0">
                <a:solidFill>
                  <a:srgbClr val="0E1F53"/>
                </a:solidFill>
                <a:latin typeface="Roboto"/>
              </a:rPr>
              <a:t>Was muss er wissen?</a:t>
            </a:r>
          </a:p>
        </p:txBody>
      </p:sp>
      <p:sp>
        <p:nvSpPr>
          <p:cNvPr id="8" name="Oval 7"/>
          <p:cNvSpPr/>
          <p:nvPr/>
        </p:nvSpPr>
        <p:spPr>
          <a:xfrm>
            <a:off x="841248" y="329184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33856" y="3236976"/>
            <a:ext cx="3913631" cy="310896"/>
          </a:xfrm>
          <a:prstGeom prst="rect">
            <a:avLst/>
          </a:prstGeom>
          <a:noFill/>
        </p:spPr>
        <p:txBody>
          <a:bodyPr wrap="square" lIns="0" rIns="0" tIns="0" bIns="0" anchor="ctr"/>
          <a:lstStyle/>
          <a:p>
            <a:pPr algn="l">
              <a:spcAft>
                <a:spcPts val="400"/>
              </a:spcAft>
              <a:buNone/>
            </a:pPr>
            <a:r>
              <a:rPr sz="1400" b="1" i="0">
                <a:solidFill>
                  <a:srgbClr val="D9730D"/>
                </a:solidFill>
                <a:latin typeface="Roboto"/>
              </a:rPr>
              <a:t>Aufgabe  </a:t>
            </a:r>
            <a:r>
              <a:rPr sz="1400" b="0" i="0">
                <a:solidFill>
                  <a:srgbClr val="0E1F53"/>
                </a:solidFill>
                <a:latin typeface="Roboto"/>
              </a:rPr>
              <a:t>Was soll er tun?</a:t>
            </a:r>
          </a:p>
        </p:txBody>
      </p:sp>
      <p:sp>
        <p:nvSpPr>
          <p:cNvPr id="10" name="Oval 9"/>
          <p:cNvSpPr/>
          <p:nvPr/>
        </p:nvSpPr>
        <p:spPr>
          <a:xfrm>
            <a:off x="841248" y="385876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33856" y="3803904"/>
            <a:ext cx="3913631" cy="310896"/>
          </a:xfrm>
          <a:prstGeom prst="rect">
            <a:avLst/>
          </a:prstGeom>
          <a:noFill/>
        </p:spPr>
        <p:txBody>
          <a:bodyPr wrap="square" lIns="0" rIns="0" tIns="0" bIns="0" anchor="ctr"/>
          <a:lstStyle/>
          <a:p>
            <a:pPr algn="l">
              <a:spcAft>
                <a:spcPts val="400"/>
              </a:spcAft>
              <a:buNone/>
            </a:pPr>
            <a:r>
              <a:rPr sz="1400" b="1" i="0">
                <a:solidFill>
                  <a:srgbClr val="7A4CC2"/>
                </a:solidFill>
                <a:latin typeface="Roboto"/>
              </a:rPr>
              <a:t>Vorgehen  </a:t>
            </a:r>
            <a:r>
              <a:rPr sz="1400" b="0" i="0">
                <a:solidFill>
                  <a:srgbClr val="0E1F53"/>
                </a:solidFill>
                <a:latin typeface="Roboto"/>
              </a:rPr>
              <a:t>In welchen Schritten?</a:t>
            </a:r>
          </a:p>
        </p:txBody>
      </p:sp>
      <p:sp>
        <p:nvSpPr>
          <p:cNvPr id="12" name="Oval 11"/>
          <p:cNvSpPr/>
          <p:nvPr/>
        </p:nvSpPr>
        <p:spPr>
          <a:xfrm>
            <a:off x="841248" y="4425695"/>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33856" y="4370831"/>
            <a:ext cx="3913631" cy="310896"/>
          </a:xfrm>
          <a:prstGeom prst="rect">
            <a:avLst/>
          </a:prstGeom>
          <a:noFill/>
        </p:spPr>
        <p:txBody>
          <a:bodyPr wrap="square" lIns="0" rIns="0" tIns="0" bIns="0" anchor="ctr"/>
          <a:lstStyle/>
          <a:p>
            <a:pPr algn="l">
              <a:spcAft>
                <a:spcPts val="400"/>
              </a:spcAft>
              <a:buNone/>
            </a:pPr>
            <a:r>
              <a:rPr sz="1400" b="1" i="0">
                <a:solidFill>
                  <a:srgbClr val="0F8C8C"/>
                </a:solidFill>
                <a:latin typeface="Roboto"/>
              </a:rPr>
              <a:t>Format  </a:t>
            </a:r>
            <a:r>
              <a:rPr sz="1400" b="0" i="0">
                <a:solidFill>
                  <a:srgbClr val="0E1F53"/>
                </a:solidFill>
                <a:latin typeface="Roboto"/>
              </a:rPr>
              <a:t>Wie sieht das Ergebnis aus?</a:t>
            </a:r>
          </a:p>
        </p:txBody>
      </p:sp>
      <p:sp>
        <p:nvSpPr>
          <p:cNvPr id="14" name="Oval 13"/>
          <p:cNvSpPr/>
          <p:nvPr/>
        </p:nvSpPr>
        <p:spPr>
          <a:xfrm>
            <a:off x="841248" y="499262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33856" y="4937760"/>
            <a:ext cx="3913631" cy="310896"/>
          </a:xfrm>
          <a:prstGeom prst="rect">
            <a:avLst/>
          </a:prstGeom>
          <a:noFill/>
        </p:spPr>
        <p:txBody>
          <a:bodyPr wrap="square" lIns="0" rIns="0" tIns="0" bIns="0" anchor="ctr"/>
          <a:lstStyle/>
          <a:p>
            <a:pPr algn="l">
              <a:spcAft>
                <a:spcPts val="400"/>
              </a:spcAft>
              <a:buNone/>
            </a:pPr>
            <a:r>
              <a:rPr sz="1400" b="1" i="0">
                <a:solidFill>
                  <a:srgbClr val="C8323C"/>
                </a:solidFill>
                <a:latin typeface="Roboto"/>
              </a:rPr>
              <a:t>Regeln  </a:t>
            </a:r>
            <a:r>
              <a:rPr sz="1400" b="0" i="0">
                <a:solidFill>
                  <a:srgbClr val="0E1F53"/>
                </a:solidFill>
                <a:latin typeface="Roboto"/>
              </a:rPr>
              <a:t>Was darf er nicht?</a:t>
            </a:r>
          </a:p>
        </p:txBody>
      </p:sp>
      <p:sp>
        <p:nvSpPr>
          <p:cNvPr id="16" name="TextBox 15"/>
          <p:cNvSpPr txBox="1"/>
          <p:nvPr/>
        </p:nvSpPr>
        <p:spPr>
          <a:xfrm>
            <a:off x="841248" y="5577840"/>
            <a:ext cx="4206240" cy="457200"/>
          </a:xfrm>
          <a:prstGeom prst="rect">
            <a:avLst/>
          </a:prstGeom>
          <a:noFill/>
        </p:spPr>
        <p:txBody>
          <a:bodyPr wrap="square" lIns="0" rIns="0" tIns="0" bIns="0" anchor="t"/>
          <a:lstStyle/>
          <a:p>
            <a:pPr algn="l">
              <a:spcAft>
                <a:spcPts val="400"/>
              </a:spcAft>
              <a:buNone/>
            </a:pPr>
            <a:r>
              <a:rPr sz="1200" b="0" i="1">
                <a:solidFill>
                  <a:srgbClr val="5A6684"/>
                </a:solidFill>
                <a:latin typeface="Roboto"/>
              </a:rPr>
              <a:t>Diese Farben gelten auf allen Prompt-Folien.</a:t>
            </a:r>
          </a:p>
        </p:txBody>
      </p:sp>
      <p:sp>
        <p:nvSpPr>
          <p:cNvPr id="17" name="Rounded Rectangle 16"/>
          <p:cNvSpPr/>
          <p:nvPr/>
        </p:nvSpPr>
        <p:spPr>
          <a:xfrm>
            <a:off x="5257800" y="2011680"/>
            <a:ext cx="6089904"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76088" y="2029968"/>
            <a:ext cx="6053328"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394960"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577840"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760720"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35040" y="2048256"/>
            <a:ext cx="5175504"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Systemprompt</a:t>
            </a:r>
          </a:p>
        </p:txBody>
      </p:sp>
      <p:sp>
        <p:nvSpPr>
          <p:cNvPr id="23" name="Rounded Rectangle 22"/>
          <p:cNvSpPr/>
          <p:nvPr/>
        </p:nvSpPr>
        <p:spPr>
          <a:xfrm>
            <a:off x="5385816" y="2487168"/>
            <a:ext cx="5833872" cy="519684"/>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77256"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25" name="TextBox 24"/>
          <p:cNvSpPr txBox="1"/>
          <p:nvPr/>
        </p:nvSpPr>
        <p:spPr>
          <a:xfrm>
            <a:off x="6437376" y="2523744"/>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Du bist [Funktion] mit Erfahrung in [Fachgebiet]. Du arbeitest für [Unternehmen].</a:t>
            </a:r>
          </a:p>
        </p:txBody>
      </p:sp>
      <p:sp>
        <p:nvSpPr>
          <p:cNvPr id="26" name="Rounded Rectangle 25"/>
          <p:cNvSpPr/>
          <p:nvPr/>
        </p:nvSpPr>
        <p:spPr>
          <a:xfrm>
            <a:off x="5385816" y="3070860"/>
            <a:ext cx="5833872" cy="51968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77256" y="3125724"/>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8" name="TextBox 27"/>
          <p:cNvSpPr txBox="1"/>
          <p:nvPr/>
        </p:nvSpPr>
        <p:spPr>
          <a:xfrm>
            <a:off x="6437376" y="3107436"/>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Unser Unternehmen: [Branche, Größe, Region, Kundschaft]. Ausgangslage: [Problem, Ziel, Rahmen].</a:t>
            </a:r>
          </a:p>
        </p:txBody>
      </p:sp>
      <p:sp>
        <p:nvSpPr>
          <p:cNvPr id="29" name="Rounded Rectangle 28"/>
          <p:cNvSpPr/>
          <p:nvPr/>
        </p:nvSpPr>
        <p:spPr>
          <a:xfrm>
            <a:off x="5385816" y="3654552"/>
            <a:ext cx="5833872" cy="519684"/>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77256" y="3709416"/>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31" name="TextBox 30"/>
          <p:cNvSpPr txBox="1"/>
          <p:nvPr/>
        </p:nvSpPr>
        <p:spPr>
          <a:xfrm>
            <a:off x="6437376" y="3691128"/>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Deine Aufgabe ist es, [konkretes Ergebnis] zu erstellen.</a:t>
            </a:r>
          </a:p>
        </p:txBody>
      </p:sp>
      <p:sp>
        <p:nvSpPr>
          <p:cNvPr id="32" name="Rounded Rectangle 31"/>
          <p:cNvSpPr/>
          <p:nvPr/>
        </p:nvSpPr>
        <p:spPr>
          <a:xfrm>
            <a:off x="5385816" y="4238244"/>
            <a:ext cx="5833872" cy="519684"/>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77256" y="429310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34" name="TextBox 33"/>
          <p:cNvSpPr txBox="1"/>
          <p:nvPr/>
        </p:nvSpPr>
        <p:spPr>
          <a:xfrm>
            <a:off x="6437376" y="4274820"/>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1. [Schritt]  2. [Schritt]  3. Prüfe dein Ergebnis gegen [Kriterium].</a:t>
            </a:r>
          </a:p>
        </p:txBody>
      </p:sp>
      <p:sp>
        <p:nvSpPr>
          <p:cNvPr id="35" name="Rounded Rectangle 34"/>
          <p:cNvSpPr/>
          <p:nvPr/>
        </p:nvSpPr>
        <p:spPr>
          <a:xfrm>
            <a:off x="5385816" y="4821936"/>
            <a:ext cx="5833872" cy="519684"/>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77256" y="4876800"/>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7" name="TextBox 36"/>
          <p:cNvSpPr txBox="1"/>
          <p:nvPr/>
        </p:nvSpPr>
        <p:spPr>
          <a:xfrm>
            <a:off x="6437376" y="4858512"/>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Antworte als [Tabelle / Liste / Mail] mit [Länge], Sprache: Deutsch.</a:t>
            </a:r>
          </a:p>
        </p:txBody>
      </p:sp>
      <p:sp>
        <p:nvSpPr>
          <p:cNvPr id="38" name="Rounded Rectangle 37"/>
          <p:cNvSpPr/>
          <p:nvPr/>
        </p:nvSpPr>
        <p:spPr>
          <a:xfrm>
            <a:off x="5385816" y="5405628"/>
            <a:ext cx="5833872" cy="519684"/>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77256" y="546049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40" name="TextBox 39"/>
          <p:cNvSpPr txBox="1"/>
          <p:nvPr/>
        </p:nvSpPr>
        <p:spPr>
          <a:xfrm>
            <a:off x="6437376" y="5442204"/>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Erfinde keine Fakten. Nenne Quellen. Frage nach, wenn Informationen fehlen.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Der Unterschied in der Praxis: Vorher und Nachher</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3657600"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194560"/>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riangleAlert_w.png"/>
          <p:cNvPicPr>
            <a:picLocks noChangeAspect="1"/>
          </p:cNvPicPr>
          <p:nvPr/>
        </p:nvPicPr>
        <p:blipFill>
          <a:blip r:embed="rId3"/>
          <a:stretch>
            <a:fillRect/>
          </a:stretch>
        </p:blipFill>
        <p:spPr>
          <a:xfrm>
            <a:off x="1190548" y="2315260"/>
            <a:ext cx="261518" cy="261518"/>
          </a:xfrm>
          <a:prstGeom prst="rect">
            <a:avLst/>
          </a:prstGeom>
        </p:spPr>
      </p:pic>
      <p:sp>
        <p:nvSpPr>
          <p:cNvPr id="7" name="TextBox 6"/>
          <p:cNvSpPr txBox="1"/>
          <p:nvPr/>
        </p:nvSpPr>
        <p:spPr>
          <a:xfrm>
            <a:off x="1709928" y="2194560"/>
            <a:ext cx="2651760" cy="502920"/>
          </a:xfrm>
          <a:prstGeom prst="rect">
            <a:avLst/>
          </a:prstGeom>
          <a:noFill/>
        </p:spPr>
        <p:txBody>
          <a:bodyPr wrap="square" lIns="0" rIns="0" tIns="0" bIns="0" anchor="ctr"/>
          <a:lstStyle/>
          <a:p>
            <a:pPr algn="l">
              <a:spcAft>
                <a:spcPts val="400"/>
              </a:spcAft>
              <a:buNone/>
            </a:pPr>
            <a:r>
              <a:rPr sz="1800" b="1" i="0">
                <a:solidFill>
                  <a:srgbClr val="0E1F53"/>
                </a:solidFill>
                <a:latin typeface="Roboto"/>
              </a:rPr>
              <a:t>Vorher</a:t>
            </a:r>
          </a:p>
        </p:txBody>
      </p:sp>
      <p:sp>
        <p:nvSpPr>
          <p:cNvPr id="8" name="Rounded Rectangle 7"/>
          <p:cNvSpPr/>
          <p:nvPr/>
        </p:nvSpPr>
        <p:spPr>
          <a:xfrm>
            <a:off x="1069848" y="2880360"/>
            <a:ext cx="3200400" cy="1097280"/>
          </a:xfrm>
          <a:prstGeom prst="roundRect">
            <a:avLst>
              <a:gd name="adj" fmla="val 6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7008" y="2880360"/>
            <a:ext cx="2926080" cy="1097280"/>
          </a:xfrm>
          <a:prstGeom prst="rect">
            <a:avLst/>
          </a:prstGeom>
          <a:noFill/>
        </p:spPr>
        <p:txBody>
          <a:bodyPr wrap="square" lIns="0" rIns="0" tIns="0" bIns="0" anchor="ctr"/>
          <a:lstStyle/>
          <a:p>
            <a:pPr algn="l">
              <a:spcAft>
                <a:spcPts val="400"/>
              </a:spcAft>
              <a:buNone/>
            </a:pPr>
            <a:r>
              <a:rPr sz="1400" b="0" i="1">
                <a:solidFill>
                  <a:srgbClr val="0E1F53"/>
                </a:solidFill>
                <a:latin typeface="Roboto"/>
              </a:rPr>
              <a:t>„Mach mir eine Marktanalyse für unser Unternehmen.“</a:t>
            </a:r>
          </a:p>
        </p:txBody>
      </p:sp>
      <p:sp>
        <p:nvSpPr>
          <p:cNvPr id="10" name="TextBox 9"/>
          <p:cNvSpPr txBox="1"/>
          <p:nvPr/>
        </p:nvSpPr>
        <p:spPr>
          <a:xfrm>
            <a:off x="1069848" y="4160520"/>
            <a:ext cx="3200400" cy="173736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00" b="0" i="0">
                <a:solidFill>
                  <a:srgbClr val="0E1F53"/>
                </a:solidFill>
                <a:latin typeface="Roboto"/>
              </a:rPr>
              <a:t>Keine Rolle: Wer analysiert?</a:t>
            </a:r>
          </a:p>
          <a:p>
            <a:pPr algn="l" marL="164592" indent="-164592">
              <a:spcAft>
                <a:spcPts val="400"/>
              </a:spcAft>
              <a:buClr>
                <a:srgbClr val="FB2762"/>
              </a:buClr>
              <a:buFont typeface="Arial"/>
              <a:buChar char="•"/>
            </a:pPr>
            <a:r>
              <a:rPr sz="1300" b="0" i="0">
                <a:solidFill>
                  <a:srgbClr val="0E1F53"/>
                </a:solidFill>
                <a:latin typeface="Roboto"/>
              </a:rPr>
              <a:t>Kein Kontext: Welcher Markt, welche Region?</a:t>
            </a:r>
          </a:p>
          <a:p>
            <a:pPr algn="l" marL="164592" indent="-164592">
              <a:spcAft>
                <a:spcPts val="400"/>
              </a:spcAft>
              <a:buClr>
                <a:srgbClr val="FB2762"/>
              </a:buClr>
              <a:buFont typeface="Arial"/>
              <a:buChar char="•"/>
            </a:pPr>
            <a:r>
              <a:rPr sz="1300" b="0" i="0">
                <a:solidFill>
                  <a:srgbClr val="0E1F53"/>
                </a:solidFill>
                <a:latin typeface="Roboto"/>
              </a:rPr>
              <a:t>Kein Format: Ergebnis unbrauchbar</a:t>
            </a:r>
          </a:p>
          <a:p>
            <a:pPr algn="l" marL="164592" indent="-164592">
              <a:spcAft>
                <a:spcPts val="400"/>
              </a:spcAft>
              <a:buClr>
                <a:srgbClr val="FB2762"/>
              </a:buClr>
              <a:buFont typeface="Arial"/>
              <a:buChar char="•"/>
            </a:pPr>
            <a:r>
              <a:rPr sz="1300" b="0" i="0">
                <a:solidFill>
                  <a:srgbClr val="0E1F53"/>
                </a:solidFill>
                <a:latin typeface="Roboto"/>
              </a:rPr>
              <a:t>Keine Regeln: erfundene Zahlen möglich</a:t>
            </a:r>
          </a:p>
        </p:txBody>
      </p:sp>
      <p:sp>
        <p:nvSpPr>
          <p:cNvPr id="11" name="Rounded Rectangle 10"/>
          <p:cNvSpPr/>
          <p:nvPr/>
        </p:nvSpPr>
        <p:spPr>
          <a:xfrm>
            <a:off x="4773168" y="2011680"/>
            <a:ext cx="6574536" cy="3977639"/>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791455" y="2029968"/>
            <a:ext cx="6537960"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91032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09320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7608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550407" y="2048256"/>
            <a:ext cx="5660136"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Nachher · gleiche Aufgabe, klar gebaut</a:t>
            </a:r>
          </a:p>
        </p:txBody>
      </p:sp>
      <p:sp>
        <p:nvSpPr>
          <p:cNvPr id="17" name="Rounded Rectangle 16"/>
          <p:cNvSpPr/>
          <p:nvPr/>
        </p:nvSpPr>
        <p:spPr>
          <a:xfrm>
            <a:off x="4901183" y="2487168"/>
            <a:ext cx="6318504" cy="495545"/>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9262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5952744" y="2523744"/>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Marktanalyst für Handwerksbetriebe am Niederrhein.</a:t>
            </a:r>
          </a:p>
        </p:txBody>
      </p:sp>
      <p:sp>
        <p:nvSpPr>
          <p:cNvPr id="20" name="Rounded Rectangle 19"/>
          <p:cNvSpPr/>
          <p:nvPr/>
        </p:nvSpPr>
        <p:spPr>
          <a:xfrm>
            <a:off x="4901183" y="3046721"/>
            <a:ext cx="6318504" cy="59465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992624" y="3101585"/>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5952744" y="3083297"/>
            <a:ext cx="5157216" cy="521502"/>
          </a:xfrm>
          <a:prstGeom prst="rect">
            <a:avLst/>
          </a:prstGeom>
          <a:noFill/>
        </p:spPr>
        <p:txBody>
          <a:bodyPr wrap="square" lIns="0" rIns="0" tIns="0" bIns="0" anchor="ctr"/>
          <a:lstStyle/>
          <a:p>
            <a:pPr algn="l">
              <a:spcAft>
                <a:spcPts val="0"/>
              </a:spcAft>
              <a:buNone/>
            </a:pPr>
            <a:r>
              <a:rPr sz="1150" b="0" i="0">
                <a:solidFill>
                  <a:srgbClr val="1B2440"/>
                </a:solidFill>
                <a:latin typeface="Roboto"/>
              </a:rPr>
              <a:t>Wir sind ein Sanitärbetrieb mit 25 Mitarbeitenden in Kleve. Wir überlegen, Wärmepumpen-Wartung als Abo anzubieten.</a:t>
            </a:r>
          </a:p>
        </p:txBody>
      </p:sp>
      <p:sp>
        <p:nvSpPr>
          <p:cNvPr id="23" name="Rounded Rectangle 22"/>
          <p:cNvSpPr/>
          <p:nvPr/>
        </p:nvSpPr>
        <p:spPr>
          <a:xfrm>
            <a:off x="4901183" y="3705384"/>
            <a:ext cx="6318504" cy="49554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92624" y="3760248"/>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5952744" y="3741960"/>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Analysiere Nachfrage, Wettbewerb und Preise für Wartungsabos im Kreis Kleve und Wesel.</a:t>
            </a:r>
          </a:p>
        </p:txBody>
      </p:sp>
      <p:sp>
        <p:nvSpPr>
          <p:cNvPr id="26" name="Rounded Rectangle 25"/>
          <p:cNvSpPr/>
          <p:nvPr/>
        </p:nvSpPr>
        <p:spPr>
          <a:xfrm>
            <a:off x="4901183" y="4264938"/>
            <a:ext cx="6318504" cy="495545"/>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92624" y="4319802"/>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5952744" y="4301514"/>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Recherchiere zuerst Marktdaten, dann 5 Wettbewerber, dann leite 3 Empfehlungen ab.</a:t>
            </a:r>
          </a:p>
        </p:txBody>
      </p:sp>
      <p:sp>
        <p:nvSpPr>
          <p:cNvPr id="29" name="Rounded Rectangle 28"/>
          <p:cNvSpPr/>
          <p:nvPr/>
        </p:nvSpPr>
        <p:spPr>
          <a:xfrm>
            <a:off x="4901183" y="4824492"/>
            <a:ext cx="6318504" cy="49554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992624" y="487935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5952744" y="4861068"/>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Tabelle Wettbewerber (Name, Angebot, Preis, Quelle), danach max. 1 Seite Fazit.</a:t>
            </a:r>
          </a:p>
        </p:txBody>
      </p:sp>
      <p:sp>
        <p:nvSpPr>
          <p:cNvPr id="32" name="Rounded Rectangle 31"/>
          <p:cNvSpPr/>
          <p:nvPr/>
        </p:nvSpPr>
        <p:spPr>
          <a:xfrm>
            <a:off x="4901183" y="5384046"/>
            <a:ext cx="6318504" cy="495545"/>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92624" y="5438910"/>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5952744" y="5420622"/>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belegbare Angaben mit Link. Kennzeichne Schätzungen deutlich.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Einen eigenen Agenten aufsetzen in fünf Schritten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1</a:t>
            </a:r>
          </a:p>
        </p:txBody>
      </p:sp>
      <p:sp>
        <p:nvSpPr>
          <p:cNvPr id="6" name="Oval 5"/>
          <p:cNvSpPr/>
          <p:nvPr/>
        </p:nvSpPr>
        <p:spPr>
          <a:xfrm>
            <a:off x="1909267"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uTarget_w.png"/>
          <p:cNvPicPr>
            <a:picLocks noChangeAspect="1"/>
          </p:cNvPicPr>
          <p:nvPr/>
        </p:nvPicPr>
        <p:blipFill>
          <a:blip r:embed="rId3"/>
          <a:stretch>
            <a:fillRect/>
          </a:stretch>
        </p:blipFill>
        <p:spPr>
          <a:xfrm>
            <a:off x="2045329" y="2284902"/>
            <a:ext cx="294802" cy="294802"/>
          </a:xfrm>
          <a:prstGeom prst="rect">
            <a:avLst/>
          </a:prstGeom>
        </p:spPr>
      </p:pic>
      <p:sp>
        <p:nvSpPr>
          <p:cNvPr id="8" name="TextBox 7"/>
          <p:cNvSpPr txBox="1"/>
          <p:nvPr/>
        </p:nvSpPr>
        <p:spPr>
          <a:xfrm>
            <a:off x="1024128"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Zweck festlegen</a:t>
            </a:r>
          </a:p>
        </p:txBody>
      </p:sp>
      <p:sp>
        <p:nvSpPr>
          <p:cNvPr id="9" name="TextBox 8"/>
          <p:cNvSpPr txBox="1"/>
          <p:nvPr/>
        </p:nvSpPr>
        <p:spPr>
          <a:xfrm>
            <a:off x="1024128"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Eine Aufgabe, ein Agent. Name und Ziel in einem Satz.</a:t>
            </a:r>
          </a:p>
        </p:txBody>
      </p:sp>
      <p:sp>
        <p:nvSpPr>
          <p:cNvPr id="10" name="Right Arrow 9"/>
          <p:cNvSpPr/>
          <p:nvPr/>
        </p:nvSpPr>
        <p:spPr>
          <a:xfrm>
            <a:off x="2741371"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006547"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89427"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2</a:t>
            </a:r>
          </a:p>
        </p:txBody>
      </p:sp>
      <p:sp>
        <p:nvSpPr>
          <p:cNvPr id="13" name="Oval 12"/>
          <p:cNvSpPr/>
          <p:nvPr/>
        </p:nvSpPr>
        <p:spPr>
          <a:xfrm>
            <a:off x="4074566"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FileCode_w.png"/>
          <p:cNvPicPr>
            <a:picLocks noChangeAspect="1"/>
          </p:cNvPicPr>
          <p:nvPr/>
        </p:nvPicPr>
        <p:blipFill>
          <a:blip r:embed="rId4"/>
          <a:stretch>
            <a:fillRect/>
          </a:stretch>
        </p:blipFill>
        <p:spPr>
          <a:xfrm>
            <a:off x="4210629" y="2284902"/>
            <a:ext cx="294802" cy="294802"/>
          </a:xfrm>
          <a:prstGeom prst="rect">
            <a:avLst/>
          </a:prstGeom>
        </p:spPr>
      </p:pic>
      <p:sp>
        <p:nvSpPr>
          <p:cNvPr id="15" name="TextBox 14"/>
          <p:cNvSpPr txBox="1"/>
          <p:nvPr/>
        </p:nvSpPr>
        <p:spPr>
          <a:xfrm>
            <a:off x="3189427"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Systemprompt schreiben</a:t>
            </a:r>
          </a:p>
        </p:txBody>
      </p:sp>
      <p:sp>
        <p:nvSpPr>
          <p:cNvPr id="16" name="TextBox 15"/>
          <p:cNvSpPr txBox="1"/>
          <p:nvPr/>
        </p:nvSpPr>
        <p:spPr>
          <a:xfrm>
            <a:off x="3189427"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Die sechs Bausteine: Rolle bis Regeln.</a:t>
            </a:r>
          </a:p>
        </p:txBody>
      </p:sp>
      <p:sp>
        <p:nvSpPr>
          <p:cNvPr id="17" name="Right Arrow 16"/>
          <p:cNvSpPr/>
          <p:nvPr/>
        </p:nvSpPr>
        <p:spPr>
          <a:xfrm>
            <a:off x="4906670"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171846"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54726"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3</a:t>
            </a:r>
          </a:p>
        </p:txBody>
      </p:sp>
      <p:sp>
        <p:nvSpPr>
          <p:cNvPr id="20" name="Oval 19"/>
          <p:cNvSpPr/>
          <p:nvPr/>
        </p:nvSpPr>
        <p:spPr>
          <a:xfrm>
            <a:off x="6239865"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Folder_w.png"/>
          <p:cNvPicPr>
            <a:picLocks noChangeAspect="1"/>
          </p:cNvPicPr>
          <p:nvPr/>
        </p:nvPicPr>
        <p:blipFill>
          <a:blip r:embed="rId5"/>
          <a:stretch>
            <a:fillRect/>
          </a:stretch>
        </p:blipFill>
        <p:spPr>
          <a:xfrm>
            <a:off x="6375928" y="2284902"/>
            <a:ext cx="294802" cy="294802"/>
          </a:xfrm>
          <a:prstGeom prst="rect">
            <a:avLst/>
          </a:prstGeom>
        </p:spPr>
      </p:pic>
      <p:sp>
        <p:nvSpPr>
          <p:cNvPr id="22" name="TextBox 21"/>
          <p:cNvSpPr txBox="1"/>
          <p:nvPr/>
        </p:nvSpPr>
        <p:spPr>
          <a:xfrm>
            <a:off x="5354726"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Wissen hinterlegen</a:t>
            </a:r>
          </a:p>
        </p:txBody>
      </p:sp>
      <p:sp>
        <p:nvSpPr>
          <p:cNvPr id="23" name="TextBox 22"/>
          <p:cNvSpPr txBox="1"/>
          <p:nvPr/>
        </p:nvSpPr>
        <p:spPr>
          <a:xfrm>
            <a:off x="5354726"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Dateien hochladen: Produktinfos, Vorlagen, Beispiele.</a:t>
            </a:r>
          </a:p>
        </p:txBody>
      </p:sp>
      <p:sp>
        <p:nvSpPr>
          <p:cNvPr id="24" name="Right Arrow 23"/>
          <p:cNvSpPr/>
          <p:nvPr/>
        </p:nvSpPr>
        <p:spPr>
          <a:xfrm>
            <a:off x="7071969"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337145"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20025"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4</a:t>
            </a:r>
          </a:p>
        </p:txBody>
      </p:sp>
      <p:sp>
        <p:nvSpPr>
          <p:cNvPr id="27" name="Oval 26"/>
          <p:cNvSpPr/>
          <p:nvPr/>
        </p:nvSpPr>
        <p:spPr>
          <a:xfrm>
            <a:off x="8405164"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Plug_w.png"/>
          <p:cNvPicPr>
            <a:picLocks noChangeAspect="1"/>
          </p:cNvPicPr>
          <p:nvPr/>
        </p:nvPicPr>
        <p:blipFill>
          <a:blip r:embed="rId6"/>
          <a:stretch>
            <a:fillRect/>
          </a:stretch>
        </p:blipFill>
        <p:spPr>
          <a:xfrm>
            <a:off x="8541227" y="2284902"/>
            <a:ext cx="294802" cy="294802"/>
          </a:xfrm>
          <a:prstGeom prst="rect">
            <a:avLst/>
          </a:prstGeom>
        </p:spPr>
      </p:pic>
      <p:sp>
        <p:nvSpPr>
          <p:cNvPr id="29" name="TextBox 28"/>
          <p:cNvSpPr txBox="1"/>
          <p:nvPr/>
        </p:nvSpPr>
        <p:spPr>
          <a:xfrm>
            <a:off x="7520025"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Werkzeuge aktivieren</a:t>
            </a:r>
          </a:p>
        </p:txBody>
      </p:sp>
      <p:sp>
        <p:nvSpPr>
          <p:cNvPr id="30" name="TextBox 29"/>
          <p:cNvSpPr txBox="1"/>
          <p:nvPr/>
        </p:nvSpPr>
        <p:spPr>
          <a:xfrm>
            <a:off x="7520025"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Websuche, Deep Research, Code, Mail, Ablage.</a:t>
            </a:r>
          </a:p>
        </p:txBody>
      </p:sp>
      <p:sp>
        <p:nvSpPr>
          <p:cNvPr id="31" name="Right Arrow 30"/>
          <p:cNvSpPr/>
          <p:nvPr/>
        </p:nvSpPr>
        <p:spPr>
          <a:xfrm>
            <a:off x="9237268"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502444"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85324"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5</a:t>
            </a:r>
          </a:p>
        </p:txBody>
      </p:sp>
      <p:sp>
        <p:nvSpPr>
          <p:cNvPr id="34" name="Oval 33"/>
          <p:cNvSpPr/>
          <p:nvPr/>
        </p:nvSpPr>
        <p:spPr>
          <a:xfrm>
            <a:off x="10570464"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uRefreshCw_w.png"/>
          <p:cNvPicPr>
            <a:picLocks noChangeAspect="1"/>
          </p:cNvPicPr>
          <p:nvPr/>
        </p:nvPicPr>
        <p:blipFill>
          <a:blip r:embed="rId7"/>
          <a:stretch>
            <a:fillRect/>
          </a:stretch>
        </p:blipFill>
        <p:spPr>
          <a:xfrm>
            <a:off x="10706526" y="2284902"/>
            <a:ext cx="294802" cy="294802"/>
          </a:xfrm>
          <a:prstGeom prst="rect">
            <a:avLst/>
          </a:prstGeom>
        </p:spPr>
      </p:pic>
      <p:sp>
        <p:nvSpPr>
          <p:cNvPr id="36" name="TextBox 35"/>
          <p:cNvSpPr txBox="1"/>
          <p:nvPr/>
        </p:nvSpPr>
        <p:spPr>
          <a:xfrm>
            <a:off x="9685324"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Testen &amp; schärfen</a:t>
            </a:r>
          </a:p>
        </p:txBody>
      </p:sp>
      <p:sp>
        <p:nvSpPr>
          <p:cNvPr id="37" name="TextBox 36"/>
          <p:cNvSpPr txBox="1"/>
          <p:nvPr/>
        </p:nvSpPr>
        <p:spPr>
          <a:xfrm>
            <a:off x="9685324"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5 echte Fälle durchspielen, Prompt nachbessern.</a:t>
            </a:r>
          </a:p>
        </p:txBody>
      </p:sp>
      <p:sp>
        <p:nvSpPr>
          <p:cNvPr id="38" name="TextBox 37"/>
          <p:cNvSpPr txBox="1"/>
          <p:nvPr/>
        </p:nvSpPr>
        <p:spPr>
          <a:xfrm>
            <a:off x="841248" y="4709160"/>
            <a:ext cx="3657600"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So heißt das in den Tools</a:t>
            </a:r>
          </a:p>
        </p:txBody>
      </p:sp>
      <p:sp>
        <p:nvSpPr>
          <p:cNvPr id="39" name="Rounded Rectangle 38"/>
          <p:cNvSpPr/>
          <p:nvPr/>
        </p:nvSpPr>
        <p:spPr>
          <a:xfrm>
            <a:off x="841248"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4128"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ChatGPT</a:t>
            </a:r>
          </a:p>
          <a:p>
            <a:pPr algn="l">
              <a:spcAft>
                <a:spcPts val="100"/>
              </a:spcAft>
              <a:buNone/>
            </a:pPr>
            <a:r>
              <a:rPr sz="1250" b="0" i="0">
                <a:solidFill>
                  <a:srgbClr val="5A6684"/>
                </a:solidFill>
                <a:latin typeface="Roboto"/>
              </a:rPr>
              <a:t>GPTs &amp; Projekte</a:t>
            </a:r>
          </a:p>
        </p:txBody>
      </p:sp>
      <p:sp>
        <p:nvSpPr>
          <p:cNvPr id="41" name="Rounded Rectangle 40"/>
          <p:cNvSpPr/>
          <p:nvPr/>
        </p:nvSpPr>
        <p:spPr>
          <a:xfrm>
            <a:off x="3525012"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707891"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Claude</a:t>
            </a:r>
          </a:p>
          <a:p>
            <a:pPr algn="l">
              <a:spcAft>
                <a:spcPts val="100"/>
              </a:spcAft>
              <a:buNone/>
            </a:pPr>
            <a:r>
              <a:rPr sz="1250" b="0" i="0">
                <a:solidFill>
                  <a:srgbClr val="5A6684"/>
                </a:solidFill>
                <a:latin typeface="Roboto"/>
              </a:rPr>
              <a:t>Projekte</a:t>
            </a:r>
          </a:p>
        </p:txBody>
      </p:sp>
      <p:sp>
        <p:nvSpPr>
          <p:cNvPr id="43" name="Rounded Rectangle 42"/>
          <p:cNvSpPr/>
          <p:nvPr/>
        </p:nvSpPr>
        <p:spPr>
          <a:xfrm>
            <a:off x="6208776"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91656"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Gemini</a:t>
            </a:r>
          </a:p>
          <a:p>
            <a:pPr algn="l">
              <a:spcAft>
                <a:spcPts val="100"/>
              </a:spcAft>
              <a:buNone/>
            </a:pPr>
            <a:r>
              <a:rPr sz="1250" b="0" i="0">
                <a:solidFill>
                  <a:srgbClr val="5A6684"/>
                </a:solidFill>
                <a:latin typeface="Roboto"/>
              </a:rPr>
              <a:t>Gems</a:t>
            </a:r>
          </a:p>
        </p:txBody>
      </p:sp>
      <p:sp>
        <p:nvSpPr>
          <p:cNvPr id="45" name="Rounded Rectangle 44"/>
          <p:cNvSpPr/>
          <p:nvPr/>
        </p:nvSpPr>
        <p:spPr>
          <a:xfrm>
            <a:off x="8892540"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075419"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Microsoft 365 Copilot</a:t>
            </a:r>
          </a:p>
          <a:p>
            <a:pPr algn="l">
              <a:spcAft>
                <a:spcPts val="100"/>
              </a:spcAft>
              <a:buNone/>
            </a:pPr>
            <a:r>
              <a:rPr sz="1250" b="0" i="0">
                <a:solidFill>
                  <a:srgbClr val="5A6684"/>
                </a:solidFill>
                <a:latin typeface="Roboto"/>
              </a:rPr>
              <a:t>Agents / Copilot Studio</a:t>
            </a:r>
          </a:p>
        </p:txBody>
      </p:sp>
      <p:sp>
        <p:nvSpPr>
          <p:cNvPr id="47" name="TextBox 46"/>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Bezeichnungen Stand Oktober 2026; Funktionsumfang je nach Lizenz unterschiedlich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Deep Research: die Recherche-Abteilung auf Knopfdruck</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MessagesSquare_w.png"/>
          <p:cNvPicPr>
            <a:picLocks noChangeAspect="1"/>
          </p:cNvPicPr>
          <p:nvPr/>
        </p:nvPicPr>
        <p:blipFill>
          <a:blip r:embed="rId3"/>
          <a:stretch>
            <a:fillRect/>
          </a:stretch>
        </p:blipFill>
        <p:spPr>
          <a:xfrm>
            <a:off x="1137513" y="2390241"/>
            <a:ext cx="285292" cy="285292"/>
          </a:xfrm>
          <a:prstGeom prst="rect">
            <a:avLst/>
          </a:prstGeom>
        </p:spPr>
      </p:pic>
      <p:sp>
        <p:nvSpPr>
          <p:cNvPr id="7" name="TextBox 6"/>
          <p:cNvSpPr txBox="1"/>
          <p:nvPr/>
        </p:nvSpPr>
        <p:spPr>
          <a:xfrm>
            <a:off x="166420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Forschungs-</a:t>
            </a:r>
          </a:p>
          <a:p>
            <a:pPr algn="l">
              <a:spcAft>
                <a:spcPts val="0"/>
              </a:spcAft>
              <a:buNone/>
            </a:pPr>
            <a:r>
              <a:rPr sz="1300" b="1" i="0">
                <a:solidFill>
                  <a:srgbClr val="0E1F53"/>
                </a:solidFill>
                <a:latin typeface="Roboto"/>
              </a:rPr>
              <a:t>frage</a:t>
            </a:r>
          </a:p>
        </p:txBody>
      </p:sp>
      <p:sp>
        <p:nvSpPr>
          <p:cNvPr id="8" name="Right Arrow 7"/>
          <p:cNvSpPr/>
          <p:nvPr/>
        </p:nvSpPr>
        <p:spPr>
          <a:xfrm>
            <a:off x="2759659"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997403"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161995"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ListChecks_w.png"/>
          <p:cNvPicPr>
            <a:picLocks noChangeAspect="1"/>
          </p:cNvPicPr>
          <p:nvPr/>
        </p:nvPicPr>
        <p:blipFill>
          <a:blip r:embed="rId4"/>
          <a:stretch>
            <a:fillRect/>
          </a:stretch>
        </p:blipFill>
        <p:spPr>
          <a:xfrm>
            <a:off x="3293668" y="2390241"/>
            <a:ext cx="285292" cy="285292"/>
          </a:xfrm>
          <a:prstGeom prst="rect">
            <a:avLst/>
          </a:prstGeom>
        </p:spPr>
      </p:pic>
      <p:sp>
        <p:nvSpPr>
          <p:cNvPr id="12" name="TextBox 11"/>
          <p:cNvSpPr txBox="1"/>
          <p:nvPr/>
        </p:nvSpPr>
        <p:spPr>
          <a:xfrm>
            <a:off x="3820363"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Recherche-</a:t>
            </a:r>
          </a:p>
          <a:p>
            <a:pPr algn="l">
              <a:spcAft>
                <a:spcPts val="0"/>
              </a:spcAft>
              <a:buNone/>
            </a:pPr>
            <a:r>
              <a:rPr sz="1300" b="1" i="0">
                <a:solidFill>
                  <a:srgbClr val="0E1F53"/>
                </a:solidFill>
                <a:latin typeface="Roboto"/>
              </a:rPr>
              <a:t>plan</a:t>
            </a:r>
          </a:p>
        </p:txBody>
      </p:sp>
      <p:sp>
        <p:nvSpPr>
          <p:cNvPr id="13" name="Right Arrow 12"/>
          <p:cNvSpPr/>
          <p:nvPr/>
        </p:nvSpPr>
        <p:spPr>
          <a:xfrm>
            <a:off x="4915814"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15355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318150"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Search_w.png"/>
          <p:cNvPicPr>
            <a:picLocks noChangeAspect="1"/>
          </p:cNvPicPr>
          <p:nvPr/>
        </p:nvPicPr>
        <p:blipFill>
          <a:blip r:embed="rId5"/>
          <a:stretch>
            <a:fillRect/>
          </a:stretch>
        </p:blipFill>
        <p:spPr>
          <a:xfrm>
            <a:off x="5449824" y="2390241"/>
            <a:ext cx="285292" cy="285292"/>
          </a:xfrm>
          <a:prstGeom prst="rect">
            <a:avLst/>
          </a:prstGeom>
        </p:spPr>
      </p:pic>
      <p:sp>
        <p:nvSpPr>
          <p:cNvPr id="17" name="TextBox 16"/>
          <p:cNvSpPr txBox="1"/>
          <p:nvPr/>
        </p:nvSpPr>
        <p:spPr>
          <a:xfrm>
            <a:off x="597651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Quellen</a:t>
            </a:r>
          </a:p>
          <a:p>
            <a:pPr algn="l">
              <a:spcAft>
                <a:spcPts val="0"/>
              </a:spcAft>
              <a:buNone/>
            </a:pPr>
            <a:r>
              <a:rPr sz="1300" b="1" i="0">
                <a:solidFill>
                  <a:srgbClr val="0E1F53"/>
                </a:solidFill>
                <a:latin typeface="Roboto"/>
              </a:rPr>
              <a:t>durchsuchen</a:t>
            </a:r>
          </a:p>
        </p:txBody>
      </p:sp>
      <p:sp>
        <p:nvSpPr>
          <p:cNvPr id="18" name="Right Arrow 17"/>
          <p:cNvSpPr/>
          <p:nvPr/>
        </p:nvSpPr>
        <p:spPr>
          <a:xfrm>
            <a:off x="7071969"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309713"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74305"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Brain_w.png"/>
          <p:cNvPicPr>
            <a:picLocks noChangeAspect="1"/>
          </p:cNvPicPr>
          <p:nvPr/>
        </p:nvPicPr>
        <p:blipFill>
          <a:blip r:embed="rId6"/>
          <a:stretch>
            <a:fillRect/>
          </a:stretch>
        </p:blipFill>
        <p:spPr>
          <a:xfrm>
            <a:off x="7605979" y="2390241"/>
            <a:ext cx="285292" cy="285292"/>
          </a:xfrm>
          <a:prstGeom prst="rect">
            <a:avLst/>
          </a:prstGeom>
        </p:spPr>
      </p:pic>
      <p:sp>
        <p:nvSpPr>
          <p:cNvPr id="22" name="TextBox 21"/>
          <p:cNvSpPr txBox="1"/>
          <p:nvPr/>
        </p:nvSpPr>
        <p:spPr>
          <a:xfrm>
            <a:off x="8132673"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Abgleichen &amp;</a:t>
            </a:r>
          </a:p>
          <a:p>
            <a:pPr algn="l">
              <a:spcAft>
                <a:spcPts val="0"/>
              </a:spcAft>
              <a:buNone/>
            </a:pPr>
            <a:r>
              <a:rPr sz="1300" b="1" i="0">
                <a:solidFill>
                  <a:srgbClr val="0E1F53"/>
                </a:solidFill>
                <a:latin typeface="Roboto"/>
              </a:rPr>
              <a:t>bewerten</a:t>
            </a:r>
          </a:p>
        </p:txBody>
      </p:sp>
      <p:sp>
        <p:nvSpPr>
          <p:cNvPr id="23" name="Right Arrow 22"/>
          <p:cNvSpPr/>
          <p:nvPr/>
        </p:nvSpPr>
        <p:spPr>
          <a:xfrm>
            <a:off x="9228124"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46586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630460" y="2258568"/>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okOpen_w.png"/>
          <p:cNvPicPr>
            <a:picLocks noChangeAspect="1"/>
          </p:cNvPicPr>
          <p:nvPr/>
        </p:nvPicPr>
        <p:blipFill>
          <a:blip r:embed="rId7"/>
          <a:stretch>
            <a:fillRect/>
          </a:stretch>
        </p:blipFill>
        <p:spPr>
          <a:xfrm>
            <a:off x="9762134" y="2390241"/>
            <a:ext cx="285292" cy="285292"/>
          </a:xfrm>
          <a:prstGeom prst="rect">
            <a:avLst/>
          </a:prstGeom>
        </p:spPr>
      </p:pic>
      <p:sp>
        <p:nvSpPr>
          <p:cNvPr id="27" name="TextBox 26"/>
          <p:cNvSpPr txBox="1"/>
          <p:nvPr/>
        </p:nvSpPr>
        <p:spPr>
          <a:xfrm>
            <a:off x="1028882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Bericht mit</a:t>
            </a:r>
          </a:p>
          <a:p>
            <a:pPr algn="l">
              <a:spcAft>
                <a:spcPts val="0"/>
              </a:spcAft>
              <a:buNone/>
            </a:pPr>
            <a:r>
              <a:rPr sz="1300" b="1" i="0">
                <a:solidFill>
                  <a:srgbClr val="0E1F53"/>
                </a:solidFill>
                <a:latin typeface="Roboto"/>
              </a:rPr>
              <a:t>Belegen</a:t>
            </a:r>
          </a:p>
        </p:txBody>
      </p:sp>
      <p:sp>
        <p:nvSpPr>
          <p:cNvPr id="28" name="Rounded Rectangle 27"/>
          <p:cNvSpPr/>
          <p:nvPr/>
        </p:nvSpPr>
        <p:spPr>
          <a:xfrm>
            <a:off x="841248" y="3291840"/>
            <a:ext cx="5116068"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347472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eck_w.png"/>
          <p:cNvPicPr>
            <a:picLocks noChangeAspect="1"/>
          </p:cNvPicPr>
          <p:nvPr/>
        </p:nvPicPr>
        <p:blipFill>
          <a:blip r:embed="rId8"/>
          <a:stretch>
            <a:fillRect/>
          </a:stretch>
        </p:blipFill>
        <p:spPr>
          <a:xfrm>
            <a:off x="1133856" y="3584448"/>
            <a:ext cx="237744" cy="237744"/>
          </a:xfrm>
          <a:prstGeom prst="rect">
            <a:avLst/>
          </a:prstGeom>
        </p:spPr>
      </p:pic>
      <p:sp>
        <p:nvSpPr>
          <p:cNvPr id="31" name="TextBox 30"/>
          <p:cNvSpPr txBox="1"/>
          <p:nvPr/>
        </p:nvSpPr>
        <p:spPr>
          <a:xfrm>
            <a:off x="1591056" y="347472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Gut geeignet für</a:t>
            </a:r>
          </a:p>
        </p:txBody>
      </p:sp>
      <p:sp>
        <p:nvSpPr>
          <p:cNvPr id="32" name="TextBox 31"/>
          <p:cNvSpPr txBox="1"/>
          <p:nvPr/>
        </p:nvSpPr>
        <p:spPr>
          <a:xfrm>
            <a:off x="1024128" y="4041648"/>
            <a:ext cx="4750307" cy="1837944"/>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50" b="0" i="0">
                <a:solidFill>
                  <a:srgbClr val="0E1F53"/>
                </a:solidFill>
                <a:latin typeface="Roboto"/>
              </a:rPr>
              <a:t>Markt- und Trendanalysen</a:t>
            </a:r>
          </a:p>
          <a:p>
            <a:pPr algn="l" marL="164592" indent="-164592">
              <a:spcAft>
                <a:spcPts val="400"/>
              </a:spcAft>
              <a:buClr>
                <a:srgbClr val="FB2762"/>
              </a:buClr>
              <a:buFont typeface="Arial"/>
              <a:buChar char="•"/>
            </a:pPr>
            <a:r>
              <a:rPr sz="1350" b="0" i="0">
                <a:solidFill>
                  <a:srgbClr val="0E1F53"/>
                </a:solidFill>
                <a:latin typeface="Roboto"/>
              </a:rPr>
              <a:t>Wettbewerber-Profile und Preisvergleiche</a:t>
            </a:r>
          </a:p>
          <a:p>
            <a:pPr algn="l" marL="164592" indent="-164592">
              <a:spcAft>
                <a:spcPts val="400"/>
              </a:spcAft>
              <a:buClr>
                <a:srgbClr val="FB2762"/>
              </a:buClr>
              <a:buFont typeface="Arial"/>
              <a:buChar char="•"/>
            </a:pPr>
            <a:r>
              <a:rPr sz="1350" b="0" i="0">
                <a:solidFill>
                  <a:srgbClr val="0E1F53"/>
                </a:solidFill>
                <a:latin typeface="Roboto"/>
              </a:rPr>
              <a:t>Förderprogramme, Normen, Studienlage</a:t>
            </a:r>
          </a:p>
          <a:p>
            <a:pPr algn="l" marL="164592" indent="-164592">
              <a:spcAft>
                <a:spcPts val="400"/>
              </a:spcAft>
              <a:buClr>
                <a:srgbClr val="FB2762"/>
              </a:buClr>
              <a:buFont typeface="Arial"/>
              <a:buChar char="•"/>
            </a:pPr>
            <a:r>
              <a:rPr sz="1350" b="0" i="0">
                <a:solidFill>
                  <a:srgbClr val="0E1F53"/>
                </a:solidFill>
                <a:latin typeface="Roboto"/>
              </a:rPr>
              <a:t>Ideen-Recherche: Wie lösen andere Branchen das?</a:t>
            </a:r>
          </a:p>
        </p:txBody>
      </p:sp>
      <p:sp>
        <p:nvSpPr>
          <p:cNvPr id="33" name="Rounded Rectangle 32"/>
          <p:cNvSpPr/>
          <p:nvPr/>
        </p:nvSpPr>
        <p:spPr>
          <a:xfrm>
            <a:off x="6231636" y="3291840"/>
            <a:ext cx="5116068"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414516" y="347472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uClipboardList_w.png"/>
          <p:cNvPicPr>
            <a:picLocks noChangeAspect="1"/>
          </p:cNvPicPr>
          <p:nvPr/>
        </p:nvPicPr>
        <p:blipFill>
          <a:blip r:embed="rId9"/>
          <a:stretch>
            <a:fillRect/>
          </a:stretch>
        </p:blipFill>
        <p:spPr>
          <a:xfrm>
            <a:off x="6524244" y="3584448"/>
            <a:ext cx="237744" cy="237744"/>
          </a:xfrm>
          <a:prstGeom prst="rect">
            <a:avLst/>
          </a:prstGeom>
        </p:spPr>
      </p:pic>
      <p:sp>
        <p:nvSpPr>
          <p:cNvPr id="36" name="TextBox 35"/>
          <p:cNvSpPr txBox="1"/>
          <p:nvPr/>
        </p:nvSpPr>
        <p:spPr>
          <a:xfrm>
            <a:off x="6981444" y="347472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So schreiben Sie einen guten Rechercheauftrag</a:t>
            </a:r>
          </a:p>
        </p:txBody>
      </p:sp>
      <p:sp>
        <p:nvSpPr>
          <p:cNvPr id="37" name="TextBox 36"/>
          <p:cNvSpPr txBox="1"/>
          <p:nvPr/>
        </p:nvSpPr>
        <p:spPr>
          <a:xfrm>
            <a:off x="6414516" y="4041648"/>
            <a:ext cx="4750307" cy="1837944"/>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50" b="0" i="0">
                <a:solidFill>
                  <a:srgbClr val="0E1F53"/>
                </a:solidFill>
                <a:latin typeface="Roboto"/>
              </a:rPr>
              <a:t>Ziel: Wofür brauchen Sie das Ergebnis?</a:t>
            </a:r>
          </a:p>
          <a:p>
            <a:pPr algn="l" marL="164592" indent="-164592">
              <a:spcAft>
                <a:spcPts val="400"/>
              </a:spcAft>
              <a:buClr>
                <a:srgbClr val="FB2762"/>
              </a:buClr>
              <a:buFont typeface="Arial"/>
              <a:buChar char="•"/>
            </a:pPr>
            <a:r>
              <a:rPr sz="1350" b="0" i="0">
                <a:solidFill>
                  <a:srgbClr val="0E1F53"/>
                </a:solidFill>
                <a:latin typeface="Roboto"/>
              </a:rPr>
              <a:t>Umfang: Region, Zeitraum, Zielgruppe</a:t>
            </a:r>
          </a:p>
          <a:p>
            <a:pPr algn="l" marL="164592" indent="-164592">
              <a:spcAft>
                <a:spcPts val="400"/>
              </a:spcAft>
              <a:buClr>
                <a:srgbClr val="FB2762"/>
              </a:buClr>
              <a:buFont typeface="Arial"/>
              <a:buChar char="•"/>
            </a:pPr>
            <a:r>
              <a:rPr sz="1350" b="0" i="0">
                <a:solidFill>
                  <a:srgbClr val="0E1F53"/>
                </a:solidFill>
                <a:latin typeface="Roboto"/>
              </a:rPr>
              <a:t>Quellen: bevorzugte und ausgeschlossene</a:t>
            </a:r>
          </a:p>
          <a:p>
            <a:pPr algn="l" marL="164592" indent="-164592">
              <a:spcAft>
                <a:spcPts val="400"/>
              </a:spcAft>
              <a:buClr>
                <a:srgbClr val="FB2762"/>
              </a:buClr>
              <a:buFont typeface="Arial"/>
              <a:buChar char="•"/>
            </a:pPr>
            <a:r>
              <a:rPr sz="1350" b="0" i="0">
                <a:solidFill>
                  <a:srgbClr val="0E1F53"/>
                </a:solidFill>
                <a:latin typeface="Roboto"/>
              </a:rPr>
              <a:t>Format: Gliederung, Tabelle, Länge</a:t>
            </a:r>
          </a:p>
          <a:p>
            <a:pPr algn="l" marL="164592" indent="-164592">
              <a:spcAft>
                <a:spcPts val="400"/>
              </a:spcAft>
              <a:buClr>
                <a:srgbClr val="FB2762"/>
              </a:buClr>
              <a:buFont typeface="Arial"/>
              <a:buChar char="•"/>
            </a:pPr>
            <a:r>
              <a:rPr sz="1350" b="0" i="0">
                <a:solidFill>
                  <a:srgbClr val="0E1F53"/>
                </a:solidFill>
                <a:latin typeface="Roboto"/>
              </a:rPr>
              <a:t>Prüfen: Quellen stichprobenartig öffnen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Skills: Know-how als Datei, die jeder Agent nutzen kann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SKILLS</a:t>
            </a:r>
          </a:p>
        </p:txBody>
      </p:sp>
      <p:sp>
        <p:nvSpPr>
          <p:cNvPr id="4" name="Rounded Rectangle 3"/>
          <p:cNvSpPr/>
          <p:nvPr/>
        </p:nvSpPr>
        <p:spPr>
          <a:xfrm>
            <a:off x="841248" y="2011680"/>
            <a:ext cx="48463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18488" y="2039112"/>
            <a:ext cx="39319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interview-leitfaden/SKILL.md</a:t>
            </a:r>
          </a:p>
        </p:txBody>
      </p:sp>
      <p:sp>
        <p:nvSpPr>
          <p:cNvPr id="9" name="TextBox 8"/>
          <p:cNvSpPr txBox="1"/>
          <p:nvPr/>
        </p:nvSpPr>
        <p:spPr>
          <a:xfrm>
            <a:off x="1069848" y="2468880"/>
            <a:ext cx="4434840" cy="3428999"/>
          </a:xfrm>
          <a:prstGeom prst="rect">
            <a:avLst/>
          </a:prstGeom>
          <a:noFill/>
        </p:spPr>
        <p:txBody>
          <a:bodyPr wrap="square" lIns="0" rIns="0" tIns="0" bIns="0" anchor="t"/>
          <a:lstStyle/>
          <a:p>
            <a:pPr algn="l">
              <a:spcAft>
                <a:spcPts val="150"/>
              </a:spcAft>
              <a:buNone/>
            </a:pPr>
            <a:r>
              <a:rPr sz="1100" b="0" i="0">
                <a:solidFill>
                  <a:srgbClr val="6E7FA8"/>
                </a:solidFill>
                <a:latin typeface="Roboto Mono"/>
              </a:rPr>
              <a:t>---</a:t>
            </a:r>
          </a:p>
          <a:p>
            <a:pPr algn="l">
              <a:spcAft>
                <a:spcPts val="150"/>
              </a:spcAft>
              <a:buNone/>
            </a:pPr>
            <a:r>
              <a:rPr sz="1100" b="0" i="0">
                <a:solidFill>
                  <a:srgbClr val="7FE0A7"/>
                </a:solidFill>
                <a:latin typeface="Roboto Mono"/>
              </a:rPr>
              <a:t>name: interview-leitfaden</a:t>
            </a:r>
          </a:p>
          <a:p>
            <a:pPr algn="l">
              <a:spcAft>
                <a:spcPts val="150"/>
              </a:spcAft>
              <a:buNone/>
            </a:pPr>
            <a:r>
              <a:rPr sz="1100" b="0" i="0">
                <a:solidFill>
                  <a:srgbClr val="7FE0A7"/>
                </a:solidFill>
                <a:latin typeface="Roboto Mono"/>
              </a:rPr>
              <a:t>description: Erstellt Interview-</a:t>
            </a:r>
          </a:p>
          <a:p>
            <a:pPr algn="l">
              <a:spcAft>
                <a:spcPts val="150"/>
              </a:spcAft>
              <a:buNone/>
            </a:pPr>
            <a:r>
              <a:rPr sz="1100" b="0" i="0">
                <a:solidFill>
                  <a:srgbClr val="7FE0A7"/>
                </a:solidFill>
                <a:latin typeface="Roboto Mono"/>
              </a:rPr>
              <a:t>  leitfäden für Kundengespräche.</a:t>
            </a:r>
          </a:p>
          <a:p>
            <a:pPr algn="l">
              <a:spcAft>
                <a:spcPts val="150"/>
              </a:spcAft>
              <a:buNone/>
            </a:pPr>
            <a:r>
              <a:rPr sz="1100" b="0" i="0">
                <a:solidFill>
                  <a:srgbClr val="7FE0A7"/>
                </a:solidFill>
                <a:latin typeface="Roboto Mono"/>
              </a:rPr>
              <a:t>  Nutzen, wenn Interviews geplant</a:t>
            </a:r>
          </a:p>
          <a:p>
            <a:pPr algn="l">
              <a:spcAft>
                <a:spcPts val="150"/>
              </a:spcAft>
              <a:buNone/>
            </a:pPr>
            <a:r>
              <a:rPr sz="1100" b="0" i="0">
                <a:solidFill>
                  <a:srgbClr val="7FE0A7"/>
                </a:solidFill>
                <a:latin typeface="Roboto Mono"/>
              </a:rPr>
              <a:t>  werden.</a:t>
            </a:r>
          </a:p>
          <a:p>
            <a:pPr algn="l">
              <a:spcAft>
                <a:spcPts val="150"/>
              </a:spcAft>
              <a:buNone/>
            </a:pPr>
            <a:r>
              <a:rPr sz="1100" b="0" i="0">
                <a:solidFill>
                  <a:srgbClr val="6E7FA8"/>
                </a:solidFill>
                <a:latin typeface="Roboto Mono"/>
              </a:rPr>
              <a:t>---</a:t>
            </a:r>
          </a:p>
          <a:p>
            <a:pPr algn="l">
              <a:spcAft>
                <a:spcPts val="150"/>
              </a:spcAft>
              <a:buNone/>
            </a:pPr>
            <a:r>
              <a:rPr sz="1100" b="0" i="0">
                <a:solidFill>
                  <a:srgbClr val="FFFFFF"/>
                </a:solidFill>
                <a:latin typeface="Roboto Mono"/>
              </a:rPr>
              <a:t># Interviewleitfaden erstellen</a:t>
            </a:r>
          </a:p>
          <a:p>
            <a:pPr algn="l">
              <a:spcAft>
                <a:spcPts val="150"/>
              </a:spcAft>
              <a:buNone/>
            </a:pPr>
            <a:r>
              <a:rPr sz="1100" b="0" i="0">
                <a:solidFill>
                  <a:srgbClr val="C9D6EE"/>
                </a:solidFill>
                <a:latin typeface="Roboto Mono"/>
              </a:rPr>
              <a:t>1. Ziel des Interviews klären</a:t>
            </a:r>
          </a:p>
          <a:p>
            <a:pPr algn="l">
              <a:spcAft>
                <a:spcPts val="150"/>
              </a:spcAft>
              <a:buNone/>
            </a:pPr>
            <a:r>
              <a:rPr sz="1100" b="0" i="0">
                <a:solidFill>
                  <a:srgbClr val="C9D6EE"/>
                </a:solidFill>
                <a:latin typeface="Roboto Mono"/>
              </a:rPr>
              <a:t>2. Einstieg: offene Warm-up-Frage</a:t>
            </a:r>
          </a:p>
          <a:p>
            <a:pPr algn="l">
              <a:spcAft>
                <a:spcPts val="150"/>
              </a:spcAft>
              <a:buNone/>
            </a:pPr>
            <a:r>
              <a:rPr sz="1100" b="0" i="0">
                <a:solidFill>
                  <a:srgbClr val="C9D6EE"/>
                </a:solidFill>
                <a:latin typeface="Roboto Mono"/>
              </a:rPr>
              <a:t>3. 8–12 offene W-Fragen, keine</a:t>
            </a:r>
          </a:p>
          <a:p>
            <a:pPr algn="l">
              <a:spcAft>
                <a:spcPts val="150"/>
              </a:spcAft>
              <a:buNone/>
            </a:pPr>
            <a:r>
              <a:rPr sz="1100" b="0" i="0">
                <a:solidFill>
                  <a:srgbClr val="C9D6EE"/>
                </a:solidFill>
                <a:latin typeface="Roboto Mono"/>
              </a:rPr>
              <a:t>   Suggestivfragen</a:t>
            </a:r>
          </a:p>
          <a:p>
            <a:pPr algn="l">
              <a:spcAft>
                <a:spcPts val="150"/>
              </a:spcAft>
              <a:buNone/>
            </a:pPr>
            <a:r>
              <a:rPr sz="1100" b="0" i="0">
                <a:solidFill>
                  <a:srgbClr val="C9D6EE"/>
                </a:solidFill>
                <a:latin typeface="Roboto Mono"/>
              </a:rPr>
              <a:t>4. Nachfragen: „Erzählen Sie mehr …“</a:t>
            </a:r>
          </a:p>
          <a:p>
            <a:pPr algn="l">
              <a:spcAft>
                <a:spcPts val="150"/>
              </a:spcAft>
              <a:buNone/>
            </a:pPr>
            <a:r>
              <a:rPr sz="1100" b="0" i="0">
                <a:solidFill>
                  <a:srgbClr val="FFC56B"/>
                </a:solidFill>
                <a:latin typeface="Roboto Mono"/>
              </a:rPr>
              <a:t>Vorlage: references/vorlage.docx</a:t>
            </a:r>
          </a:p>
        </p:txBody>
      </p:sp>
      <p:sp>
        <p:nvSpPr>
          <p:cNvPr id="10" name="TextBox 9"/>
          <p:cNvSpPr txBox="1"/>
          <p:nvPr/>
        </p:nvSpPr>
        <p:spPr>
          <a:xfrm>
            <a:off x="5961888" y="2011680"/>
            <a:ext cx="538581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Aufbau eines Skill-Ordners</a:t>
            </a:r>
          </a:p>
        </p:txBody>
      </p:sp>
      <p:pic>
        <p:nvPicPr>
          <p:cNvPr id="11" name="Picture 10" descr="LuFolder_n.png"/>
          <p:cNvPicPr>
            <a:picLocks noChangeAspect="1"/>
          </p:cNvPicPr>
          <p:nvPr/>
        </p:nvPicPr>
        <p:blipFill>
          <a:blip r:embed="rId3"/>
          <a:stretch>
            <a:fillRect/>
          </a:stretch>
        </p:blipFill>
        <p:spPr>
          <a:xfrm>
            <a:off x="5961888" y="2505456"/>
            <a:ext cx="256032" cy="256032"/>
          </a:xfrm>
          <a:prstGeom prst="rect">
            <a:avLst/>
          </a:prstGeom>
        </p:spPr>
      </p:pic>
      <p:sp>
        <p:nvSpPr>
          <p:cNvPr id="12" name="TextBox 11"/>
          <p:cNvSpPr txBox="1"/>
          <p:nvPr/>
        </p:nvSpPr>
        <p:spPr>
          <a:xfrm>
            <a:off x="6327648" y="2468880"/>
            <a:ext cx="5486400" cy="329184"/>
          </a:xfrm>
          <a:prstGeom prst="rect">
            <a:avLst/>
          </a:prstGeom>
          <a:noFill/>
        </p:spPr>
        <p:txBody>
          <a:bodyPr wrap="square" lIns="0" rIns="0" tIns="0" bIns="0" anchor="ctr"/>
          <a:lstStyle/>
          <a:p>
            <a:pPr algn="l">
              <a:spcAft>
                <a:spcPts val="400"/>
              </a:spcAft>
              <a:buNone/>
            </a:pPr>
            <a:r>
              <a:rPr sz="1300" b="1" i="0">
                <a:solidFill>
                  <a:srgbClr val="0E1F53"/>
                </a:solidFill>
                <a:latin typeface="Roboto"/>
              </a:rPr>
              <a:t>interview-leitfaden/</a:t>
            </a:r>
          </a:p>
        </p:txBody>
      </p:sp>
      <p:pic>
        <p:nvPicPr>
          <p:cNvPr id="13" name="Picture 12" descr="LuFileCode_n.png"/>
          <p:cNvPicPr>
            <a:picLocks noChangeAspect="1"/>
          </p:cNvPicPr>
          <p:nvPr/>
        </p:nvPicPr>
        <p:blipFill>
          <a:blip r:embed="rId4"/>
          <a:stretch>
            <a:fillRect/>
          </a:stretch>
        </p:blipFill>
        <p:spPr>
          <a:xfrm>
            <a:off x="6327648" y="2889504"/>
            <a:ext cx="256032" cy="256032"/>
          </a:xfrm>
          <a:prstGeom prst="rect">
            <a:avLst/>
          </a:prstGeom>
        </p:spPr>
      </p:pic>
      <p:sp>
        <p:nvSpPr>
          <p:cNvPr id="14" name="TextBox 13"/>
          <p:cNvSpPr txBox="1"/>
          <p:nvPr/>
        </p:nvSpPr>
        <p:spPr>
          <a:xfrm>
            <a:off x="6693408" y="2852928"/>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SKILL.md  · Name, Beschreibung, Anleitung</a:t>
            </a:r>
          </a:p>
        </p:txBody>
      </p:sp>
      <p:pic>
        <p:nvPicPr>
          <p:cNvPr id="15" name="Picture 14" descr="LuFolder_n.png"/>
          <p:cNvPicPr>
            <a:picLocks noChangeAspect="1"/>
          </p:cNvPicPr>
          <p:nvPr/>
        </p:nvPicPr>
        <p:blipFill>
          <a:blip r:embed="rId3"/>
          <a:stretch>
            <a:fillRect/>
          </a:stretch>
        </p:blipFill>
        <p:spPr>
          <a:xfrm>
            <a:off x="6327648" y="3273552"/>
            <a:ext cx="256032" cy="256032"/>
          </a:xfrm>
          <a:prstGeom prst="rect">
            <a:avLst/>
          </a:prstGeom>
        </p:spPr>
      </p:pic>
      <p:sp>
        <p:nvSpPr>
          <p:cNvPr id="16" name="TextBox 15"/>
          <p:cNvSpPr txBox="1"/>
          <p:nvPr/>
        </p:nvSpPr>
        <p:spPr>
          <a:xfrm>
            <a:off x="6693408" y="3236976"/>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references/  · Vorlagen, Beispiele</a:t>
            </a:r>
          </a:p>
        </p:txBody>
      </p:sp>
      <p:pic>
        <p:nvPicPr>
          <p:cNvPr id="17" name="Picture 16" descr="LuFolder_n.png"/>
          <p:cNvPicPr>
            <a:picLocks noChangeAspect="1"/>
          </p:cNvPicPr>
          <p:nvPr/>
        </p:nvPicPr>
        <p:blipFill>
          <a:blip r:embed="rId3"/>
          <a:stretch>
            <a:fillRect/>
          </a:stretch>
        </p:blipFill>
        <p:spPr>
          <a:xfrm>
            <a:off x="6327648" y="3657600"/>
            <a:ext cx="256032" cy="256032"/>
          </a:xfrm>
          <a:prstGeom prst="rect">
            <a:avLst/>
          </a:prstGeom>
        </p:spPr>
      </p:pic>
      <p:sp>
        <p:nvSpPr>
          <p:cNvPr id="18" name="TextBox 17"/>
          <p:cNvSpPr txBox="1"/>
          <p:nvPr/>
        </p:nvSpPr>
        <p:spPr>
          <a:xfrm>
            <a:off x="6693408" y="3621024"/>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scripts/  · optionale Skripte</a:t>
            </a:r>
          </a:p>
        </p:txBody>
      </p:sp>
      <p:sp>
        <p:nvSpPr>
          <p:cNvPr id="19" name="Rounded Rectangle 18"/>
          <p:cNvSpPr/>
          <p:nvPr/>
        </p:nvSpPr>
        <p:spPr>
          <a:xfrm>
            <a:off x="5961888" y="4160520"/>
            <a:ext cx="5385816"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90488" y="4251960"/>
            <a:ext cx="4928616" cy="1691640"/>
          </a:xfrm>
          <a:prstGeom prst="rect">
            <a:avLst/>
          </a:prstGeom>
          <a:noFill/>
        </p:spPr>
        <p:txBody>
          <a:bodyPr wrap="square" lIns="0" rIns="0" tIns="0" bIns="0" anchor="t"/>
          <a:lstStyle/>
          <a:p>
            <a:pPr algn="l">
              <a:spcAft>
                <a:spcPts val="600"/>
              </a:spcAft>
              <a:buNone/>
            </a:pPr>
            <a:r>
              <a:rPr sz="1500" b="1" i="0">
                <a:solidFill>
                  <a:srgbClr val="0E1F53"/>
                </a:solidFill>
                <a:latin typeface="Roboto"/>
              </a:rPr>
              <a:t>Warum Skills für KMU spannend sind</a:t>
            </a:r>
          </a:p>
          <a:p>
            <a:pPr algn="l" marL="164592" indent="-164592">
              <a:spcAft>
                <a:spcPts val="300"/>
              </a:spcAft>
              <a:buClr>
                <a:srgbClr val="FB2762"/>
              </a:buClr>
              <a:buFont typeface="Arial"/>
              <a:buChar char="•"/>
            </a:pPr>
            <a:r>
              <a:rPr sz="1300" b="0" i="0">
                <a:solidFill>
                  <a:srgbClr val="0E1F53"/>
                </a:solidFill>
                <a:latin typeface="Roboto"/>
              </a:rPr>
              <a:t>Einmal schreiben, in jedem Agenten nutzen</a:t>
            </a:r>
          </a:p>
          <a:p>
            <a:pPr algn="l" marL="164592" indent="-164592">
              <a:spcAft>
                <a:spcPts val="300"/>
              </a:spcAft>
              <a:buClr>
                <a:srgbClr val="FB2762"/>
              </a:buClr>
              <a:buFont typeface="Arial"/>
              <a:buChar char="•"/>
            </a:pPr>
            <a:r>
              <a:rPr sz="1300" b="0" i="0">
                <a:solidFill>
                  <a:srgbClr val="0E1F53"/>
                </a:solidFill>
                <a:latin typeface="Roboto"/>
              </a:rPr>
              <a:t>Offener Standard: funktioniert werkzeugübergreifend</a:t>
            </a:r>
          </a:p>
          <a:p>
            <a:pPr algn="l" marL="164592" indent="-164592">
              <a:spcAft>
                <a:spcPts val="300"/>
              </a:spcAft>
              <a:buClr>
                <a:srgbClr val="FB2762"/>
              </a:buClr>
              <a:buFont typeface="Arial"/>
              <a:buChar char="•"/>
            </a:pPr>
            <a:r>
              <a:rPr sz="1300" b="0" i="0">
                <a:solidFill>
                  <a:srgbClr val="0E1F53"/>
                </a:solidFill>
                <a:latin typeface="Roboto"/>
              </a:rPr>
              <a:t>Firmenwissen bleibt in Ihren Dateien, nicht im Kopf</a:t>
            </a:r>
          </a:p>
          <a:p>
            <a:pPr algn="l" marL="164592" indent="-164592">
              <a:spcAft>
                <a:spcPts val="300"/>
              </a:spcAft>
              <a:buClr>
                <a:srgbClr val="FB2762"/>
              </a:buClr>
              <a:buFont typeface="Arial"/>
              <a:buChar char="•"/>
            </a:pPr>
            <a:r>
              <a:rPr sz="1300" b="0" i="0">
                <a:solidFill>
                  <a:srgbClr val="0E1F53"/>
                </a:solidFill>
                <a:latin typeface="Roboto"/>
              </a:rPr>
              <a:t>Fertige Skills frei auf GitHub verfügbar</a:t>
            </a:r>
          </a:p>
        </p:txBody>
      </p:sp>
      <p:sp>
        <p:nvSpPr>
          <p:cNvPr id="21" name="TextBox 20"/>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Agent Skills Spezifikation: agentskills.io · Beispiel-Skills: github.com/anthropics/skills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Fertige GitHub-Skills und wo sie im Prozess helfen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SKILLS</a:t>
            </a:r>
          </a:p>
        </p:txBody>
      </p:sp>
      <p:sp>
        <p:nvSpPr>
          <p:cNvPr id="4" name="Rounded Rectangle 3"/>
          <p:cNvSpPr/>
          <p:nvPr/>
        </p:nvSpPr>
        <p:spPr>
          <a:xfrm>
            <a:off x="841248" y="2011680"/>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841248" y="2011680"/>
            <a:ext cx="1828800" cy="47548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8" y="2011680"/>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1 Verstehen</a:t>
            </a:r>
          </a:p>
        </p:txBody>
      </p:sp>
      <p:sp>
        <p:nvSpPr>
          <p:cNvPr id="7" name="Rounded Rectangle 6"/>
          <p:cNvSpPr/>
          <p:nvPr/>
        </p:nvSpPr>
        <p:spPr>
          <a:xfrm>
            <a:off x="2852928" y="2103120"/>
            <a:ext cx="480059"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pdf</a:t>
            </a:r>
          </a:p>
        </p:txBody>
      </p:sp>
      <p:sp>
        <p:nvSpPr>
          <p:cNvPr id="8" name="Rounded Rectangle 7"/>
          <p:cNvSpPr/>
          <p:nvPr/>
        </p:nvSpPr>
        <p:spPr>
          <a:xfrm>
            <a:off x="3442716" y="2103120"/>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doc-coauthoring</a:t>
            </a:r>
          </a:p>
        </p:txBody>
      </p:sp>
      <p:sp>
        <p:nvSpPr>
          <p:cNvPr id="9" name="TextBox 8"/>
          <p:cNvSpPr txBox="1"/>
          <p:nvPr/>
        </p:nvSpPr>
        <p:spPr>
          <a:xfrm>
            <a:off x="6693408" y="2011680"/>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Studien und Berichte lesen, Challenge-Papier gemeinsam schreiben</a:t>
            </a:r>
          </a:p>
        </p:txBody>
      </p:sp>
      <p:sp>
        <p:nvSpPr>
          <p:cNvPr id="10" name="Rounded Rectangle 9"/>
          <p:cNvSpPr/>
          <p:nvPr/>
        </p:nvSpPr>
        <p:spPr>
          <a:xfrm>
            <a:off x="841248" y="2578608"/>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41248" y="2578608"/>
            <a:ext cx="1828800" cy="47548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2578608"/>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2 Beobachten</a:t>
            </a:r>
          </a:p>
        </p:txBody>
      </p:sp>
      <p:sp>
        <p:nvSpPr>
          <p:cNvPr id="13" name="Rounded Rectangle 12"/>
          <p:cNvSpPr/>
          <p:nvPr/>
        </p:nvSpPr>
        <p:spPr>
          <a:xfrm>
            <a:off x="2852928" y="2670048"/>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docx</a:t>
            </a:r>
          </a:p>
        </p:txBody>
      </p:sp>
      <p:sp>
        <p:nvSpPr>
          <p:cNvPr id="14" name="Rounded Rectangle 13"/>
          <p:cNvSpPr/>
          <p:nvPr/>
        </p:nvSpPr>
        <p:spPr>
          <a:xfrm>
            <a:off x="3511296" y="2670048"/>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xlsx</a:t>
            </a:r>
          </a:p>
        </p:txBody>
      </p:sp>
      <p:sp>
        <p:nvSpPr>
          <p:cNvPr id="15" name="TextBox 14"/>
          <p:cNvSpPr txBox="1"/>
          <p:nvPr/>
        </p:nvSpPr>
        <p:spPr>
          <a:xfrm>
            <a:off x="6693408" y="2578608"/>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Leitfäden als Word-Datei, Umfragedaten auswerten</a:t>
            </a:r>
          </a:p>
        </p:txBody>
      </p:sp>
      <p:sp>
        <p:nvSpPr>
          <p:cNvPr id="16" name="Rounded Rectangle 15"/>
          <p:cNvSpPr/>
          <p:nvPr/>
        </p:nvSpPr>
        <p:spPr>
          <a:xfrm>
            <a:off x="841248" y="3145536"/>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8" y="3145536"/>
            <a:ext cx="1828800" cy="47548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3145536"/>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3 Sichtweise</a:t>
            </a:r>
          </a:p>
        </p:txBody>
      </p:sp>
      <p:sp>
        <p:nvSpPr>
          <p:cNvPr id="19" name="Rounded Rectangle 18"/>
          <p:cNvSpPr/>
          <p:nvPr/>
        </p:nvSpPr>
        <p:spPr>
          <a:xfrm>
            <a:off x="2852928" y="3236976"/>
            <a:ext cx="11658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canvas-design</a:t>
            </a:r>
          </a:p>
        </p:txBody>
      </p:sp>
      <p:sp>
        <p:nvSpPr>
          <p:cNvPr id="20" name="Rounded Rectangle 19"/>
          <p:cNvSpPr/>
          <p:nvPr/>
        </p:nvSpPr>
        <p:spPr>
          <a:xfrm>
            <a:off x="4128516" y="3236976"/>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doc-coauthoring</a:t>
            </a:r>
          </a:p>
        </p:txBody>
      </p:sp>
      <p:sp>
        <p:nvSpPr>
          <p:cNvPr id="21" name="TextBox 20"/>
          <p:cNvSpPr txBox="1"/>
          <p:nvPr/>
        </p:nvSpPr>
        <p:spPr>
          <a:xfrm>
            <a:off x="6693408" y="3145536"/>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Persona-Poster gestalten, POV-Statements formulieren</a:t>
            </a:r>
          </a:p>
        </p:txBody>
      </p:sp>
      <p:sp>
        <p:nvSpPr>
          <p:cNvPr id="22" name="Rounded Rectangle 21"/>
          <p:cNvSpPr/>
          <p:nvPr/>
        </p:nvSpPr>
        <p:spPr>
          <a:xfrm>
            <a:off x="841248" y="3712464"/>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41248" y="3712464"/>
            <a:ext cx="1828800" cy="475488"/>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8" y="3712464"/>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4 Ideen finden</a:t>
            </a:r>
          </a:p>
        </p:txBody>
      </p:sp>
      <p:sp>
        <p:nvSpPr>
          <p:cNvPr id="25" name="Rounded Rectangle 24"/>
          <p:cNvSpPr/>
          <p:nvPr/>
        </p:nvSpPr>
        <p:spPr>
          <a:xfrm>
            <a:off x="2852928" y="3803904"/>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pptx</a:t>
            </a:r>
          </a:p>
        </p:txBody>
      </p:sp>
      <p:sp>
        <p:nvSpPr>
          <p:cNvPr id="26" name="Rounded Rectangle 25"/>
          <p:cNvSpPr/>
          <p:nvPr/>
        </p:nvSpPr>
        <p:spPr>
          <a:xfrm>
            <a:off x="3511296" y="3803904"/>
            <a:ext cx="11658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theme-factory</a:t>
            </a:r>
          </a:p>
        </p:txBody>
      </p:sp>
      <p:sp>
        <p:nvSpPr>
          <p:cNvPr id="27" name="TextBox 26"/>
          <p:cNvSpPr txBox="1"/>
          <p:nvPr/>
        </p:nvSpPr>
        <p:spPr>
          <a:xfrm>
            <a:off x="6693408" y="3712464"/>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Ideen-Pitch als Präsentation aufbereiten</a:t>
            </a:r>
          </a:p>
        </p:txBody>
      </p:sp>
      <p:sp>
        <p:nvSpPr>
          <p:cNvPr id="28" name="Rounded Rectangle 27"/>
          <p:cNvSpPr/>
          <p:nvPr/>
        </p:nvSpPr>
        <p:spPr>
          <a:xfrm>
            <a:off x="841248" y="4279392"/>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8" y="4279392"/>
            <a:ext cx="1828800" cy="475488"/>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8" y="4279392"/>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5 Prototypen</a:t>
            </a:r>
          </a:p>
        </p:txBody>
      </p:sp>
      <p:sp>
        <p:nvSpPr>
          <p:cNvPr id="31" name="Rounded Rectangle 30"/>
          <p:cNvSpPr/>
          <p:nvPr/>
        </p:nvSpPr>
        <p:spPr>
          <a:xfrm>
            <a:off x="2852928" y="4370831"/>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frontend-design</a:t>
            </a:r>
          </a:p>
        </p:txBody>
      </p:sp>
      <p:sp>
        <p:nvSpPr>
          <p:cNvPr id="32" name="Rounded Rectangle 31"/>
          <p:cNvSpPr/>
          <p:nvPr/>
        </p:nvSpPr>
        <p:spPr>
          <a:xfrm>
            <a:off x="4265676" y="4370831"/>
            <a:ext cx="171450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web-artifacts-builder</a:t>
            </a:r>
          </a:p>
        </p:txBody>
      </p:sp>
      <p:sp>
        <p:nvSpPr>
          <p:cNvPr id="33" name="TextBox 32"/>
          <p:cNvSpPr txBox="1"/>
          <p:nvPr/>
        </p:nvSpPr>
        <p:spPr>
          <a:xfrm>
            <a:off x="6693408" y="4279392"/>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Klickbare Landingpages und App-Entwürfe bauen</a:t>
            </a:r>
          </a:p>
        </p:txBody>
      </p:sp>
      <p:sp>
        <p:nvSpPr>
          <p:cNvPr id="34" name="Rounded Rectangle 33"/>
          <p:cNvSpPr/>
          <p:nvPr/>
        </p:nvSpPr>
        <p:spPr>
          <a:xfrm>
            <a:off x="841248" y="4846320"/>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841248" y="4846320"/>
            <a:ext cx="1828800" cy="475488"/>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41248" y="4846320"/>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6 Testen</a:t>
            </a:r>
          </a:p>
        </p:txBody>
      </p:sp>
      <p:sp>
        <p:nvSpPr>
          <p:cNvPr id="37" name="Rounded Rectangle 36"/>
          <p:cNvSpPr/>
          <p:nvPr/>
        </p:nvSpPr>
        <p:spPr>
          <a:xfrm>
            <a:off x="2852928" y="4937760"/>
            <a:ext cx="12344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webapp-testing</a:t>
            </a:r>
          </a:p>
        </p:txBody>
      </p:sp>
      <p:sp>
        <p:nvSpPr>
          <p:cNvPr id="38" name="Rounded Rectangle 37"/>
          <p:cNvSpPr/>
          <p:nvPr/>
        </p:nvSpPr>
        <p:spPr>
          <a:xfrm>
            <a:off x="4197096" y="4937760"/>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xlsx</a:t>
            </a:r>
          </a:p>
        </p:txBody>
      </p:sp>
      <p:sp>
        <p:nvSpPr>
          <p:cNvPr id="39" name="TextBox 38"/>
          <p:cNvSpPr txBox="1"/>
          <p:nvPr/>
        </p:nvSpPr>
        <p:spPr>
          <a:xfrm>
            <a:off x="6693408" y="4846320"/>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Prototypen prüfen, Feedback-Daten auswerten</a:t>
            </a:r>
          </a:p>
        </p:txBody>
      </p:sp>
      <p:sp>
        <p:nvSpPr>
          <p:cNvPr id="40" name="Rounded Rectangle 39"/>
          <p:cNvSpPr/>
          <p:nvPr/>
        </p:nvSpPr>
        <p:spPr>
          <a:xfrm>
            <a:off x="841248" y="5413248"/>
            <a:ext cx="10506456" cy="4754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41248" y="5413248"/>
            <a:ext cx="1828800" cy="475488"/>
          </a:xfrm>
          <a:prstGeom prst="roundRect">
            <a:avLst>
              <a:gd name="adj" fmla="val 6000"/>
            </a:avLst>
          </a:prstGeom>
          <a:solidFill>
            <a:srgbClr val="5A6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41248" y="5413248"/>
            <a:ext cx="1828800" cy="475488"/>
          </a:xfrm>
          <a:prstGeom prst="rect">
            <a:avLst/>
          </a:prstGeom>
          <a:noFill/>
        </p:spPr>
        <p:txBody>
          <a:bodyPr wrap="square" lIns="0" rIns="0" tIns="0" bIns="0" anchor="ctr"/>
          <a:lstStyle/>
          <a:p>
            <a:pPr algn="ctr">
              <a:spcAft>
                <a:spcPts val="400"/>
              </a:spcAft>
              <a:buNone/>
            </a:pPr>
            <a:r>
              <a:rPr sz="1300" b="1" i="0">
                <a:solidFill>
                  <a:srgbClr val="FFFFFF"/>
                </a:solidFill>
                <a:latin typeface="Roboto"/>
              </a:rPr>
              <a:t>Übergreifend</a:t>
            </a:r>
          </a:p>
        </p:txBody>
      </p:sp>
      <p:sp>
        <p:nvSpPr>
          <p:cNvPr id="43" name="Rounded Rectangle 42"/>
          <p:cNvSpPr/>
          <p:nvPr/>
        </p:nvSpPr>
        <p:spPr>
          <a:xfrm>
            <a:off x="2852928" y="5504688"/>
            <a:ext cx="11658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skill-creator</a:t>
            </a:r>
          </a:p>
        </p:txBody>
      </p:sp>
      <p:sp>
        <p:nvSpPr>
          <p:cNvPr id="44" name="Rounded Rectangle 43"/>
          <p:cNvSpPr/>
          <p:nvPr/>
        </p:nvSpPr>
        <p:spPr>
          <a:xfrm>
            <a:off x="4128516" y="5504688"/>
            <a:ext cx="137160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brand-guidelines</a:t>
            </a:r>
          </a:p>
        </p:txBody>
      </p:sp>
      <p:sp>
        <p:nvSpPr>
          <p:cNvPr id="45" name="TextBox 44"/>
          <p:cNvSpPr txBox="1"/>
          <p:nvPr/>
        </p:nvSpPr>
        <p:spPr>
          <a:xfrm>
            <a:off x="6693408" y="5413248"/>
            <a:ext cx="4471416" cy="475488"/>
          </a:xfrm>
          <a:prstGeom prst="rect">
            <a:avLst/>
          </a:prstGeom>
          <a:noFill/>
        </p:spPr>
        <p:txBody>
          <a:bodyPr wrap="square" lIns="0" rIns="0" tIns="0" bIns="0" anchor="ctr"/>
          <a:lstStyle/>
          <a:p>
            <a:pPr algn="l">
              <a:spcAft>
                <a:spcPts val="400"/>
              </a:spcAft>
              <a:buNone/>
            </a:pPr>
            <a:r>
              <a:rPr sz="1300" b="0" i="0">
                <a:solidFill>
                  <a:srgbClr val="0E1F53"/>
                </a:solidFill>
                <a:latin typeface="Roboto"/>
              </a:rPr>
              <a:t>Eigene Skills bauen, Corporate Design einhalten</a:t>
            </a:r>
          </a:p>
        </p:txBody>
      </p:sp>
      <p:sp>
        <p:nvSpPr>
          <p:cNvPr id="46" name="TextBox 45"/>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Quelle: github.com/anthropics/skills (Stand Oktober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Vom Einmal-Prompt zum Dauerläufer: Automatisierung</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1867204"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427378" y="2194560"/>
            <a:ext cx="694944" cy="6949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alendarClock_w.png"/>
          <p:cNvPicPr>
            <a:picLocks noChangeAspect="1"/>
          </p:cNvPicPr>
          <p:nvPr/>
        </p:nvPicPr>
        <p:blipFill>
          <a:blip r:embed="rId3"/>
          <a:stretch>
            <a:fillRect/>
          </a:stretch>
        </p:blipFill>
        <p:spPr>
          <a:xfrm>
            <a:off x="1594164" y="2361346"/>
            <a:ext cx="361370" cy="361370"/>
          </a:xfrm>
          <a:prstGeom prst="rect">
            <a:avLst/>
          </a:prstGeom>
        </p:spPr>
      </p:pic>
      <p:sp>
        <p:nvSpPr>
          <p:cNvPr id="7" name="TextBox 6"/>
          <p:cNvSpPr txBox="1"/>
          <p:nvPr/>
        </p:nvSpPr>
        <p:spPr>
          <a:xfrm>
            <a:off x="978408" y="2971800"/>
            <a:ext cx="1592884" cy="365760"/>
          </a:xfrm>
          <a:prstGeom prst="rect">
            <a:avLst/>
          </a:prstGeom>
          <a:noFill/>
        </p:spPr>
        <p:txBody>
          <a:bodyPr wrap="square" lIns="0" rIns="0" tIns="0" bIns="0" anchor="t"/>
          <a:lstStyle/>
          <a:p>
            <a:pPr algn="ctr">
              <a:spcAft>
                <a:spcPts val="400"/>
              </a:spcAft>
              <a:buNone/>
            </a:pPr>
            <a:r>
              <a:rPr sz="1600" b="1" i="0">
                <a:solidFill>
                  <a:srgbClr val="0E1F53"/>
                </a:solidFill>
                <a:latin typeface="Roboto"/>
              </a:rPr>
              <a:t>Auslöser</a:t>
            </a:r>
          </a:p>
        </p:txBody>
      </p:sp>
      <p:sp>
        <p:nvSpPr>
          <p:cNvPr id="8" name="TextBox 7"/>
          <p:cNvSpPr txBox="1"/>
          <p:nvPr/>
        </p:nvSpPr>
        <p:spPr>
          <a:xfrm>
            <a:off x="978408" y="3364992"/>
            <a:ext cx="1592884" cy="731520"/>
          </a:xfrm>
          <a:prstGeom prst="rect">
            <a:avLst/>
          </a:prstGeom>
          <a:noFill/>
        </p:spPr>
        <p:txBody>
          <a:bodyPr wrap="square" lIns="0" rIns="0" tIns="0" bIns="0" anchor="t"/>
          <a:lstStyle/>
          <a:p>
            <a:pPr algn="ctr">
              <a:spcAft>
                <a:spcPts val="400"/>
              </a:spcAft>
              <a:buNone/>
            </a:pPr>
            <a:r>
              <a:rPr sz="1200" b="0" i="0">
                <a:solidFill>
                  <a:srgbClr val="0E1F53"/>
                </a:solidFill>
                <a:latin typeface="Roboto"/>
              </a:rPr>
              <a:t>Zeit: jeden Montag 7:00</a:t>
            </a:r>
          </a:p>
          <a:p>
            <a:pPr algn="ctr">
              <a:spcAft>
                <a:spcPts val="400"/>
              </a:spcAft>
              <a:buNone/>
            </a:pPr>
            <a:r>
              <a:rPr sz="1200" b="0" i="0">
                <a:solidFill>
                  <a:srgbClr val="0E1F53"/>
                </a:solidFill>
                <a:latin typeface="Roboto"/>
              </a:rPr>
              <a:t>Ereignis: neue Mail, neues Formular</a:t>
            </a:r>
          </a:p>
        </p:txBody>
      </p:sp>
      <p:sp>
        <p:nvSpPr>
          <p:cNvPr id="9" name="Right Arrow 8"/>
          <p:cNvSpPr/>
          <p:nvPr/>
        </p:nvSpPr>
        <p:spPr>
          <a:xfrm>
            <a:off x="2754172" y="2926080"/>
            <a:ext cx="201168" cy="237744"/>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001060" y="2011680"/>
            <a:ext cx="1867204"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587191" y="2194560"/>
            <a:ext cx="694944" cy="6949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4"/>
          <a:stretch>
            <a:fillRect/>
          </a:stretch>
        </p:blipFill>
        <p:spPr>
          <a:xfrm>
            <a:off x="3753977" y="2361346"/>
            <a:ext cx="361370" cy="361370"/>
          </a:xfrm>
          <a:prstGeom prst="rect">
            <a:avLst/>
          </a:prstGeom>
        </p:spPr>
      </p:pic>
      <p:sp>
        <p:nvSpPr>
          <p:cNvPr id="13" name="TextBox 12"/>
          <p:cNvSpPr txBox="1"/>
          <p:nvPr/>
        </p:nvSpPr>
        <p:spPr>
          <a:xfrm>
            <a:off x="3138220" y="2971800"/>
            <a:ext cx="1592884" cy="365760"/>
          </a:xfrm>
          <a:prstGeom prst="rect">
            <a:avLst/>
          </a:prstGeom>
          <a:noFill/>
        </p:spPr>
        <p:txBody>
          <a:bodyPr wrap="square" lIns="0" rIns="0" tIns="0" bIns="0" anchor="t"/>
          <a:lstStyle/>
          <a:p>
            <a:pPr algn="ctr">
              <a:spcAft>
                <a:spcPts val="400"/>
              </a:spcAft>
              <a:buNone/>
            </a:pPr>
            <a:r>
              <a:rPr sz="1600" b="1" i="0">
                <a:solidFill>
                  <a:srgbClr val="0E1F53"/>
                </a:solidFill>
                <a:latin typeface="Roboto"/>
              </a:rPr>
              <a:t>Agent</a:t>
            </a:r>
          </a:p>
        </p:txBody>
      </p:sp>
      <p:sp>
        <p:nvSpPr>
          <p:cNvPr id="14" name="TextBox 13"/>
          <p:cNvSpPr txBox="1"/>
          <p:nvPr/>
        </p:nvSpPr>
        <p:spPr>
          <a:xfrm>
            <a:off x="3138220" y="3364992"/>
            <a:ext cx="1592884" cy="731520"/>
          </a:xfrm>
          <a:prstGeom prst="rect">
            <a:avLst/>
          </a:prstGeom>
          <a:noFill/>
        </p:spPr>
        <p:txBody>
          <a:bodyPr wrap="square" lIns="0" rIns="0" tIns="0" bIns="0" anchor="t"/>
          <a:lstStyle/>
          <a:p>
            <a:pPr algn="ctr">
              <a:spcAft>
                <a:spcPts val="400"/>
              </a:spcAft>
              <a:buNone/>
            </a:pPr>
            <a:r>
              <a:rPr sz="1200" b="0" i="0">
                <a:solidFill>
                  <a:srgbClr val="0E1F53"/>
                </a:solidFill>
                <a:latin typeface="Roboto"/>
              </a:rPr>
              <a:t>Systemprompt + Skills</a:t>
            </a:r>
          </a:p>
          <a:p>
            <a:pPr algn="ctr">
              <a:spcAft>
                <a:spcPts val="400"/>
              </a:spcAft>
              <a:buNone/>
            </a:pPr>
            <a:r>
              <a:rPr sz="1200" b="0" i="0">
                <a:solidFill>
                  <a:srgbClr val="0E1F53"/>
                </a:solidFill>
                <a:latin typeface="Roboto"/>
              </a:rPr>
              <a:t>entscheidet die Schritte</a:t>
            </a:r>
          </a:p>
        </p:txBody>
      </p:sp>
      <p:sp>
        <p:nvSpPr>
          <p:cNvPr id="15" name="Right Arrow 14"/>
          <p:cNvSpPr/>
          <p:nvPr/>
        </p:nvSpPr>
        <p:spPr>
          <a:xfrm>
            <a:off x="4913985" y="2926080"/>
            <a:ext cx="201168" cy="237744"/>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160873" y="2011680"/>
            <a:ext cx="1867204"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747004" y="2194560"/>
            <a:ext cx="694944" cy="6949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Plug_w.png"/>
          <p:cNvPicPr>
            <a:picLocks noChangeAspect="1"/>
          </p:cNvPicPr>
          <p:nvPr/>
        </p:nvPicPr>
        <p:blipFill>
          <a:blip r:embed="rId5"/>
          <a:stretch>
            <a:fillRect/>
          </a:stretch>
        </p:blipFill>
        <p:spPr>
          <a:xfrm>
            <a:off x="5913790" y="2361346"/>
            <a:ext cx="361370" cy="361370"/>
          </a:xfrm>
          <a:prstGeom prst="rect">
            <a:avLst/>
          </a:prstGeom>
        </p:spPr>
      </p:pic>
      <p:sp>
        <p:nvSpPr>
          <p:cNvPr id="19" name="TextBox 18"/>
          <p:cNvSpPr txBox="1"/>
          <p:nvPr/>
        </p:nvSpPr>
        <p:spPr>
          <a:xfrm>
            <a:off x="5298033" y="2971800"/>
            <a:ext cx="1592884" cy="365760"/>
          </a:xfrm>
          <a:prstGeom prst="rect">
            <a:avLst/>
          </a:prstGeom>
          <a:noFill/>
        </p:spPr>
        <p:txBody>
          <a:bodyPr wrap="square" lIns="0" rIns="0" tIns="0" bIns="0" anchor="t"/>
          <a:lstStyle/>
          <a:p>
            <a:pPr algn="ctr">
              <a:spcAft>
                <a:spcPts val="400"/>
              </a:spcAft>
              <a:buNone/>
            </a:pPr>
            <a:r>
              <a:rPr sz="1600" b="1" i="0">
                <a:solidFill>
                  <a:srgbClr val="0E1F53"/>
                </a:solidFill>
                <a:latin typeface="Roboto"/>
              </a:rPr>
              <a:t>Werkzeuge</a:t>
            </a:r>
          </a:p>
        </p:txBody>
      </p:sp>
      <p:sp>
        <p:nvSpPr>
          <p:cNvPr id="20" name="TextBox 19"/>
          <p:cNvSpPr txBox="1"/>
          <p:nvPr/>
        </p:nvSpPr>
        <p:spPr>
          <a:xfrm>
            <a:off x="5298033" y="3364992"/>
            <a:ext cx="1592884" cy="731520"/>
          </a:xfrm>
          <a:prstGeom prst="rect">
            <a:avLst/>
          </a:prstGeom>
          <a:noFill/>
        </p:spPr>
        <p:txBody>
          <a:bodyPr wrap="square" lIns="0" rIns="0" tIns="0" bIns="0" anchor="t"/>
          <a:lstStyle/>
          <a:p>
            <a:pPr algn="ctr">
              <a:spcAft>
                <a:spcPts val="400"/>
              </a:spcAft>
              <a:buNone/>
            </a:pPr>
            <a:r>
              <a:rPr sz="1200" b="0" i="0">
                <a:solidFill>
                  <a:srgbClr val="0E1F53"/>
                </a:solidFill>
                <a:latin typeface="Roboto"/>
              </a:rPr>
              <a:t>Websuche, Deep Research, Tabellen, CRM</a:t>
            </a:r>
          </a:p>
        </p:txBody>
      </p:sp>
      <p:sp>
        <p:nvSpPr>
          <p:cNvPr id="21" name="Right Arrow 20"/>
          <p:cNvSpPr/>
          <p:nvPr/>
        </p:nvSpPr>
        <p:spPr>
          <a:xfrm>
            <a:off x="7073798" y="2926080"/>
            <a:ext cx="201168" cy="237744"/>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320686" y="2011680"/>
            <a:ext cx="1867204"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906816" y="2194560"/>
            <a:ext cx="694944" cy="6949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Mail_w.png"/>
          <p:cNvPicPr>
            <a:picLocks noChangeAspect="1"/>
          </p:cNvPicPr>
          <p:nvPr/>
        </p:nvPicPr>
        <p:blipFill>
          <a:blip r:embed="rId6"/>
          <a:stretch>
            <a:fillRect/>
          </a:stretch>
        </p:blipFill>
        <p:spPr>
          <a:xfrm>
            <a:off x="8073603" y="2361346"/>
            <a:ext cx="361370" cy="361370"/>
          </a:xfrm>
          <a:prstGeom prst="rect">
            <a:avLst/>
          </a:prstGeom>
        </p:spPr>
      </p:pic>
      <p:sp>
        <p:nvSpPr>
          <p:cNvPr id="25" name="TextBox 24"/>
          <p:cNvSpPr txBox="1"/>
          <p:nvPr/>
        </p:nvSpPr>
        <p:spPr>
          <a:xfrm>
            <a:off x="7457846" y="2971800"/>
            <a:ext cx="1592884" cy="365760"/>
          </a:xfrm>
          <a:prstGeom prst="rect">
            <a:avLst/>
          </a:prstGeom>
          <a:noFill/>
        </p:spPr>
        <p:txBody>
          <a:bodyPr wrap="square" lIns="0" rIns="0" tIns="0" bIns="0" anchor="t"/>
          <a:lstStyle/>
          <a:p>
            <a:pPr algn="ctr">
              <a:spcAft>
                <a:spcPts val="400"/>
              </a:spcAft>
              <a:buNone/>
            </a:pPr>
            <a:r>
              <a:rPr sz="1600" b="1" i="0">
                <a:solidFill>
                  <a:srgbClr val="0E1F53"/>
                </a:solidFill>
                <a:latin typeface="Roboto"/>
              </a:rPr>
              <a:t>Ergebnis</a:t>
            </a:r>
          </a:p>
        </p:txBody>
      </p:sp>
      <p:sp>
        <p:nvSpPr>
          <p:cNvPr id="26" name="TextBox 25"/>
          <p:cNvSpPr txBox="1"/>
          <p:nvPr/>
        </p:nvSpPr>
        <p:spPr>
          <a:xfrm>
            <a:off x="7457846" y="3364992"/>
            <a:ext cx="1592884" cy="731520"/>
          </a:xfrm>
          <a:prstGeom prst="rect">
            <a:avLst/>
          </a:prstGeom>
          <a:noFill/>
        </p:spPr>
        <p:txBody>
          <a:bodyPr wrap="square" lIns="0" rIns="0" tIns="0" bIns="0" anchor="t"/>
          <a:lstStyle/>
          <a:p>
            <a:pPr algn="ctr">
              <a:spcAft>
                <a:spcPts val="400"/>
              </a:spcAft>
              <a:buNone/>
            </a:pPr>
            <a:r>
              <a:rPr sz="1200" b="0" i="0">
                <a:solidFill>
                  <a:srgbClr val="0E1F53"/>
                </a:solidFill>
                <a:latin typeface="Roboto"/>
              </a:rPr>
              <a:t>Mail, Bericht, Eintrag in Tabelle oder Teams</a:t>
            </a:r>
          </a:p>
        </p:txBody>
      </p:sp>
      <p:sp>
        <p:nvSpPr>
          <p:cNvPr id="27" name="Right Arrow 26"/>
          <p:cNvSpPr/>
          <p:nvPr/>
        </p:nvSpPr>
        <p:spPr>
          <a:xfrm>
            <a:off x="9233611" y="2926080"/>
            <a:ext cx="201168" cy="237744"/>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9480499" y="2011680"/>
            <a:ext cx="1867204" cy="210312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066629" y="2194560"/>
            <a:ext cx="694944" cy="69494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UserRound_w.png"/>
          <p:cNvPicPr>
            <a:picLocks noChangeAspect="1"/>
          </p:cNvPicPr>
          <p:nvPr/>
        </p:nvPicPr>
        <p:blipFill>
          <a:blip r:embed="rId7"/>
          <a:stretch>
            <a:fillRect/>
          </a:stretch>
        </p:blipFill>
        <p:spPr>
          <a:xfrm>
            <a:off x="10233416" y="2361346"/>
            <a:ext cx="361370" cy="361370"/>
          </a:xfrm>
          <a:prstGeom prst="rect">
            <a:avLst/>
          </a:prstGeom>
        </p:spPr>
      </p:pic>
      <p:sp>
        <p:nvSpPr>
          <p:cNvPr id="31" name="TextBox 30"/>
          <p:cNvSpPr txBox="1"/>
          <p:nvPr/>
        </p:nvSpPr>
        <p:spPr>
          <a:xfrm>
            <a:off x="9617659" y="2971800"/>
            <a:ext cx="1592884" cy="365760"/>
          </a:xfrm>
          <a:prstGeom prst="rect">
            <a:avLst/>
          </a:prstGeom>
          <a:noFill/>
        </p:spPr>
        <p:txBody>
          <a:bodyPr wrap="square" lIns="0" rIns="0" tIns="0" bIns="0" anchor="t"/>
          <a:lstStyle/>
          <a:p>
            <a:pPr algn="ctr">
              <a:spcAft>
                <a:spcPts val="400"/>
              </a:spcAft>
              <a:buNone/>
            </a:pPr>
            <a:r>
              <a:rPr sz="1600" b="1" i="0">
                <a:solidFill>
                  <a:srgbClr val="0E1F53"/>
                </a:solidFill>
                <a:latin typeface="Roboto"/>
              </a:rPr>
              <a:t>Mensch</a:t>
            </a:r>
          </a:p>
        </p:txBody>
      </p:sp>
      <p:sp>
        <p:nvSpPr>
          <p:cNvPr id="32" name="TextBox 31"/>
          <p:cNvSpPr txBox="1"/>
          <p:nvPr/>
        </p:nvSpPr>
        <p:spPr>
          <a:xfrm>
            <a:off x="9617659" y="3364992"/>
            <a:ext cx="1592884" cy="731520"/>
          </a:xfrm>
          <a:prstGeom prst="rect">
            <a:avLst/>
          </a:prstGeom>
          <a:noFill/>
        </p:spPr>
        <p:txBody>
          <a:bodyPr wrap="square" lIns="0" rIns="0" tIns="0" bIns="0" anchor="t"/>
          <a:lstStyle/>
          <a:p>
            <a:pPr algn="ctr">
              <a:spcAft>
                <a:spcPts val="400"/>
              </a:spcAft>
              <a:buNone/>
            </a:pPr>
            <a:r>
              <a:rPr sz="1200" b="0" i="0">
                <a:solidFill>
                  <a:srgbClr val="0E1F53"/>
                </a:solidFill>
                <a:latin typeface="Roboto"/>
              </a:rPr>
              <a:t>prüft, entscheidet, gibt Feedback</a:t>
            </a:r>
          </a:p>
        </p:txBody>
      </p:sp>
      <p:sp>
        <p:nvSpPr>
          <p:cNvPr id="33" name="Rounded Rectangle 32"/>
          <p:cNvSpPr/>
          <p:nvPr/>
        </p:nvSpPr>
        <p:spPr>
          <a:xfrm>
            <a:off x="841248" y="4343400"/>
            <a:ext cx="5116068"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45262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uSparkles_w.png"/>
          <p:cNvPicPr>
            <a:picLocks noChangeAspect="1"/>
          </p:cNvPicPr>
          <p:nvPr/>
        </p:nvPicPr>
        <p:blipFill>
          <a:blip r:embed="rId8"/>
          <a:stretch>
            <a:fillRect/>
          </a:stretch>
        </p:blipFill>
        <p:spPr>
          <a:xfrm>
            <a:off x="1133856" y="4636008"/>
            <a:ext cx="237744" cy="237744"/>
          </a:xfrm>
          <a:prstGeom prst="rect">
            <a:avLst/>
          </a:prstGeom>
        </p:spPr>
      </p:pic>
      <p:sp>
        <p:nvSpPr>
          <p:cNvPr id="36" name="TextBox 35"/>
          <p:cNvSpPr txBox="1"/>
          <p:nvPr/>
        </p:nvSpPr>
        <p:spPr>
          <a:xfrm>
            <a:off x="1591056" y="452628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Ohne Programmierung</a:t>
            </a:r>
          </a:p>
        </p:txBody>
      </p:sp>
      <p:sp>
        <p:nvSpPr>
          <p:cNvPr id="37" name="TextBox 36"/>
          <p:cNvSpPr txBox="1"/>
          <p:nvPr/>
        </p:nvSpPr>
        <p:spPr>
          <a:xfrm>
            <a:off x="1024128" y="5093208"/>
            <a:ext cx="4750307" cy="786383"/>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00" b="0" i="0">
                <a:solidFill>
                  <a:srgbClr val="0E1F53"/>
                </a:solidFill>
                <a:latin typeface="Roboto"/>
              </a:rPr>
              <a:t>Geplante Aufgaben in ChatGPT, Claude oder Copilot</a:t>
            </a:r>
          </a:p>
          <a:p>
            <a:pPr algn="l" marL="164592" indent="-164592">
              <a:spcAft>
                <a:spcPts val="400"/>
              </a:spcAft>
              <a:buClr>
                <a:srgbClr val="FB2762"/>
              </a:buClr>
              <a:buFont typeface="Arial"/>
              <a:buChar char="•"/>
            </a:pPr>
            <a:r>
              <a:rPr sz="1300" b="0" i="0">
                <a:solidFill>
                  <a:srgbClr val="0E1F53"/>
                </a:solidFill>
                <a:latin typeface="Roboto"/>
              </a:rPr>
              <a:t>Prompt einmal schreiben, Rhythmus wählen, fertig</a:t>
            </a:r>
          </a:p>
        </p:txBody>
      </p:sp>
      <p:sp>
        <p:nvSpPr>
          <p:cNvPr id="38" name="Rounded Rectangle 37"/>
          <p:cNvSpPr/>
          <p:nvPr/>
        </p:nvSpPr>
        <p:spPr>
          <a:xfrm>
            <a:off x="6231636" y="4343400"/>
            <a:ext cx="5116068"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14516" y="45262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Workflow_w.png"/>
          <p:cNvPicPr>
            <a:picLocks noChangeAspect="1"/>
          </p:cNvPicPr>
          <p:nvPr/>
        </p:nvPicPr>
        <p:blipFill>
          <a:blip r:embed="rId9"/>
          <a:stretch>
            <a:fillRect/>
          </a:stretch>
        </p:blipFill>
        <p:spPr>
          <a:xfrm>
            <a:off x="6524244" y="4636008"/>
            <a:ext cx="237744" cy="237744"/>
          </a:xfrm>
          <a:prstGeom prst="rect">
            <a:avLst/>
          </a:prstGeom>
        </p:spPr>
      </p:pic>
      <p:sp>
        <p:nvSpPr>
          <p:cNvPr id="41" name="TextBox 40"/>
          <p:cNvSpPr txBox="1"/>
          <p:nvPr/>
        </p:nvSpPr>
        <p:spPr>
          <a:xfrm>
            <a:off x="6981444" y="452628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Mit Workflow-Tool</a:t>
            </a:r>
          </a:p>
        </p:txBody>
      </p:sp>
      <p:sp>
        <p:nvSpPr>
          <p:cNvPr id="42" name="TextBox 41"/>
          <p:cNvSpPr txBox="1"/>
          <p:nvPr/>
        </p:nvSpPr>
        <p:spPr>
          <a:xfrm>
            <a:off x="6414516" y="5093208"/>
            <a:ext cx="4750307" cy="786383"/>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00" b="0" i="0">
                <a:solidFill>
                  <a:srgbClr val="0E1F53"/>
                </a:solidFill>
                <a:latin typeface="Roboto"/>
              </a:rPr>
              <a:t>n8n, Make, Power Automate, Zapier</a:t>
            </a:r>
          </a:p>
          <a:p>
            <a:pPr algn="l" marL="164592" indent="-164592">
              <a:spcAft>
                <a:spcPts val="400"/>
              </a:spcAft>
              <a:buClr>
                <a:srgbClr val="FB2762"/>
              </a:buClr>
              <a:buFont typeface="Arial"/>
              <a:buChar char="•"/>
            </a:pPr>
            <a:r>
              <a:rPr sz="1300" b="0" i="0">
                <a:solidFill>
                  <a:srgbClr val="0E1F53"/>
                </a:solidFill>
                <a:latin typeface="Roboto"/>
              </a:rPr>
              <a:t>Mehr Kontrolle, eigene Datenquellen, n8n auch selbst gehostet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Verantwortungsvoll einsetzen: fünf Spielregeln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RAHMEN</a:t>
            </a:r>
          </a:p>
        </p:txBody>
      </p:sp>
      <p:sp>
        <p:nvSpPr>
          <p:cNvPr id="4" name="Rounded Rectangle 3"/>
          <p:cNvSpPr/>
          <p:nvPr/>
        </p:nvSpPr>
        <p:spPr>
          <a:xfrm>
            <a:off x="841248" y="2011680"/>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12264"/>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ShieldCheck_w.png"/>
          <p:cNvPicPr>
            <a:picLocks noChangeAspect="1"/>
          </p:cNvPicPr>
          <p:nvPr/>
        </p:nvPicPr>
        <p:blipFill>
          <a:blip r:embed="rId3"/>
          <a:stretch>
            <a:fillRect/>
          </a:stretch>
        </p:blipFill>
        <p:spPr>
          <a:xfrm>
            <a:off x="1092525" y="2226381"/>
            <a:ext cx="247253" cy="247253"/>
          </a:xfrm>
          <a:prstGeom prst="rect">
            <a:avLst/>
          </a:prstGeom>
        </p:spPr>
      </p:pic>
      <p:sp>
        <p:nvSpPr>
          <p:cNvPr id="7" name="TextBox 6"/>
          <p:cNvSpPr txBox="1"/>
          <p:nvPr/>
        </p:nvSpPr>
        <p:spPr>
          <a:xfrm>
            <a:off x="1618488" y="2011680"/>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Datenschutz</a:t>
            </a:r>
          </a:p>
        </p:txBody>
      </p:sp>
      <p:sp>
        <p:nvSpPr>
          <p:cNvPr id="8" name="TextBox 7"/>
          <p:cNvSpPr txBox="1"/>
          <p:nvPr/>
        </p:nvSpPr>
        <p:spPr>
          <a:xfrm>
            <a:off x="4041648" y="2011680"/>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Keine personenbezogenen oder vertraulichen Daten in private Gratis-Konten. Business-Lizenzen mit AV-Vertrag nutzen.</a:t>
            </a:r>
          </a:p>
        </p:txBody>
      </p:sp>
      <p:sp>
        <p:nvSpPr>
          <p:cNvPr id="9" name="Rounded Rectangle 8"/>
          <p:cNvSpPr/>
          <p:nvPr/>
        </p:nvSpPr>
        <p:spPr>
          <a:xfrm>
            <a:off x="841248" y="2798064"/>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78408" y="2898648"/>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earch_w.png"/>
          <p:cNvPicPr>
            <a:picLocks noChangeAspect="1"/>
          </p:cNvPicPr>
          <p:nvPr/>
        </p:nvPicPr>
        <p:blipFill>
          <a:blip r:embed="rId4"/>
          <a:stretch>
            <a:fillRect/>
          </a:stretch>
        </p:blipFill>
        <p:spPr>
          <a:xfrm>
            <a:off x="1092525" y="3012765"/>
            <a:ext cx="247253" cy="247253"/>
          </a:xfrm>
          <a:prstGeom prst="rect">
            <a:avLst/>
          </a:prstGeom>
        </p:spPr>
      </p:pic>
      <p:sp>
        <p:nvSpPr>
          <p:cNvPr id="12" name="TextBox 11"/>
          <p:cNvSpPr txBox="1"/>
          <p:nvPr/>
        </p:nvSpPr>
        <p:spPr>
          <a:xfrm>
            <a:off x="1618488" y="2798064"/>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Fakten prüfen</a:t>
            </a:r>
          </a:p>
        </p:txBody>
      </p:sp>
      <p:sp>
        <p:nvSpPr>
          <p:cNvPr id="13" name="TextBox 12"/>
          <p:cNvSpPr txBox="1"/>
          <p:nvPr/>
        </p:nvSpPr>
        <p:spPr>
          <a:xfrm>
            <a:off x="4041648" y="2798064"/>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KI kann Quellen und Zahlen erfinden. Wichtige Aussagen immer an der Originalquelle prüfen.</a:t>
            </a:r>
          </a:p>
        </p:txBody>
      </p:sp>
      <p:sp>
        <p:nvSpPr>
          <p:cNvPr id="14" name="Rounded Rectangle 13"/>
          <p:cNvSpPr/>
          <p:nvPr/>
        </p:nvSpPr>
        <p:spPr>
          <a:xfrm>
            <a:off x="841248" y="3584448"/>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78408" y="3685032"/>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UserRound_w.png"/>
          <p:cNvPicPr>
            <a:picLocks noChangeAspect="1"/>
          </p:cNvPicPr>
          <p:nvPr/>
        </p:nvPicPr>
        <p:blipFill>
          <a:blip r:embed="rId5"/>
          <a:stretch>
            <a:fillRect/>
          </a:stretch>
        </p:blipFill>
        <p:spPr>
          <a:xfrm>
            <a:off x="1092525" y="3799149"/>
            <a:ext cx="247253" cy="247253"/>
          </a:xfrm>
          <a:prstGeom prst="rect">
            <a:avLst/>
          </a:prstGeom>
        </p:spPr>
      </p:pic>
      <p:sp>
        <p:nvSpPr>
          <p:cNvPr id="17" name="TextBox 16"/>
          <p:cNvSpPr txBox="1"/>
          <p:nvPr/>
        </p:nvSpPr>
        <p:spPr>
          <a:xfrm>
            <a:off x="1618488" y="3584448"/>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Mensch entscheidet</a:t>
            </a:r>
          </a:p>
        </p:txBody>
      </p:sp>
      <p:sp>
        <p:nvSpPr>
          <p:cNvPr id="18" name="TextBox 17"/>
          <p:cNvSpPr txBox="1"/>
          <p:nvPr/>
        </p:nvSpPr>
        <p:spPr>
          <a:xfrm>
            <a:off x="4041648" y="3584448"/>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Agenten bereiten vor, Menschen entscheiden. Besonders bei Kundinnen, Personal und Geld.</a:t>
            </a:r>
          </a:p>
        </p:txBody>
      </p:sp>
      <p:sp>
        <p:nvSpPr>
          <p:cNvPr id="19" name="Rounded Rectangle 18"/>
          <p:cNvSpPr/>
          <p:nvPr/>
        </p:nvSpPr>
        <p:spPr>
          <a:xfrm>
            <a:off x="841248" y="4370832"/>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8408" y="4471416"/>
            <a:ext cx="475488" cy="47548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GraduationCap_w.png"/>
          <p:cNvPicPr>
            <a:picLocks noChangeAspect="1"/>
          </p:cNvPicPr>
          <p:nvPr/>
        </p:nvPicPr>
        <p:blipFill>
          <a:blip r:embed="rId6"/>
          <a:stretch>
            <a:fillRect/>
          </a:stretch>
        </p:blipFill>
        <p:spPr>
          <a:xfrm>
            <a:off x="1092525" y="4585533"/>
            <a:ext cx="247253" cy="247253"/>
          </a:xfrm>
          <a:prstGeom prst="rect">
            <a:avLst/>
          </a:prstGeom>
        </p:spPr>
      </p:pic>
      <p:sp>
        <p:nvSpPr>
          <p:cNvPr id="22" name="TextBox 21"/>
          <p:cNvSpPr txBox="1"/>
          <p:nvPr/>
        </p:nvSpPr>
        <p:spPr>
          <a:xfrm>
            <a:off x="1618488" y="4370832"/>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KI-Kompetenz</a:t>
            </a:r>
          </a:p>
        </p:txBody>
      </p:sp>
      <p:sp>
        <p:nvSpPr>
          <p:cNvPr id="23" name="TextBox 22"/>
          <p:cNvSpPr txBox="1"/>
          <p:nvPr/>
        </p:nvSpPr>
        <p:spPr>
          <a:xfrm>
            <a:off x="4041648" y="4370832"/>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EU AI Act Art. 4: Seit Februar 2025 müssen Unternehmen die KI-Kompetenz ihrer Teams sicherstellen.</a:t>
            </a:r>
          </a:p>
        </p:txBody>
      </p:sp>
      <p:sp>
        <p:nvSpPr>
          <p:cNvPr id="24" name="Rounded Rectangle 23"/>
          <p:cNvSpPr/>
          <p:nvPr/>
        </p:nvSpPr>
        <p:spPr>
          <a:xfrm>
            <a:off x="841248" y="5157216"/>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78408" y="5257800"/>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MessagesSquare_w.png"/>
          <p:cNvPicPr>
            <a:picLocks noChangeAspect="1"/>
          </p:cNvPicPr>
          <p:nvPr/>
        </p:nvPicPr>
        <p:blipFill>
          <a:blip r:embed="rId7"/>
          <a:stretch>
            <a:fillRect/>
          </a:stretch>
        </p:blipFill>
        <p:spPr>
          <a:xfrm>
            <a:off x="1092525" y="5371917"/>
            <a:ext cx="247253" cy="247253"/>
          </a:xfrm>
          <a:prstGeom prst="rect">
            <a:avLst/>
          </a:prstGeom>
        </p:spPr>
      </p:pic>
      <p:sp>
        <p:nvSpPr>
          <p:cNvPr id="27" name="TextBox 26"/>
          <p:cNvSpPr txBox="1"/>
          <p:nvPr/>
        </p:nvSpPr>
        <p:spPr>
          <a:xfrm>
            <a:off x="1618488" y="5157216"/>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Transparenz</a:t>
            </a:r>
          </a:p>
        </p:txBody>
      </p:sp>
      <p:sp>
        <p:nvSpPr>
          <p:cNvPr id="28" name="TextBox 27"/>
          <p:cNvSpPr txBox="1"/>
          <p:nvPr/>
        </p:nvSpPr>
        <p:spPr>
          <a:xfrm>
            <a:off x="4041648" y="5157216"/>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Offen sagen, wo KI mitgearbeitet hat: intern und gegenüber Kundschaft.</a:t>
            </a:r>
          </a:p>
        </p:txBody>
      </p:sp>
      <p:sp>
        <p:nvSpPr>
          <p:cNvPr id="29" name="TextBox 28"/>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Verordnung (EU) 2024/1689 (KI-Verordnung), Art. 4; DSGVO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4 · Praxisfall HSRW</a:t>
            </a:r>
          </a:p>
        </p:txBody>
      </p:sp>
      <p:sp>
        <p:nvSpPr>
          <p:cNvPr id="3" name="Text Placeholder 2"/>
          <p:cNvSpPr>
            <a:spLocks noGrp="1"/>
          </p:cNvSpPr>
          <p:nvPr>
            <p:ph type="body" idx="11" sz="quarter"/>
          </p:nvPr>
        </p:nvSpPr>
        <p:spPr/>
        <p:txBody>
          <a:bodyPr/>
          <a:lstStyle/>
          <a:p>
            <a:r>
              <a:rPr b="0" sz="2000"/>
              <a:t>Den Prozess einmal komplett an einer echten Herausforderung durchlaufen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Ausgangslage: Was die Zahlen über die HSRW sagen</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148840"/>
            <a:ext cx="1963674" cy="731520"/>
          </a:xfrm>
          <a:prstGeom prst="rect">
            <a:avLst/>
          </a:prstGeom>
          <a:noFill/>
        </p:spPr>
        <p:txBody>
          <a:bodyPr wrap="square" lIns="0" rIns="0" tIns="0" bIns="0" anchor="t"/>
          <a:lstStyle/>
          <a:p>
            <a:pPr algn="l">
              <a:spcAft>
                <a:spcPts val="400"/>
              </a:spcAft>
              <a:buNone/>
            </a:pPr>
            <a:r>
              <a:rPr sz="3600" b="1" i="0">
                <a:solidFill>
                  <a:srgbClr val="0E1F53"/>
                </a:solidFill>
                <a:latin typeface="Roboto"/>
              </a:rPr>
              <a:t>6.242</a:t>
            </a:r>
          </a:p>
        </p:txBody>
      </p:sp>
      <p:sp>
        <p:nvSpPr>
          <p:cNvPr id="6" name="TextBox 5"/>
          <p:cNvSpPr txBox="1"/>
          <p:nvPr/>
        </p:nvSpPr>
        <p:spPr>
          <a:xfrm>
            <a:off x="1069848"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Studierende im WS 2025/26</a:t>
            </a:r>
          </a:p>
        </p:txBody>
      </p:sp>
      <p:sp>
        <p:nvSpPr>
          <p:cNvPr id="7" name="TextBox 6"/>
          <p:cNvSpPr txBox="1"/>
          <p:nvPr/>
        </p:nvSpPr>
        <p:spPr>
          <a:xfrm>
            <a:off x="1069848"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früher 6.700–7.400 (2015–2021)</a:t>
            </a:r>
          </a:p>
        </p:txBody>
      </p:sp>
      <p:sp>
        <p:nvSpPr>
          <p:cNvPr id="8" name="Rounded Rectangle 7"/>
          <p:cNvSpPr/>
          <p:nvPr/>
        </p:nvSpPr>
        <p:spPr>
          <a:xfrm>
            <a:off x="3536441"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65041" y="2148840"/>
            <a:ext cx="1963674" cy="731520"/>
          </a:xfrm>
          <a:prstGeom prst="rect">
            <a:avLst/>
          </a:prstGeom>
          <a:noFill/>
        </p:spPr>
        <p:txBody>
          <a:bodyPr wrap="square" lIns="0" rIns="0" tIns="0" bIns="0" anchor="t"/>
          <a:lstStyle/>
          <a:p>
            <a:pPr algn="l">
              <a:spcAft>
                <a:spcPts val="400"/>
              </a:spcAft>
              <a:buNone/>
            </a:pPr>
            <a:r>
              <a:rPr sz="3600" b="1" i="0">
                <a:solidFill>
                  <a:srgbClr val="1E8E4E"/>
                </a:solidFill>
                <a:latin typeface="Roboto"/>
              </a:rPr>
              <a:t>+20 %</a:t>
            </a:r>
          </a:p>
        </p:txBody>
      </p:sp>
      <p:sp>
        <p:nvSpPr>
          <p:cNvPr id="10" name="TextBox 9"/>
          <p:cNvSpPr txBox="1"/>
          <p:nvPr/>
        </p:nvSpPr>
        <p:spPr>
          <a:xfrm>
            <a:off x="3765041"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Erstsemester 2025/26</a:t>
            </a:r>
          </a:p>
        </p:txBody>
      </p:sp>
      <p:sp>
        <p:nvSpPr>
          <p:cNvPr id="11" name="TextBox 10"/>
          <p:cNvSpPr txBox="1"/>
          <p:nvPr/>
        </p:nvSpPr>
        <p:spPr>
          <a:xfrm>
            <a:off x="3765041"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1.291 nach 1.070 im Vorjahr</a:t>
            </a:r>
          </a:p>
        </p:txBody>
      </p:sp>
      <p:sp>
        <p:nvSpPr>
          <p:cNvPr id="12" name="Rounded Rectangle 11"/>
          <p:cNvSpPr/>
          <p:nvPr/>
        </p:nvSpPr>
        <p:spPr>
          <a:xfrm>
            <a:off x="6231636"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0236" y="2148840"/>
            <a:ext cx="1963674" cy="731520"/>
          </a:xfrm>
          <a:prstGeom prst="rect">
            <a:avLst/>
          </a:prstGeom>
          <a:noFill/>
        </p:spPr>
        <p:txBody>
          <a:bodyPr wrap="square" lIns="0" rIns="0" tIns="0" bIns="0" anchor="t"/>
          <a:lstStyle/>
          <a:p>
            <a:pPr algn="l">
              <a:spcAft>
                <a:spcPts val="400"/>
              </a:spcAft>
              <a:buNone/>
            </a:pPr>
            <a:r>
              <a:rPr sz="3600" b="1" i="0">
                <a:solidFill>
                  <a:srgbClr val="0E1F53"/>
                </a:solidFill>
                <a:latin typeface="Roboto"/>
              </a:rPr>
              <a:t>&gt; 50 %</a:t>
            </a:r>
          </a:p>
        </p:txBody>
      </p:sp>
      <p:sp>
        <p:nvSpPr>
          <p:cNvPr id="14" name="TextBox 13"/>
          <p:cNvSpPr txBox="1"/>
          <p:nvPr/>
        </p:nvSpPr>
        <p:spPr>
          <a:xfrm>
            <a:off x="6460236"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der Studierenden kommen nicht aus NRW</a:t>
            </a:r>
          </a:p>
        </p:txBody>
      </p:sp>
      <p:sp>
        <p:nvSpPr>
          <p:cNvPr id="15" name="TextBox 14"/>
          <p:cNvSpPr txBox="1"/>
          <p:nvPr/>
        </p:nvSpPr>
        <p:spPr>
          <a:xfrm>
            <a:off x="6460236"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stark international geprägt</a:t>
            </a:r>
          </a:p>
        </p:txBody>
      </p:sp>
      <p:sp>
        <p:nvSpPr>
          <p:cNvPr id="16" name="Rounded Rectangle 15"/>
          <p:cNvSpPr/>
          <p:nvPr/>
        </p:nvSpPr>
        <p:spPr>
          <a:xfrm>
            <a:off x="8926830"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55430" y="2148840"/>
            <a:ext cx="1963674" cy="731520"/>
          </a:xfrm>
          <a:prstGeom prst="rect">
            <a:avLst/>
          </a:prstGeom>
          <a:noFill/>
        </p:spPr>
        <p:txBody>
          <a:bodyPr wrap="square" lIns="0" rIns="0" tIns="0" bIns="0" anchor="t"/>
          <a:lstStyle/>
          <a:p>
            <a:pPr algn="l">
              <a:spcAft>
                <a:spcPts val="400"/>
              </a:spcAft>
              <a:buNone/>
            </a:pPr>
            <a:r>
              <a:rPr sz="3600" b="1" i="0">
                <a:solidFill>
                  <a:srgbClr val="FB2762"/>
                </a:solidFill>
                <a:latin typeface="Roboto"/>
              </a:rPr>
              <a:t>2026</a:t>
            </a:r>
          </a:p>
        </p:txBody>
      </p:sp>
      <p:sp>
        <p:nvSpPr>
          <p:cNvPr id="18" name="TextBox 17"/>
          <p:cNvSpPr txBox="1"/>
          <p:nvPr/>
        </p:nvSpPr>
        <p:spPr>
          <a:xfrm>
            <a:off x="9155430"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fehlt in NRW durch G9 fast ein Abiturjahrgang</a:t>
            </a:r>
          </a:p>
        </p:txBody>
      </p:sp>
      <p:sp>
        <p:nvSpPr>
          <p:cNvPr id="19" name="TextBox 18"/>
          <p:cNvSpPr txBox="1"/>
          <p:nvPr/>
        </p:nvSpPr>
        <p:spPr>
          <a:xfrm>
            <a:off x="9155430"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weniger Studienanfänger:innen landesweit</a:t>
            </a:r>
          </a:p>
        </p:txBody>
      </p:sp>
      <p:sp>
        <p:nvSpPr>
          <p:cNvPr id="20" name="Rounded Rectangle 19"/>
          <p:cNvSpPr/>
          <p:nvPr/>
        </p:nvSpPr>
        <p:spPr>
          <a:xfrm>
            <a:off x="841248" y="4389120"/>
            <a:ext cx="5116068"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69848" y="4572000"/>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School_w.png"/>
          <p:cNvPicPr>
            <a:picLocks noChangeAspect="1"/>
          </p:cNvPicPr>
          <p:nvPr/>
        </p:nvPicPr>
        <p:blipFill>
          <a:blip r:embed="rId3"/>
          <a:stretch>
            <a:fillRect/>
          </a:stretch>
        </p:blipFill>
        <p:spPr>
          <a:xfrm>
            <a:off x="1201521" y="4703673"/>
            <a:ext cx="285292" cy="285292"/>
          </a:xfrm>
          <a:prstGeom prst="rect">
            <a:avLst/>
          </a:prstGeom>
        </p:spPr>
      </p:pic>
      <p:sp>
        <p:nvSpPr>
          <p:cNvPr id="23" name="TextBox 22"/>
          <p:cNvSpPr txBox="1"/>
          <p:nvPr/>
        </p:nvSpPr>
        <p:spPr>
          <a:xfrm>
            <a:off x="1801368" y="4526280"/>
            <a:ext cx="3927348" cy="1371600"/>
          </a:xfrm>
          <a:prstGeom prst="rect">
            <a:avLst/>
          </a:prstGeom>
          <a:noFill/>
        </p:spPr>
        <p:txBody>
          <a:bodyPr wrap="square" lIns="0" rIns="0" tIns="0" bIns="0" anchor="t"/>
          <a:lstStyle/>
          <a:p>
            <a:pPr algn="l">
              <a:spcAft>
                <a:spcPts val="400"/>
              </a:spcAft>
              <a:buNone/>
            </a:pPr>
            <a:r>
              <a:rPr sz="1500" b="1" i="0">
                <a:solidFill>
                  <a:srgbClr val="0E1F53"/>
                </a:solidFill>
                <a:latin typeface="Roboto"/>
              </a:rPr>
              <a:t>Die Hochschule</a:t>
            </a:r>
          </a:p>
          <a:p>
            <a:pPr algn="l">
              <a:spcAft>
                <a:spcPts val="400"/>
              </a:spcAft>
              <a:buNone/>
            </a:pPr>
            <a:r>
              <a:rPr sz="1300" b="0" i="0">
                <a:solidFill>
                  <a:srgbClr val="0E1F53"/>
                </a:solidFill>
                <a:latin typeface="Roboto"/>
              </a:rPr>
              <a:t>Gegründet 2009, Standorte Kleve und Kamp-Lintfort, rund drei Viertel der Studiengänge auf Englisch.</a:t>
            </a:r>
          </a:p>
        </p:txBody>
      </p:sp>
      <p:sp>
        <p:nvSpPr>
          <p:cNvPr id="24" name="Rounded Rectangle 23"/>
          <p:cNvSpPr/>
          <p:nvPr/>
        </p:nvSpPr>
        <p:spPr>
          <a:xfrm>
            <a:off x="6231636" y="4389120"/>
            <a:ext cx="5116068"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60236" y="457200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raduationCap_w.png"/>
          <p:cNvPicPr>
            <a:picLocks noChangeAspect="1"/>
          </p:cNvPicPr>
          <p:nvPr/>
        </p:nvPicPr>
        <p:blipFill>
          <a:blip r:embed="rId4"/>
          <a:stretch>
            <a:fillRect/>
          </a:stretch>
        </p:blipFill>
        <p:spPr>
          <a:xfrm>
            <a:off x="6591909" y="4703673"/>
            <a:ext cx="285292" cy="285292"/>
          </a:xfrm>
          <a:prstGeom prst="rect">
            <a:avLst/>
          </a:prstGeom>
        </p:spPr>
      </p:pic>
      <p:sp>
        <p:nvSpPr>
          <p:cNvPr id="27" name="TextBox 26"/>
          <p:cNvSpPr txBox="1"/>
          <p:nvPr/>
        </p:nvSpPr>
        <p:spPr>
          <a:xfrm>
            <a:off x="7191756" y="4526280"/>
            <a:ext cx="3927348" cy="1371600"/>
          </a:xfrm>
          <a:prstGeom prst="rect">
            <a:avLst/>
          </a:prstGeom>
          <a:noFill/>
        </p:spPr>
        <p:txBody>
          <a:bodyPr wrap="square" lIns="0" rIns="0" tIns="0" bIns="0" anchor="t"/>
          <a:lstStyle/>
          <a:p>
            <a:pPr algn="l">
              <a:spcAft>
                <a:spcPts val="400"/>
              </a:spcAft>
              <a:buNone/>
            </a:pPr>
            <a:r>
              <a:rPr sz="1500" b="1" i="0">
                <a:solidFill>
                  <a:srgbClr val="0E1F53"/>
                </a:solidFill>
                <a:latin typeface="Roboto"/>
              </a:rPr>
              <a:t>Bindung an die Region</a:t>
            </a:r>
          </a:p>
          <a:p>
            <a:pPr algn="l">
              <a:spcAft>
                <a:spcPts val="400"/>
              </a:spcAft>
              <a:buNone/>
            </a:pPr>
            <a:r>
              <a:rPr sz="1300" b="0" i="0">
                <a:solidFill>
                  <a:srgbClr val="0E1F53"/>
                </a:solidFill>
                <a:latin typeface="Roboto"/>
              </a:rPr>
              <a:t>789 Absolvent:innen 2025. 71 % bleiben in NRW, bei den internationalen Absolvent:innen nur 46 %.</a:t>
            </a:r>
          </a:p>
        </p:txBody>
      </p:sp>
      <p:sp>
        <p:nvSpPr>
          <p:cNvPr id="28" name="TextBox 27"/>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Quellen: HSRW, Pressemitteilung WS 2025/26 (Stichtag 31.10.2025); HSRW, Zahlen der Hochschule 2020 und 2021; IT.NRW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Die Herausforderung: weniger Studierende, leerer Campus</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4028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rendingUp_w.png"/>
          <p:cNvPicPr>
            <a:picLocks noChangeAspect="1"/>
          </p:cNvPicPr>
          <p:nvPr/>
        </p:nvPicPr>
        <p:blipFill>
          <a:blip r:embed="rId3"/>
          <a:stretch>
            <a:fillRect/>
          </a:stretch>
        </p:blipFill>
        <p:spPr>
          <a:xfrm>
            <a:off x="1205910" y="2376342"/>
            <a:ext cx="294802" cy="294802"/>
          </a:xfrm>
          <a:prstGeom prst="rect">
            <a:avLst/>
          </a:prstGeom>
        </p:spPr>
      </p:pic>
      <p:sp>
        <p:nvSpPr>
          <p:cNvPr id="7" name="TextBox 6"/>
          <p:cNvSpPr txBox="1"/>
          <p:nvPr/>
        </p:nvSpPr>
        <p:spPr>
          <a:xfrm>
            <a:off x="1801368" y="2176272"/>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Weniger Studierende</a:t>
            </a:r>
          </a:p>
        </p:txBody>
      </p:sp>
      <p:sp>
        <p:nvSpPr>
          <p:cNvPr id="8" name="TextBox 7"/>
          <p:cNvSpPr txBox="1"/>
          <p:nvPr/>
        </p:nvSpPr>
        <p:spPr>
          <a:xfrm>
            <a:off x="1801368" y="2560320"/>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Gesamtzahl unter dem früheren Niveau, sinkende Studierendenzahlen in ganz NRW seit 2020/21.</a:t>
            </a:r>
          </a:p>
        </p:txBody>
      </p:sp>
      <p:sp>
        <p:nvSpPr>
          <p:cNvPr id="9" name="Rounded Rectangle 8"/>
          <p:cNvSpPr/>
          <p:nvPr/>
        </p:nvSpPr>
        <p:spPr>
          <a:xfrm>
            <a:off x="4768596" y="2194560"/>
            <a:ext cx="566927"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FAKT</a:t>
            </a:r>
          </a:p>
        </p:txBody>
      </p:sp>
      <p:sp>
        <p:nvSpPr>
          <p:cNvPr id="10" name="Rounded Rectangle 9"/>
          <p:cNvSpPr/>
          <p:nvPr/>
        </p:nvSpPr>
        <p:spPr>
          <a:xfrm>
            <a:off x="6231636" y="2011680"/>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0236" y="224028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uilding2_w.png"/>
          <p:cNvPicPr>
            <a:picLocks noChangeAspect="1"/>
          </p:cNvPicPr>
          <p:nvPr/>
        </p:nvPicPr>
        <p:blipFill>
          <a:blip r:embed="rId4"/>
          <a:stretch>
            <a:fillRect/>
          </a:stretch>
        </p:blipFill>
        <p:spPr>
          <a:xfrm>
            <a:off x="6596298" y="2376342"/>
            <a:ext cx="294802" cy="294802"/>
          </a:xfrm>
          <a:prstGeom prst="rect">
            <a:avLst/>
          </a:prstGeom>
        </p:spPr>
      </p:pic>
      <p:sp>
        <p:nvSpPr>
          <p:cNvPr id="13" name="TextBox 12"/>
          <p:cNvSpPr txBox="1"/>
          <p:nvPr/>
        </p:nvSpPr>
        <p:spPr>
          <a:xfrm>
            <a:off x="7191755" y="2176272"/>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Wenig Präsenz am Campus</a:t>
            </a:r>
          </a:p>
        </p:txBody>
      </p:sp>
      <p:sp>
        <p:nvSpPr>
          <p:cNvPr id="14" name="TextBox 13"/>
          <p:cNvSpPr txBox="1"/>
          <p:nvPr/>
        </p:nvSpPr>
        <p:spPr>
          <a:xfrm>
            <a:off x="7191755" y="2560320"/>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Lehrende berichten von leeren Hörsälen und einem ruhigen Campus am Nachmittag.</a:t>
            </a:r>
          </a:p>
        </p:txBody>
      </p:sp>
      <p:sp>
        <p:nvSpPr>
          <p:cNvPr id="15" name="Rounded Rectangle 14"/>
          <p:cNvSpPr/>
          <p:nvPr/>
        </p:nvSpPr>
        <p:spPr>
          <a:xfrm>
            <a:off x="10158984" y="2194560"/>
            <a:ext cx="786384" cy="292608"/>
          </a:xfrm>
          <a:prstGeom prst="roundRect">
            <a:avLst>
              <a:gd name="adj" fmla="val 50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D9730D"/>
                </a:solidFill>
                <a:latin typeface="Roboto"/>
              </a:rPr>
              <a:t>ANNAHME</a:t>
            </a:r>
          </a:p>
        </p:txBody>
      </p:sp>
      <p:sp>
        <p:nvSpPr>
          <p:cNvPr id="16" name="Rounded Rectangle 15"/>
          <p:cNvSpPr/>
          <p:nvPr/>
        </p:nvSpPr>
        <p:spPr>
          <a:xfrm>
            <a:off x="841248" y="3493008"/>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69848" y="3721608"/>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CalendarClock_w.png"/>
          <p:cNvPicPr>
            <a:picLocks noChangeAspect="1"/>
          </p:cNvPicPr>
          <p:nvPr/>
        </p:nvPicPr>
        <p:blipFill>
          <a:blip r:embed="rId5"/>
          <a:stretch>
            <a:fillRect/>
          </a:stretch>
        </p:blipFill>
        <p:spPr>
          <a:xfrm>
            <a:off x="1205910" y="3857670"/>
            <a:ext cx="294802" cy="294802"/>
          </a:xfrm>
          <a:prstGeom prst="rect">
            <a:avLst/>
          </a:prstGeom>
        </p:spPr>
      </p:pic>
      <p:sp>
        <p:nvSpPr>
          <p:cNvPr id="19" name="TextBox 18"/>
          <p:cNvSpPr txBox="1"/>
          <p:nvPr/>
        </p:nvSpPr>
        <p:spPr>
          <a:xfrm>
            <a:off x="1801368" y="3657600"/>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G9-Lücke 2026</a:t>
            </a:r>
          </a:p>
        </p:txBody>
      </p:sp>
      <p:sp>
        <p:nvSpPr>
          <p:cNvPr id="20" name="TextBox 19"/>
          <p:cNvSpPr txBox="1"/>
          <p:nvPr/>
        </p:nvSpPr>
        <p:spPr>
          <a:xfrm>
            <a:off x="1801368" y="4041648"/>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Ein fast fehlender Abiturjahrgang verschärft den Wettbewerb um Studienanfänger:innen.</a:t>
            </a:r>
          </a:p>
        </p:txBody>
      </p:sp>
      <p:sp>
        <p:nvSpPr>
          <p:cNvPr id="21" name="Rounded Rectangle 20"/>
          <p:cNvSpPr/>
          <p:nvPr/>
        </p:nvSpPr>
        <p:spPr>
          <a:xfrm>
            <a:off x="4768596" y="3675888"/>
            <a:ext cx="566927"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FAKT</a:t>
            </a:r>
          </a:p>
        </p:txBody>
      </p:sp>
      <p:sp>
        <p:nvSpPr>
          <p:cNvPr id="22" name="Rounded Rectangle 21"/>
          <p:cNvSpPr/>
          <p:nvPr/>
        </p:nvSpPr>
        <p:spPr>
          <a:xfrm>
            <a:off x="6231636" y="3493008"/>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0236" y="3721608"/>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Globe_w.png"/>
          <p:cNvPicPr>
            <a:picLocks noChangeAspect="1"/>
          </p:cNvPicPr>
          <p:nvPr/>
        </p:nvPicPr>
        <p:blipFill>
          <a:blip r:embed="rId6"/>
          <a:stretch>
            <a:fillRect/>
          </a:stretch>
        </p:blipFill>
        <p:spPr>
          <a:xfrm>
            <a:off x="6596298" y="3857670"/>
            <a:ext cx="294802" cy="294802"/>
          </a:xfrm>
          <a:prstGeom prst="rect">
            <a:avLst/>
          </a:prstGeom>
        </p:spPr>
      </p:pic>
      <p:sp>
        <p:nvSpPr>
          <p:cNvPr id="25" name="TextBox 24"/>
          <p:cNvSpPr txBox="1"/>
          <p:nvPr/>
        </p:nvSpPr>
        <p:spPr>
          <a:xfrm>
            <a:off x="7191755" y="3657600"/>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Starker Wettbewerb</a:t>
            </a:r>
          </a:p>
        </p:txBody>
      </p:sp>
      <p:sp>
        <p:nvSpPr>
          <p:cNvPr id="26" name="TextBox 25"/>
          <p:cNvSpPr txBox="1"/>
          <p:nvPr/>
        </p:nvSpPr>
        <p:spPr>
          <a:xfrm>
            <a:off x="7191755" y="4041648"/>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Große Hochschulen im Ruhrgebiet, Rheinland und in den Niederlanden in Reichweite.</a:t>
            </a:r>
          </a:p>
        </p:txBody>
      </p:sp>
      <p:sp>
        <p:nvSpPr>
          <p:cNvPr id="27" name="Rounded Rectangle 26"/>
          <p:cNvSpPr/>
          <p:nvPr/>
        </p:nvSpPr>
        <p:spPr>
          <a:xfrm>
            <a:off x="10158984" y="3675888"/>
            <a:ext cx="786384" cy="292608"/>
          </a:xfrm>
          <a:prstGeom prst="roundRect">
            <a:avLst>
              <a:gd name="adj" fmla="val 50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D9730D"/>
                </a:solidFill>
                <a:latin typeface="Roboto"/>
              </a:rPr>
              <a:t>ANNAHME</a:t>
            </a:r>
          </a:p>
        </p:txBody>
      </p:sp>
      <p:sp>
        <p:nvSpPr>
          <p:cNvPr id="28" name="Rounded Rectangle 27"/>
          <p:cNvSpPr/>
          <p:nvPr/>
        </p:nvSpPr>
        <p:spPr>
          <a:xfrm>
            <a:off x="841248" y="5029200"/>
            <a:ext cx="10506456" cy="9601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61288" y="5029200"/>
            <a:ext cx="9866376" cy="960120"/>
          </a:xfrm>
          <a:prstGeom prst="rect">
            <a:avLst/>
          </a:prstGeom>
          <a:noFill/>
        </p:spPr>
        <p:txBody>
          <a:bodyPr wrap="square" lIns="0" rIns="0" tIns="0" bIns="0" anchor="ctr"/>
          <a:lstStyle/>
          <a:p>
            <a:pPr algn="l">
              <a:spcAft>
                <a:spcPts val="200"/>
              </a:spcAft>
              <a:buNone/>
            </a:pPr>
            <a:r>
              <a:rPr sz="1300" b="1" i="0">
                <a:solidFill>
                  <a:srgbClr val="9FD0FF"/>
                </a:solidFill>
                <a:latin typeface="Roboto"/>
              </a:rPr>
              <a:t>Ausgangsfrage der Hochschulleitung</a:t>
            </a:r>
          </a:p>
          <a:p>
            <a:pPr algn="l">
              <a:spcAft>
                <a:spcPts val="400"/>
              </a:spcAft>
              <a:buNone/>
            </a:pPr>
            <a:r>
              <a:rPr sz="1800" b="1" i="0">
                <a:solidFill>
                  <a:srgbClr val="FFFFFF"/>
                </a:solidFill>
                <a:latin typeface="Roboto"/>
              </a:rPr>
              <a:t>„Wie gewinnen wir wieder mehr Studierende, und wie bringen wir sie zurück auf den Campus?“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Unser Agenten-Team für den Innovationsprozess</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4677156" y="3383279"/>
            <a:ext cx="2834640" cy="1188720"/>
          </a:xfrm>
          <a:prstGeom prst="roundRect">
            <a:avLst>
              <a:gd name="adj" fmla="val 15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uUsers_w.png"/>
          <p:cNvPicPr>
            <a:picLocks noChangeAspect="1"/>
          </p:cNvPicPr>
          <p:nvPr/>
        </p:nvPicPr>
        <p:blipFill>
          <a:blip r:embed="rId3"/>
          <a:stretch>
            <a:fillRect/>
          </a:stretch>
        </p:blipFill>
        <p:spPr>
          <a:xfrm>
            <a:off x="4860036" y="3685031"/>
            <a:ext cx="585216" cy="585216"/>
          </a:xfrm>
          <a:prstGeom prst="rect">
            <a:avLst/>
          </a:prstGeom>
        </p:spPr>
      </p:pic>
      <p:sp>
        <p:nvSpPr>
          <p:cNvPr id="6" name="TextBox 5"/>
          <p:cNvSpPr txBox="1"/>
          <p:nvPr/>
        </p:nvSpPr>
        <p:spPr>
          <a:xfrm>
            <a:off x="5545836" y="3383279"/>
            <a:ext cx="1920240" cy="1188720"/>
          </a:xfrm>
          <a:prstGeom prst="rect">
            <a:avLst/>
          </a:prstGeom>
          <a:noFill/>
        </p:spPr>
        <p:txBody>
          <a:bodyPr wrap="square" lIns="0" rIns="0" tIns="0" bIns="0" anchor="ctr"/>
          <a:lstStyle/>
          <a:p>
            <a:pPr algn="l">
              <a:spcAft>
                <a:spcPts val="0"/>
              </a:spcAft>
              <a:buNone/>
            </a:pPr>
            <a:r>
              <a:rPr sz="1500" b="1" i="0">
                <a:solidFill>
                  <a:srgbClr val="FFFFFF"/>
                </a:solidFill>
                <a:latin typeface="Roboto"/>
              </a:rPr>
              <a:t>Innovationsteam</a:t>
            </a:r>
          </a:p>
          <a:p>
            <a:pPr algn="l">
              <a:spcAft>
                <a:spcPts val="0"/>
              </a:spcAft>
              <a:buNone/>
            </a:pPr>
            <a:r>
              <a:rPr sz="1150" b="0" i="0">
                <a:solidFill>
                  <a:srgbClr val="FFFFFF"/>
                </a:solidFill>
                <a:latin typeface="Roboto"/>
              </a:rPr>
              <a:t>steuert, prüft, entscheidet</a:t>
            </a:r>
          </a:p>
        </p:txBody>
      </p:sp>
      <p:sp>
        <p:nvSpPr>
          <p:cNvPr id="7" name="Rounded Rectangle 6"/>
          <p:cNvSpPr/>
          <p:nvPr/>
        </p:nvSpPr>
        <p:spPr>
          <a:xfrm>
            <a:off x="841248"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24128"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uSearch_w.png"/>
          <p:cNvPicPr>
            <a:picLocks noChangeAspect="1"/>
          </p:cNvPicPr>
          <p:nvPr/>
        </p:nvPicPr>
        <p:blipFill>
          <a:blip r:embed="rId4"/>
          <a:stretch>
            <a:fillRect/>
          </a:stretch>
        </p:blipFill>
        <p:spPr>
          <a:xfrm>
            <a:off x="1166774" y="2337206"/>
            <a:ext cx="309067" cy="309067"/>
          </a:xfrm>
          <a:prstGeom prst="rect">
            <a:avLst/>
          </a:prstGeom>
        </p:spPr>
      </p:pic>
      <p:sp>
        <p:nvSpPr>
          <p:cNvPr id="10" name="TextBox 9"/>
          <p:cNvSpPr txBox="1"/>
          <p:nvPr/>
        </p:nvSpPr>
        <p:spPr>
          <a:xfrm>
            <a:off x="1755648"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1 · Challenge-Scout</a:t>
            </a:r>
          </a:p>
          <a:p>
            <a:pPr algn="l">
              <a:spcAft>
                <a:spcPts val="100"/>
              </a:spcAft>
              <a:buNone/>
            </a:pPr>
            <a:r>
              <a:rPr sz="1100" b="0" i="0">
                <a:solidFill>
                  <a:srgbClr val="5A6684"/>
                </a:solidFill>
                <a:latin typeface="Roboto"/>
              </a:rPr>
              <a:t>recherchiert das Umfeld und schärft die Design Challenge</a:t>
            </a:r>
          </a:p>
        </p:txBody>
      </p:sp>
      <p:cxnSp>
        <p:nvCxnSpPr>
          <p:cNvPr id="11" name="Connector 10"/>
          <p:cNvCxnSpPr/>
          <p:nvPr/>
        </p:nvCxnSpPr>
        <p:spPr>
          <a:xfrm>
            <a:off x="2409444" y="2971800"/>
            <a:ext cx="2395270"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26280"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709160"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Eye_w.png"/>
          <p:cNvPicPr>
            <a:picLocks noChangeAspect="1"/>
          </p:cNvPicPr>
          <p:nvPr/>
        </p:nvPicPr>
        <p:blipFill>
          <a:blip r:embed="rId5"/>
          <a:stretch>
            <a:fillRect/>
          </a:stretch>
        </p:blipFill>
        <p:spPr>
          <a:xfrm>
            <a:off x="4851806" y="2337206"/>
            <a:ext cx="309067" cy="309067"/>
          </a:xfrm>
          <a:prstGeom prst="rect">
            <a:avLst/>
          </a:prstGeom>
        </p:spPr>
      </p:pic>
      <p:sp>
        <p:nvSpPr>
          <p:cNvPr id="15" name="TextBox 14"/>
          <p:cNvSpPr txBox="1"/>
          <p:nvPr/>
        </p:nvSpPr>
        <p:spPr>
          <a:xfrm>
            <a:off x="5440680"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2 · Interview-Coach</a:t>
            </a:r>
          </a:p>
          <a:p>
            <a:pPr algn="l">
              <a:spcAft>
                <a:spcPts val="100"/>
              </a:spcAft>
              <a:buNone/>
            </a:pPr>
            <a:r>
              <a:rPr sz="1100" b="0" i="0">
                <a:solidFill>
                  <a:srgbClr val="5A6684"/>
                </a:solidFill>
                <a:latin typeface="Roboto"/>
              </a:rPr>
              <a:t>bereitet Interviews vor und wertet Transkripte aus</a:t>
            </a:r>
          </a:p>
        </p:txBody>
      </p:sp>
      <p:cxnSp>
        <p:nvCxnSpPr>
          <p:cNvPr id="16" name="Connector 15"/>
          <p:cNvCxnSpPr/>
          <p:nvPr/>
        </p:nvCxnSpPr>
        <p:spPr>
          <a:xfrm>
            <a:off x="6094476" y="2971800"/>
            <a:ext cx="0"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11312"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394192"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Target_w.png"/>
          <p:cNvPicPr>
            <a:picLocks noChangeAspect="1"/>
          </p:cNvPicPr>
          <p:nvPr/>
        </p:nvPicPr>
        <p:blipFill>
          <a:blip r:embed="rId6"/>
          <a:stretch>
            <a:fillRect/>
          </a:stretch>
        </p:blipFill>
        <p:spPr>
          <a:xfrm>
            <a:off x="8536838" y="2337206"/>
            <a:ext cx="309067" cy="309067"/>
          </a:xfrm>
          <a:prstGeom prst="rect">
            <a:avLst/>
          </a:prstGeom>
        </p:spPr>
      </p:pic>
      <p:sp>
        <p:nvSpPr>
          <p:cNvPr id="20" name="TextBox 19"/>
          <p:cNvSpPr txBox="1"/>
          <p:nvPr/>
        </p:nvSpPr>
        <p:spPr>
          <a:xfrm>
            <a:off x="9125712"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3 · Insight-Analyst</a:t>
            </a:r>
          </a:p>
          <a:p>
            <a:pPr algn="l">
              <a:spcAft>
                <a:spcPts val="100"/>
              </a:spcAft>
              <a:buNone/>
            </a:pPr>
            <a:r>
              <a:rPr sz="1100" b="0" i="0">
                <a:solidFill>
                  <a:srgbClr val="5A6684"/>
                </a:solidFill>
                <a:latin typeface="Roboto"/>
              </a:rPr>
              <a:t>verdichtet Daten zu Insights, Persona und Point of View</a:t>
            </a:r>
          </a:p>
        </p:txBody>
      </p:sp>
      <p:cxnSp>
        <p:nvCxnSpPr>
          <p:cNvPr id="21" name="Connector 20"/>
          <p:cNvCxnSpPr/>
          <p:nvPr/>
        </p:nvCxnSpPr>
        <p:spPr>
          <a:xfrm flipH="1">
            <a:off x="7384237" y="2971800"/>
            <a:ext cx="2395271"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24128"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Lightbulb_w.png"/>
          <p:cNvPicPr>
            <a:picLocks noChangeAspect="1"/>
          </p:cNvPicPr>
          <p:nvPr/>
        </p:nvPicPr>
        <p:blipFill>
          <a:blip r:embed="rId7"/>
          <a:stretch>
            <a:fillRect/>
          </a:stretch>
        </p:blipFill>
        <p:spPr>
          <a:xfrm>
            <a:off x="1166774" y="5263286"/>
            <a:ext cx="309067" cy="309067"/>
          </a:xfrm>
          <a:prstGeom prst="rect">
            <a:avLst/>
          </a:prstGeom>
        </p:spPr>
      </p:pic>
      <p:sp>
        <p:nvSpPr>
          <p:cNvPr id="25" name="TextBox 24"/>
          <p:cNvSpPr txBox="1"/>
          <p:nvPr/>
        </p:nvSpPr>
        <p:spPr>
          <a:xfrm>
            <a:off x="1755648"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4 · Ideen-Sparringspartner</a:t>
            </a:r>
          </a:p>
          <a:p>
            <a:pPr algn="l">
              <a:spcAft>
                <a:spcPts val="100"/>
              </a:spcAft>
              <a:buNone/>
            </a:pPr>
            <a:r>
              <a:rPr sz="1100" b="0" i="0">
                <a:solidFill>
                  <a:srgbClr val="5A6684"/>
                </a:solidFill>
                <a:latin typeface="Roboto"/>
              </a:rPr>
              <a:t>erweitert den Ideenspeicher und hilft beim Bewerten</a:t>
            </a:r>
          </a:p>
        </p:txBody>
      </p:sp>
      <p:cxnSp>
        <p:nvCxnSpPr>
          <p:cNvPr id="26" name="Connector 25"/>
          <p:cNvCxnSpPr/>
          <p:nvPr/>
        </p:nvCxnSpPr>
        <p:spPr>
          <a:xfrm flipV="1">
            <a:off x="2409444" y="4572000"/>
            <a:ext cx="2395270"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26280"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709160"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PencilRuler_w.png"/>
          <p:cNvPicPr>
            <a:picLocks noChangeAspect="1"/>
          </p:cNvPicPr>
          <p:nvPr/>
        </p:nvPicPr>
        <p:blipFill>
          <a:blip r:embed="rId8"/>
          <a:stretch>
            <a:fillRect/>
          </a:stretch>
        </p:blipFill>
        <p:spPr>
          <a:xfrm>
            <a:off x="4851806" y="5263286"/>
            <a:ext cx="309067" cy="309067"/>
          </a:xfrm>
          <a:prstGeom prst="rect">
            <a:avLst/>
          </a:prstGeom>
        </p:spPr>
      </p:pic>
      <p:sp>
        <p:nvSpPr>
          <p:cNvPr id="30" name="TextBox 29"/>
          <p:cNvSpPr txBox="1"/>
          <p:nvPr/>
        </p:nvSpPr>
        <p:spPr>
          <a:xfrm>
            <a:off x="5440680"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5 · Prototyp-Werkstatt</a:t>
            </a:r>
          </a:p>
          <a:p>
            <a:pPr algn="l">
              <a:spcAft>
                <a:spcPts val="100"/>
              </a:spcAft>
              <a:buNone/>
            </a:pPr>
            <a:r>
              <a:rPr sz="1100" b="0" i="0">
                <a:solidFill>
                  <a:srgbClr val="5A6684"/>
                </a:solidFill>
                <a:latin typeface="Roboto"/>
              </a:rPr>
              <a:t>baut Landingpages, Storyboards und Material in Minuten</a:t>
            </a:r>
          </a:p>
        </p:txBody>
      </p:sp>
      <p:cxnSp>
        <p:nvCxnSpPr>
          <p:cNvPr id="31" name="Connector 30"/>
          <p:cNvCxnSpPr/>
          <p:nvPr/>
        </p:nvCxnSpPr>
        <p:spPr>
          <a:xfrm flipV="1">
            <a:off x="6094476" y="4572000"/>
            <a:ext cx="0"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11312"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394192"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FlaskConical_w.png"/>
          <p:cNvPicPr>
            <a:picLocks noChangeAspect="1"/>
          </p:cNvPicPr>
          <p:nvPr/>
        </p:nvPicPr>
        <p:blipFill>
          <a:blip r:embed="rId9"/>
          <a:stretch>
            <a:fillRect/>
          </a:stretch>
        </p:blipFill>
        <p:spPr>
          <a:xfrm>
            <a:off x="8536838" y="5263286"/>
            <a:ext cx="309067" cy="309067"/>
          </a:xfrm>
          <a:prstGeom prst="rect">
            <a:avLst/>
          </a:prstGeom>
        </p:spPr>
      </p:pic>
      <p:sp>
        <p:nvSpPr>
          <p:cNvPr id="35" name="TextBox 34"/>
          <p:cNvSpPr txBox="1"/>
          <p:nvPr/>
        </p:nvSpPr>
        <p:spPr>
          <a:xfrm>
            <a:off x="9125712"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6 · Test-Auswerter</a:t>
            </a:r>
          </a:p>
          <a:p>
            <a:pPr algn="l">
              <a:spcAft>
                <a:spcPts val="100"/>
              </a:spcAft>
              <a:buNone/>
            </a:pPr>
            <a:r>
              <a:rPr sz="1100" b="0" i="0">
                <a:solidFill>
                  <a:srgbClr val="5A6684"/>
                </a:solidFill>
                <a:latin typeface="Roboto"/>
              </a:rPr>
              <a:t>plant Tests und wertet Feedback und Kennzahlen aus</a:t>
            </a:r>
          </a:p>
        </p:txBody>
      </p:sp>
      <p:cxnSp>
        <p:nvCxnSpPr>
          <p:cNvPr id="36" name="Connector 35"/>
          <p:cNvCxnSpPr/>
          <p:nvPr/>
        </p:nvCxnSpPr>
        <p:spPr>
          <a:xfrm flipH="1" flipV="1">
            <a:off x="7384237" y="4572000"/>
            <a:ext cx="2395271"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970264" y="3474720"/>
            <a:ext cx="2377440" cy="100584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107424" y="3675887"/>
            <a:ext cx="603504" cy="60350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CalendarClock_w.png"/>
          <p:cNvPicPr>
            <a:picLocks noChangeAspect="1"/>
          </p:cNvPicPr>
          <p:nvPr/>
        </p:nvPicPr>
        <p:blipFill>
          <a:blip r:embed="rId10"/>
          <a:stretch>
            <a:fillRect/>
          </a:stretch>
        </p:blipFill>
        <p:spPr>
          <a:xfrm>
            <a:off x="9252264" y="3820728"/>
            <a:ext cx="313822" cy="313822"/>
          </a:xfrm>
          <a:prstGeom prst="rect">
            <a:avLst/>
          </a:prstGeom>
        </p:spPr>
      </p:pic>
      <p:sp>
        <p:nvSpPr>
          <p:cNvPr id="40" name="TextBox 39"/>
          <p:cNvSpPr txBox="1"/>
          <p:nvPr/>
        </p:nvSpPr>
        <p:spPr>
          <a:xfrm>
            <a:off x="9793224" y="3474720"/>
            <a:ext cx="1508760" cy="1005840"/>
          </a:xfrm>
          <a:prstGeom prst="rect">
            <a:avLst/>
          </a:prstGeom>
          <a:noFill/>
        </p:spPr>
        <p:txBody>
          <a:bodyPr wrap="square" lIns="0" rIns="0" tIns="0" bIns="0" anchor="ctr"/>
          <a:lstStyle/>
          <a:p>
            <a:pPr algn="l">
              <a:spcAft>
                <a:spcPts val="100"/>
              </a:spcAft>
              <a:buNone/>
            </a:pPr>
            <a:r>
              <a:rPr sz="1350" b="1" i="0">
                <a:solidFill>
                  <a:srgbClr val="0E1F53"/>
                </a:solidFill>
                <a:latin typeface="Roboto"/>
              </a:rPr>
              <a:t>Markt-Radar</a:t>
            </a:r>
          </a:p>
          <a:p>
            <a:pPr algn="l">
              <a:spcAft>
                <a:spcPts val="100"/>
              </a:spcAft>
              <a:buNone/>
            </a:pPr>
            <a:r>
              <a:rPr sz="1100" b="0" i="0">
                <a:solidFill>
                  <a:srgbClr val="5A6684"/>
                </a:solidFill>
                <a:latin typeface="Roboto"/>
              </a:rPr>
              <a:t>jeden Montag 7:00</a:t>
            </a:r>
          </a:p>
        </p:txBody>
      </p:sp>
      <p:cxnSp>
        <p:nvCxnSpPr>
          <p:cNvPr id="41" name="Connector 40"/>
          <p:cNvCxnSpPr/>
          <p:nvPr/>
        </p:nvCxnSpPr>
        <p:spPr>
          <a:xfrm>
            <a:off x="7511796" y="3977639"/>
            <a:ext cx="1458468" cy="0"/>
          </a:xfrm>
          <a:prstGeom prst="line">
            <a:avLst/>
          </a:prstGeom>
          <a:ln w="19050">
            <a:solidFill>
              <a:srgbClr val="1E8E4E"/>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41248" y="3474720"/>
            <a:ext cx="2651760" cy="1005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4128" y="3474720"/>
            <a:ext cx="2377440" cy="1005840"/>
          </a:xfrm>
          <a:prstGeom prst="rect">
            <a:avLst/>
          </a:prstGeom>
          <a:noFill/>
        </p:spPr>
        <p:txBody>
          <a:bodyPr wrap="square" lIns="0" rIns="0" tIns="0" bIns="0" anchor="ctr"/>
          <a:lstStyle/>
          <a:p>
            <a:pPr algn="l">
              <a:spcAft>
                <a:spcPts val="200"/>
              </a:spcAft>
              <a:buNone/>
            </a:pPr>
            <a:r>
              <a:rPr sz="1250" b="1" i="0">
                <a:solidFill>
                  <a:srgbClr val="0E1F53"/>
                </a:solidFill>
                <a:latin typeface="Roboto"/>
              </a:rPr>
              <a:t>Für jeden Agenten:</a:t>
            </a:r>
          </a:p>
          <a:p>
            <a:pPr algn="l">
              <a:spcAft>
                <a:spcPts val="200"/>
              </a:spcAft>
              <a:buNone/>
            </a:pPr>
            <a:r>
              <a:rPr sz="1150" b="0" i="0">
                <a:solidFill>
                  <a:srgbClr val="0E1F53"/>
                </a:solidFill>
                <a:latin typeface="Roboto"/>
              </a:rPr>
              <a:t>Systemprompt · Wissen · Werkzeuge · Skills</a:t>
            </a:r>
          </a:p>
        </p:txBody>
      </p:sp>
      <p:cxnSp>
        <p:nvCxnSpPr>
          <p:cNvPr id="44" name="Connector 43"/>
          <p:cNvCxnSpPr/>
          <p:nvPr/>
        </p:nvCxnSpPr>
        <p:spPr>
          <a:xfrm>
            <a:off x="3493008" y="3977639"/>
            <a:ext cx="1184148" cy="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5 · Problemraum</a:t>
            </a:r>
          </a:p>
        </p:txBody>
      </p:sp>
      <p:sp>
        <p:nvSpPr>
          <p:cNvPr id="3" name="Text Placeholder 2"/>
          <p:cNvSpPr>
            <a:spLocks noGrp="1"/>
          </p:cNvSpPr>
          <p:nvPr>
            <p:ph type="body" idx="11" sz="quarter"/>
          </p:nvPr>
        </p:nvSpPr>
        <p:spPr/>
        <p:txBody>
          <a:bodyPr/>
          <a:lstStyle/>
          <a:p>
            <a:r>
              <a:rPr b="0" sz="2000"/>
              <a:t>Phasen 1–3: Verstehen, Beobachten, Sichtweise definieren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1 · Verstehen</a:t>
            </a:r>
          </a:p>
        </p:txBody>
      </p:sp>
      <p:sp>
        <p:nvSpPr>
          <p:cNvPr id="3" name="Oval 2"/>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1: Verstehen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Welches Problem lösen wir eigentlich, und für wen?</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Gemeinsames Verständnis von Problem, Umfeld und Zielgruppen schaffen.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Design Challenge, Stakeholder-Landkarte, Desk Research, Annahmen-Check</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Design Challenge als „Wie können wir …?“-Frage, Stakeholder-Landkarte, Fakten- und Annahmenliste</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Challenge-Scout</a:t>
            </a:r>
            <a:r>
              <a:rPr sz="1500" b="0" i="0">
                <a:solidFill>
                  <a:srgbClr val="0E1F53"/>
                </a:solidFill>
                <a:latin typeface="Roboto"/>
              </a:rPr>
              <a:t> – recherchiert das Umfeld und schärft die Design Challenge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Was genau ist das Problem, und woran merken wir es?</a:t>
            </a:r>
          </a:p>
          <a:p>
            <a:pPr algn="l" marL="164592" indent="-164592">
              <a:spcAft>
                <a:spcPts val="700"/>
              </a:spcAft>
              <a:buClr>
                <a:srgbClr val="FB2762"/>
              </a:buClr>
              <a:buFont typeface="Arial"/>
              <a:buChar char="?"/>
            </a:pPr>
            <a:r>
              <a:rPr sz="1350" b="0" i="0">
                <a:solidFill>
                  <a:srgbClr val="FFFFFF"/>
                </a:solidFill>
                <a:latin typeface="Roboto"/>
              </a:rPr>
              <a:t>Wen betrifft es: Kundschaft, Mitarbeitende, Partner?</a:t>
            </a:r>
          </a:p>
          <a:p>
            <a:pPr algn="l" marL="164592" indent="-164592">
              <a:spcAft>
                <a:spcPts val="700"/>
              </a:spcAft>
              <a:buClr>
                <a:srgbClr val="FB2762"/>
              </a:buClr>
              <a:buFont typeface="Arial"/>
              <a:buChar char="?"/>
            </a:pPr>
            <a:r>
              <a:rPr sz="1350" b="0" i="0">
                <a:solidFill>
                  <a:srgbClr val="FFFFFF"/>
                </a:solidFill>
                <a:latin typeface="Roboto"/>
              </a:rPr>
              <a:t>Was wissen wir sicher, was vermuten wir nur?</a:t>
            </a:r>
          </a:p>
          <a:p>
            <a:pPr algn="l" marL="164592" indent="-164592">
              <a:spcAft>
                <a:spcPts val="700"/>
              </a:spcAft>
              <a:buClr>
                <a:srgbClr val="FB2762"/>
              </a:buClr>
              <a:buFont typeface="Arial"/>
              <a:buChar char="?"/>
            </a:pPr>
            <a:r>
              <a:rPr sz="1350" b="0" i="0">
                <a:solidFill>
                  <a:srgbClr val="FFFFFF"/>
                </a:solidFill>
                <a:latin typeface="Roboto"/>
              </a:rPr>
              <a:t>Welche Trends, Zahlen und Wettbewerber prägen das Umfeld?</a:t>
            </a:r>
          </a:p>
          <a:p>
            <a:pPr algn="l" marL="164592" indent="-164592">
              <a:spcAft>
                <a:spcPts val="700"/>
              </a:spcAft>
              <a:buClr>
                <a:srgbClr val="FB2762"/>
              </a:buClr>
              <a:buFont typeface="Arial"/>
              <a:buChar char="?"/>
            </a:pPr>
            <a:r>
              <a:rPr sz="1350" b="0" i="0">
                <a:solidFill>
                  <a:srgbClr val="FFFFFF"/>
                </a:solidFill>
                <a:latin typeface="Roboto"/>
              </a:rPr>
              <a:t>Welcher Rahmen gilt: Budget, Zeit, Tabus?</a:t>
            </a:r>
          </a:p>
          <a:p>
            <a:pPr algn="l" marL="164592" indent="-164592">
              <a:spcAft>
                <a:spcPts val="700"/>
              </a:spcAft>
              <a:buClr>
                <a:srgbClr val="FB2762"/>
              </a:buClr>
              <a:buFont typeface="Arial"/>
              <a:buChar char="?"/>
            </a:pPr>
            <a:r>
              <a:rPr sz="1350" b="0" i="0">
                <a:solidFill>
                  <a:srgbClr val="FFFFFF"/>
                </a:solidFill>
                <a:latin typeface="Roboto"/>
              </a:rPr>
              <a:t>Woran erkennen wir am Ende Erfolg?</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Target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Design Challenge</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Das Problem als offene „Wie können wir …?“-Frage formulieren: nicht zu eng, nicht zu weit.</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Network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Stakeholder-Landkarte</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Wer ist betroffen, wer entscheidet, wer beeinflusst? Auf einer Karte sichtbar machen.</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okOpen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Desk Research</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Zahlen, Studien, Trends und Wettbewerber sammeln, bevor wir rausgehen.</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Scale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Annahmen-Check</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Trennen: Was ist belegt, was glauben wir nur? Annahmen werden in Phase 2 geprüft.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ScanSearch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Deep Research</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Markt, Trends und Wettbewerb in Minuten statt Tagen</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„Recherchiere den Markt für [Thema] in [Region] seit 2022. Gliedere nach Zahlen, Trends, Wettbewerbern. Mit Quellen.“</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Bot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Challenge-Scout</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Schärft die Challenge und trennt Fakten von Annahmen</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„Formuliere 5 Varianten unserer Challenge als ‚Wie können wir …?‘, mal enger, mal weiter.“</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Folder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Chat mit Dateien</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Interne Daten auswerten: Reklamationen, Statistiken, Protokolle</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„Fasse die beigefügten Reklamationen nach Themen zusammen und zähle die Häufigkeit.“</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CalendarClock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Markt-Radar</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Ab jetzt läuft die Recherche jede Woche automatisch weiter</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„Jeden Montag 7:00: Was ist neu zu [Stichworten]? Nur Neues seit letzter Woche.“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Challenge-Scout</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Challenge-Scout</a:t>
            </a:r>
          </a:p>
        </p:txBody>
      </p:sp>
      <p:sp>
        <p:nvSpPr>
          <p:cNvPr id="17" name="Rounded Rectangle 16"/>
          <p:cNvSpPr/>
          <p:nvPr/>
        </p:nvSpPr>
        <p:spPr>
          <a:xfrm>
            <a:off x="969264" y="2487168"/>
            <a:ext cx="7470648" cy="521131"/>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447979"/>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Challenge-Scout, eine erfahrene Innovationsberaterin für KMU mit Schwerpunkt Design Thinking und Marktrecherche.</a:t>
            </a:r>
          </a:p>
        </p:txBody>
      </p:sp>
      <p:sp>
        <p:nvSpPr>
          <p:cNvPr id="20" name="Rounded Rectangle 19"/>
          <p:cNvSpPr/>
          <p:nvPr/>
        </p:nvSpPr>
        <p:spPr>
          <a:xfrm>
            <a:off x="969264" y="3072307"/>
            <a:ext cx="7470648" cy="547188"/>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127171"/>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108883"/>
            <a:ext cx="6309360" cy="474036"/>
          </a:xfrm>
          <a:prstGeom prst="rect">
            <a:avLst/>
          </a:prstGeom>
          <a:noFill/>
        </p:spPr>
        <p:txBody>
          <a:bodyPr wrap="square" lIns="0" rIns="0" tIns="0" bIns="0" anchor="ctr"/>
          <a:lstStyle/>
          <a:p>
            <a:pPr algn="l">
              <a:spcAft>
                <a:spcPts val="0"/>
              </a:spcAft>
              <a:buNone/>
            </a:pPr>
            <a:r>
              <a:rPr sz="1150" b="0" i="0">
                <a:solidFill>
                  <a:srgbClr val="1B2440"/>
                </a:solidFill>
                <a:latin typeface="Roboto"/>
              </a:rPr>
              <a:t>Du unterstützt [Unternehmen] aus [Region] in Phase 1 „Verstehen“. Ausgangslage: [Problem in 2–3 Sätzen]. Zielgruppen: [Liste].</a:t>
            </a:r>
          </a:p>
        </p:txBody>
      </p:sp>
      <p:sp>
        <p:nvSpPr>
          <p:cNvPr id="23" name="Rounded Rectangle 22"/>
          <p:cNvSpPr/>
          <p:nvPr/>
        </p:nvSpPr>
        <p:spPr>
          <a:xfrm>
            <a:off x="969264" y="3683503"/>
            <a:ext cx="7470648" cy="503760"/>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738367"/>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20079"/>
            <a:ext cx="6309360" cy="430608"/>
          </a:xfrm>
          <a:prstGeom prst="rect">
            <a:avLst/>
          </a:prstGeom>
          <a:noFill/>
        </p:spPr>
        <p:txBody>
          <a:bodyPr wrap="square" lIns="0" rIns="0" tIns="0" bIns="0" anchor="ctr"/>
          <a:lstStyle/>
          <a:p>
            <a:pPr algn="l">
              <a:spcAft>
                <a:spcPts val="0"/>
              </a:spcAft>
              <a:buNone/>
            </a:pPr>
            <a:r>
              <a:rPr sz="1150" b="0" i="0">
                <a:solidFill>
                  <a:srgbClr val="1B2440"/>
                </a:solidFill>
                <a:latin typeface="Roboto"/>
              </a:rPr>
              <a:t>Erstelle ein Verständnis-Dossier: Umfeldanalyse, Stakeholder-Landkarte und drei Vorschläge für die Design Challenge.</a:t>
            </a:r>
          </a:p>
        </p:txBody>
      </p:sp>
      <p:sp>
        <p:nvSpPr>
          <p:cNvPr id="26" name="Rounded Rectangle 25"/>
          <p:cNvSpPr/>
          <p:nvPr/>
        </p:nvSpPr>
        <p:spPr>
          <a:xfrm>
            <a:off x="969264" y="4251272"/>
            <a:ext cx="7470648" cy="616672"/>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306136"/>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287848"/>
            <a:ext cx="6309360" cy="543520"/>
          </a:xfrm>
          <a:prstGeom prst="rect">
            <a:avLst/>
          </a:prstGeom>
          <a:noFill/>
        </p:spPr>
        <p:txBody>
          <a:bodyPr wrap="square" lIns="0" rIns="0" tIns="0" bIns="0" anchor="ctr"/>
          <a:lstStyle/>
          <a:p>
            <a:pPr algn="l">
              <a:spcAft>
                <a:spcPts val="0"/>
              </a:spcAft>
              <a:buNone/>
            </a:pPr>
            <a:r>
              <a:rPr sz="1150" b="0" i="0">
                <a:solidFill>
                  <a:srgbClr val="1B2440"/>
                </a:solidFill>
                <a:latin typeface="Roboto"/>
              </a:rPr>
              <a:t>1. Stelle mir bis zu 5 Klärungsfragen. 2. Recherchiere Markt, Trends, Wettbewerb. 3. Trenne Fakten von Annahmen. 4. Formuliere die Challenges.</a:t>
            </a:r>
          </a:p>
        </p:txBody>
      </p:sp>
      <p:sp>
        <p:nvSpPr>
          <p:cNvPr id="29" name="Rounded Rectangle 28"/>
          <p:cNvSpPr/>
          <p:nvPr/>
        </p:nvSpPr>
        <p:spPr>
          <a:xfrm>
            <a:off x="969264" y="4931952"/>
            <a:ext cx="7470648" cy="490732"/>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498681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4968528"/>
            <a:ext cx="6309360" cy="417580"/>
          </a:xfrm>
          <a:prstGeom prst="rect">
            <a:avLst/>
          </a:prstGeom>
          <a:noFill/>
        </p:spPr>
        <p:txBody>
          <a:bodyPr wrap="square" lIns="0" rIns="0" tIns="0" bIns="0" anchor="ctr"/>
          <a:lstStyle/>
          <a:p>
            <a:pPr algn="l">
              <a:spcAft>
                <a:spcPts val="0"/>
              </a:spcAft>
              <a:buNone/>
            </a:pPr>
            <a:r>
              <a:rPr sz="1150" b="0" i="0">
                <a:solidFill>
                  <a:srgbClr val="1B2440"/>
                </a:solidFill>
                <a:latin typeface="Roboto"/>
              </a:rPr>
              <a:t>Max. 2 Seiten: Fakten mit Quelle, Annahmen-Liste, Stakeholder-Tabelle, 3 Challenges mit je einem Satz Begründung.</a:t>
            </a:r>
          </a:p>
        </p:txBody>
      </p:sp>
      <p:sp>
        <p:nvSpPr>
          <p:cNvPr id="32" name="Rounded Rectangle 31"/>
          <p:cNvSpPr/>
          <p:nvPr/>
        </p:nvSpPr>
        <p:spPr>
          <a:xfrm>
            <a:off x="969264" y="5486692"/>
            <a:ext cx="7470648" cy="438619"/>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41556"/>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23268"/>
            <a:ext cx="6309360" cy="365467"/>
          </a:xfrm>
          <a:prstGeom prst="rect">
            <a:avLst/>
          </a:prstGeom>
          <a:noFill/>
        </p:spPr>
        <p:txBody>
          <a:bodyPr wrap="square" lIns="0" rIns="0" tIns="0" bIns="0" anchor="ctr"/>
          <a:lstStyle/>
          <a:p>
            <a:pPr algn="l">
              <a:spcAft>
                <a:spcPts val="0"/>
              </a:spcAft>
              <a:buNone/>
            </a:pPr>
            <a:r>
              <a:rPr sz="1150" b="0" i="0">
                <a:solidFill>
                  <a:srgbClr val="1B2440"/>
                </a:solidFill>
                <a:latin typeface="Roboto"/>
              </a:rPr>
              <a:t>Schlage noch keine Lösungen vor. Jede Zahl mit Quelle und Datum. Kennzeichne Unsicherheiten deutlich.</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design-challenge/SKILL.md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design-challenge</a:t>
            </a:r>
          </a:p>
          <a:p>
            <a:pPr algn="l">
              <a:spcAft>
                <a:spcPts val="150"/>
              </a:spcAft>
              <a:buNone/>
            </a:pPr>
            <a:r>
              <a:rPr sz="1050" b="0" i="0">
                <a:solidFill>
                  <a:srgbClr val="7FE0A7"/>
                </a:solidFill>
                <a:latin typeface="Roboto Mono"/>
              </a:rPr>
              <a:t>description: Formuliert Design</a:t>
            </a:r>
          </a:p>
          <a:p>
            <a:pPr algn="l">
              <a:spcAft>
                <a:spcPts val="150"/>
              </a:spcAft>
              <a:buNone/>
            </a:pPr>
            <a:r>
              <a:rPr sz="1050" b="0" i="0">
                <a:solidFill>
                  <a:srgbClr val="7FE0A7"/>
                </a:solidFill>
                <a:latin typeface="Roboto Mono"/>
              </a:rPr>
              <a:t>  Challenges als Wie-können-wir-</a:t>
            </a:r>
          </a:p>
          <a:p>
            <a:pPr algn="l">
              <a:spcAft>
                <a:spcPts val="150"/>
              </a:spcAft>
              <a:buNone/>
            </a:pPr>
            <a:r>
              <a:rPr sz="1050" b="0" i="0">
                <a:solidFill>
                  <a:srgbClr val="7FE0A7"/>
                </a:solidFill>
                <a:latin typeface="Roboto Mono"/>
              </a:rPr>
              <a:t>  Fragen. Nutzen in Phase 1.</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Design Challenge formulieren</a:t>
            </a:r>
          </a:p>
          <a:p>
            <a:pPr algn="l">
              <a:spcAft>
                <a:spcPts val="150"/>
              </a:spcAft>
              <a:buNone/>
            </a:pPr>
            <a:r>
              <a:rPr sz="1050" b="0" i="0">
                <a:solidFill>
                  <a:srgbClr val="C9D6EE"/>
                </a:solidFill>
                <a:latin typeface="Roboto Mono"/>
              </a:rPr>
              <a:t>1. Problem in einem Satz</a:t>
            </a:r>
          </a:p>
          <a:p>
            <a:pPr algn="l">
              <a:spcAft>
                <a:spcPts val="150"/>
              </a:spcAft>
              <a:buNone/>
            </a:pPr>
            <a:r>
              <a:rPr sz="1050" b="0" i="0">
                <a:solidFill>
                  <a:srgbClr val="C9D6EE"/>
                </a:solidFill>
                <a:latin typeface="Roboto Mono"/>
              </a:rPr>
              <a:t>2. Zielgruppe benennen</a:t>
            </a:r>
          </a:p>
          <a:p>
            <a:pPr algn="l">
              <a:spcAft>
                <a:spcPts val="150"/>
              </a:spcAft>
              <a:buNone/>
            </a:pPr>
            <a:r>
              <a:rPr sz="1050" b="0" i="0">
                <a:solidFill>
                  <a:srgbClr val="C9D6EE"/>
                </a:solidFill>
                <a:latin typeface="Roboto Mono"/>
              </a:rPr>
              <a:t>3. Gewünschte Wirkung beschreiben</a:t>
            </a:r>
          </a:p>
          <a:p>
            <a:pPr algn="l">
              <a:spcAft>
                <a:spcPts val="150"/>
              </a:spcAft>
              <a:buNone/>
            </a:pPr>
            <a:r>
              <a:rPr sz="1050" b="0" i="0">
                <a:solidFill>
                  <a:srgbClr val="C9D6EE"/>
                </a:solidFill>
                <a:latin typeface="Roboto Mono"/>
              </a:rPr>
              <a:t>4. Prüfen: Steckt schon eine</a:t>
            </a:r>
          </a:p>
          <a:p>
            <a:pPr algn="l">
              <a:spcAft>
                <a:spcPts val="150"/>
              </a:spcAft>
              <a:buNone/>
            </a:pPr>
            <a:r>
              <a:rPr sz="1050" b="0" i="0">
                <a:solidFill>
                  <a:srgbClr val="C9D6EE"/>
                </a:solidFill>
                <a:latin typeface="Roboto Mono"/>
              </a:rPr>
              <a:t>   Lösung in der Frage? → streichen</a:t>
            </a:r>
          </a:p>
          <a:p>
            <a:pPr algn="l">
              <a:spcAft>
                <a:spcPts val="150"/>
              </a:spcAft>
              <a:buNone/>
            </a:pPr>
            <a:r>
              <a:rPr sz="1050" b="0" i="0">
                <a:solidFill>
                  <a:srgbClr val="C9D6EE"/>
                </a:solidFill>
                <a:latin typeface="Roboto Mono"/>
              </a:rPr>
              <a:t>5. 3 Varianten: eng, mittel, weit</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Markt-Radar: Recherche, die nie aufhört</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CalendarClock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Jeden Montag</a:t>
            </a:r>
          </a:p>
          <a:p>
            <a:pPr algn="ctr">
              <a:spcAft>
                <a:spcPts val="0"/>
              </a:spcAft>
              <a:buNone/>
            </a:pPr>
            <a:r>
              <a:rPr sz="1150" b="1" i="0">
                <a:solidFill>
                  <a:srgbClr val="0E1F53"/>
                </a:solidFill>
                <a:latin typeface="Roboto"/>
              </a:rPr>
              <a:t>7:00 Uhr</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ScanSearch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Recherche zu</a:t>
            </a:r>
          </a:p>
          <a:p>
            <a:pPr algn="ctr">
              <a:spcAft>
                <a:spcPts val="0"/>
              </a:spcAft>
              <a:buNone/>
            </a:pPr>
            <a:r>
              <a:rPr sz="1150" b="1" i="0">
                <a:solidFill>
                  <a:srgbClr val="0E1F53"/>
                </a:solidFill>
                <a:latin typeface="Roboto"/>
              </a:rPr>
              <a:t>Stichworten</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ListChecks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Nur Neues</a:t>
            </a:r>
          </a:p>
          <a:p>
            <a:pPr algn="ctr">
              <a:spcAft>
                <a:spcPts val="0"/>
              </a:spcAft>
              <a:buNone/>
            </a:pPr>
            <a:r>
              <a:rPr sz="1150" b="1" i="0">
                <a:solidFill>
                  <a:srgbClr val="0E1F53"/>
                </a:solidFill>
                <a:latin typeface="Roboto"/>
              </a:rPr>
              <a:t>filtern</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ail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Briefing-Mail</a:t>
            </a:r>
          </a:p>
          <a:p>
            <a:pPr algn="ctr">
              <a:spcAft>
                <a:spcPts val="0"/>
              </a:spcAft>
              <a:buNone/>
            </a:pPr>
            <a:r>
              <a:rPr sz="1150" b="1" i="0">
                <a:solidFill>
                  <a:srgbClr val="0E1F53"/>
                </a:solidFill>
                <a:latin typeface="Roboto"/>
              </a:rPr>
              <a:t>ans Team</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Umsetzung als geplante Aufgabe im KI-Assistenten oder als n8n-Workflow. Details in Teil 5.</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480059"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pdf</a:t>
            </a:r>
          </a:p>
        </p:txBody>
      </p:sp>
      <p:sp>
        <p:nvSpPr>
          <p:cNvPr id="42" name="Rounded Rectangle 41"/>
          <p:cNvSpPr/>
          <p:nvPr/>
        </p:nvSpPr>
        <p:spPr>
          <a:xfrm>
            <a:off x="6067043" y="5376672"/>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doc-coauthoring</a:t>
            </a:r>
          </a:p>
        </p:txBody>
      </p:sp>
      <p:sp>
        <p:nvSpPr>
          <p:cNvPr id="43" name="TextBox 42"/>
          <p:cNvSpPr txBox="1"/>
          <p:nvPr/>
        </p:nvSpPr>
        <p:spPr>
          <a:xfrm>
            <a:off x="7571231" y="5321808"/>
            <a:ext cx="359359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Studien und PDFs auswerten, Challenge-Papier gemeinsam schreiben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Challenge-Scout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Challenge-Scout · Hochschule Rhein-Waal</a:t>
            </a:r>
          </a:p>
        </p:txBody>
      </p:sp>
      <p:sp>
        <p:nvSpPr>
          <p:cNvPr id="17" name="Rounded Rectangle 16"/>
          <p:cNvSpPr/>
          <p:nvPr/>
        </p:nvSpPr>
        <p:spPr>
          <a:xfrm>
            <a:off x="969264" y="2487168"/>
            <a:ext cx="7242047" cy="420283"/>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47131"/>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Challenge-Scout, Innovationsberaterin mit Erfahrung im Hochschulmarketing und in Design Thinking.</a:t>
            </a:r>
          </a:p>
        </p:txBody>
      </p:sp>
      <p:sp>
        <p:nvSpPr>
          <p:cNvPr id="20" name="Rounded Rectangle 19"/>
          <p:cNvSpPr/>
          <p:nvPr/>
        </p:nvSpPr>
        <p:spPr>
          <a:xfrm>
            <a:off x="969264" y="2971459"/>
            <a:ext cx="7242047" cy="760513"/>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26323"/>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08035"/>
            <a:ext cx="6080759" cy="687361"/>
          </a:xfrm>
          <a:prstGeom prst="rect">
            <a:avLst/>
          </a:prstGeom>
          <a:noFill/>
        </p:spPr>
        <p:txBody>
          <a:bodyPr wrap="square" lIns="0" rIns="0" tIns="0" bIns="0" anchor="ctr"/>
          <a:lstStyle/>
          <a:p>
            <a:pPr algn="l">
              <a:spcAft>
                <a:spcPts val="0"/>
              </a:spcAft>
              <a:buNone/>
            </a:pPr>
            <a:r>
              <a:rPr sz="1150" b="0" i="0">
                <a:solidFill>
                  <a:srgbClr val="1B2440"/>
                </a:solidFill>
                <a:latin typeface="Roboto"/>
              </a:rPr>
              <a:t>Die Hochschule Rhein-Waal (Kleve und Kamp-Lintfort, gegr. 2009) hat weniger Studierende als vor einigen Jahren, der Campus wirkt oft leer. 2026 fehlt in NRW durch G9 fast ein Abiturjahrgang.</a:t>
            </a:r>
          </a:p>
        </p:txBody>
      </p:sp>
      <p:sp>
        <p:nvSpPr>
          <p:cNvPr id="23" name="Rounded Rectangle 22"/>
          <p:cNvSpPr/>
          <p:nvPr/>
        </p:nvSpPr>
        <p:spPr>
          <a:xfrm>
            <a:off x="969264" y="3795980"/>
            <a:ext cx="7242047" cy="50033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850844"/>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832556"/>
            <a:ext cx="6080759" cy="427185"/>
          </a:xfrm>
          <a:prstGeom prst="rect">
            <a:avLst/>
          </a:prstGeom>
          <a:noFill/>
        </p:spPr>
        <p:txBody>
          <a:bodyPr wrap="square" lIns="0" rIns="0" tIns="0" bIns="0" anchor="ctr"/>
          <a:lstStyle/>
          <a:p>
            <a:pPr algn="l">
              <a:spcAft>
                <a:spcPts val="0"/>
              </a:spcAft>
              <a:buNone/>
            </a:pPr>
            <a:r>
              <a:rPr sz="1150" b="0" i="0">
                <a:solidFill>
                  <a:srgbClr val="1B2440"/>
                </a:solidFill>
                <a:latin typeface="Roboto"/>
              </a:rPr>
              <a:t>Erstelle ein Verständnis-Dossier zu Studierendenzahlen, Wettbewerb und Trends sowie drei Vorschläge für die Design Challenge.</a:t>
            </a:r>
          </a:p>
        </p:txBody>
      </p:sp>
      <p:sp>
        <p:nvSpPr>
          <p:cNvPr id="26" name="Rounded Rectangle 25"/>
          <p:cNvSpPr/>
          <p:nvPr/>
        </p:nvSpPr>
        <p:spPr>
          <a:xfrm>
            <a:off x="969264" y="4360326"/>
            <a:ext cx="7242047" cy="636429"/>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415190"/>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396902"/>
            <a:ext cx="6080759" cy="563277"/>
          </a:xfrm>
          <a:prstGeom prst="rect">
            <a:avLst/>
          </a:prstGeom>
          <a:noFill/>
        </p:spPr>
        <p:txBody>
          <a:bodyPr wrap="square" lIns="0" rIns="0" tIns="0" bIns="0" anchor="ctr"/>
          <a:lstStyle/>
          <a:p>
            <a:pPr algn="l">
              <a:spcAft>
                <a:spcPts val="0"/>
              </a:spcAft>
              <a:buNone/>
            </a:pPr>
            <a:r>
              <a:rPr sz="1150" b="0" i="0">
                <a:solidFill>
                  <a:srgbClr val="1B2440"/>
                </a:solidFill>
                <a:latin typeface="Roboto"/>
              </a:rPr>
              <a:t>1. Zahlen der HSRW und NRW seit 2018 recherchieren. 2. Nachbarhochschulen in NRW und NL analysieren. 3. Fakten von Annahmen trennen. 4. Challenges formulieren.</a:t>
            </a:r>
          </a:p>
        </p:txBody>
      </p:sp>
      <p:sp>
        <p:nvSpPr>
          <p:cNvPr id="29" name="Rounded Rectangle 28"/>
          <p:cNvSpPr/>
          <p:nvPr/>
        </p:nvSpPr>
        <p:spPr>
          <a:xfrm>
            <a:off x="969264" y="5060763"/>
            <a:ext cx="7242047" cy="400270"/>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115627"/>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97339"/>
            <a:ext cx="6080759" cy="327118"/>
          </a:xfrm>
          <a:prstGeom prst="rect">
            <a:avLst/>
          </a:prstGeom>
          <a:noFill/>
        </p:spPr>
        <p:txBody>
          <a:bodyPr wrap="square" lIns="0" rIns="0" tIns="0" bIns="0" anchor="ctr"/>
          <a:lstStyle/>
          <a:p>
            <a:pPr algn="l">
              <a:spcAft>
                <a:spcPts val="0"/>
              </a:spcAft>
              <a:buNone/>
            </a:pPr>
            <a:r>
              <a:rPr sz="1150" b="0" i="0">
                <a:solidFill>
                  <a:srgbClr val="1B2440"/>
                </a:solidFill>
                <a:latin typeface="Roboto"/>
              </a:rPr>
              <a:t>Max. 2 Seiten: Fakten mit Quelle, Annahmen-Liste, Stakeholder-Tabelle, 3 „Wie können wir …?“-Fragen.</a:t>
            </a:r>
          </a:p>
        </p:txBody>
      </p:sp>
      <p:sp>
        <p:nvSpPr>
          <p:cNvPr id="32" name="Rounded Rectangle 31"/>
          <p:cNvSpPr/>
          <p:nvPr/>
        </p:nvSpPr>
        <p:spPr>
          <a:xfrm>
            <a:off x="969264" y="5525041"/>
            <a:ext cx="7242047" cy="400270"/>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79905"/>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61617"/>
            <a:ext cx="6080759" cy="327118"/>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belastbare Quellen: HSRW, IT.NRW, Destatis, seriöse Presse. Jede Zahl mit Datum. Keine Lösungen.</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Search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Challenge-Scout</a:t>
            </a:r>
          </a:p>
          <a:p>
            <a:pPr algn="l">
              <a:spcAft>
                <a:spcPts val="0"/>
              </a:spcAft>
              <a:buNone/>
            </a:pPr>
            <a:r>
              <a:rPr sz="1100" b="0" i="0">
                <a:solidFill>
                  <a:srgbClr val="5A6684"/>
                </a:solidFill>
                <a:latin typeface="Roboto"/>
              </a:rPr>
              <a:t>Phase 1</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Deep Research</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Websuche</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design-challenge</a:t>
            </a:r>
          </a:p>
        </p:txBody>
      </p:sp>
      <p:sp>
        <p:nvSpPr>
          <p:cNvPr id="49" name="Rounded Rectangle 48"/>
          <p:cNvSpPr/>
          <p:nvPr/>
        </p:nvSpPr>
        <p:spPr>
          <a:xfrm>
            <a:off x="8842248" y="4855464"/>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LuCheck_p.png"/>
          <p:cNvPicPr>
            <a:picLocks noChangeAspect="1"/>
          </p:cNvPicPr>
          <p:nvPr/>
        </p:nvPicPr>
        <p:blipFill>
          <a:blip r:embed="rId4"/>
          <a:stretch>
            <a:fillRect/>
          </a:stretch>
        </p:blipFill>
        <p:spPr>
          <a:xfrm>
            <a:off x="8933688" y="4928616"/>
            <a:ext cx="237744" cy="237744"/>
          </a:xfrm>
          <a:prstGeom prst="rect">
            <a:avLst/>
          </a:prstGeom>
        </p:spPr>
      </p:pic>
      <p:sp>
        <p:nvSpPr>
          <p:cNvPr id="51" name="TextBox 50"/>
          <p:cNvSpPr txBox="1"/>
          <p:nvPr/>
        </p:nvSpPr>
        <p:spPr>
          <a:xfrm>
            <a:off x="9253728" y="4855464"/>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Markt-Radar (Mo 7:00)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1: Dossier und Design Challenge</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10506456" cy="10515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61288" y="2011680"/>
            <a:ext cx="9866376" cy="1051560"/>
          </a:xfrm>
          <a:prstGeom prst="rect">
            <a:avLst/>
          </a:prstGeom>
          <a:noFill/>
        </p:spPr>
        <p:txBody>
          <a:bodyPr wrap="square" lIns="0" rIns="0" tIns="0" bIns="0" anchor="ctr"/>
          <a:lstStyle/>
          <a:p>
            <a:pPr algn="l">
              <a:spcAft>
                <a:spcPts val="200"/>
              </a:spcAft>
              <a:buNone/>
            </a:pPr>
            <a:r>
              <a:rPr sz="1250" b="1" i="0">
                <a:solidFill>
                  <a:srgbClr val="9FD0FF"/>
                </a:solidFill>
                <a:latin typeface="Roboto"/>
              </a:rPr>
              <a:t>Design Challenge</a:t>
            </a:r>
          </a:p>
          <a:p>
            <a:pPr algn="l">
              <a:spcAft>
                <a:spcPts val="400"/>
              </a:spcAft>
              <a:buNone/>
            </a:pPr>
            <a:r>
              <a:rPr sz="1700" b="1" i="0">
                <a:solidFill>
                  <a:srgbClr val="FFFFFF"/>
                </a:solidFill>
                <a:latin typeface="Roboto"/>
              </a:rPr>
              <a:t>Wie können wir die HSRW zu einem Ort machen, für den sich junge Menschen bewusst entscheiden und an den sie gern kommen?</a:t>
            </a:r>
          </a:p>
        </p:txBody>
      </p:sp>
      <p:sp>
        <p:nvSpPr>
          <p:cNvPr id="13" name="Rounded Rectangle 12"/>
          <p:cNvSpPr/>
          <p:nvPr/>
        </p:nvSpPr>
        <p:spPr>
          <a:xfrm>
            <a:off x="841248"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42900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Check_w.png"/>
          <p:cNvPicPr>
            <a:picLocks noChangeAspect="1"/>
          </p:cNvPicPr>
          <p:nvPr/>
        </p:nvPicPr>
        <p:blipFill>
          <a:blip r:embed="rId3"/>
          <a:stretch>
            <a:fillRect/>
          </a:stretch>
        </p:blipFill>
        <p:spPr>
          <a:xfrm>
            <a:off x="1133856" y="3538728"/>
            <a:ext cx="237744" cy="237744"/>
          </a:xfrm>
          <a:prstGeom prst="rect">
            <a:avLst/>
          </a:prstGeom>
        </p:spPr>
      </p:pic>
      <p:sp>
        <p:nvSpPr>
          <p:cNvPr id="16" name="TextBox 15"/>
          <p:cNvSpPr txBox="1"/>
          <p:nvPr/>
        </p:nvSpPr>
        <p:spPr>
          <a:xfrm>
            <a:off x="1591056" y="3429000"/>
            <a:ext cx="2404872" cy="457200"/>
          </a:xfrm>
          <a:prstGeom prst="rect">
            <a:avLst/>
          </a:prstGeom>
          <a:noFill/>
        </p:spPr>
        <p:txBody>
          <a:bodyPr wrap="square" lIns="0" rIns="0" tIns="0" bIns="0" anchor="ctr"/>
          <a:lstStyle/>
          <a:p>
            <a:pPr algn="l">
              <a:spcAft>
                <a:spcPts val="400"/>
              </a:spcAft>
              <a:buNone/>
            </a:pPr>
            <a:r>
              <a:rPr sz="1450" b="1" i="0">
                <a:solidFill>
                  <a:srgbClr val="1E8E4E"/>
                </a:solidFill>
                <a:latin typeface="Roboto"/>
              </a:rPr>
              <a:t>Fakten (mit Quelle)</a:t>
            </a:r>
          </a:p>
        </p:txBody>
      </p:sp>
      <p:sp>
        <p:nvSpPr>
          <p:cNvPr id="17" name="TextBox 16"/>
          <p:cNvSpPr txBox="1"/>
          <p:nvPr/>
        </p:nvSpPr>
        <p:spPr>
          <a:xfrm>
            <a:off x="1024128" y="4023360"/>
            <a:ext cx="2953512" cy="1920240"/>
          </a:xfrm>
          <a:prstGeom prst="rect">
            <a:avLst/>
          </a:prstGeom>
          <a:noFill/>
        </p:spPr>
        <p:txBody>
          <a:bodyPr wrap="square" lIns="0" rIns="0" tIns="0" bIns="0" anchor="t"/>
          <a:lstStyle/>
          <a:p>
            <a:pPr algn="l" marL="164592" indent="-164592">
              <a:spcAft>
                <a:spcPts val="400"/>
              </a:spcAft>
              <a:buClr>
                <a:srgbClr val="1E8E4E"/>
              </a:buClr>
              <a:buFont typeface="Arial"/>
              <a:buChar char="•"/>
            </a:pPr>
            <a:r>
              <a:rPr sz="1250" b="0" i="0">
                <a:solidFill>
                  <a:srgbClr val="0E1F53"/>
                </a:solidFill>
                <a:latin typeface="Roboto"/>
              </a:rPr>
              <a:t>6.242 Studierende WS 2025/26, früher bis 7.400</a:t>
            </a:r>
          </a:p>
          <a:p>
            <a:pPr algn="l" marL="164592" indent="-164592">
              <a:spcAft>
                <a:spcPts val="400"/>
              </a:spcAft>
              <a:buClr>
                <a:srgbClr val="1E8E4E"/>
              </a:buClr>
              <a:buFont typeface="Arial"/>
              <a:buChar char="•"/>
            </a:pPr>
            <a:r>
              <a:rPr sz="1250" b="0" i="0">
                <a:solidFill>
                  <a:srgbClr val="0E1F53"/>
                </a:solidFill>
                <a:latin typeface="Roboto"/>
              </a:rPr>
              <a:t>Erstsemester +20 % (2025/26)</a:t>
            </a:r>
          </a:p>
          <a:p>
            <a:pPr algn="l" marL="164592" indent="-164592">
              <a:spcAft>
                <a:spcPts val="400"/>
              </a:spcAft>
              <a:buClr>
                <a:srgbClr val="1E8E4E"/>
              </a:buClr>
              <a:buFont typeface="Arial"/>
              <a:buChar char="•"/>
            </a:pPr>
            <a:r>
              <a:rPr sz="1250" b="0" i="0">
                <a:solidFill>
                  <a:srgbClr val="0E1F53"/>
                </a:solidFill>
                <a:latin typeface="Roboto"/>
              </a:rPr>
              <a:t>G9: 2026 fehlt fast ein Abiturjahrgang</a:t>
            </a:r>
          </a:p>
          <a:p>
            <a:pPr algn="l" marL="164592" indent="-164592">
              <a:spcAft>
                <a:spcPts val="400"/>
              </a:spcAft>
              <a:buClr>
                <a:srgbClr val="1E8E4E"/>
              </a:buClr>
              <a:buFont typeface="Arial"/>
              <a:buChar char="•"/>
            </a:pPr>
            <a:r>
              <a:rPr sz="1250" b="0" i="0">
                <a:solidFill>
                  <a:srgbClr val="0E1F53"/>
                </a:solidFill>
                <a:latin typeface="Roboto"/>
              </a:rPr>
              <a:t>Internationale Absolvent:innen: nur 46 % bleiben in NRW</a:t>
            </a:r>
          </a:p>
        </p:txBody>
      </p:sp>
      <p:sp>
        <p:nvSpPr>
          <p:cNvPr id="18" name="Rounded Rectangle 17"/>
          <p:cNvSpPr/>
          <p:nvPr/>
        </p:nvSpPr>
        <p:spPr>
          <a:xfrm>
            <a:off x="4434840"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617720" y="3429000"/>
            <a:ext cx="457200" cy="45720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Scale_w.png"/>
          <p:cNvPicPr>
            <a:picLocks noChangeAspect="1"/>
          </p:cNvPicPr>
          <p:nvPr/>
        </p:nvPicPr>
        <p:blipFill>
          <a:blip r:embed="rId4"/>
          <a:stretch>
            <a:fillRect/>
          </a:stretch>
        </p:blipFill>
        <p:spPr>
          <a:xfrm>
            <a:off x="4727448" y="3538728"/>
            <a:ext cx="237744" cy="237744"/>
          </a:xfrm>
          <a:prstGeom prst="rect">
            <a:avLst/>
          </a:prstGeom>
        </p:spPr>
      </p:pic>
      <p:sp>
        <p:nvSpPr>
          <p:cNvPr id="21" name="TextBox 20"/>
          <p:cNvSpPr txBox="1"/>
          <p:nvPr/>
        </p:nvSpPr>
        <p:spPr>
          <a:xfrm>
            <a:off x="5184648" y="3429000"/>
            <a:ext cx="2404872" cy="457200"/>
          </a:xfrm>
          <a:prstGeom prst="rect">
            <a:avLst/>
          </a:prstGeom>
          <a:noFill/>
        </p:spPr>
        <p:txBody>
          <a:bodyPr wrap="square" lIns="0" rIns="0" tIns="0" bIns="0" anchor="ctr"/>
          <a:lstStyle/>
          <a:p>
            <a:pPr algn="l">
              <a:spcAft>
                <a:spcPts val="400"/>
              </a:spcAft>
              <a:buNone/>
            </a:pPr>
            <a:r>
              <a:rPr sz="1450" b="1" i="0">
                <a:solidFill>
                  <a:srgbClr val="D9730D"/>
                </a:solidFill>
                <a:latin typeface="Roboto"/>
              </a:rPr>
              <a:t>Annahmen (zu prüfen)</a:t>
            </a:r>
          </a:p>
        </p:txBody>
      </p:sp>
      <p:sp>
        <p:nvSpPr>
          <p:cNvPr id="22" name="TextBox 21"/>
          <p:cNvSpPr txBox="1"/>
          <p:nvPr/>
        </p:nvSpPr>
        <p:spPr>
          <a:xfrm>
            <a:off x="4617720" y="4023360"/>
            <a:ext cx="2953512" cy="1920240"/>
          </a:xfrm>
          <a:prstGeom prst="rect">
            <a:avLst/>
          </a:prstGeom>
          <a:noFill/>
        </p:spPr>
        <p:txBody>
          <a:bodyPr wrap="square" lIns="0" rIns="0" tIns="0" bIns="0" anchor="t"/>
          <a:lstStyle/>
          <a:p>
            <a:pPr algn="l" marL="164592" indent="-164592">
              <a:spcAft>
                <a:spcPts val="400"/>
              </a:spcAft>
              <a:buClr>
                <a:srgbClr val="D9730D"/>
              </a:buClr>
              <a:buFont typeface="Arial"/>
              <a:buChar char="•"/>
            </a:pPr>
            <a:r>
              <a:rPr sz="1250" b="0" i="0">
                <a:solidFill>
                  <a:srgbClr val="0E1F53"/>
                </a:solidFill>
                <a:latin typeface="Roboto"/>
              </a:rPr>
              <a:t>Studierende kommen nur zu Pflichtterminen</a:t>
            </a:r>
          </a:p>
          <a:p>
            <a:pPr algn="l" marL="164592" indent="-164592">
              <a:spcAft>
                <a:spcPts val="400"/>
              </a:spcAft>
              <a:buClr>
                <a:srgbClr val="D9730D"/>
              </a:buClr>
              <a:buFont typeface="Arial"/>
              <a:buChar char="•"/>
            </a:pPr>
            <a:r>
              <a:rPr sz="1250" b="0" i="0">
                <a:solidFill>
                  <a:srgbClr val="0E1F53"/>
                </a:solidFill>
                <a:latin typeface="Roboto"/>
              </a:rPr>
              <a:t>Aufzeichnungen ersetzen Präsenz</a:t>
            </a:r>
          </a:p>
          <a:p>
            <a:pPr algn="l" marL="164592" indent="-164592">
              <a:spcAft>
                <a:spcPts val="400"/>
              </a:spcAft>
              <a:buClr>
                <a:srgbClr val="D9730D"/>
              </a:buClr>
              <a:buFont typeface="Arial"/>
              <a:buChar char="•"/>
            </a:pPr>
            <a:r>
              <a:rPr sz="1250" b="0" i="0">
                <a:solidFill>
                  <a:srgbClr val="0E1F53"/>
                </a:solidFill>
                <a:latin typeface="Roboto"/>
              </a:rPr>
              <a:t>Wenig Kontakt lokal–international</a:t>
            </a:r>
          </a:p>
          <a:p>
            <a:pPr algn="l" marL="164592" indent="-164592">
              <a:spcAft>
                <a:spcPts val="400"/>
              </a:spcAft>
              <a:buClr>
                <a:srgbClr val="D9730D"/>
              </a:buClr>
              <a:buFont typeface="Arial"/>
              <a:buChar char="•"/>
            </a:pPr>
            <a:r>
              <a:rPr sz="1250" b="0" i="0">
                <a:solidFill>
                  <a:srgbClr val="0E1F53"/>
                </a:solidFill>
                <a:latin typeface="Roboto"/>
              </a:rPr>
              <a:t>Region ist als Karriereort unbekannt</a:t>
            </a:r>
          </a:p>
        </p:txBody>
      </p:sp>
      <p:sp>
        <p:nvSpPr>
          <p:cNvPr id="23" name="Rounded Rectangle 22"/>
          <p:cNvSpPr/>
          <p:nvPr/>
        </p:nvSpPr>
        <p:spPr>
          <a:xfrm>
            <a:off x="8028432"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11312" y="3429000"/>
            <a:ext cx="457200" cy="45720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Network_w.png"/>
          <p:cNvPicPr>
            <a:picLocks noChangeAspect="1"/>
          </p:cNvPicPr>
          <p:nvPr/>
        </p:nvPicPr>
        <p:blipFill>
          <a:blip r:embed="rId5"/>
          <a:stretch>
            <a:fillRect/>
          </a:stretch>
        </p:blipFill>
        <p:spPr>
          <a:xfrm>
            <a:off x="8321040" y="3538728"/>
            <a:ext cx="237744" cy="237744"/>
          </a:xfrm>
          <a:prstGeom prst="rect">
            <a:avLst/>
          </a:prstGeom>
        </p:spPr>
      </p:pic>
      <p:sp>
        <p:nvSpPr>
          <p:cNvPr id="26" name="TextBox 25"/>
          <p:cNvSpPr txBox="1"/>
          <p:nvPr/>
        </p:nvSpPr>
        <p:spPr>
          <a:xfrm>
            <a:off x="8778240" y="3429000"/>
            <a:ext cx="2404872" cy="457200"/>
          </a:xfrm>
          <a:prstGeom prst="rect">
            <a:avLst/>
          </a:prstGeom>
          <a:noFill/>
        </p:spPr>
        <p:txBody>
          <a:bodyPr wrap="square" lIns="0" rIns="0" tIns="0" bIns="0" anchor="ctr"/>
          <a:lstStyle/>
          <a:p>
            <a:pPr algn="l">
              <a:spcAft>
                <a:spcPts val="400"/>
              </a:spcAft>
              <a:buNone/>
            </a:pPr>
            <a:r>
              <a:rPr sz="1450" b="1" i="0">
                <a:solidFill>
                  <a:srgbClr val="1F6FD1"/>
                </a:solidFill>
                <a:latin typeface="Roboto"/>
              </a:rPr>
              <a:t>Stakeholder</a:t>
            </a:r>
          </a:p>
        </p:txBody>
      </p:sp>
      <p:sp>
        <p:nvSpPr>
          <p:cNvPr id="27" name="TextBox 26"/>
          <p:cNvSpPr txBox="1"/>
          <p:nvPr/>
        </p:nvSpPr>
        <p:spPr>
          <a:xfrm>
            <a:off x="8211312" y="4023360"/>
            <a:ext cx="2953512" cy="1920240"/>
          </a:xfrm>
          <a:prstGeom prst="rect">
            <a:avLst/>
          </a:prstGeom>
          <a:noFill/>
        </p:spPr>
        <p:txBody>
          <a:bodyPr wrap="square" lIns="0" rIns="0" tIns="0" bIns="0" anchor="t"/>
          <a:lstStyle/>
          <a:p>
            <a:pPr algn="l" marL="164592" indent="-164592">
              <a:spcAft>
                <a:spcPts val="400"/>
              </a:spcAft>
              <a:buClr>
                <a:srgbClr val="1F6FD1"/>
              </a:buClr>
              <a:buFont typeface="Arial"/>
              <a:buChar char="•"/>
            </a:pPr>
            <a:r>
              <a:rPr sz="1250" b="0" i="0">
                <a:solidFill>
                  <a:srgbClr val="0E1F53"/>
                </a:solidFill>
                <a:latin typeface="Roboto"/>
              </a:rPr>
              <a:t>Studieninteressierte &amp; Schulen</a:t>
            </a:r>
          </a:p>
          <a:p>
            <a:pPr algn="l" marL="164592" indent="-164592">
              <a:spcAft>
                <a:spcPts val="400"/>
              </a:spcAft>
              <a:buClr>
                <a:srgbClr val="1F6FD1"/>
              </a:buClr>
              <a:buFont typeface="Arial"/>
              <a:buChar char="•"/>
            </a:pPr>
            <a:r>
              <a:rPr sz="1250" b="0" i="0">
                <a:solidFill>
                  <a:srgbClr val="0E1F53"/>
                </a:solidFill>
                <a:latin typeface="Roboto"/>
              </a:rPr>
              <a:t>Studierende: lokal, pendelnd, international</a:t>
            </a:r>
          </a:p>
          <a:p>
            <a:pPr algn="l" marL="164592" indent="-164592">
              <a:spcAft>
                <a:spcPts val="400"/>
              </a:spcAft>
              <a:buClr>
                <a:srgbClr val="1F6FD1"/>
              </a:buClr>
              <a:buFont typeface="Arial"/>
              <a:buChar char="•"/>
            </a:pPr>
            <a:r>
              <a:rPr sz="1250" b="0" i="0">
                <a:solidFill>
                  <a:srgbClr val="0E1F53"/>
                </a:solidFill>
                <a:latin typeface="Roboto"/>
              </a:rPr>
              <a:t>Lehrende &amp; Verwaltung</a:t>
            </a:r>
          </a:p>
          <a:p>
            <a:pPr algn="l" marL="164592" indent="-164592">
              <a:spcAft>
                <a:spcPts val="400"/>
              </a:spcAft>
              <a:buClr>
                <a:srgbClr val="1F6FD1"/>
              </a:buClr>
              <a:buFont typeface="Arial"/>
              <a:buChar char="•"/>
            </a:pPr>
            <a:r>
              <a:rPr sz="1250" b="0" i="0">
                <a:solidFill>
                  <a:srgbClr val="0E1F53"/>
                </a:solidFill>
                <a:latin typeface="Roboto"/>
              </a:rPr>
              <a:t>Unternehmen &amp; Kommunen der Region</a:t>
            </a:r>
          </a:p>
        </p:txBody>
      </p:sp>
      <p:sp>
        <p:nvSpPr>
          <p:cNvPr id="28" name="TextBox 27"/>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Fakten: HSRW-Pressemitteilung WS 2025/26; HSRW, Zahlen der Hochschule 2021; Annahmen aus Gesprächen mit der Hochschule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15 MIN.</a:t>
            </a:r>
          </a:p>
        </p:txBody>
      </p:sp>
      <p:sp>
        <p:nvSpPr>
          <p:cNvPr id="4" name="Oval 3"/>
          <p:cNvSpPr/>
          <p:nvPr/>
        </p:nvSpPr>
        <p:spPr>
          <a:xfrm>
            <a:off x="92445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Verstehen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Formulieren Sie für Ihr Unternehmen eine Design Challenge als „Wie können wir …?“-Frage.</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Schreiben Sie einen Rechercheauftrag für Deep Research: Ziel, Umfang, Quellen, Format.</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Starten Sie die Recherche. Sie läuft im Hintergrund, während wir weitermachen.</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15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Design Challenge als „Wie können wir …?“-Frage, Stakeholder-Landkarte, Fakten- und Annahmenliste</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„Challenge-Scout“ aus der Prompt-Bibliothek und füllen Sie die [Klammern] aus.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2 · Beobachten</a:t>
            </a:r>
          </a:p>
        </p:txBody>
      </p:sp>
      <p:sp>
        <p:nvSpPr>
          <p:cNvPr id="3" name="Oval 2"/>
          <p:cNvSpPr/>
          <p:nvPr/>
        </p:nvSpPr>
        <p:spPr>
          <a:xfrm>
            <a:off x="92445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2: Beobachten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Was erleben die Menschen wirklich, und was brauchen sie?</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Zielgruppen in ihrem Alltag erleben und befragen. Annahmen aus Phase 1 prüfen.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Interviews, Beobachtung, Selbstversuch, Online-Stimmen</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Interviewnotizen, Zitate, Beobachtungen, Fotos, geprüfte Annahmen</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Interview-Coach</a:t>
            </a:r>
            <a:r>
              <a:rPr sz="1500" b="0" i="0">
                <a:solidFill>
                  <a:srgbClr val="0E1F53"/>
                </a:solidFill>
                <a:latin typeface="Roboto"/>
              </a:rPr>
              <a:t> – bereitet Interviews vor und wertet Transkripte aus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Wen müssen wir sprechen: typische und extreme Nutzer:innen?</a:t>
            </a:r>
          </a:p>
          <a:p>
            <a:pPr algn="l" marL="164592" indent="-164592">
              <a:spcAft>
                <a:spcPts val="700"/>
              </a:spcAft>
              <a:buClr>
                <a:srgbClr val="FB2762"/>
              </a:buClr>
              <a:buFont typeface="Arial"/>
              <a:buChar char="?"/>
            </a:pPr>
            <a:r>
              <a:rPr sz="1350" b="0" i="0">
                <a:solidFill>
                  <a:srgbClr val="FFFFFF"/>
                </a:solidFill>
                <a:latin typeface="Roboto"/>
              </a:rPr>
              <a:t>Was tun die Menschen tatsächlich, nicht nur was sie sagen?</a:t>
            </a:r>
          </a:p>
          <a:p>
            <a:pPr algn="l" marL="164592" indent="-164592">
              <a:spcAft>
                <a:spcPts val="700"/>
              </a:spcAft>
              <a:buClr>
                <a:srgbClr val="FB2762"/>
              </a:buClr>
              <a:buFont typeface="Arial"/>
              <a:buChar char="?"/>
            </a:pPr>
            <a:r>
              <a:rPr sz="1350" b="0" i="0">
                <a:solidFill>
                  <a:srgbClr val="FFFFFF"/>
                </a:solidFill>
                <a:latin typeface="Roboto"/>
              </a:rPr>
              <a:t>Wo erleben sie Frust, Umwege, Notlösungen?</a:t>
            </a:r>
          </a:p>
          <a:p>
            <a:pPr algn="l" marL="164592" indent="-164592">
              <a:spcAft>
                <a:spcPts val="700"/>
              </a:spcAft>
              <a:buClr>
                <a:srgbClr val="FB2762"/>
              </a:buClr>
              <a:buFont typeface="Arial"/>
              <a:buChar char="?"/>
            </a:pPr>
            <a:r>
              <a:rPr sz="1350" b="0" i="0">
                <a:solidFill>
                  <a:srgbClr val="FFFFFF"/>
                </a:solidFill>
                <a:latin typeface="Roboto"/>
              </a:rPr>
              <a:t>Welche Gefühle und Motive stecken dahinter?</a:t>
            </a:r>
          </a:p>
          <a:p>
            <a:pPr algn="l" marL="164592" indent="-164592">
              <a:spcAft>
                <a:spcPts val="700"/>
              </a:spcAft>
              <a:buClr>
                <a:srgbClr val="FB2762"/>
              </a:buClr>
              <a:buFont typeface="Arial"/>
              <a:buChar char="?"/>
            </a:pPr>
            <a:r>
              <a:rPr sz="1350" b="0" i="0">
                <a:solidFill>
                  <a:srgbClr val="FFFFFF"/>
                </a:solidFill>
                <a:latin typeface="Roboto"/>
              </a:rPr>
              <a:t>Welche Annahmen aus Phase 1 bestätigen sich, welche nicht?</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Mic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Leitfaden-Interview</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30–45 Minuten, offene Fragen, viel Nachfragen: „Erzählen Sie mir vom letzten Mal, als …“</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Eye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Beobachtung vor Ort</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Menschen in ihrer echten Situation begleiten. Was tun sie, wo stocken sie?</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UserRound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Selbstversuch</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Den Weg der Kundschaft selbst gehen: bestellen, anrufen, warten, reklamieren.</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MessagesSquare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Online-Stimmen</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Bewertungen, Foren und Social Media systematisch auswerten.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Bot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Interview-Coach</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Leitfaden erstellen und Fragen prüfen</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„Prüfe meine Fragen: Welche sind suggestiv oder geschlossen? Formuliere sie offen um.“</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Mic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Transkription</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Teams, Zoom oder Diktier-Apps schreiben mit, nur mit Einwilligung</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„Fasse das Transkript zusammen: 5 Kernzitate, 3 Überraschungen.“</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Globe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Online-Stimmen</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Öffentliche Bewertungen und Foren nach Themen ordnen</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„Sammle öffentliche Bewertungen zu [Angebot] und ordne Lob und Kritik nach Themen.“</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Users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Interview-Training</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KI spielt die Gesprächspartnerin zum Üben, ersetzt aber nie echte Gespräche</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„Spiele eine skeptische Kundin, damit ich mein Interview üben kann.“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Interview-Coach</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Interview-Coach</a:t>
            </a:r>
          </a:p>
        </p:txBody>
      </p:sp>
      <p:sp>
        <p:nvSpPr>
          <p:cNvPr id="17" name="Rounded Rectangle 16"/>
          <p:cNvSpPr/>
          <p:nvPr/>
        </p:nvSpPr>
        <p:spPr>
          <a:xfrm>
            <a:off x="969264" y="2487168"/>
            <a:ext cx="7470648" cy="426829"/>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353677"/>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Interview-Coach mit Erfahrung in qualitativer Nutzerforschung und Design Thinking.</a:t>
            </a:r>
          </a:p>
        </p:txBody>
      </p:sp>
      <p:sp>
        <p:nvSpPr>
          <p:cNvPr id="20" name="Rounded Rectangle 19"/>
          <p:cNvSpPr/>
          <p:nvPr/>
        </p:nvSpPr>
        <p:spPr>
          <a:xfrm>
            <a:off x="969264" y="2978005"/>
            <a:ext cx="7470648" cy="534660"/>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32869"/>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14581"/>
            <a:ext cx="6309360" cy="461508"/>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2 „Beobachten“. Unsere Design Challenge: [Challenge]. Zielgruppen: [Liste]. Offene Annahmen aus Phase 1: [Liste].</a:t>
            </a:r>
          </a:p>
        </p:txBody>
      </p:sp>
      <p:sp>
        <p:nvSpPr>
          <p:cNvPr id="23" name="Rounded Rectangle 22"/>
          <p:cNvSpPr/>
          <p:nvPr/>
        </p:nvSpPr>
        <p:spPr>
          <a:xfrm>
            <a:off x="969264" y="3576674"/>
            <a:ext cx="7470648" cy="426829"/>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631538"/>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613250"/>
            <a:ext cx="6309360" cy="353677"/>
          </a:xfrm>
          <a:prstGeom prst="rect">
            <a:avLst/>
          </a:prstGeom>
          <a:noFill/>
        </p:spPr>
        <p:txBody>
          <a:bodyPr wrap="square" lIns="0" rIns="0" tIns="0" bIns="0" anchor="ctr"/>
          <a:lstStyle/>
          <a:p>
            <a:pPr algn="l">
              <a:spcAft>
                <a:spcPts val="0"/>
              </a:spcAft>
              <a:buNone/>
            </a:pPr>
            <a:r>
              <a:rPr sz="1150" b="0" i="0">
                <a:solidFill>
                  <a:srgbClr val="1B2440"/>
                </a:solidFill>
                <a:latin typeface="Roboto"/>
              </a:rPr>
              <a:t>Bereite Interviews und Beobachtungen vor und werte die Transkripte anschließend aus.</a:t>
            </a:r>
          </a:p>
        </p:txBody>
      </p:sp>
      <p:sp>
        <p:nvSpPr>
          <p:cNvPr id="26" name="Rounded Rectangle 25"/>
          <p:cNvSpPr/>
          <p:nvPr/>
        </p:nvSpPr>
        <p:spPr>
          <a:xfrm>
            <a:off x="969264" y="4067512"/>
            <a:ext cx="7470648" cy="75032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122376"/>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104088"/>
            <a:ext cx="6309360" cy="677169"/>
          </a:xfrm>
          <a:prstGeom prst="rect">
            <a:avLst/>
          </a:prstGeom>
          <a:noFill/>
        </p:spPr>
        <p:txBody>
          <a:bodyPr wrap="square" lIns="0" rIns="0" tIns="0" bIns="0" anchor="ctr"/>
          <a:lstStyle/>
          <a:p>
            <a:pPr algn="l">
              <a:spcAft>
                <a:spcPts val="0"/>
              </a:spcAft>
              <a:buNone/>
            </a:pPr>
            <a:r>
              <a:rPr sz="1150" b="0" i="0">
                <a:solidFill>
                  <a:srgbClr val="1B2440"/>
                </a:solidFill>
                <a:latin typeface="Roboto"/>
              </a:rPr>
              <a:t>1. Leitfaden mit Warm-up, 8–12 offenen Fragen und Abschluss. 2. Jede Frage auf Suggestivität prüfen. 3. Je Person Zitate, Beobachtungen und Überraschungen extrahieren.</a:t>
            </a:r>
          </a:p>
        </p:txBody>
      </p:sp>
      <p:sp>
        <p:nvSpPr>
          <p:cNvPr id="29" name="Rounded Rectangle 28"/>
          <p:cNvSpPr/>
          <p:nvPr/>
        </p:nvSpPr>
        <p:spPr>
          <a:xfrm>
            <a:off x="969264" y="4881841"/>
            <a:ext cx="7470648" cy="552632"/>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4936705"/>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4918417"/>
            <a:ext cx="6309360" cy="479480"/>
          </a:xfrm>
          <a:prstGeom prst="rect">
            <a:avLst/>
          </a:prstGeom>
          <a:noFill/>
        </p:spPr>
        <p:txBody>
          <a:bodyPr wrap="square" lIns="0" rIns="0" tIns="0" bIns="0" anchor="ctr"/>
          <a:lstStyle/>
          <a:p>
            <a:pPr algn="l">
              <a:spcAft>
                <a:spcPts val="0"/>
              </a:spcAft>
              <a:buNone/>
            </a:pPr>
            <a:r>
              <a:rPr sz="1150" b="0" i="0">
                <a:solidFill>
                  <a:srgbClr val="1B2440"/>
                </a:solidFill>
                <a:latin typeface="Roboto"/>
              </a:rPr>
              <a:t>Leitfaden als nummerierte Liste mit Nachfragen. Auswertung als Tabelle: Person | Zitat | Beobachtung | Bedürfnis | Annahme.</a:t>
            </a:r>
          </a:p>
        </p:txBody>
      </p:sp>
      <p:sp>
        <p:nvSpPr>
          <p:cNvPr id="32" name="Rounded Rectangle 31"/>
          <p:cNvSpPr/>
          <p:nvPr/>
        </p:nvSpPr>
        <p:spPr>
          <a:xfrm>
            <a:off x="969264" y="5498482"/>
            <a:ext cx="7470648" cy="426829"/>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53346"/>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35058"/>
            <a:ext cx="6309360" cy="353677"/>
          </a:xfrm>
          <a:prstGeom prst="rect">
            <a:avLst/>
          </a:prstGeom>
          <a:noFill/>
        </p:spPr>
        <p:txBody>
          <a:bodyPr wrap="square" lIns="0" rIns="0" tIns="0" bIns="0" anchor="ctr"/>
          <a:lstStyle/>
          <a:p>
            <a:pPr algn="l">
              <a:spcAft>
                <a:spcPts val="0"/>
              </a:spcAft>
              <a:buNone/>
            </a:pPr>
            <a:r>
              <a:rPr sz="1150" b="0" i="0">
                <a:solidFill>
                  <a:srgbClr val="1B2440"/>
                </a:solidFill>
                <a:latin typeface="Roboto"/>
              </a:rPr>
              <a:t>Erfinde keine Aussagen. Anonymisiere Namen. Markiere Deutungen als solche.</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interview-auswertung/SKILL.md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interview-auswertung</a:t>
            </a:r>
          </a:p>
          <a:p>
            <a:pPr algn="l">
              <a:spcAft>
                <a:spcPts val="150"/>
              </a:spcAft>
              <a:buNone/>
            </a:pPr>
            <a:r>
              <a:rPr sz="1050" b="0" i="0">
                <a:solidFill>
                  <a:srgbClr val="7FE0A7"/>
                </a:solidFill>
                <a:latin typeface="Roboto Mono"/>
              </a:rPr>
              <a:t>description: Wertet Interview-</a:t>
            </a:r>
          </a:p>
          <a:p>
            <a:pPr algn="l">
              <a:spcAft>
                <a:spcPts val="150"/>
              </a:spcAft>
              <a:buNone/>
            </a:pPr>
            <a:r>
              <a:rPr sz="1050" b="0" i="0">
                <a:solidFill>
                  <a:srgbClr val="7FE0A7"/>
                </a:solidFill>
                <a:latin typeface="Roboto Mono"/>
              </a:rPr>
              <a:t>  Transkripte aus. Nutzen, sobald</a:t>
            </a:r>
          </a:p>
          <a:p>
            <a:pPr algn="l">
              <a:spcAft>
                <a:spcPts val="150"/>
              </a:spcAft>
              <a:buNone/>
            </a:pPr>
            <a:r>
              <a:rPr sz="1050" b="0" i="0">
                <a:solidFill>
                  <a:srgbClr val="7FE0A7"/>
                </a:solidFill>
                <a:latin typeface="Roboto Mono"/>
              </a:rPr>
              <a:t>  ein Transkript vorliegt.</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Interviews auswerten</a:t>
            </a:r>
          </a:p>
          <a:p>
            <a:pPr algn="l">
              <a:spcAft>
                <a:spcPts val="150"/>
              </a:spcAft>
              <a:buNone/>
            </a:pPr>
            <a:r>
              <a:rPr sz="1050" b="0" i="0">
                <a:solidFill>
                  <a:srgbClr val="C9D6EE"/>
                </a:solidFill>
                <a:latin typeface="Roboto Mono"/>
              </a:rPr>
              <a:t>1. Transkript anonymisieren</a:t>
            </a:r>
          </a:p>
          <a:p>
            <a:pPr algn="l">
              <a:spcAft>
                <a:spcPts val="150"/>
              </a:spcAft>
              <a:buNone/>
            </a:pPr>
            <a:r>
              <a:rPr sz="1050" b="0" i="0">
                <a:solidFill>
                  <a:srgbClr val="C9D6EE"/>
                </a:solidFill>
                <a:latin typeface="Roboto Mono"/>
              </a:rPr>
              <a:t>2. Je Person 3 Kernzitate</a:t>
            </a:r>
          </a:p>
          <a:p>
            <a:pPr algn="l">
              <a:spcAft>
                <a:spcPts val="150"/>
              </a:spcAft>
              <a:buNone/>
            </a:pPr>
            <a:r>
              <a:rPr sz="1050" b="0" i="0">
                <a:solidFill>
                  <a:srgbClr val="C9D6EE"/>
                </a:solidFill>
                <a:latin typeface="Roboto Mono"/>
              </a:rPr>
              <a:t>3. Beobachtung ≠ Deutung</a:t>
            </a:r>
          </a:p>
          <a:p>
            <a:pPr algn="l">
              <a:spcAft>
                <a:spcPts val="150"/>
              </a:spcAft>
              <a:buNone/>
            </a:pPr>
            <a:r>
              <a:rPr sz="1050" b="0" i="0">
                <a:solidFill>
                  <a:srgbClr val="C9D6EE"/>
                </a:solidFill>
                <a:latin typeface="Roboto Mono"/>
              </a:rPr>
              <a:t>4. Bedürfnisse als Verb:</a:t>
            </a:r>
          </a:p>
          <a:p>
            <a:pPr algn="l">
              <a:spcAft>
                <a:spcPts val="150"/>
              </a:spcAft>
              <a:buNone/>
            </a:pPr>
            <a:r>
              <a:rPr sz="1050" b="0" i="0">
                <a:solidFill>
                  <a:srgbClr val="C9D6EE"/>
                </a:solidFill>
                <a:latin typeface="Roboto Mono"/>
              </a:rPr>
              <a:t>   „will …“, „braucht …“</a:t>
            </a:r>
          </a:p>
          <a:p>
            <a:pPr algn="l">
              <a:spcAft>
                <a:spcPts val="150"/>
              </a:spcAft>
              <a:buNone/>
            </a:pPr>
            <a:r>
              <a:rPr sz="1050" b="0" i="0">
                <a:solidFill>
                  <a:srgbClr val="FFC56B"/>
                </a:solidFill>
                <a:latin typeface="Roboto Mono"/>
              </a:rPr>
              <a:t>Schema: references/tabelle.md</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Automatisch auswerten, sobald ein Interview da ist</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Folder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Neues Transkript</a:t>
            </a:r>
          </a:p>
          <a:p>
            <a:pPr algn="ctr">
              <a:spcAft>
                <a:spcPts val="0"/>
              </a:spcAft>
              <a:buNone/>
            </a:pPr>
            <a:r>
              <a:rPr sz="1150" b="1" i="0">
                <a:solidFill>
                  <a:srgbClr val="0E1F53"/>
                </a:solidFill>
                <a:latin typeface="Roboto"/>
              </a:rPr>
              <a:t>im Ordner</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nutzt Skill</a:t>
            </a:r>
          </a:p>
          <a:p>
            <a:pPr algn="ctr">
              <a:spcAft>
                <a:spcPts val="0"/>
              </a:spcAft>
              <a:buNone/>
            </a:pPr>
            <a:r>
              <a:rPr sz="1150" b="1" i="0">
                <a:solidFill>
                  <a:srgbClr val="0E1F53"/>
                </a:solidFill>
                <a:latin typeface="Roboto"/>
              </a:rPr>
              <a:t>Auswertung</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artColumn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Zeile in</a:t>
            </a:r>
          </a:p>
          <a:p>
            <a:pPr algn="ctr">
              <a:spcAft>
                <a:spcPts val="0"/>
              </a:spcAft>
              <a:buNone/>
            </a:pPr>
            <a:r>
              <a:rPr sz="1150" b="1" i="0">
                <a:solidFill>
                  <a:srgbClr val="0E1F53"/>
                </a:solidFill>
                <a:latin typeface="Roboto"/>
              </a:rPr>
              <a:t>Insight-Tabelle</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essagesSquare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Kurzinfo</a:t>
            </a:r>
          </a:p>
          <a:p>
            <a:pPr algn="ctr">
              <a:spcAft>
                <a:spcPts val="0"/>
              </a:spcAft>
              <a:buNone/>
            </a:pPr>
            <a:r>
              <a:rPr sz="1150" b="1" i="0">
                <a:solidFill>
                  <a:srgbClr val="0E1F53"/>
                </a:solidFill>
                <a:latin typeface="Roboto"/>
              </a:rPr>
              <a:t>ans Team</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Ereignis-Auslöser statt Uhrzeit: umsetzbar mit n8n, Make oder Power Automate.</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docx</a:t>
            </a:r>
          </a:p>
        </p:txBody>
      </p:sp>
      <p:sp>
        <p:nvSpPr>
          <p:cNvPr id="42" name="Rounded Rectangle 41"/>
          <p:cNvSpPr/>
          <p:nvPr/>
        </p:nvSpPr>
        <p:spPr>
          <a:xfrm>
            <a:off x="6135623" y="5376672"/>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xlsx</a:t>
            </a:r>
          </a:p>
        </p:txBody>
      </p:sp>
      <p:sp>
        <p:nvSpPr>
          <p:cNvPr id="43" name="TextBox 42"/>
          <p:cNvSpPr txBox="1"/>
          <p:nvPr/>
        </p:nvSpPr>
        <p:spPr>
          <a:xfrm>
            <a:off x="6885431" y="5321808"/>
            <a:ext cx="427939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Leitfäden als Word-Datei ausgeben, Auswertungstabellen in Excel pflegen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Interview-Coach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Interview-Coach · Hochschule Rhein-Waal</a:t>
            </a:r>
          </a:p>
        </p:txBody>
      </p:sp>
      <p:sp>
        <p:nvSpPr>
          <p:cNvPr id="17" name="Rounded Rectangle 16"/>
          <p:cNvSpPr/>
          <p:nvPr/>
        </p:nvSpPr>
        <p:spPr>
          <a:xfrm>
            <a:off x="969264" y="2487168"/>
            <a:ext cx="7242047" cy="392864"/>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19712"/>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Interview-Coach mit Erfahrung in Nutzerforschung an Hochschulen.</a:t>
            </a:r>
          </a:p>
        </p:txBody>
      </p:sp>
      <p:sp>
        <p:nvSpPr>
          <p:cNvPr id="20" name="Rounded Rectangle 19"/>
          <p:cNvSpPr/>
          <p:nvPr/>
        </p:nvSpPr>
        <p:spPr>
          <a:xfrm>
            <a:off x="969264" y="2944040"/>
            <a:ext cx="7242047" cy="89324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2998904"/>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2980616"/>
            <a:ext cx="6080759" cy="820097"/>
          </a:xfrm>
          <a:prstGeom prst="rect">
            <a:avLst/>
          </a:prstGeom>
          <a:noFill/>
        </p:spPr>
        <p:txBody>
          <a:bodyPr wrap="square" lIns="0" rIns="0" tIns="0" bIns="0" anchor="ctr"/>
          <a:lstStyle/>
          <a:p>
            <a:pPr algn="l">
              <a:spcAft>
                <a:spcPts val="0"/>
              </a:spcAft>
              <a:buNone/>
            </a:pPr>
            <a:r>
              <a:rPr sz="1150" b="0" i="0">
                <a:solidFill>
                  <a:srgbClr val="1B2440"/>
                </a:solidFill>
                <a:latin typeface="Roboto"/>
              </a:rPr>
              <a:t>Challenge der HSRW: Wie können wir die Hochschule zu einem Ort machen, für den man sich entscheidet und an den man gern kommt? Zielgruppen: Schüler:innen, Pendelnde, internationale Studierende, Lehrende, Unternehmen.</a:t>
            </a:r>
          </a:p>
        </p:txBody>
      </p:sp>
      <p:sp>
        <p:nvSpPr>
          <p:cNvPr id="23" name="Rounded Rectangle 22"/>
          <p:cNvSpPr/>
          <p:nvPr/>
        </p:nvSpPr>
        <p:spPr>
          <a:xfrm>
            <a:off x="969264" y="3901298"/>
            <a:ext cx="7242047" cy="392864"/>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956162"/>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937874"/>
            <a:ext cx="6080759" cy="319712"/>
          </a:xfrm>
          <a:prstGeom prst="rect">
            <a:avLst/>
          </a:prstGeom>
          <a:noFill/>
        </p:spPr>
        <p:txBody>
          <a:bodyPr wrap="square" lIns="0" rIns="0" tIns="0" bIns="0" anchor="ctr"/>
          <a:lstStyle/>
          <a:p>
            <a:pPr algn="l">
              <a:spcAft>
                <a:spcPts val="0"/>
              </a:spcAft>
              <a:buNone/>
            </a:pPr>
            <a:r>
              <a:rPr sz="1150" b="0" i="0">
                <a:solidFill>
                  <a:srgbClr val="1B2440"/>
                </a:solidFill>
                <a:latin typeface="Roboto"/>
              </a:rPr>
              <a:t>Erstelle je Zielgruppe einen Leitfaden und werte danach die Transkripte aus.</a:t>
            </a:r>
          </a:p>
        </p:txBody>
      </p:sp>
      <p:sp>
        <p:nvSpPr>
          <p:cNvPr id="26" name="Rounded Rectangle 25"/>
          <p:cNvSpPr/>
          <p:nvPr/>
        </p:nvSpPr>
        <p:spPr>
          <a:xfrm>
            <a:off x="969264" y="4358171"/>
            <a:ext cx="7242047" cy="583093"/>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41303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394747"/>
            <a:ext cx="6080759" cy="509941"/>
          </a:xfrm>
          <a:prstGeom prst="rect">
            <a:avLst/>
          </a:prstGeom>
          <a:noFill/>
        </p:spPr>
        <p:txBody>
          <a:bodyPr wrap="square" lIns="0" rIns="0" tIns="0" bIns="0" anchor="ctr"/>
          <a:lstStyle/>
          <a:p>
            <a:pPr algn="l">
              <a:spcAft>
                <a:spcPts val="0"/>
              </a:spcAft>
              <a:buNone/>
            </a:pPr>
            <a:r>
              <a:rPr sz="1150" b="0" i="0">
                <a:solidFill>
                  <a:srgbClr val="1B2440"/>
                </a:solidFill>
                <a:latin typeface="Roboto"/>
              </a:rPr>
              <a:t>1. Leitfaden auf Deutsch und Englisch. 2. Fragen zu Campus-Alltag, Lernorten, Studienwahl. 3. Auswertung je Person mit Bezug zu den Annahmen.</a:t>
            </a:r>
          </a:p>
        </p:txBody>
      </p:sp>
      <p:sp>
        <p:nvSpPr>
          <p:cNvPr id="29" name="Rounded Rectangle 28"/>
          <p:cNvSpPr/>
          <p:nvPr/>
        </p:nvSpPr>
        <p:spPr>
          <a:xfrm>
            <a:off x="969264" y="5005272"/>
            <a:ext cx="7242047" cy="446624"/>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6013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41848"/>
            <a:ext cx="6080759" cy="373472"/>
          </a:xfrm>
          <a:prstGeom prst="rect">
            <a:avLst/>
          </a:prstGeom>
          <a:noFill/>
        </p:spPr>
        <p:txBody>
          <a:bodyPr wrap="square" lIns="0" rIns="0" tIns="0" bIns="0" anchor="ctr"/>
          <a:lstStyle/>
          <a:p>
            <a:pPr algn="l">
              <a:spcAft>
                <a:spcPts val="0"/>
              </a:spcAft>
              <a:buNone/>
            </a:pPr>
            <a:r>
              <a:rPr sz="1150" b="0" i="0">
                <a:solidFill>
                  <a:srgbClr val="1B2440"/>
                </a:solidFill>
                <a:latin typeface="Roboto"/>
              </a:rPr>
              <a:t>Leitfaden: 10 Fragen mit Nachfragen. Auswertung: Tabelle Person | Zitat | Beobachtung | Bedürfnis | Annahme.</a:t>
            </a:r>
          </a:p>
        </p:txBody>
      </p:sp>
      <p:sp>
        <p:nvSpPr>
          <p:cNvPr id="32" name="Rounded Rectangle 31"/>
          <p:cNvSpPr/>
          <p:nvPr/>
        </p:nvSpPr>
        <p:spPr>
          <a:xfrm>
            <a:off x="969264" y="5515905"/>
            <a:ext cx="7242047" cy="409406"/>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70769"/>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52481"/>
            <a:ext cx="6080759" cy="336254"/>
          </a:xfrm>
          <a:prstGeom prst="rect">
            <a:avLst/>
          </a:prstGeom>
          <a:noFill/>
        </p:spPr>
        <p:txBody>
          <a:bodyPr wrap="square" lIns="0" rIns="0" tIns="0" bIns="0" anchor="ctr"/>
          <a:lstStyle/>
          <a:p>
            <a:pPr algn="l">
              <a:spcAft>
                <a:spcPts val="0"/>
              </a:spcAft>
              <a:buNone/>
            </a:pPr>
            <a:r>
              <a:rPr sz="1150" b="0" i="0">
                <a:solidFill>
                  <a:srgbClr val="1B2440"/>
                </a:solidFill>
                <a:latin typeface="Roboto"/>
              </a:rPr>
              <a:t>Nur mit Einwilligung transkribieren. Namen und Studiengänge anonymisieren. Keine erfundenen Zitate.</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Eye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Interview-Coach</a:t>
            </a:r>
          </a:p>
          <a:p>
            <a:pPr algn="l">
              <a:spcAft>
                <a:spcPts val="0"/>
              </a:spcAft>
              <a:buNone/>
            </a:pPr>
            <a:r>
              <a:rPr sz="1100" b="0" i="0">
                <a:solidFill>
                  <a:srgbClr val="5A6684"/>
                </a:solidFill>
                <a:latin typeface="Roboto"/>
              </a:rPr>
              <a:t>Phase 2</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Transkription</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interview-leitfaden</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interview-auswertung</a:t>
            </a:r>
          </a:p>
        </p:txBody>
      </p:sp>
      <p:sp>
        <p:nvSpPr>
          <p:cNvPr id="49" name="Rounded Rectangle 48"/>
          <p:cNvSpPr/>
          <p:nvPr/>
        </p:nvSpPr>
        <p:spPr>
          <a:xfrm>
            <a:off x="8842248" y="4855464"/>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LuCheck_p.png"/>
          <p:cNvPicPr>
            <a:picLocks noChangeAspect="1"/>
          </p:cNvPicPr>
          <p:nvPr/>
        </p:nvPicPr>
        <p:blipFill>
          <a:blip r:embed="rId4"/>
          <a:stretch>
            <a:fillRect/>
          </a:stretch>
        </p:blipFill>
        <p:spPr>
          <a:xfrm>
            <a:off x="8933688" y="4928616"/>
            <a:ext cx="237744" cy="237744"/>
          </a:xfrm>
          <a:prstGeom prst="rect">
            <a:avLst/>
          </a:prstGeom>
        </p:spPr>
      </p:pic>
      <p:sp>
        <p:nvSpPr>
          <p:cNvPr id="51" name="TextBox 50"/>
          <p:cNvSpPr txBox="1"/>
          <p:nvPr/>
        </p:nvSpPr>
        <p:spPr>
          <a:xfrm>
            <a:off x="9253728" y="4855464"/>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Ordner-Automatisierung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2: Was wir gehört und gesehen haben</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4343400"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9848" y="2130552"/>
            <a:ext cx="3886200" cy="365760"/>
          </a:xfrm>
          <a:prstGeom prst="rect">
            <a:avLst/>
          </a:prstGeom>
          <a:noFill/>
        </p:spPr>
        <p:txBody>
          <a:bodyPr wrap="square" lIns="0" rIns="0" tIns="0" bIns="0" anchor="t"/>
          <a:lstStyle/>
          <a:p>
            <a:pPr algn="l">
              <a:spcAft>
                <a:spcPts val="400"/>
              </a:spcAft>
              <a:buNone/>
            </a:pPr>
            <a:r>
              <a:rPr sz="1450" b="1" i="0">
                <a:solidFill>
                  <a:srgbClr val="0E1F53"/>
                </a:solidFill>
                <a:latin typeface="Roboto"/>
              </a:rPr>
              <a:t>Leitfaden-Auszug (Studierende)</a:t>
            </a:r>
          </a:p>
        </p:txBody>
      </p:sp>
      <p:sp>
        <p:nvSpPr>
          <p:cNvPr id="13" name="TextBox 12"/>
          <p:cNvSpPr txBox="1"/>
          <p:nvPr/>
        </p:nvSpPr>
        <p:spPr>
          <a:xfrm>
            <a:off x="1069848" y="2606040"/>
            <a:ext cx="3886200" cy="3291840"/>
          </a:xfrm>
          <a:prstGeom prst="rect">
            <a:avLst/>
          </a:prstGeom>
          <a:noFill/>
        </p:spPr>
        <p:txBody>
          <a:bodyPr wrap="square" lIns="0" rIns="0" tIns="0" bIns="0" anchor="t"/>
          <a:lstStyle/>
          <a:p>
            <a:pPr algn="l" marL="164592" indent="-164592">
              <a:spcAft>
                <a:spcPts val="600"/>
              </a:spcAft>
              <a:buClr>
                <a:srgbClr val="FB2762"/>
              </a:buClr>
              <a:buFont typeface="Arial"/>
              <a:buChar char="›"/>
            </a:pPr>
            <a:r>
              <a:rPr sz="1250" b="0" i="0">
                <a:solidFill>
                  <a:srgbClr val="0E1F53"/>
                </a:solidFill>
                <a:latin typeface="Roboto"/>
              </a:rPr>
              <a:t>Erzählen Sie von Ihrem letzten Tag am Campus. Wie lief er ab?</a:t>
            </a:r>
          </a:p>
          <a:p>
            <a:pPr algn="l" marL="164592" indent="-164592">
              <a:spcAft>
                <a:spcPts val="600"/>
              </a:spcAft>
              <a:buClr>
                <a:srgbClr val="FB2762"/>
              </a:buClr>
              <a:buFont typeface="Arial"/>
              <a:buChar char="›"/>
            </a:pPr>
            <a:r>
              <a:rPr sz="1250" b="0" i="0">
                <a:solidFill>
                  <a:srgbClr val="0E1F53"/>
                </a:solidFill>
                <a:latin typeface="Roboto"/>
              </a:rPr>
              <a:t>Was bringt Sie dazu, auf den Campus zu kommen, was hält Sie ab?</a:t>
            </a:r>
          </a:p>
          <a:p>
            <a:pPr algn="l" marL="164592" indent="-164592">
              <a:spcAft>
                <a:spcPts val="600"/>
              </a:spcAft>
              <a:buClr>
                <a:srgbClr val="FB2762"/>
              </a:buClr>
              <a:buFont typeface="Arial"/>
              <a:buChar char="›"/>
            </a:pPr>
            <a:r>
              <a:rPr sz="1250" b="0" i="0">
                <a:solidFill>
                  <a:srgbClr val="0E1F53"/>
                </a:solidFill>
                <a:latin typeface="Roboto"/>
              </a:rPr>
              <a:t>Wo lernen Sie am liebsten, und warum gerade dort?</a:t>
            </a:r>
          </a:p>
          <a:p>
            <a:pPr algn="l" marL="164592" indent="-164592">
              <a:spcAft>
                <a:spcPts val="600"/>
              </a:spcAft>
              <a:buClr>
                <a:srgbClr val="FB2762"/>
              </a:buClr>
              <a:buFont typeface="Arial"/>
              <a:buChar char="›"/>
            </a:pPr>
            <a:r>
              <a:rPr sz="1250" b="0" i="0">
                <a:solidFill>
                  <a:srgbClr val="0E1F53"/>
                </a:solidFill>
                <a:latin typeface="Roboto"/>
              </a:rPr>
              <a:t>Wie haben Sie sich damals für die HSRW entschieden?</a:t>
            </a:r>
          </a:p>
          <a:p>
            <a:pPr algn="l" marL="164592" indent="-164592">
              <a:spcAft>
                <a:spcPts val="600"/>
              </a:spcAft>
              <a:buClr>
                <a:srgbClr val="FB2762"/>
              </a:buClr>
              <a:buFont typeface="Arial"/>
              <a:buChar char="›"/>
            </a:pPr>
            <a:r>
              <a:rPr sz="1250" b="0" i="0">
                <a:solidFill>
                  <a:srgbClr val="0E1F53"/>
                </a:solidFill>
                <a:latin typeface="Roboto"/>
              </a:rPr>
              <a:t>Wenn Sie einen Tag die Hochschule leiten würden: Was würden Sie ändern?</a:t>
            </a:r>
          </a:p>
        </p:txBody>
      </p:sp>
      <p:sp>
        <p:nvSpPr>
          <p:cNvPr id="14" name="Rounded Rectangle 13"/>
          <p:cNvSpPr/>
          <p:nvPr/>
        </p:nvSpPr>
        <p:spPr>
          <a:xfrm>
            <a:off x="5458968" y="20116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41848" y="20574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16" name="TextBox 15"/>
          <p:cNvSpPr txBox="1"/>
          <p:nvPr/>
        </p:nvSpPr>
        <p:spPr>
          <a:xfrm>
            <a:off x="5687568" y="25146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„Ich komme nur noch, wenn Anwesenheitspflicht ist. Die Aufzeichnung schaue ich im Zug.“</a:t>
            </a:r>
          </a:p>
        </p:txBody>
      </p:sp>
      <p:sp>
        <p:nvSpPr>
          <p:cNvPr id="17" name="TextBox 16"/>
          <p:cNvSpPr txBox="1"/>
          <p:nvPr/>
        </p:nvSpPr>
        <p:spPr>
          <a:xfrm>
            <a:off x="5687568" y="34747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Bachelor, pendelt aus Duisburg</a:t>
            </a:r>
          </a:p>
        </p:txBody>
      </p:sp>
      <p:sp>
        <p:nvSpPr>
          <p:cNvPr id="18" name="Rounded Rectangle 17"/>
          <p:cNvSpPr/>
          <p:nvPr/>
        </p:nvSpPr>
        <p:spPr>
          <a:xfrm>
            <a:off x="8540496" y="20116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23376" y="20574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20" name="TextBox 19"/>
          <p:cNvSpPr txBox="1"/>
          <p:nvPr/>
        </p:nvSpPr>
        <p:spPr>
          <a:xfrm>
            <a:off x="8769096" y="25146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„Nach einem Jahr kenne ich kaum deutsche Studierende.“</a:t>
            </a:r>
          </a:p>
        </p:txBody>
      </p:sp>
      <p:sp>
        <p:nvSpPr>
          <p:cNvPr id="21" name="TextBox 20"/>
          <p:cNvSpPr txBox="1"/>
          <p:nvPr/>
        </p:nvSpPr>
        <p:spPr>
          <a:xfrm>
            <a:off x="8769096" y="34747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Master, international</a:t>
            </a:r>
          </a:p>
        </p:txBody>
      </p:sp>
      <p:sp>
        <p:nvSpPr>
          <p:cNvPr id="22" name="Rounded Rectangle 21"/>
          <p:cNvSpPr/>
          <p:nvPr/>
        </p:nvSpPr>
        <p:spPr>
          <a:xfrm>
            <a:off x="5458968" y="40690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41848" y="41148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24" name="TextBox 23"/>
          <p:cNvSpPr txBox="1"/>
          <p:nvPr/>
        </p:nvSpPr>
        <p:spPr>
          <a:xfrm>
            <a:off x="5687568" y="45720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„Nach 18 Uhr ist der Campus leer. Wo soll ich mit meiner Lerngruppe hin?“</a:t>
            </a:r>
          </a:p>
        </p:txBody>
      </p:sp>
      <p:sp>
        <p:nvSpPr>
          <p:cNvPr id="25" name="TextBox 24"/>
          <p:cNvSpPr txBox="1"/>
          <p:nvPr/>
        </p:nvSpPr>
        <p:spPr>
          <a:xfrm>
            <a:off x="5687568" y="55321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Bachelor, wohnt in Kleve</a:t>
            </a:r>
          </a:p>
        </p:txBody>
      </p:sp>
      <p:sp>
        <p:nvSpPr>
          <p:cNvPr id="26" name="Rounded Rectangle 25"/>
          <p:cNvSpPr/>
          <p:nvPr/>
        </p:nvSpPr>
        <p:spPr>
          <a:xfrm>
            <a:off x="8540496" y="40690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723376" y="41148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28" name="TextBox 27"/>
          <p:cNvSpPr txBox="1"/>
          <p:nvPr/>
        </p:nvSpPr>
        <p:spPr>
          <a:xfrm>
            <a:off x="8769096" y="45720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„Meine Freunde gehen alle nach Köln oder Münster. Kleve kannte ich gar nicht.“</a:t>
            </a:r>
          </a:p>
        </p:txBody>
      </p:sp>
      <p:sp>
        <p:nvSpPr>
          <p:cNvPr id="29" name="TextBox 28"/>
          <p:cNvSpPr txBox="1"/>
          <p:nvPr/>
        </p:nvSpPr>
        <p:spPr>
          <a:xfrm>
            <a:off x="8769096" y="55321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Schülerin, Q2</a:t>
            </a:r>
          </a:p>
        </p:txBody>
      </p:sp>
      <p:sp>
        <p:nvSpPr>
          <p:cNvPr id="30" name="TextBox 29"/>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20 MIN.</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Beobachten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Lassen Sie den Interview-Coach einen Leitfaden für Ihre Challenge erstellen.</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Prüfen Sie die Fragen im Team: Was ist suggestiv, was geschlossen?</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Führen Sie ein 5-Minuten-Probeinterview mit Ihrer Sitznachbarin oder Ihrem Sitznachbarn.</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20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Interviewnotizen, Zitate, Beobachtungen, Fotos, geprüfte Annahmen</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„Interview-Coach“ aus der Prompt-Bibliothek und füllen Sie die [Klammern] aus.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3 · Sichtweise definieren</a:t>
            </a:r>
          </a:p>
        </p:txBody>
      </p:sp>
      <p:sp>
        <p:nvSpPr>
          <p:cNvPr id="3" name="Oval 2"/>
          <p:cNvSpPr/>
          <p:nvPr/>
        </p:nvSpPr>
        <p:spPr>
          <a:xfrm>
            <a:off x="92445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3: Sichtweise definieren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Was haben wir gelernt, und welches Problem lösen wir genau?</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Erkenntnisse verdichten, Muster erkennen, eine klare Sichtweise formulieren.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Clustern, Persona, Customer Journey, POV-Statement</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Insight-Cluster, Persona, Customer Journey, Point of View, „Wie können wir …?“-Fragen</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Insight-Analyst</a:t>
            </a:r>
            <a:r>
              <a:rPr sz="1500" b="0" i="0">
                <a:solidFill>
                  <a:srgbClr val="0E1F53"/>
                </a:solidFill>
                <a:latin typeface="Roboto"/>
              </a:rPr>
              <a:t> – verdichtet Daten zu Insights, Persona und Point of View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Muster wiederholen sich über mehrere Gespräche?</a:t>
            </a:r>
          </a:p>
          <a:p>
            <a:pPr algn="l" marL="164592" indent="-164592">
              <a:spcAft>
                <a:spcPts val="700"/>
              </a:spcAft>
              <a:buClr>
                <a:srgbClr val="FB2762"/>
              </a:buClr>
              <a:buFont typeface="Arial"/>
              <a:buChar char="?"/>
            </a:pPr>
            <a:r>
              <a:rPr sz="1350" b="0" i="0">
                <a:solidFill>
                  <a:srgbClr val="FFFFFF"/>
                </a:solidFill>
                <a:latin typeface="Roboto"/>
              </a:rPr>
              <a:t>Was hat uns überrascht?</a:t>
            </a:r>
          </a:p>
          <a:p>
            <a:pPr algn="l" marL="164592" indent="-164592">
              <a:spcAft>
                <a:spcPts val="700"/>
              </a:spcAft>
              <a:buClr>
                <a:srgbClr val="FB2762"/>
              </a:buClr>
              <a:buFont typeface="Arial"/>
              <a:buChar char="?"/>
            </a:pPr>
            <a:r>
              <a:rPr sz="1350" b="0" i="0">
                <a:solidFill>
                  <a:srgbClr val="FFFFFF"/>
                </a:solidFill>
                <a:latin typeface="Roboto"/>
              </a:rPr>
              <a:t>Wer ist unsere wichtigste Zielperson, und was treibt sie an?</a:t>
            </a:r>
          </a:p>
          <a:p>
            <a:pPr algn="l" marL="164592" indent="-164592">
              <a:spcAft>
                <a:spcPts val="700"/>
              </a:spcAft>
              <a:buClr>
                <a:srgbClr val="FB2762"/>
              </a:buClr>
              <a:buFont typeface="Arial"/>
              <a:buChar char="?"/>
            </a:pPr>
            <a:r>
              <a:rPr sz="1350" b="0" i="0">
                <a:solidFill>
                  <a:srgbClr val="FFFFFF"/>
                </a:solidFill>
                <a:latin typeface="Roboto"/>
              </a:rPr>
              <a:t>Welches Bedürfnis ist unerfüllt, und warum?</a:t>
            </a:r>
          </a:p>
          <a:p>
            <a:pPr algn="l" marL="164592" indent="-164592">
              <a:spcAft>
                <a:spcPts val="700"/>
              </a:spcAft>
              <a:buClr>
                <a:srgbClr val="FB2762"/>
              </a:buClr>
              <a:buFont typeface="Arial"/>
              <a:buChar char="?"/>
            </a:pPr>
            <a:r>
              <a:rPr sz="1350" b="0" i="0">
                <a:solidFill>
                  <a:srgbClr val="FFFFFF"/>
                </a:solidFill>
                <a:latin typeface="Roboto"/>
              </a:rPr>
              <a:t>Wo in der Customer Journey ist der größte Schmerz?</a:t>
            </a:r>
          </a:p>
          <a:p>
            <a:pPr algn="l" marL="164592" indent="-164592">
              <a:spcAft>
                <a:spcPts val="700"/>
              </a:spcAft>
              <a:buClr>
                <a:srgbClr val="FB2762"/>
              </a:buClr>
              <a:buFont typeface="Arial"/>
              <a:buChar char="?"/>
            </a:pPr>
            <a:r>
              <a:rPr sz="1350" b="0" i="0">
                <a:solidFill>
                  <a:srgbClr val="FFFFFF"/>
                </a:solidFill>
                <a:latin typeface="Roboto"/>
              </a:rPr>
              <a:t>Welche „Wie können wir …?“-Frage öffnet den besten Lösungsraum?</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Layers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Clustern</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Alle Beobachtungen auf Karten, ähnliche zusammenlegen, jedem Cluster eine Erkenntnis geben.</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UserRound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Persona</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Eine fiktive, aber datenbasierte Person, die eine Zielgruppe verkörpert.</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Map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Customer Journey</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Schritt für Schritt: Was erlebt die Persona, was fühlt sie, wo hakt es?</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Target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Point of View</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[Person] braucht [Bedürfnis], weil [Erkenntnis]. Daraus: „Wie können wir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Bot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Insight-Analyst</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Clustert die Interview-Tabelle nach Mustern</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„Gruppiere diese 40 Beobachtungen in 5–7 Cluster und benenne jedes mit einer Erkenntnis.“</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UserRound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Persona-Entwurf</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Aus echten Daten, nicht aus Fantasie</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aus Cluster 2 und 4 eine Persona. Belege jedes Merkmal mit Interview-Nr.“</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Map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Journey-Tabelle</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Schritte, Gefühle und Schmerzpunkte strukturieren</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„Stelle die Journey von [Persona] als Tabelle dar: Schritt, Tun, Gefühl, Schmerzpunkt.“</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WandSparkles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Bild-KI</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Persona-Porträt oder Poster für die Teamwand</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 Illustrationsporträt im Skizzenstil: [Persona-Beschreibung].“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Insight-Analyst</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Insight-Analyst</a:t>
            </a:r>
          </a:p>
        </p:txBody>
      </p:sp>
      <p:sp>
        <p:nvSpPr>
          <p:cNvPr id="17" name="Rounded Rectangle 16"/>
          <p:cNvSpPr/>
          <p:nvPr/>
        </p:nvSpPr>
        <p:spPr>
          <a:xfrm>
            <a:off x="969264" y="2487168"/>
            <a:ext cx="7470648" cy="477306"/>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404154"/>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Insight-Analyst und hilfst Innovationsteams, aus qualitativen Daten klare Erkenntnisse zu gewinnen.</a:t>
            </a:r>
          </a:p>
        </p:txBody>
      </p:sp>
      <p:sp>
        <p:nvSpPr>
          <p:cNvPr id="20" name="Rounded Rectangle 19"/>
          <p:cNvSpPr/>
          <p:nvPr/>
        </p:nvSpPr>
        <p:spPr>
          <a:xfrm>
            <a:off x="969264" y="3028482"/>
            <a:ext cx="7470648" cy="60666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83346"/>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65058"/>
            <a:ext cx="6309360" cy="533517"/>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3 „Sichtweise definieren“. Design Challenge: [Challenge]. Beigefügt: Auswertungstabelle aus [Anzahl] Interviews und Beobachtungen.</a:t>
            </a:r>
          </a:p>
        </p:txBody>
      </p:sp>
      <p:sp>
        <p:nvSpPr>
          <p:cNvPr id="23" name="Rounded Rectangle 22"/>
          <p:cNvSpPr/>
          <p:nvPr/>
        </p:nvSpPr>
        <p:spPr>
          <a:xfrm>
            <a:off x="969264" y="3699160"/>
            <a:ext cx="7470648" cy="423776"/>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754024"/>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35736"/>
            <a:ext cx="6309360" cy="350624"/>
          </a:xfrm>
          <a:prstGeom prst="rect">
            <a:avLst/>
          </a:prstGeom>
          <a:noFill/>
        </p:spPr>
        <p:txBody>
          <a:bodyPr wrap="square" lIns="0" rIns="0" tIns="0" bIns="0" anchor="ctr"/>
          <a:lstStyle/>
          <a:p>
            <a:pPr algn="l">
              <a:spcAft>
                <a:spcPts val="0"/>
              </a:spcAft>
              <a:buNone/>
            </a:pPr>
            <a:r>
              <a:rPr sz="1150" b="0" i="0">
                <a:solidFill>
                  <a:srgbClr val="1B2440"/>
                </a:solidFill>
                <a:latin typeface="Roboto"/>
              </a:rPr>
              <a:t>Verdichte die Daten zu Insights, einer Persona und einem Point-of-View-Statement.</a:t>
            </a:r>
          </a:p>
        </p:txBody>
      </p:sp>
      <p:sp>
        <p:nvSpPr>
          <p:cNvPr id="26" name="Rounded Rectangle 25"/>
          <p:cNvSpPr/>
          <p:nvPr/>
        </p:nvSpPr>
        <p:spPr>
          <a:xfrm>
            <a:off x="969264" y="4186944"/>
            <a:ext cx="7470648" cy="762797"/>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24180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223520"/>
            <a:ext cx="6309360" cy="689645"/>
          </a:xfrm>
          <a:prstGeom prst="rect">
            <a:avLst/>
          </a:prstGeom>
          <a:noFill/>
        </p:spPr>
        <p:txBody>
          <a:bodyPr wrap="square" lIns="0" rIns="0" tIns="0" bIns="0" anchor="ctr"/>
          <a:lstStyle/>
          <a:p>
            <a:pPr algn="l">
              <a:spcAft>
                <a:spcPts val="0"/>
              </a:spcAft>
              <a:buNone/>
            </a:pPr>
            <a:r>
              <a:rPr sz="1150" b="0" i="0">
                <a:solidFill>
                  <a:srgbClr val="1B2440"/>
                </a:solidFill>
                <a:latin typeface="Roboto"/>
              </a:rPr>
              <a:t>1. Cluster bilden, je einen Insight formulieren. 2. Wichtigste Zielperson ableiten. 3. POV: [Person] braucht [Bedürfnis], weil [Erkenntnis]. 4. Drei Wie-können-wir-Fragen.</a:t>
            </a:r>
          </a:p>
        </p:txBody>
      </p:sp>
      <p:sp>
        <p:nvSpPr>
          <p:cNvPr id="29" name="Rounded Rectangle 28"/>
          <p:cNvSpPr/>
          <p:nvPr/>
        </p:nvSpPr>
        <p:spPr>
          <a:xfrm>
            <a:off x="969264" y="5013750"/>
            <a:ext cx="7470648" cy="423776"/>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68614"/>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50326"/>
            <a:ext cx="6309360" cy="350624"/>
          </a:xfrm>
          <a:prstGeom prst="rect">
            <a:avLst/>
          </a:prstGeom>
          <a:noFill/>
        </p:spPr>
        <p:txBody>
          <a:bodyPr wrap="square" lIns="0" rIns="0" tIns="0" bIns="0" anchor="ctr"/>
          <a:lstStyle/>
          <a:p>
            <a:pPr algn="l">
              <a:spcAft>
                <a:spcPts val="0"/>
              </a:spcAft>
              <a:buNone/>
            </a:pPr>
            <a:r>
              <a:rPr sz="1150" b="0" i="0">
                <a:solidFill>
                  <a:srgbClr val="1B2440"/>
                </a:solidFill>
                <a:latin typeface="Roboto"/>
              </a:rPr>
              <a:t>Cluster-Tabelle mit Belegen, Persona-Steckbrief (max. 10 Zeilen), POV in einem Satz, 3 Fragen.</a:t>
            </a:r>
          </a:p>
        </p:txBody>
      </p:sp>
      <p:sp>
        <p:nvSpPr>
          <p:cNvPr id="32" name="Rounded Rectangle 31"/>
          <p:cNvSpPr/>
          <p:nvPr/>
        </p:nvSpPr>
        <p:spPr>
          <a:xfrm>
            <a:off x="969264" y="5501535"/>
            <a:ext cx="7470648" cy="423776"/>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56399"/>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38111"/>
            <a:ext cx="6309360" cy="350624"/>
          </a:xfrm>
          <a:prstGeom prst="rect">
            <a:avLst/>
          </a:prstGeom>
          <a:noFill/>
        </p:spPr>
        <p:txBody>
          <a:bodyPr wrap="square" lIns="0" rIns="0" tIns="0" bIns="0" anchor="ctr"/>
          <a:lstStyle/>
          <a:p>
            <a:pPr algn="l">
              <a:spcAft>
                <a:spcPts val="0"/>
              </a:spcAft>
              <a:buNone/>
            </a:pPr>
            <a:r>
              <a:rPr sz="1150" b="0" i="0">
                <a:solidFill>
                  <a:srgbClr val="1B2440"/>
                </a:solidFill>
                <a:latin typeface="Roboto"/>
              </a:rPr>
              <a:t>Jede Aussage mit Beleg aus den Daten. Keine Stereotype. Wenn die Daten nicht reichen, sag es.</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persona-steckbrief/SKILL.md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persona-steckbrief</a:t>
            </a:r>
          </a:p>
          <a:p>
            <a:pPr algn="l">
              <a:spcAft>
                <a:spcPts val="150"/>
              </a:spcAft>
              <a:buNone/>
            </a:pPr>
            <a:r>
              <a:rPr sz="1050" b="0" i="0">
                <a:solidFill>
                  <a:srgbClr val="7FE0A7"/>
                </a:solidFill>
                <a:latin typeface="Roboto Mono"/>
              </a:rPr>
              <a:t>description: Erstellt daten-</a:t>
            </a:r>
          </a:p>
          <a:p>
            <a:pPr algn="l">
              <a:spcAft>
                <a:spcPts val="150"/>
              </a:spcAft>
              <a:buNone/>
            </a:pPr>
            <a:r>
              <a:rPr sz="1050" b="0" i="0">
                <a:solidFill>
                  <a:srgbClr val="7FE0A7"/>
                </a:solidFill>
                <a:latin typeface="Roboto Mono"/>
              </a:rPr>
              <a:t>  basierte Personas aus Interview-</a:t>
            </a:r>
          </a:p>
          <a:p>
            <a:pPr algn="l">
              <a:spcAft>
                <a:spcPts val="150"/>
              </a:spcAft>
              <a:buNone/>
            </a:pPr>
            <a:r>
              <a:rPr sz="1050" b="0" i="0">
                <a:solidFill>
                  <a:srgbClr val="7FE0A7"/>
                </a:solidFill>
                <a:latin typeface="Roboto Mono"/>
              </a:rPr>
              <a:t>  Auswertungen.</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Persona erstellen</a:t>
            </a:r>
          </a:p>
          <a:p>
            <a:pPr algn="l">
              <a:spcAft>
                <a:spcPts val="150"/>
              </a:spcAft>
              <a:buNone/>
            </a:pPr>
            <a:r>
              <a:rPr sz="1050" b="0" i="0">
                <a:solidFill>
                  <a:srgbClr val="C9D6EE"/>
                </a:solidFill>
                <a:latin typeface="Roboto Mono"/>
              </a:rPr>
              <a:t>1. Nur Merkmale mit Beleg</a:t>
            </a:r>
          </a:p>
          <a:p>
            <a:pPr algn="l">
              <a:spcAft>
                <a:spcPts val="150"/>
              </a:spcAft>
              <a:buNone/>
            </a:pPr>
            <a:r>
              <a:rPr sz="1050" b="0" i="0">
                <a:solidFill>
                  <a:srgbClr val="C9D6EE"/>
                </a:solidFill>
                <a:latin typeface="Roboto Mono"/>
              </a:rPr>
              <a:t>2. Felder: Name, Alter, Situation,</a:t>
            </a:r>
          </a:p>
          <a:p>
            <a:pPr algn="l">
              <a:spcAft>
                <a:spcPts val="150"/>
              </a:spcAft>
              <a:buNone/>
            </a:pPr>
            <a:r>
              <a:rPr sz="1050" b="0" i="0">
                <a:solidFill>
                  <a:srgbClr val="C9D6EE"/>
                </a:solidFill>
                <a:latin typeface="Roboto Mono"/>
              </a:rPr>
              <a:t>   Ziele, Frust, Zitat, Verhalten</a:t>
            </a:r>
          </a:p>
          <a:p>
            <a:pPr algn="l">
              <a:spcAft>
                <a:spcPts val="150"/>
              </a:spcAft>
              <a:buNone/>
            </a:pPr>
            <a:r>
              <a:rPr sz="1050" b="0" i="0">
                <a:solidFill>
                  <a:srgbClr val="C9D6EE"/>
                </a:solidFill>
                <a:latin typeface="Roboto Mono"/>
              </a:rPr>
              <a:t>3. Ein Satz: Was wäre für sie</a:t>
            </a:r>
          </a:p>
          <a:p>
            <a:pPr algn="l">
              <a:spcAft>
                <a:spcPts val="150"/>
              </a:spcAft>
              <a:buNone/>
            </a:pPr>
            <a:r>
              <a:rPr sz="1050" b="0" i="0">
                <a:solidFill>
                  <a:srgbClr val="C9D6EE"/>
                </a:solidFill>
                <a:latin typeface="Roboto Mono"/>
              </a:rPr>
              <a:t>   ein guter Tag?</a:t>
            </a:r>
          </a:p>
          <a:p>
            <a:pPr algn="l">
              <a:spcAft>
                <a:spcPts val="150"/>
              </a:spcAft>
              <a:buNone/>
            </a:pPr>
            <a:r>
              <a:rPr sz="1050" b="0" i="0">
                <a:solidFill>
                  <a:srgbClr val="FFC56B"/>
                </a:solidFill>
                <a:latin typeface="Roboto Mono"/>
              </a:rPr>
              <a:t>Vorlage: references/persona.md</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Die lebende Persona</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ListChecks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5 neue Interviews</a:t>
            </a:r>
          </a:p>
          <a:p>
            <a:pPr algn="ctr">
              <a:spcAft>
                <a:spcPts val="0"/>
              </a:spcAft>
              <a:buNone/>
            </a:pPr>
            <a:r>
              <a:rPr sz="1150" b="1" i="0">
                <a:solidFill>
                  <a:srgbClr val="0E1F53"/>
                </a:solidFill>
                <a:latin typeface="Roboto"/>
              </a:rPr>
              <a:t>ausgewertet</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Insight-Analyst</a:t>
            </a:r>
          </a:p>
          <a:p>
            <a:pPr algn="ctr">
              <a:spcAft>
                <a:spcPts val="0"/>
              </a:spcAft>
              <a:buNone/>
            </a:pPr>
            <a:r>
              <a:rPr sz="1150" b="1" i="0">
                <a:solidFill>
                  <a:srgbClr val="0E1F53"/>
                </a:solidFill>
                <a:latin typeface="Roboto"/>
              </a:rPr>
              <a:t>aktualisiert</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UserRound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Persona &amp; Cluster</a:t>
            </a:r>
          </a:p>
          <a:p>
            <a:pPr algn="ctr">
              <a:spcAft>
                <a:spcPts val="0"/>
              </a:spcAft>
              <a:buNone/>
            </a:pPr>
            <a:r>
              <a:rPr sz="1150" b="1" i="0">
                <a:solidFill>
                  <a:srgbClr val="0E1F53"/>
                </a:solidFill>
                <a:latin typeface="Roboto"/>
              </a:rPr>
              <a:t>nachgeschärft</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ail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Änderungen</a:t>
            </a:r>
          </a:p>
          <a:p>
            <a:pPr algn="ctr">
              <a:spcAft>
                <a:spcPts val="0"/>
              </a:spcAft>
              <a:buNone/>
            </a:pPr>
            <a:r>
              <a:rPr sz="1150" b="1" i="0">
                <a:solidFill>
                  <a:srgbClr val="0E1F53"/>
                </a:solidFill>
                <a:latin typeface="Roboto"/>
              </a:rPr>
              <a:t>ans Team</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Personas veralten. Ein Agent hält sie aktuell, sobald neue Daten aus Vertrieb oder Service eingehen.</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11658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canvas-design</a:t>
            </a:r>
          </a:p>
        </p:txBody>
      </p:sp>
      <p:sp>
        <p:nvSpPr>
          <p:cNvPr id="42" name="Rounded Rectangle 41"/>
          <p:cNvSpPr/>
          <p:nvPr/>
        </p:nvSpPr>
        <p:spPr>
          <a:xfrm>
            <a:off x="6752844" y="5376672"/>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doc-coauthoring</a:t>
            </a:r>
          </a:p>
        </p:txBody>
      </p:sp>
      <p:sp>
        <p:nvSpPr>
          <p:cNvPr id="43" name="TextBox 42"/>
          <p:cNvSpPr txBox="1"/>
          <p:nvPr/>
        </p:nvSpPr>
        <p:spPr>
          <a:xfrm>
            <a:off x="8257031" y="5321808"/>
            <a:ext cx="290779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Persona-Poster gestalten, POV-Statements gemeinsam formulieren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Insight-Analyst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Insight-Analyst · Hochschule Rhein-Waal</a:t>
            </a:r>
          </a:p>
        </p:txBody>
      </p:sp>
      <p:sp>
        <p:nvSpPr>
          <p:cNvPr id="17" name="Rounded Rectangle 16"/>
          <p:cNvSpPr/>
          <p:nvPr/>
        </p:nvSpPr>
        <p:spPr>
          <a:xfrm>
            <a:off x="969264" y="2487168"/>
            <a:ext cx="7242047" cy="446787"/>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Insight-Analyst für das Innovationsteam der Hochschule Rhein-Waal.</a:t>
            </a:r>
          </a:p>
        </p:txBody>
      </p:sp>
      <p:sp>
        <p:nvSpPr>
          <p:cNvPr id="20" name="Rounded Rectangle 19"/>
          <p:cNvSpPr/>
          <p:nvPr/>
        </p:nvSpPr>
        <p:spPr>
          <a:xfrm>
            <a:off x="969264" y="2997963"/>
            <a:ext cx="7242047" cy="630205"/>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52827"/>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34539"/>
            <a:ext cx="6080759" cy="557053"/>
          </a:xfrm>
          <a:prstGeom prst="rect">
            <a:avLst/>
          </a:prstGeom>
          <a:noFill/>
        </p:spPr>
        <p:txBody>
          <a:bodyPr wrap="square" lIns="0" rIns="0" tIns="0" bIns="0" anchor="ctr"/>
          <a:lstStyle/>
          <a:p>
            <a:pPr algn="l">
              <a:spcAft>
                <a:spcPts val="0"/>
              </a:spcAft>
              <a:buNone/>
            </a:pPr>
            <a:r>
              <a:rPr sz="1150" b="0" i="0">
                <a:solidFill>
                  <a:srgbClr val="1B2440"/>
                </a:solidFill>
                <a:latin typeface="Roboto"/>
              </a:rPr>
              <a:t>Beigefügt: Auswertungstabelle aus 24 Interviews und 6 Campus-Beobachtungen mit Studierenden, Schüler:innen, Lehrenden und Unternehmen.</a:t>
            </a:r>
          </a:p>
        </p:txBody>
      </p:sp>
      <p:sp>
        <p:nvSpPr>
          <p:cNvPr id="23" name="Rounded Rectangle 22"/>
          <p:cNvSpPr/>
          <p:nvPr/>
        </p:nvSpPr>
        <p:spPr>
          <a:xfrm>
            <a:off x="969264" y="3692176"/>
            <a:ext cx="7242047" cy="44678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747040"/>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28752"/>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Finde die wichtigsten Muster und entwickle zwei Personas sowie je einen Point of View.</a:t>
            </a:r>
          </a:p>
        </p:txBody>
      </p:sp>
      <p:sp>
        <p:nvSpPr>
          <p:cNvPr id="26" name="Rounded Rectangle 25"/>
          <p:cNvSpPr/>
          <p:nvPr/>
        </p:nvSpPr>
        <p:spPr>
          <a:xfrm>
            <a:off x="969264" y="4202971"/>
            <a:ext cx="7242047" cy="70075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25783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239547"/>
            <a:ext cx="6080759" cy="627598"/>
          </a:xfrm>
          <a:prstGeom prst="rect">
            <a:avLst/>
          </a:prstGeom>
          <a:noFill/>
        </p:spPr>
        <p:txBody>
          <a:bodyPr wrap="square" lIns="0" rIns="0" tIns="0" bIns="0" anchor="ctr"/>
          <a:lstStyle/>
          <a:p>
            <a:pPr algn="l">
              <a:spcAft>
                <a:spcPts val="0"/>
              </a:spcAft>
              <a:buNone/>
            </a:pPr>
            <a:r>
              <a:rPr sz="1150" b="0" i="0">
                <a:solidFill>
                  <a:srgbClr val="1B2440"/>
                </a:solidFill>
                <a:latin typeface="Roboto"/>
              </a:rPr>
              <a:t>1. Cluster bilden. 2. Lokale und internationale Perspektive getrennt betrachten. 3. Personas ableiten. 4. POV und 3 Wie-können-wir-Fragen je Persona.</a:t>
            </a:r>
          </a:p>
        </p:txBody>
      </p:sp>
      <p:sp>
        <p:nvSpPr>
          <p:cNvPr id="29" name="Rounded Rectangle 28"/>
          <p:cNvSpPr/>
          <p:nvPr/>
        </p:nvSpPr>
        <p:spPr>
          <a:xfrm>
            <a:off x="969264" y="4967729"/>
            <a:ext cx="7242047" cy="446787"/>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22593"/>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04305"/>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Cluster-Tabelle mit Interview-Nr., 2 Persona-Steckbriefe, POV-Sätze, Fragenliste.</a:t>
            </a:r>
          </a:p>
        </p:txBody>
      </p:sp>
      <p:sp>
        <p:nvSpPr>
          <p:cNvPr id="32" name="Rounded Rectangle 31"/>
          <p:cNvSpPr/>
          <p:nvPr/>
        </p:nvSpPr>
        <p:spPr>
          <a:xfrm>
            <a:off x="969264" y="5478524"/>
            <a:ext cx="7242047" cy="44678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3338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15100"/>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belegte Merkmale. Keine Klischees zu Herkunftsländern. Lücken in den Daten benennen.</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Target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Insight-Analyst</a:t>
            </a:r>
          </a:p>
          <a:p>
            <a:pPr algn="l">
              <a:spcAft>
                <a:spcPts val="0"/>
              </a:spcAft>
              <a:buNone/>
            </a:pPr>
            <a:r>
              <a:rPr sz="1100" b="0" i="0">
                <a:solidFill>
                  <a:srgbClr val="5A6684"/>
                </a:solidFill>
                <a:latin typeface="Roboto"/>
              </a:rPr>
              <a:t>Phase 3</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Dateien: Auswertungstabelle</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persona-steckbrief</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Bild-KI für Persona-Poster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3: Personas und Point of View</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5116068"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76272"/>
            <a:ext cx="685800" cy="6858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UserRound_w.png"/>
          <p:cNvPicPr>
            <a:picLocks noChangeAspect="1"/>
          </p:cNvPicPr>
          <p:nvPr/>
        </p:nvPicPr>
        <p:blipFill>
          <a:blip r:embed="rId3"/>
          <a:stretch>
            <a:fillRect/>
          </a:stretch>
        </p:blipFill>
        <p:spPr>
          <a:xfrm>
            <a:off x="1207008" y="2340864"/>
            <a:ext cx="356616" cy="356616"/>
          </a:xfrm>
          <a:prstGeom prst="rect">
            <a:avLst/>
          </a:prstGeom>
        </p:spPr>
      </p:pic>
      <p:sp>
        <p:nvSpPr>
          <p:cNvPr id="14" name="TextBox 13"/>
          <p:cNvSpPr txBox="1"/>
          <p:nvPr/>
        </p:nvSpPr>
        <p:spPr>
          <a:xfrm>
            <a:off x="1892807" y="2176272"/>
            <a:ext cx="3835908" cy="685800"/>
          </a:xfrm>
          <a:prstGeom prst="rect">
            <a:avLst/>
          </a:prstGeom>
          <a:noFill/>
        </p:spPr>
        <p:txBody>
          <a:bodyPr wrap="square" lIns="0" rIns="0" tIns="0" bIns="0" anchor="ctr"/>
          <a:lstStyle/>
          <a:p>
            <a:pPr algn="l">
              <a:spcAft>
                <a:spcPts val="0"/>
              </a:spcAft>
              <a:buNone/>
            </a:pPr>
            <a:r>
              <a:rPr sz="1700" b="1" i="0">
                <a:solidFill>
                  <a:srgbClr val="0E1F53"/>
                </a:solidFill>
                <a:latin typeface="Roboto"/>
              </a:rPr>
              <a:t>Jonas, 20</a:t>
            </a:r>
          </a:p>
          <a:p>
            <a:pPr algn="l">
              <a:spcAft>
                <a:spcPts val="0"/>
              </a:spcAft>
              <a:buNone/>
            </a:pPr>
            <a:r>
              <a:rPr sz="1200" b="0" i="0">
                <a:solidFill>
                  <a:srgbClr val="5A6684"/>
                </a:solidFill>
                <a:latin typeface="Roboto"/>
              </a:rPr>
              <a:t>Bachelor, 3. Semester · pendelt 55 Min.</a:t>
            </a:r>
          </a:p>
        </p:txBody>
      </p:sp>
      <p:sp>
        <p:nvSpPr>
          <p:cNvPr id="15" name="TextBox 14"/>
          <p:cNvSpPr txBox="1"/>
          <p:nvPr/>
        </p:nvSpPr>
        <p:spPr>
          <a:xfrm>
            <a:off x="1042416" y="3017520"/>
            <a:ext cx="4713731" cy="1188720"/>
          </a:xfrm>
          <a:prstGeom prst="rect">
            <a:avLst/>
          </a:prstGeom>
          <a:noFill/>
        </p:spPr>
        <p:txBody>
          <a:bodyPr wrap="square" lIns="0" rIns="0" tIns="0" bIns="0" anchor="t"/>
          <a:lstStyle/>
          <a:p>
            <a:pPr algn="l">
              <a:spcAft>
                <a:spcPts val="400"/>
              </a:spcAft>
              <a:buNone/>
            </a:pPr>
            <a:r>
              <a:rPr sz="1250" b="1" i="0">
                <a:solidFill>
                  <a:srgbClr val="1E8E4E"/>
                </a:solidFill>
                <a:latin typeface="Roboto"/>
              </a:rPr>
              <a:t>Ziele: </a:t>
            </a:r>
            <a:r>
              <a:rPr sz="1250" b="0" i="0">
                <a:solidFill>
                  <a:srgbClr val="0E1F53"/>
                </a:solidFill>
                <a:latin typeface="Roboto"/>
              </a:rPr>
              <a:t>Abschluss in Regelstudienzeit, Nebenjob halten</a:t>
            </a:r>
          </a:p>
          <a:p>
            <a:pPr algn="l">
              <a:spcAft>
                <a:spcPts val="400"/>
              </a:spcAft>
              <a:buNone/>
            </a:pPr>
            <a:r>
              <a:rPr sz="1250" b="1" i="0">
                <a:solidFill>
                  <a:srgbClr val="FB2762"/>
                </a:solidFill>
                <a:latin typeface="Roboto"/>
              </a:rPr>
              <a:t>Frust: </a:t>
            </a:r>
            <a:r>
              <a:rPr sz="1250" b="0" i="0">
                <a:solidFill>
                  <a:srgbClr val="0E1F53"/>
                </a:solidFill>
                <a:latin typeface="Roboto"/>
              </a:rPr>
              <a:t>Pendelzeit, Freistunden ohne Sinn, Campus wirkt leer</a:t>
            </a:r>
          </a:p>
          <a:p>
            <a:pPr algn="l">
              <a:spcAft>
                <a:spcPts val="400"/>
              </a:spcAft>
              <a:buNone/>
            </a:pPr>
            <a:r>
              <a:rPr sz="1250" b="0" i="1">
                <a:solidFill>
                  <a:srgbClr val="5A6684"/>
                </a:solidFill>
                <a:latin typeface="Roboto"/>
              </a:rPr>
              <a:t>„Wofür soll ich extra hinfahren?“</a:t>
            </a:r>
          </a:p>
        </p:txBody>
      </p:sp>
      <p:sp>
        <p:nvSpPr>
          <p:cNvPr id="16" name="Rounded Rectangle 15"/>
          <p:cNvSpPr/>
          <p:nvPr/>
        </p:nvSpPr>
        <p:spPr>
          <a:xfrm>
            <a:off x="6231636" y="2011680"/>
            <a:ext cx="5116068"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32803" y="2176272"/>
            <a:ext cx="685800" cy="6858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UserRound_w.png"/>
          <p:cNvPicPr>
            <a:picLocks noChangeAspect="1"/>
          </p:cNvPicPr>
          <p:nvPr/>
        </p:nvPicPr>
        <p:blipFill>
          <a:blip r:embed="rId3"/>
          <a:stretch>
            <a:fillRect/>
          </a:stretch>
        </p:blipFill>
        <p:spPr>
          <a:xfrm>
            <a:off x="6597395" y="2340864"/>
            <a:ext cx="356616" cy="356616"/>
          </a:xfrm>
          <a:prstGeom prst="rect">
            <a:avLst/>
          </a:prstGeom>
        </p:spPr>
      </p:pic>
      <p:sp>
        <p:nvSpPr>
          <p:cNvPr id="19" name="TextBox 18"/>
          <p:cNvSpPr txBox="1"/>
          <p:nvPr/>
        </p:nvSpPr>
        <p:spPr>
          <a:xfrm>
            <a:off x="7283196" y="2176272"/>
            <a:ext cx="3835908" cy="685800"/>
          </a:xfrm>
          <a:prstGeom prst="rect">
            <a:avLst/>
          </a:prstGeom>
          <a:noFill/>
        </p:spPr>
        <p:txBody>
          <a:bodyPr wrap="square" lIns="0" rIns="0" tIns="0" bIns="0" anchor="ctr"/>
          <a:lstStyle/>
          <a:p>
            <a:pPr algn="l">
              <a:spcAft>
                <a:spcPts val="0"/>
              </a:spcAft>
              <a:buNone/>
            </a:pPr>
            <a:r>
              <a:rPr sz="1700" b="1" i="0">
                <a:solidFill>
                  <a:srgbClr val="0E1F53"/>
                </a:solidFill>
                <a:latin typeface="Roboto"/>
              </a:rPr>
              <a:t>Priya, 25</a:t>
            </a:r>
          </a:p>
          <a:p>
            <a:pPr algn="l">
              <a:spcAft>
                <a:spcPts val="0"/>
              </a:spcAft>
              <a:buNone/>
            </a:pPr>
            <a:r>
              <a:rPr sz="1200" b="0" i="0">
                <a:solidFill>
                  <a:srgbClr val="5A6684"/>
                </a:solidFill>
                <a:latin typeface="Roboto"/>
              </a:rPr>
              <a:t>Master, aus Indien · wohnt in Kleve</a:t>
            </a:r>
          </a:p>
        </p:txBody>
      </p:sp>
      <p:sp>
        <p:nvSpPr>
          <p:cNvPr id="20" name="TextBox 19"/>
          <p:cNvSpPr txBox="1"/>
          <p:nvPr/>
        </p:nvSpPr>
        <p:spPr>
          <a:xfrm>
            <a:off x="6432803" y="3017520"/>
            <a:ext cx="4713731" cy="1188720"/>
          </a:xfrm>
          <a:prstGeom prst="rect">
            <a:avLst/>
          </a:prstGeom>
          <a:noFill/>
        </p:spPr>
        <p:txBody>
          <a:bodyPr wrap="square" lIns="0" rIns="0" tIns="0" bIns="0" anchor="t"/>
          <a:lstStyle/>
          <a:p>
            <a:pPr algn="l">
              <a:spcAft>
                <a:spcPts val="400"/>
              </a:spcAft>
              <a:buNone/>
            </a:pPr>
            <a:r>
              <a:rPr sz="1250" b="1" i="0">
                <a:solidFill>
                  <a:srgbClr val="1E8E4E"/>
                </a:solidFill>
                <a:latin typeface="Roboto"/>
              </a:rPr>
              <a:t>Ziele: </a:t>
            </a:r>
            <a:r>
              <a:rPr sz="1250" b="0" i="0">
                <a:solidFill>
                  <a:srgbClr val="0E1F53"/>
                </a:solidFill>
                <a:latin typeface="Roboto"/>
              </a:rPr>
              <a:t>Kontakte knüpfen, Werkstudentenjob, in Deutschland bleiben</a:t>
            </a:r>
          </a:p>
          <a:p>
            <a:pPr algn="l">
              <a:spcAft>
                <a:spcPts val="400"/>
              </a:spcAft>
              <a:buNone/>
            </a:pPr>
            <a:r>
              <a:rPr sz="1250" b="1" i="0">
                <a:solidFill>
                  <a:srgbClr val="FB2762"/>
                </a:solidFill>
                <a:latin typeface="Roboto"/>
              </a:rPr>
              <a:t>Frust: </a:t>
            </a:r>
            <a:r>
              <a:rPr sz="1250" b="0" i="0">
                <a:solidFill>
                  <a:srgbClr val="0E1F53"/>
                </a:solidFill>
                <a:latin typeface="Roboto"/>
              </a:rPr>
              <a:t>Wenig Austausch mit Deutschen und mit Unternehmen</a:t>
            </a:r>
          </a:p>
          <a:p>
            <a:pPr algn="l">
              <a:spcAft>
                <a:spcPts val="400"/>
              </a:spcAft>
              <a:buNone/>
            </a:pPr>
            <a:r>
              <a:rPr sz="1250" b="0" i="1">
                <a:solidFill>
                  <a:srgbClr val="5A6684"/>
                </a:solidFill>
                <a:latin typeface="Roboto"/>
              </a:rPr>
              <a:t>„Ich will die Region kennenlernen, nicht nur den Hörsaal.“</a:t>
            </a:r>
          </a:p>
        </p:txBody>
      </p:sp>
      <p:sp>
        <p:nvSpPr>
          <p:cNvPr id="21" name="Rounded Rectangle 20"/>
          <p:cNvSpPr/>
          <p:nvPr/>
        </p:nvSpPr>
        <p:spPr>
          <a:xfrm>
            <a:off x="841248" y="4709160"/>
            <a:ext cx="10506456"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15568" y="4709160"/>
            <a:ext cx="9957816" cy="566928"/>
          </a:xfrm>
          <a:prstGeom prst="rect">
            <a:avLst/>
          </a:prstGeom>
          <a:noFill/>
        </p:spPr>
        <p:txBody>
          <a:bodyPr wrap="square" lIns="0" rIns="0" tIns="0" bIns="0" anchor="ctr"/>
          <a:lstStyle/>
          <a:p>
            <a:pPr algn="l">
              <a:spcAft>
                <a:spcPts val="400"/>
              </a:spcAft>
              <a:buNone/>
            </a:pPr>
            <a:r>
              <a:rPr sz="1350" b="1" i="0">
                <a:solidFill>
                  <a:srgbClr val="FB2762"/>
                </a:solidFill>
                <a:latin typeface="Roboto"/>
              </a:rPr>
              <a:t>POV: </a:t>
            </a:r>
            <a:r>
              <a:rPr sz="1350" b="0" i="0">
                <a:solidFill>
                  <a:srgbClr val="0E1F53"/>
                </a:solidFill>
                <a:latin typeface="Roboto"/>
              </a:rPr>
              <a:t>Jonas braucht einen Grund für den Campus, der mehr bietet als eine Vorlesung, weil er Inhalte auch online bekommt.</a:t>
            </a:r>
          </a:p>
        </p:txBody>
      </p:sp>
      <p:sp>
        <p:nvSpPr>
          <p:cNvPr id="23" name="Rounded Rectangle 22"/>
          <p:cNvSpPr/>
          <p:nvPr/>
        </p:nvSpPr>
        <p:spPr>
          <a:xfrm>
            <a:off x="841248" y="5413248"/>
            <a:ext cx="10506456" cy="56692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413248"/>
            <a:ext cx="9957816" cy="566928"/>
          </a:xfrm>
          <a:prstGeom prst="rect">
            <a:avLst/>
          </a:prstGeom>
          <a:noFill/>
        </p:spPr>
        <p:txBody>
          <a:bodyPr wrap="square" lIns="0" rIns="0" tIns="0" bIns="0" anchor="ctr"/>
          <a:lstStyle/>
          <a:p>
            <a:pPr algn="l">
              <a:spcAft>
                <a:spcPts val="400"/>
              </a:spcAft>
              <a:buNone/>
            </a:pPr>
            <a:r>
              <a:rPr sz="1450" b="1" i="0">
                <a:solidFill>
                  <a:srgbClr val="9FD0FF"/>
                </a:solidFill>
                <a:latin typeface="Roboto"/>
              </a:rPr>
              <a:t>Wie können wir </a:t>
            </a:r>
            <a:r>
              <a:rPr sz="1450" b="1" i="0">
                <a:solidFill>
                  <a:srgbClr val="FFFFFF"/>
                </a:solidFill>
                <a:latin typeface="Roboto"/>
              </a:rPr>
              <a:t>Präsenztage so gestalten, dass sie einen Mehrwert bieten, den es online nicht gibt?</a:t>
            </a:r>
          </a:p>
        </p:txBody>
      </p:sp>
      <p:sp>
        <p:nvSpPr>
          <p:cNvPr id="25" name="TextBox 24"/>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20 MIN.</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Sichtweise definieren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Clustern Sie Ihre Erkenntnisse aus Phase 2 (oder die Beispieldaten auf dem Tisch).</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Formulieren Sie ein POV-Statement: [Person] braucht [Bedürfnis], weil [Erkenntnis].</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Leiten Sie drei „Wie können wir …?“-Fragen ab und wählen Sie eine aus.</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20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Insight-Cluster, Persona, Customer Journey, Point of View, „Wie können wir …?“-Fragen</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„Insight-Analyst“ aus der Prompt-Bibliothek und füllen Sie die [Klammern] aus.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6 · Lösungsraum</a:t>
            </a:r>
          </a:p>
        </p:txBody>
      </p:sp>
      <p:sp>
        <p:nvSpPr>
          <p:cNvPr id="3" name="Text Placeholder 2"/>
          <p:cNvSpPr>
            <a:spLocks noGrp="1"/>
          </p:cNvSpPr>
          <p:nvPr>
            <p:ph type="body" idx="11" sz="quarter"/>
          </p:nvPr>
        </p:nvSpPr>
        <p:spPr/>
        <p:txBody>
          <a:bodyPr/>
          <a:lstStyle/>
          <a:p>
            <a:r>
              <a:rPr b="0" sz="2000"/>
              <a:t>Phasen 4–6: Ideen finden, Prototypen entwickeln, Testen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4 · Ideen finden</a:t>
            </a:r>
          </a:p>
        </p:txBody>
      </p:sp>
      <p:sp>
        <p:nvSpPr>
          <p:cNvPr id="3" name="Oval 2"/>
          <p:cNvSpPr/>
          <p:nvPr/>
        </p:nvSpPr>
        <p:spPr>
          <a:xfrm>
            <a:off x="92445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4: Ideen finden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Wie könnten wir es lösen? Erst viele Ideen, dann die besten.</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Viele, auch ungewöhnliche Lösungsideen entwickeln und die vielversprechendsten auswählen.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Brainwriting, Crazy 8s, Analogien &amp; SCAMPER, Dot-Voting</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Ideenspeicher, bewertete Ideen (Nutzen-Aufwand-Matrix), 1–3 Ideen für Prototypen</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Ideen-Sparringspartner</a:t>
            </a:r>
            <a:r>
              <a:rPr sz="1500" b="0" i="0">
                <a:solidFill>
                  <a:srgbClr val="0E1F53"/>
                </a:solidFill>
                <a:latin typeface="Roboto"/>
              </a:rPr>
              <a:t> – erweitert den Ideenspeicher und hilft beim Bewerten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Ideen beantworten unsere „Wie können wir …?“-Frage direkt?</a:t>
            </a:r>
          </a:p>
          <a:p>
            <a:pPr algn="l" marL="164592" indent="-164592">
              <a:spcAft>
                <a:spcPts val="700"/>
              </a:spcAft>
              <a:buClr>
                <a:srgbClr val="FB2762"/>
              </a:buClr>
              <a:buFont typeface="Arial"/>
              <a:buChar char="?"/>
            </a:pPr>
            <a:r>
              <a:rPr sz="1350" b="0" i="0">
                <a:solidFill>
                  <a:srgbClr val="FFFFFF"/>
                </a:solidFill>
                <a:latin typeface="Roboto"/>
              </a:rPr>
              <a:t>Wie würde eine ganz andere Branche das lösen: Hotel, Fitnessstudio, Gaming?</a:t>
            </a:r>
          </a:p>
          <a:p>
            <a:pPr algn="l" marL="164592" indent="-164592">
              <a:spcAft>
                <a:spcPts val="700"/>
              </a:spcAft>
              <a:buClr>
                <a:srgbClr val="FB2762"/>
              </a:buClr>
              <a:buFont typeface="Arial"/>
              <a:buChar char="?"/>
            </a:pPr>
            <a:r>
              <a:rPr sz="1350" b="0" i="0">
                <a:solidFill>
                  <a:srgbClr val="FFFFFF"/>
                </a:solidFill>
                <a:latin typeface="Roboto"/>
              </a:rPr>
              <a:t>Was ist die verrückteste Idee, und was steckt Brauchbares darin?</a:t>
            </a:r>
          </a:p>
          <a:p>
            <a:pPr algn="l" marL="164592" indent="-164592">
              <a:spcAft>
                <a:spcPts val="700"/>
              </a:spcAft>
              <a:buClr>
                <a:srgbClr val="FB2762"/>
              </a:buClr>
              <a:buFont typeface="Arial"/>
              <a:buChar char="?"/>
            </a:pPr>
            <a:r>
              <a:rPr sz="1350" b="0" i="0">
                <a:solidFill>
                  <a:srgbClr val="FFFFFF"/>
                </a:solidFill>
                <a:latin typeface="Roboto"/>
              </a:rPr>
              <a:t>Welche Ideen lassen sich kombinieren?</a:t>
            </a:r>
          </a:p>
          <a:p>
            <a:pPr algn="l" marL="164592" indent="-164592">
              <a:spcAft>
                <a:spcPts val="700"/>
              </a:spcAft>
              <a:buClr>
                <a:srgbClr val="FB2762"/>
              </a:buClr>
              <a:buFont typeface="Arial"/>
              <a:buChar char="?"/>
            </a:pPr>
            <a:r>
              <a:rPr sz="1350" b="0" i="0">
                <a:solidFill>
                  <a:srgbClr val="FFFFFF"/>
                </a:solidFill>
                <a:latin typeface="Roboto"/>
              </a:rPr>
              <a:t>Welche Idee bringt den größten Nutzen bei vertretbarem Aufwand?</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PencilRuler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Brainwriting 6-3-5</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6 Personen, je 3 Ideen, 5 Minuten, dann weitergeben und ergänzen.</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Crazy 8s</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 Blatt, acht Felder, acht Minuten: eine Skizze pro Minute.</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lobe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Analogien &amp; SCAMPER</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Ideen aus anderen Branchen übertragen, bestehende Ideen systematisch abwandeln.</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Check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Dot-Voting &amp; Matrix</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Jede Person 3 Punkte. Danach Nutzen gegen Aufwand einordnen.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Bot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Ideen-Sparringspartner</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Erst selbst denken, dann die KI ergänzen lassen</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„Hier sind unsere 20 Ideen. Ergänze 15, die in eine ganz andere Richtung gehen.“</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Globe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Analogie-Generator</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Lösungen aus fremden Branchen übertragen</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„Wie sorgen Hotels, Fitnessstudios und Online-Spiele dafür, dass Menschen wiederkommen?“</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RefreshCw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SCAMPER per Prompt</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Eine Idee systematisch in Varianten weiterdenken</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„Wende SCAMPER auf Idee 7 an: je Buchstabe eine Variante.“</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ChartColumn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Bewertungshilfe</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Vorschlag zur Bewertung, das Team entscheidet</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„Bewerte die Ideen nach Nutzen für die Persona, Aufwand und Risiko (1–5) mit Begründung.“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Ideen-Sparringspartner</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Ideen-Sparringspartner</a:t>
            </a:r>
          </a:p>
        </p:txBody>
      </p:sp>
      <p:sp>
        <p:nvSpPr>
          <p:cNvPr id="17" name="Rounded Rectangle 16"/>
          <p:cNvSpPr/>
          <p:nvPr/>
        </p:nvSpPr>
        <p:spPr>
          <a:xfrm>
            <a:off x="969264" y="2487168"/>
            <a:ext cx="7470648" cy="54344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470288"/>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ein kreativer Ideen-Sparringspartner und Moderator für Brainstormings mit Methoden wie SCAMPER und Analogiedenken.</a:t>
            </a:r>
          </a:p>
        </p:txBody>
      </p:sp>
      <p:sp>
        <p:nvSpPr>
          <p:cNvPr id="20" name="Rounded Rectangle 19"/>
          <p:cNvSpPr/>
          <p:nvPr/>
        </p:nvSpPr>
        <p:spPr>
          <a:xfrm>
            <a:off x="969264" y="3094616"/>
            <a:ext cx="7470648" cy="59243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149480"/>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131192"/>
            <a:ext cx="6309360" cy="519287"/>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4 „Ideen finden“. Persona: [Kurzprofil]. Point of View: [Statement]. Unsere Frage: [Wie können wir …?]. Rahmen: [Budget, Zeit].</a:t>
            </a:r>
          </a:p>
        </p:txBody>
      </p:sp>
      <p:sp>
        <p:nvSpPr>
          <p:cNvPr id="23" name="Rounded Rectangle 22"/>
          <p:cNvSpPr/>
          <p:nvPr/>
        </p:nvSpPr>
        <p:spPr>
          <a:xfrm>
            <a:off x="969264" y="3751064"/>
            <a:ext cx="7470648" cy="423171"/>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805928"/>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87640"/>
            <a:ext cx="6309360" cy="350019"/>
          </a:xfrm>
          <a:prstGeom prst="rect">
            <a:avLst/>
          </a:prstGeom>
          <a:noFill/>
        </p:spPr>
        <p:txBody>
          <a:bodyPr wrap="square" lIns="0" rIns="0" tIns="0" bIns="0" anchor="ctr"/>
          <a:lstStyle/>
          <a:p>
            <a:pPr algn="l">
              <a:spcAft>
                <a:spcPts val="0"/>
              </a:spcAft>
              <a:buNone/>
            </a:pPr>
            <a:r>
              <a:rPr sz="1150" b="0" i="0">
                <a:solidFill>
                  <a:srgbClr val="1B2440"/>
                </a:solidFill>
                <a:latin typeface="Roboto"/>
              </a:rPr>
              <a:t>Erweitere unseren Ideenspeicher und hilf uns bei der Auswahl.</a:t>
            </a:r>
          </a:p>
        </p:txBody>
      </p:sp>
      <p:sp>
        <p:nvSpPr>
          <p:cNvPr id="26" name="Rounded Rectangle 25"/>
          <p:cNvSpPr/>
          <p:nvPr/>
        </p:nvSpPr>
        <p:spPr>
          <a:xfrm>
            <a:off x="969264" y="4238244"/>
            <a:ext cx="7470648" cy="66371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29310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274820"/>
            <a:ext cx="6309360" cy="590558"/>
          </a:xfrm>
          <a:prstGeom prst="rect">
            <a:avLst/>
          </a:prstGeom>
          <a:noFill/>
        </p:spPr>
        <p:txBody>
          <a:bodyPr wrap="square" lIns="0" rIns="0" tIns="0" bIns="0" anchor="ctr"/>
          <a:lstStyle/>
          <a:p>
            <a:pPr algn="l">
              <a:spcAft>
                <a:spcPts val="0"/>
              </a:spcAft>
              <a:buNone/>
            </a:pPr>
            <a:r>
              <a:rPr sz="1150" b="0" i="0">
                <a:solidFill>
                  <a:srgbClr val="1B2440"/>
                </a:solidFill>
                <a:latin typeface="Roboto"/>
              </a:rPr>
              <a:t>1. Lies unsere Ideen. 2. Ergänze 15 neue aus 3 Richtungen: naheliegend, Analogie, radikal. 3. Kombiniere 3 Ideen zu neuen Konzepten. 4. Bewerte alle.</a:t>
            </a:r>
          </a:p>
        </p:txBody>
      </p:sp>
      <p:sp>
        <p:nvSpPr>
          <p:cNvPr id="29" name="Rounded Rectangle 28"/>
          <p:cNvSpPr/>
          <p:nvPr/>
        </p:nvSpPr>
        <p:spPr>
          <a:xfrm>
            <a:off x="969264" y="4965962"/>
            <a:ext cx="7470648" cy="472170"/>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2082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02538"/>
            <a:ext cx="6309360" cy="399018"/>
          </a:xfrm>
          <a:prstGeom prst="rect">
            <a:avLst/>
          </a:prstGeom>
          <a:noFill/>
        </p:spPr>
        <p:txBody>
          <a:bodyPr wrap="square" lIns="0" rIns="0" tIns="0" bIns="0" anchor="ctr"/>
          <a:lstStyle/>
          <a:p>
            <a:pPr algn="l">
              <a:spcAft>
                <a:spcPts val="0"/>
              </a:spcAft>
              <a:buNone/>
            </a:pPr>
            <a:r>
              <a:rPr sz="1150" b="0" i="0">
                <a:solidFill>
                  <a:srgbClr val="1B2440"/>
                </a:solidFill>
                <a:latin typeface="Roboto"/>
              </a:rPr>
              <a:t>Tabelle: Nr. | Titel | Idee in 1 Satz | Richtung | Nutzen | Aufwand | Risiko. Danach Top 3 mit Begründung.</a:t>
            </a:r>
          </a:p>
        </p:txBody>
      </p:sp>
      <p:sp>
        <p:nvSpPr>
          <p:cNvPr id="32" name="Rounded Rectangle 31"/>
          <p:cNvSpPr/>
          <p:nvPr/>
        </p:nvSpPr>
        <p:spPr>
          <a:xfrm>
            <a:off x="969264" y="5502140"/>
            <a:ext cx="7470648" cy="423171"/>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57004"/>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38716"/>
            <a:ext cx="6309360" cy="350019"/>
          </a:xfrm>
          <a:prstGeom prst="rect">
            <a:avLst/>
          </a:prstGeom>
          <a:noFill/>
        </p:spPr>
        <p:txBody>
          <a:bodyPr wrap="square" lIns="0" rIns="0" tIns="0" bIns="0" anchor="ctr"/>
          <a:lstStyle/>
          <a:p>
            <a:pPr algn="l">
              <a:spcAft>
                <a:spcPts val="0"/>
              </a:spcAft>
              <a:buNone/>
            </a:pPr>
            <a:r>
              <a:rPr sz="1150" b="0" i="0">
                <a:solidFill>
                  <a:srgbClr val="1B2440"/>
                </a:solidFill>
                <a:latin typeface="Roboto"/>
              </a:rPr>
              <a:t>Keine Idee vorab verwerfen. Unsere Ideen nicht wiederholen. Die finale Auswahl trifft das Team.</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ideen-bewertung/SKILL.md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ideen-bewertung</a:t>
            </a:r>
          </a:p>
          <a:p>
            <a:pPr algn="l">
              <a:spcAft>
                <a:spcPts val="150"/>
              </a:spcAft>
              <a:buNone/>
            </a:pPr>
            <a:r>
              <a:rPr sz="1050" b="0" i="0">
                <a:solidFill>
                  <a:srgbClr val="7FE0A7"/>
                </a:solidFill>
                <a:latin typeface="Roboto Mono"/>
              </a:rPr>
              <a:t>description: Bewertet Ideen mit</a:t>
            </a:r>
          </a:p>
          <a:p>
            <a:pPr algn="l">
              <a:spcAft>
                <a:spcPts val="150"/>
              </a:spcAft>
              <a:buNone/>
            </a:pPr>
            <a:r>
              <a:rPr sz="1050" b="0" i="0">
                <a:solidFill>
                  <a:srgbClr val="7FE0A7"/>
                </a:solidFill>
                <a:latin typeface="Roboto Mono"/>
              </a:rPr>
              <a:t>  einer Nutzen-Aufwand-Matrix.</a:t>
            </a:r>
          </a:p>
          <a:p>
            <a:pPr algn="l">
              <a:spcAft>
                <a:spcPts val="150"/>
              </a:spcAft>
              <a:buNone/>
            </a:pPr>
            <a:r>
              <a:rPr sz="1050" b="0" i="0">
                <a:solidFill>
                  <a:srgbClr val="7FE0A7"/>
                </a:solidFill>
                <a:latin typeface="Roboto Mono"/>
              </a:rPr>
              <a:t>  Nutzen nach Brainstormings.</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Ideen bewerten</a:t>
            </a:r>
          </a:p>
          <a:p>
            <a:pPr algn="l">
              <a:spcAft>
                <a:spcPts val="150"/>
              </a:spcAft>
              <a:buNone/>
            </a:pPr>
            <a:r>
              <a:rPr sz="1050" b="0" i="0">
                <a:solidFill>
                  <a:srgbClr val="C9D6EE"/>
                </a:solidFill>
                <a:latin typeface="Roboto Mono"/>
              </a:rPr>
              <a:t>1. Kriterien: Nutzen, Aufwand,</a:t>
            </a:r>
          </a:p>
          <a:p>
            <a:pPr algn="l">
              <a:spcAft>
                <a:spcPts val="150"/>
              </a:spcAft>
              <a:buNone/>
            </a:pPr>
            <a:r>
              <a:rPr sz="1050" b="0" i="0">
                <a:solidFill>
                  <a:srgbClr val="C9D6EE"/>
                </a:solidFill>
                <a:latin typeface="Roboto Mono"/>
              </a:rPr>
              <a:t>   Risiko, Strategie-Fit</a:t>
            </a:r>
          </a:p>
          <a:p>
            <a:pPr algn="l">
              <a:spcAft>
                <a:spcPts val="150"/>
              </a:spcAft>
              <a:buNone/>
            </a:pPr>
            <a:r>
              <a:rPr sz="1050" b="0" i="0">
                <a:solidFill>
                  <a:srgbClr val="C9D6EE"/>
                </a:solidFill>
                <a:latin typeface="Roboto Mono"/>
              </a:rPr>
              <a:t>2. Skala 1–5 mit Begründung</a:t>
            </a:r>
          </a:p>
          <a:p>
            <a:pPr algn="l">
              <a:spcAft>
                <a:spcPts val="150"/>
              </a:spcAft>
              <a:buNone/>
            </a:pPr>
            <a:r>
              <a:rPr sz="1050" b="0" i="0">
                <a:solidFill>
                  <a:srgbClr val="C9D6EE"/>
                </a:solidFill>
                <a:latin typeface="Roboto Mono"/>
              </a:rPr>
              <a:t>3. Felder: Quick Win, Großprojekt,</a:t>
            </a:r>
          </a:p>
          <a:p>
            <a:pPr algn="l">
              <a:spcAft>
                <a:spcPts val="150"/>
              </a:spcAft>
              <a:buNone/>
            </a:pPr>
            <a:r>
              <a:rPr sz="1050" b="0" i="0">
                <a:solidFill>
                  <a:srgbClr val="C9D6EE"/>
                </a:solidFill>
                <a:latin typeface="Roboto Mono"/>
              </a:rPr>
              <a:t>   Füller, Zeitfresser</a:t>
            </a:r>
          </a:p>
          <a:p>
            <a:pPr algn="l">
              <a:spcAft>
                <a:spcPts val="150"/>
              </a:spcAft>
              <a:buNone/>
            </a:pPr>
            <a:r>
              <a:rPr sz="1050" b="0" i="0">
                <a:solidFill>
                  <a:srgbClr val="FFC56B"/>
                </a:solidFill>
                <a:latin typeface="Roboto Mono"/>
              </a:rPr>
              <a:t>Ausgabe: Tabelle + Matrix (xlsx)</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Der digitale Ideen-Briefkasten</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ClipboardList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Idee per</a:t>
            </a:r>
          </a:p>
          <a:p>
            <a:pPr algn="ctr">
              <a:spcAft>
                <a:spcPts val="0"/>
              </a:spcAft>
              <a:buNone/>
            </a:pPr>
            <a:r>
              <a:rPr sz="1150" b="1" i="0">
                <a:solidFill>
                  <a:srgbClr val="0E1F53"/>
                </a:solidFill>
                <a:latin typeface="Roboto"/>
              </a:rPr>
              <a:t>Formular</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ergänzt</a:t>
            </a:r>
          </a:p>
          <a:p>
            <a:pPr algn="ctr">
              <a:spcAft>
                <a:spcPts val="0"/>
              </a:spcAft>
              <a:buNone/>
            </a:pPr>
            <a:r>
              <a:rPr sz="1150" b="1" i="0">
                <a:solidFill>
                  <a:srgbClr val="0E1F53"/>
                </a:solidFill>
                <a:latin typeface="Roboto"/>
              </a:rPr>
              <a:t>&amp; bewertet</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artColumn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Ideenspeicher</a:t>
            </a:r>
          </a:p>
          <a:p>
            <a:pPr algn="ctr">
              <a:spcAft>
                <a:spcPts val="0"/>
              </a:spcAft>
              <a:buNone/>
            </a:pPr>
            <a:r>
              <a:rPr sz="1150" b="1" i="0">
                <a:solidFill>
                  <a:srgbClr val="0E1F53"/>
                </a:solidFill>
                <a:latin typeface="Roboto"/>
              </a:rPr>
              <a:t>(Tabelle)</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ail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Monatsreport</a:t>
            </a:r>
          </a:p>
          <a:p>
            <a:pPr algn="ctr">
              <a:spcAft>
                <a:spcPts val="0"/>
              </a:spcAft>
              <a:buNone/>
            </a:pPr>
            <a:r>
              <a:rPr sz="1150" b="1" i="0">
                <a:solidFill>
                  <a:srgbClr val="0E1F53"/>
                </a:solidFill>
                <a:latin typeface="Roboto"/>
              </a:rPr>
              <a:t>an GF</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Ideen kommen jederzeit, nicht nur im Workshop. Der Agent sammelt, ordnet und bereitet die Entscheidung vor.</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pptx</a:t>
            </a:r>
          </a:p>
        </p:txBody>
      </p:sp>
      <p:sp>
        <p:nvSpPr>
          <p:cNvPr id="42" name="Rounded Rectangle 41"/>
          <p:cNvSpPr/>
          <p:nvPr/>
        </p:nvSpPr>
        <p:spPr>
          <a:xfrm>
            <a:off x="6135623" y="5376672"/>
            <a:ext cx="11658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theme-factory</a:t>
            </a:r>
          </a:p>
        </p:txBody>
      </p:sp>
      <p:sp>
        <p:nvSpPr>
          <p:cNvPr id="43" name="TextBox 42"/>
          <p:cNvSpPr txBox="1"/>
          <p:nvPr/>
        </p:nvSpPr>
        <p:spPr>
          <a:xfrm>
            <a:off x="7502651" y="5321808"/>
            <a:ext cx="366217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Ideen-Pitch als Präsentation aufbereiten, einheitlich gestaltet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Ideen-Sparringspartner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Ideen-Sparringspartner · Hochschule Rhein-Waal</a:t>
            </a:r>
          </a:p>
        </p:txBody>
      </p:sp>
      <p:sp>
        <p:nvSpPr>
          <p:cNvPr id="17" name="Rounded Rectangle 16"/>
          <p:cNvSpPr/>
          <p:nvPr/>
        </p:nvSpPr>
        <p:spPr>
          <a:xfrm>
            <a:off x="969264" y="2487168"/>
            <a:ext cx="7242047" cy="406895"/>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Ideen-Sparringspartner für das Innovationsteam der Hochschule Rhein-Waal.</a:t>
            </a:r>
          </a:p>
        </p:txBody>
      </p:sp>
      <p:sp>
        <p:nvSpPr>
          <p:cNvPr id="20" name="Rounded Rectangle 19"/>
          <p:cNvSpPr/>
          <p:nvPr/>
        </p:nvSpPr>
        <p:spPr>
          <a:xfrm>
            <a:off x="969264" y="2958071"/>
            <a:ext cx="7242047" cy="938001"/>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12935"/>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2994647"/>
            <a:ext cx="6080759" cy="864849"/>
          </a:xfrm>
          <a:prstGeom prst="rect">
            <a:avLst/>
          </a:prstGeom>
          <a:noFill/>
        </p:spPr>
        <p:txBody>
          <a:bodyPr wrap="square" lIns="0" rIns="0" tIns="0" bIns="0" anchor="ctr"/>
          <a:lstStyle/>
          <a:p>
            <a:pPr algn="l">
              <a:spcAft>
                <a:spcPts val="0"/>
              </a:spcAft>
              <a:buNone/>
            </a:pPr>
            <a:r>
              <a:rPr sz="1150" b="0" i="0">
                <a:solidFill>
                  <a:srgbClr val="1B2440"/>
                </a:solidFill>
                <a:latin typeface="Roboto"/>
              </a:rPr>
              <a:t>Persona Jonas pendelt und kommt nur zu Pflichtterminen. Persona Priya sucht Kontakte und einen Job in der Region. Frage: Wie können wir Präsenztage so gestalten, dass sie einen Mehrwert bieten, den es online nicht gibt?</a:t>
            </a:r>
          </a:p>
        </p:txBody>
      </p:sp>
      <p:sp>
        <p:nvSpPr>
          <p:cNvPr id="23" name="Rounded Rectangle 22"/>
          <p:cNvSpPr/>
          <p:nvPr/>
        </p:nvSpPr>
        <p:spPr>
          <a:xfrm>
            <a:off x="969264" y="3960080"/>
            <a:ext cx="7242047" cy="40689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4014944"/>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996656"/>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Ergänze unsere 32 Ideen aus dem Workshop und bewerte alle.</a:t>
            </a:r>
          </a:p>
        </p:txBody>
      </p:sp>
      <p:sp>
        <p:nvSpPr>
          <p:cNvPr id="26" name="Rounded Rectangle 25"/>
          <p:cNvSpPr/>
          <p:nvPr/>
        </p:nvSpPr>
        <p:spPr>
          <a:xfrm>
            <a:off x="969264" y="4430983"/>
            <a:ext cx="7242047" cy="55252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48584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467559"/>
            <a:ext cx="6080759" cy="479369"/>
          </a:xfrm>
          <a:prstGeom prst="rect">
            <a:avLst/>
          </a:prstGeom>
          <a:noFill/>
        </p:spPr>
        <p:txBody>
          <a:bodyPr wrap="square" lIns="0" rIns="0" tIns="0" bIns="0" anchor="ctr"/>
          <a:lstStyle/>
          <a:p>
            <a:pPr algn="l">
              <a:spcAft>
                <a:spcPts val="0"/>
              </a:spcAft>
              <a:buNone/>
            </a:pPr>
            <a:r>
              <a:rPr sz="1150" b="0" i="0">
                <a:solidFill>
                  <a:srgbClr val="1B2440"/>
                </a:solidFill>
                <a:latin typeface="Roboto"/>
              </a:rPr>
              <a:t>1. 15 neue Ideen, u. a. Analogien aus Coworking, Vereinsleben, Gaming. 2. 3 Kombi-Konzepte. 3. Bewertung nach Nutzen und Aufwand.</a:t>
            </a:r>
          </a:p>
        </p:txBody>
      </p:sp>
      <p:sp>
        <p:nvSpPr>
          <p:cNvPr id="29" name="Rounded Rectangle 28"/>
          <p:cNvSpPr/>
          <p:nvPr/>
        </p:nvSpPr>
        <p:spPr>
          <a:xfrm>
            <a:off x="969264" y="5047513"/>
            <a:ext cx="7242047" cy="40689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102377"/>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84089"/>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Ideentabelle und Nutzen-Aufwand-Matrix, Top 3 mit Begründung.</a:t>
            </a:r>
          </a:p>
        </p:txBody>
      </p:sp>
      <p:sp>
        <p:nvSpPr>
          <p:cNvPr id="32" name="Rounded Rectangle 31"/>
          <p:cNvSpPr/>
          <p:nvPr/>
        </p:nvSpPr>
        <p:spPr>
          <a:xfrm>
            <a:off x="969264" y="5518416"/>
            <a:ext cx="7242047" cy="406895"/>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73280"/>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54992"/>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Rahmen beachten: Pilot im nächsten Semester, kleines Budget. Entscheidung trifft das Team.</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Lightbulb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Ideen-Sparringspartner</a:t>
            </a:r>
          </a:p>
          <a:p>
            <a:pPr algn="l">
              <a:spcAft>
                <a:spcPts val="0"/>
              </a:spcAft>
              <a:buNone/>
            </a:pPr>
            <a:r>
              <a:rPr sz="1100" b="0" i="0">
                <a:solidFill>
                  <a:srgbClr val="5A6684"/>
                </a:solidFill>
                <a:latin typeface="Roboto"/>
              </a:rPr>
              <a:t>Phase 4</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ideen-bewertung</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Tabelle (xlsx)</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Ideen-Briefkasten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4: Ideen bewertet, Favorit gewählt</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ectangle 10"/>
          <p:cNvSpPr/>
          <p:nvPr/>
        </p:nvSpPr>
        <p:spPr>
          <a:xfrm>
            <a:off x="1344168" y="2011680"/>
            <a:ext cx="2560320" cy="1828800"/>
          </a:xfrm>
          <a:prstGeom prst="rect">
            <a:avLst/>
          </a:prstGeom>
          <a:solidFill>
            <a:srgbClr val="E3F4EA"/>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53896" y="20848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Quick Wins</a:t>
            </a:r>
          </a:p>
        </p:txBody>
      </p:sp>
      <p:sp>
        <p:nvSpPr>
          <p:cNvPr id="13" name="Rectangle 12"/>
          <p:cNvSpPr/>
          <p:nvPr/>
        </p:nvSpPr>
        <p:spPr>
          <a:xfrm>
            <a:off x="3904487" y="2011680"/>
            <a:ext cx="2560320" cy="1828800"/>
          </a:xfrm>
          <a:prstGeom prst="rect">
            <a:avLst/>
          </a:prstGeom>
          <a:solidFill>
            <a:srgbClr val="E1EDF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014215" y="20848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Großprojekte</a:t>
            </a:r>
          </a:p>
        </p:txBody>
      </p:sp>
      <p:sp>
        <p:nvSpPr>
          <p:cNvPr id="15" name="Rectangle 14"/>
          <p:cNvSpPr/>
          <p:nvPr/>
        </p:nvSpPr>
        <p:spPr>
          <a:xfrm>
            <a:off x="1344168" y="3840480"/>
            <a:ext cx="2560320" cy="1828800"/>
          </a:xfrm>
          <a:prstGeom prst="rect">
            <a:avLst/>
          </a:prstGeom>
          <a:solidFill>
            <a:srgbClr val="F1F3F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53896" y="39136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Füller</a:t>
            </a:r>
          </a:p>
        </p:txBody>
      </p:sp>
      <p:sp>
        <p:nvSpPr>
          <p:cNvPr id="17" name="Rectangle 16"/>
          <p:cNvSpPr/>
          <p:nvPr/>
        </p:nvSpPr>
        <p:spPr>
          <a:xfrm>
            <a:off x="3904487" y="3840480"/>
            <a:ext cx="2560320" cy="1828800"/>
          </a:xfrm>
          <a:prstGeom prst="rect">
            <a:avLst/>
          </a:prstGeom>
          <a:solidFill>
            <a:srgbClr val="FAE1E3"/>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014215" y="39136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Zeitfresser</a:t>
            </a:r>
          </a:p>
        </p:txBody>
      </p:sp>
      <p:sp>
        <p:nvSpPr>
          <p:cNvPr id="19" name="TextBox 18"/>
          <p:cNvSpPr txBox="1"/>
          <p:nvPr/>
        </p:nvSpPr>
        <p:spPr>
          <a:xfrm rot="16200000">
            <a:off x="795528" y="2011680"/>
            <a:ext cx="457200" cy="3657600"/>
          </a:xfrm>
          <a:prstGeom prst="rect">
            <a:avLst/>
          </a:prstGeom>
          <a:noFill/>
        </p:spPr>
        <p:txBody>
          <a:bodyPr wrap="square" lIns="0" rIns="0" tIns="0" bIns="0" anchor="ctr"/>
          <a:lstStyle/>
          <a:p>
            <a:pPr algn="l">
              <a:spcAft>
                <a:spcPts val="400"/>
              </a:spcAft>
              <a:buNone/>
            </a:pPr>
            <a:r>
              <a:rPr sz="1100" b="1" i="0">
                <a:solidFill>
                  <a:srgbClr val="5A6684"/>
                </a:solidFill>
                <a:latin typeface="Roboto"/>
              </a:rPr>
              <a:t>Nutzen →</a:t>
            </a:r>
          </a:p>
        </p:txBody>
      </p:sp>
      <p:sp>
        <p:nvSpPr>
          <p:cNvPr id="20" name="TextBox 19"/>
          <p:cNvSpPr txBox="1"/>
          <p:nvPr/>
        </p:nvSpPr>
        <p:spPr>
          <a:xfrm>
            <a:off x="1344168" y="5715000"/>
            <a:ext cx="5120640" cy="274320"/>
          </a:xfrm>
          <a:prstGeom prst="rect">
            <a:avLst/>
          </a:prstGeom>
          <a:noFill/>
        </p:spPr>
        <p:txBody>
          <a:bodyPr wrap="square" lIns="0" rIns="0" tIns="0" bIns="0" anchor="t"/>
          <a:lstStyle/>
          <a:p>
            <a:pPr algn="ctr">
              <a:spcAft>
                <a:spcPts val="400"/>
              </a:spcAft>
              <a:buNone/>
            </a:pPr>
            <a:r>
              <a:rPr sz="1100" b="1" i="0">
                <a:solidFill>
                  <a:srgbClr val="5A6684"/>
                </a:solidFill>
                <a:latin typeface="Roboto"/>
              </a:rPr>
              <a:t>Aufwand →</a:t>
            </a:r>
          </a:p>
        </p:txBody>
      </p:sp>
      <p:sp>
        <p:nvSpPr>
          <p:cNvPr id="21" name="Oval 20"/>
          <p:cNvSpPr/>
          <p:nvPr/>
        </p:nvSpPr>
        <p:spPr>
          <a:xfrm>
            <a:off x="3097987" y="2258568"/>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1</a:t>
            </a:r>
          </a:p>
        </p:txBody>
      </p:sp>
      <p:sp>
        <p:nvSpPr>
          <p:cNvPr id="22" name="Oval 21"/>
          <p:cNvSpPr/>
          <p:nvPr/>
        </p:nvSpPr>
        <p:spPr>
          <a:xfrm>
            <a:off x="2110435" y="258775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2</a:t>
            </a:r>
          </a:p>
        </p:txBody>
      </p:sp>
      <p:sp>
        <p:nvSpPr>
          <p:cNvPr id="23" name="Oval 22"/>
          <p:cNvSpPr/>
          <p:nvPr/>
        </p:nvSpPr>
        <p:spPr>
          <a:xfrm>
            <a:off x="2468880" y="3392424"/>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3</a:t>
            </a:r>
          </a:p>
        </p:txBody>
      </p:sp>
      <p:sp>
        <p:nvSpPr>
          <p:cNvPr id="24" name="Oval 23"/>
          <p:cNvSpPr/>
          <p:nvPr/>
        </p:nvSpPr>
        <p:spPr>
          <a:xfrm>
            <a:off x="3339388" y="295351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4</a:t>
            </a:r>
          </a:p>
        </p:txBody>
      </p:sp>
      <p:sp>
        <p:nvSpPr>
          <p:cNvPr id="25" name="Oval 24"/>
          <p:cNvSpPr/>
          <p:nvPr/>
        </p:nvSpPr>
        <p:spPr>
          <a:xfrm>
            <a:off x="5182819" y="240487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5</a:t>
            </a:r>
          </a:p>
        </p:txBody>
      </p:sp>
      <p:sp>
        <p:nvSpPr>
          <p:cNvPr id="26" name="Oval 25"/>
          <p:cNvSpPr/>
          <p:nvPr/>
        </p:nvSpPr>
        <p:spPr>
          <a:xfrm>
            <a:off x="5541264" y="295351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6</a:t>
            </a:r>
          </a:p>
        </p:txBody>
      </p:sp>
      <p:sp>
        <p:nvSpPr>
          <p:cNvPr id="27" name="Oval 26"/>
          <p:cNvSpPr/>
          <p:nvPr/>
        </p:nvSpPr>
        <p:spPr>
          <a:xfrm>
            <a:off x="5029200" y="423367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7</a:t>
            </a:r>
          </a:p>
        </p:txBody>
      </p:sp>
      <p:sp>
        <p:nvSpPr>
          <p:cNvPr id="28" name="Oval 27"/>
          <p:cNvSpPr/>
          <p:nvPr/>
        </p:nvSpPr>
        <p:spPr>
          <a:xfrm>
            <a:off x="3236976" y="4343400"/>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8</a:t>
            </a:r>
          </a:p>
        </p:txBody>
      </p:sp>
      <p:sp>
        <p:nvSpPr>
          <p:cNvPr id="29" name="TextBox 28"/>
          <p:cNvSpPr txBox="1"/>
          <p:nvPr/>
        </p:nvSpPr>
        <p:spPr>
          <a:xfrm>
            <a:off x="6784848" y="2011680"/>
            <a:ext cx="4562856" cy="2743200"/>
          </a:xfrm>
          <a:prstGeom prst="rect">
            <a:avLst/>
          </a:prstGeom>
          <a:noFill/>
        </p:spPr>
        <p:txBody>
          <a:bodyPr wrap="square" lIns="0" rIns="0" tIns="0" bIns="0" anchor="t"/>
          <a:lstStyle/>
          <a:p>
            <a:pPr algn="l">
              <a:spcAft>
                <a:spcPts val="500"/>
              </a:spcAft>
              <a:buNone/>
            </a:pPr>
            <a:r>
              <a:rPr sz="1250" b="1" i="0">
                <a:solidFill>
                  <a:srgbClr val="FB2762"/>
                </a:solidFill>
                <a:latin typeface="Roboto"/>
              </a:rPr>
              <a:t>1  </a:t>
            </a:r>
            <a:r>
              <a:rPr sz="1250" b="1" i="0">
                <a:solidFill>
                  <a:srgbClr val="0E1F53"/>
                </a:solidFill>
                <a:latin typeface="Roboto"/>
              </a:rPr>
              <a:t>Campus-Mittwoch mit KMU-Challenges</a:t>
            </a:r>
          </a:p>
          <a:p>
            <a:pPr algn="l">
              <a:spcAft>
                <a:spcPts val="500"/>
              </a:spcAft>
              <a:buNone/>
            </a:pPr>
            <a:r>
              <a:rPr sz="1250" b="1" i="0">
                <a:solidFill>
                  <a:srgbClr val="0E1F53"/>
                </a:solidFill>
                <a:latin typeface="Roboto"/>
              </a:rPr>
              <a:t>2  </a:t>
            </a:r>
            <a:r>
              <a:rPr sz="1250" b="0" i="0">
                <a:solidFill>
                  <a:srgbClr val="0E1F53"/>
                </a:solidFill>
                <a:latin typeface="Roboto"/>
              </a:rPr>
              <a:t>Buddy-Programm lokal–international</a:t>
            </a:r>
          </a:p>
          <a:p>
            <a:pPr algn="l">
              <a:spcAft>
                <a:spcPts val="500"/>
              </a:spcAft>
              <a:buNone/>
            </a:pPr>
            <a:r>
              <a:rPr sz="1250" b="1" i="0">
                <a:solidFill>
                  <a:srgbClr val="0E1F53"/>
                </a:solidFill>
                <a:latin typeface="Roboto"/>
              </a:rPr>
              <a:t>3  </a:t>
            </a:r>
            <a:r>
              <a:rPr sz="1250" b="0" i="0">
                <a:solidFill>
                  <a:srgbClr val="0E1F53"/>
                </a:solidFill>
                <a:latin typeface="Roboto"/>
              </a:rPr>
              <a:t>Abend-Lernlounge mit Buchungs-App</a:t>
            </a:r>
          </a:p>
          <a:p>
            <a:pPr algn="l">
              <a:spcAft>
                <a:spcPts val="500"/>
              </a:spcAft>
              <a:buNone/>
            </a:pPr>
            <a:r>
              <a:rPr sz="1250" b="1" i="0">
                <a:solidFill>
                  <a:srgbClr val="0E1F53"/>
                </a:solidFill>
                <a:latin typeface="Roboto"/>
              </a:rPr>
              <a:t>4  </a:t>
            </a:r>
            <a:r>
              <a:rPr sz="1250" b="0" i="0">
                <a:solidFill>
                  <a:srgbClr val="0E1F53"/>
                </a:solidFill>
                <a:latin typeface="Roboto"/>
              </a:rPr>
              <a:t>Werkstudierenden-Börse der Region</a:t>
            </a:r>
          </a:p>
          <a:p>
            <a:pPr algn="l">
              <a:spcAft>
                <a:spcPts val="500"/>
              </a:spcAft>
              <a:buNone/>
            </a:pPr>
            <a:r>
              <a:rPr sz="1250" b="1" i="0">
                <a:solidFill>
                  <a:srgbClr val="0E1F53"/>
                </a:solidFill>
                <a:latin typeface="Roboto"/>
              </a:rPr>
              <a:t>5  </a:t>
            </a:r>
            <a:r>
              <a:rPr sz="1250" b="0" i="0">
                <a:solidFill>
                  <a:srgbClr val="0E1F53"/>
                </a:solidFill>
                <a:latin typeface="Roboto"/>
              </a:rPr>
              <a:t>G9-Brückensemester für Schulabgänger:innen</a:t>
            </a:r>
          </a:p>
          <a:p>
            <a:pPr algn="l">
              <a:spcAft>
                <a:spcPts val="500"/>
              </a:spcAft>
              <a:buNone/>
            </a:pPr>
            <a:r>
              <a:rPr sz="1250" b="1" i="0">
                <a:solidFill>
                  <a:srgbClr val="0E1F53"/>
                </a:solidFill>
                <a:latin typeface="Roboto"/>
              </a:rPr>
              <a:t>6  </a:t>
            </a:r>
            <a:r>
              <a:rPr sz="1250" b="0" i="0">
                <a:solidFill>
                  <a:srgbClr val="0E1F53"/>
                </a:solidFill>
                <a:latin typeface="Roboto"/>
              </a:rPr>
              <a:t>Grenzüberschreitende Angebote mit NL</a:t>
            </a:r>
          </a:p>
          <a:p>
            <a:pPr algn="l">
              <a:spcAft>
                <a:spcPts val="500"/>
              </a:spcAft>
              <a:buNone/>
            </a:pPr>
            <a:r>
              <a:rPr sz="1250" b="1" i="0">
                <a:solidFill>
                  <a:srgbClr val="0E1F53"/>
                </a:solidFill>
                <a:latin typeface="Roboto"/>
              </a:rPr>
              <a:t>7  </a:t>
            </a:r>
            <a:r>
              <a:rPr sz="1250" b="0" i="0">
                <a:solidFill>
                  <a:srgbClr val="0E1F53"/>
                </a:solidFill>
                <a:latin typeface="Roboto"/>
              </a:rPr>
              <a:t>Hybride Lernstudios</a:t>
            </a:r>
          </a:p>
          <a:p>
            <a:pPr algn="l">
              <a:spcAft>
                <a:spcPts val="500"/>
              </a:spcAft>
              <a:buNone/>
            </a:pPr>
            <a:r>
              <a:rPr sz="1250" b="1" i="0">
                <a:solidFill>
                  <a:srgbClr val="0E1F53"/>
                </a:solidFill>
                <a:latin typeface="Roboto"/>
              </a:rPr>
              <a:t>8  </a:t>
            </a:r>
            <a:r>
              <a:rPr sz="1250" b="0" i="0">
                <a:solidFill>
                  <a:srgbClr val="0E1F53"/>
                </a:solidFill>
                <a:latin typeface="Roboto"/>
              </a:rPr>
              <a:t>Campus-Food &amp; Events am Abend</a:t>
            </a:r>
          </a:p>
        </p:txBody>
      </p:sp>
      <p:sp>
        <p:nvSpPr>
          <p:cNvPr id="30" name="Rounded Rectangle 29"/>
          <p:cNvSpPr/>
          <p:nvPr/>
        </p:nvSpPr>
        <p:spPr>
          <a:xfrm>
            <a:off x="6784848" y="4800600"/>
            <a:ext cx="4562856" cy="118872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13448" y="4800600"/>
            <a:ext cx="4105656" cy="1188720"/>
          </a:xfrm>
          <a:prstGeom prst="rect">
            <a:avLst/>
          </a:prstGeom>
          <a:noFill/>
        </p:spPr>
        <p:txBody>
          <a:bodyPr wrap="square" lIns="0" rIns="0" tIns="0" bIns="0" anchor="ctr"/>
          <a:lstStyle/>
          <a:p>
            <a:pPr algn="l">
              <a:spcAft>
                <a:spcPts val="200"/>
              </a:spcAft>
              <a:buNone/>
            </a:pPr>
            <a:r>
              <a:rPr sz="1200" b="1" i="0">
                <a:solidFill>
                  <a:srgbClr val="FFFFFF"/>
                </a:solidFill>
                <a:latin typeface="Roboto"/>
              </a:rPr>
              <a:t>Favorit nach Dot-Voting</a:t>
            </a:r>
          </a:p>
          <a:p>
            <a:pPr algn="l">
              <a:spcAft>
                <a:spcPts val="400"/>
              </a:spcAft>
              <a:buNone/>
            </a:pPr>
            <a:r>
              <a:rPr sz="1350" b="1" i="0">
                <a:solidFill>
                  <a:srgbClr val="FFFFFF"/>
                </a:solidFill>
                <a:latin typeface="Roboto"/>
              </a:rPr>
              <a:t>Campus-Mittwoch: Studierende lösen jeden Mittwoch echte Aufgaben regionaler Unternehmen.</a:t>
            </a:r>
          </a:p>
        </p:txBody>
      </p:sp>
      <p:sp>
        <p:nvSpPr>
          <p:cNvPr id="32" name="TextBox 3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Bewertungsvorschlag durch den Agenten, Entscheidung durch das Team · Illustratives Beispiel für den Workshop: Interviewaussagen und Testergebnisse sind fiktiv.</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25 MIN.</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Ideen finden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10 Minuten Brainwriting: Jede Person schreibt allein Ideen auf Post-its.</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KI-Sparring: Geben Sie Ihre Ideen ein und lassen Sie 15 Ergänzungen erzeugen.</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Dot-Voting: Jede Person hat 3 Punkte. Die Top-Idee geht in Phase 5.</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25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Ideenspeicher, bewertete Ideen (Nutzen-Aufwand-Matrix), 1–3 Ideen für Prototypen</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„Ideen-Sparringspartner“ aus der Prompt-Bibliothek und füllen Sie die [Klammern] aus.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5 · Prototypen</a:t>
            </a:r>
          </a:p>
        </p:txBody>
      </p:sp>
      <p:sp>
        <p:nvSpPr>
          <p:cNvPr id="3" name="Oval 2"/>
          <p:cNvSpPr/>
          <p:nvPr/>
        </p:nvSpPr>
        <p:spPr>
          <a:xfrm>
            <a:off x="92445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5: Prototypen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Wie machen wir die Idee schnell und günstig erlebbar?</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Ausgewählte Ideen so greifbar machen, dass echte Menschen sie ausprobieren können.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Storyboard, Papier-Prototyp, Rollenspiel, Landingpage</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Testbare Prototypen: Storyboard, Mock-up, Landingpage, Ablaufplan</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Prototyp-Werkstatt</a:t>
            </a:r>
            <a:r>
              <a:rPr sz="1500" b="0" i="0">
                <a:solidFill>
                  <a:srgbClr val="0E1F53"/>
                </a:solidFill>
                <a:latin typeface="Roboto"/>
              </a:rPr>
              <a:t> – baut Landingpages, Storyboards und Material in Minuten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Annahme ist die riskanteste, und muss zuerst getestet werden?</a:t>
            </a:r>
          </a:p>
          <a:p>
            <a:pPr algn="l" marL="164592" indent="-164592">
              <a:spcAft>
                <a:spcPts val="700"/>
              </a:spcAft>
              <a:buClr>
                <a:srgbClr val="FB2762"/>
              </a:buClr>
              <a:buFont typeface="Arial"/>
              <a:buChar char="?"/>
            </a:pPr>
            <a:r>
              <a:rPr sz="1350" b="0" i="0">
                <a:solidFill>
                  <a:srgbClr val="FFFFFF"/>
                </a:solidFill>
                <a:latin typeface="Roboto"/>
              </a:rPr>
              <a:t>Was ist die einfachste Form, die diese Annahme testbar macht?</a:t>
            </a:r>
          </a:p>
          <a:p>
            <a:pPr algn="l" marL="164592" indent="-164592">
              <a:spcAft>
                <a:spcPts val="700"/>
              </a:spcAft>
              <a:buClr>
                <a:srgbClr val="FB2762"/>
              </a:buClr>
              <a:buFont typeface="Arial"/>
              <a:buChar char="?"/>
            </a:pPr>
            <a:r>
              <a:rPr sz="1350" b="0" i="0">
                <a:solidFill>
                  <a:srgbClr val="FFFFFF"/>
                </a:solidFill>
                <a:latin typeface="Roboto"/>
              </a:rPr>
              <a:t>Was muss echt aussehen, was darf skizziert sein?</a:t>
            </a:r>
          </a:p>
          <a:p>
            <a:pPr algn="l" marL="164592" indent="-164592">
              <a:spcAft>
                <a:spcPts val="700"/>
              </a:spcAft>
              <a:buClr>
                <a:srgbClr val="FB2762"/>
              </a:buClr>
              <a:buFont typeface="Arial"/>
              <a:buChar char="?"/>
            </a:pPr>
            <a:r>
              <a:rPr sz="1350" b="0" i="0">
                <a:solidFill>
                  <a:srgbClr val="FFFFFF"/>
                </a:solidFill>
                <a:latin typeface="Roboto"/>
              </a:rPr>
              <a:t>Wie viel investieren wir maximal? Faustregel: Stunden, nicht Wochen.</a:t>
            </a:r>
          </a:p>
          <a:p>
            <a:pPr algn="l" marL="164592" indent="-164592">
              <a:spcAft>
                <a:spcPts val="700"/>
              </a:spcAft>
              <a:buClr>
                <a:srgbClr val="FB2762"/>
              </a:buClr>
              <a:buFont typeface="Arial"/>
              <a:buChar char="?"/>
            </a:pPr>
            <a:r>
              <a:rPr sz="1350" b="0" i="0">
                <a:solidFill>
                  <a:srgbClr val="FFFFFF"/>
                </a:solidFill>
                <a:latin typeface="Roboto"/>
              </a:rPr>
              <a:t>Wer baut was bis wann?</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PencilRuler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Storyboard &amp; Papier</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Die Idee als Comic in 4–6 Bildern oder als Papier-Modell.</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Users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Rollenspiel</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Den Service nachspielen: Wer sagt was, wann, wo?</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Smartphone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Landingpage &amp; Klick-Prototyp</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Eine Seite, die so tut, als gäbe es das Angebot schon.</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WandSparkles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Wizard of Oz</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Die Technik fehlt noch? Ein Mensch spielt sie im Hintergrund.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Bot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Prototyp-Werkstatt</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Landingpage oder Klick-Prototyp per Prompt</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eine einfache Landingpage für [Idee] mit Nutzenversprechen und Anmeldeformular.“</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WandSparkles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Bild-KI für Storyboards</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Szenen in Minuten statt Stunden zeichnen</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„Zeichne ein Storyboard in 4 Bildern: [Szenen], einfacher Skizzenstil.“</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Megaphone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Texte &amp; Material</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Flyer, Social-Post, Ablaufplan, FAQ</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„Schreibe einen Flyer für [Idee], Zielgruppe [Persona], max. 80 Wörter.“</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essagesSquare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Rollenspiel-Skript</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Dialog für die Service-Simulation</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„Schreibe ein Skript für den Ablauf von [Service] aus Sicht der Kundin.“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Prototyp-Werkstatt</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Prototyp-Werkstatt</a:t>
            </a:r>
          </a:p>
        </p:txBody>
      </p:sp>
      <p:sp>
        <p:nvSpPr>
          <p:cNvPr id="17" name="Rounded Rectangle 16"/>
          <p:cNvSpPr/>
          <p:nvPr/>
        </p:nvSpPr>
        <p:spPr>
          <a:xfrm>
            <a:off x="969264" y="2487168"/>
            <a:ext cx="7470648" cy="525359"/>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452207"/>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die Prototyp-Werkstatt: UX-Designerin und Texterin, spezialisiert auf schnelle, günstige Prototypen.</a:t>
            </a:r>
          </a:p>
        </p:txBody>
      </p:sp>
      <p:sp>
        <p:nvSpPr>
          <p:cNvPr id="20" name="Rounded Rectangle 19"/>
          <p:cNvSpPr/>
          <p:nvPr/>
        </p:nvSpPr>
        <p:spPr>
          <a:xfrm>
            <a:off x="969264" y="3076535"/>
            <a:ext cx="7470648" cy="61291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131399"/>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113111"/>
            <a:ext cx="6309360" cy="539767"/>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5. Ausgewählte Idee: [Idee]. Persona: [Kurzprofil]. Riskanteste Annahme: [Annahme]. Corporate Design: [Farben, Schrift].</a:t>
            </a:r>
          </a:p>
        </p:txBody>
      </p:sp>
      <p:sp>
        <p:nvSpPr>
          <p:cNvPr id="23" name="Rounded Rectangle 22"/>
          <p:cNvSpPr/>
          <p:nvPr/>
        </p:nvSpPr>
        <p:spPr>
          <a:xfrm>
            <a:off x="969264" y="3753462"/>
            <a:ext cx="7470648" cy="462121"/>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808326"/>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90038"/>
            <a:ext cx="6309360" cy="388969"/>
          </a:xfrm>
          <a:prstGeom prst="rect">
            <a:avLst/>
          </a:prstGeom>
          <a:noFill/>
        </p:spPr>
        <p:txBody>
          <a:bodyPr wrap="square" lIns="0" rIns="0" tIns="0" bIns="0" anchor="ctr"/>
          <a:lstStyle/>
          <a:p>
            <a:pPr algn="l">
              <a:spcAft>
                <a:spcPts val="0"/>
              </a:spcAft>
              <a:buNone/>
            </a:pPr>
            <a:r>
              <a:rPr sz="1150" b="0" i="0">
                <a:solidFill>
                  <a:srgbClr val="1B2440"/>
                </a:solidFill>
                <a:latin typeface="Roboto"/>
              </a:rPr>
              <a:t>Entwickle Prototypen, mit denen wir die Annahme mit echten Menschen testen können.</a:t>
            </a:r>
          </a:p>
        </p:txBody>
      </p:sp>
      <p:sp>
        <p:nvSpPr>
          <p:cNvPr id="26" name="Rounded Rectangle 25"/>
          <p:cNvSpPr/>
          <p:nvPr/>
        </p:nvSpPr>
        <p:spPr>
          <a:xfrm>
            <a:off x="969264" y="4279591"/>
            <a:ext cx="7470648" cy="59346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33445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316167"/>
            <a:ext cx="6309360" cy="520309"/>
          </a:xfrm>
          <a:prstGeom prst="rect">
            <a:avLst/>
          </a:prstGeom>
          <a:noFill/>
        </p:spPr>
        <p:txBody>
          <a:bodyPr wrap="square" lIns="0" rIns="0" tIns="0" bIns="0" anchor="ctr"/>
          <a:lstStyle/>
          <a:p>
            <a:pPr algn="l">
              <a:spcAft>
                <a:spcPts val="0"/>
              </a:spcAft>
              <a:buNone/>
            </a:pPr>
            <a:r>
              <a:rPr sz="1150" b="0" i="0">
                <a:solidFill>
                  <a:srgbClr val="1B2440"/>
                </a:solidFill>
                <a:latin typeface="Roboto"/>
              </a:rPr>
              <a:t>1. Schlage 3 Prototyp-Formen mit Aufwand vor. 2. Baue die gewählte Form. 3. Liste auf, was im Test beobachtet werden soll.</a:t>
            </a:r>
          </a:p>
        </p:txBody>
      </p:sp>
      <p:sp>
        <p:nvSpPr>
          <p:cNvPr id="29" name="Rounded Rectangle 28"/>
          <p:cNvSpPr/>
          <p:nvPr/>
        </p:nvSpPr>
        <p:spPr>
          <a:xfrm>
            <a:off x="969264" y="4937061"/>
            <a:ext cx="7470648" cy="462121"/>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4991925"/>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4973637"/>
            <a:ext cx="6309360" cy="388969"/>
          </a:xfrm>
          <a:prstGeom prst="rect">
            <a:avLst/>
          </a:prstGeom>
          <a:noFill/>
        </p:spPr>
        <p:txBody>
          <a:bodyPr wrap="square" lIns="0" rIns="0" tIns="0" bIns="0" anchor="ctr"/>
          <a:lstStyle/>
          <a:p>
            <a:pPr algn="l">
              <a:spcAft>
                <a:spcPts val="0"/>
              </a:spcAft>
              <a:buNone/>
            </a:pPr>
            <a:r>
              <a:rPr sz="1150" b="0" i="0">
                <a:solidFill>
                  <a:srgbClr val="1B2440"/>
                </a:solidFill>
                <a:latin typeface="Roboto"/>
              </a:rPr>
              <a:t>Landingpage als eine HTML-Datei. Storyboard: 4–6 Szenen mit Bildbeschreibung und Text.</a:t>
            </a:r>
          </a:p>
        </p:txBody>
      </p:sp>
      <p:sp>
        <p:nvSpPr>
          <p:cNvPr id="32" name="Rounded Rectangle 31"/>
          <p:cNvSpPr/>
          <p:nvPr/>
        </p:nvSpPr>
        <p:spPr>
          <a:xfrm>
            <a:off x="969264" y="5463190"/>
            <a:ext cx="7470648" cy="462121"/>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18054"/>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499766"/>
            <a:ext cx="6309360" cy="388969"/>
          </a:xfrm>
          <a:prstGeom prst="rect">
            <a:avLst/>
          </a:prstGeom>
          <a:noFill/>
        </p:spPr>
        <p:txBody>
          <a:bodyPr wrap="square" lIns="0" rIns="0" tIns="0" bIns="0" anchor="ctr"/>
          <a:lstStyle/>
          <a:p>
            <a:pPr algn="l">
              <a:spcAft>
                <a:spcPts val="0"/>
              </a:spcAft>
              <a:buNone/>
            </a:pPr>
            <a:r>
              <a:rPr sz="1150" b="0" i="0">
                <a:solidFill>
                  <a:srgbClr val="1B2440"/>
                </a:solidFill>
                <a:latin typeface="Roboto"/>
              </a:rPr>
              <a:t>So einfach wie möglich. Keine echten Personendaten im Formular. Prototyp als Test kennzeichnen.</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landingpage-prototyp/SKILL.md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landingpage-prototyp</a:t>
            </a:r>
          </a:p>
          <a:p>
            <a:pPr algn="l">
              <a:spcAft>
                <a:spcPts val="150"/>
              </a:spcAft>
              <a:buNone/>
            </a:pPr>
            <a:r>
              <a:rPr sz="1050" b="0" i="0">
                <a:solidFill>
                  <a:srgbClr val="7FE0A7"/>
                </a:solidFill>
                <a:latin typeface="Roboto Mono"/>
              </a:rPr>
              <a:t>description: Baut einseitige</a:t>
            </a:r>
          </a:p>
          <a:p>
            <a:pPr algn="l">
              <a:spcAft>
                <a:spcPts val="150"/>
              </a:spcAft>
              <a:buNone/>
            </a:pPr>
            <a:r>
              <a:rPr sz="1050" b="0" i="0">
                <a:solidFill>
                  <a:srgbClr val="7FE0A7"/>
                </a:solidFill>
                <a:latin typeface="Roboto Mono"/>
              </a:rPr>
              <a:t>  Test-Landingpages im Corporate</a:t>
            </a:r>
          </a:p>
          <a:p>
            <a:pPr algn="l">
              <a:spcAft>
                <a:spcPts val="150"/>
              </a:spcAft>
              <a:buNone/>
            </a:pPr>
            <a:r>
              <a:rPr sz="1050" b="0" i="0">
                <a:solidFill>
                  <a:srgbClr val="7FE0A7"/>
                </a:solidFill>
                <a:latin typeface="Roboto Mono"/>
              </a:rPr>
              <a:t>  Design.</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Landingpage bauen</a:t>
            </a:r>
          </a:p>
          <a:p>
            <a:pPr algn="l">
              <a:spcAft>
                <a:spcPts val="150"/>
              </a:spcAft>
              <a:buNone/>
            </a:pPr>
            <a:r>
              <a:rPr sz="1050" b="0" i="0">
                <a:solidFill>
                  <a:srgbClr val="C9D6EE"/>
                </a:solidFill>
                <a:latin typeface="Roboto Mono"/>
              </a:rPr>
              <a:t>1. Überschrift = Nutzenversprechen</a:t>
            </a:r>
          </a:p>
          <a:p>
            <a:pPr algn="l">
              <a:spcAft>
                <a:spcPts val="150"/>
              </a:spcAft>
              <a:buNone/>
            </a:pPr>
            <a:r>
              <a:rPr sz="1050" b="0" i="0">
                <a:solidFill>
                  <a:srgbClr val="C9D6EE"/>
                </a:solidFill>
                <a:latin typeface="Roboto Mono"/>
              </a:rPr>
              <a:t>2. Drei Vorteile, kurz</a:t>
            </a:r>
          </a:p>
          <a:p>
            <a:pPr algn="l">
              <a:spcAft>
                <a:spcPts val="150"/>
              </a:spcAft>
              <a:buNone/>
            </a:pPr>
            <a:r>
              <a:rPr sz="1050" b="0" i="0">
                <a:solidFill>
                  <a:srgbClr val="C9D6EE"/>
                </a:solidFill>
                <a:latin typeface="Roboto Mono"/>
              </a:rPr>
              <a:t>3. Ein klarer Button</a:t>
            </a:r>
          </a:p>
          <a:p>
            <a:pPr algn="l">
              <a:spcAft>
                <a:spcPts val="150"/>
              </a:spcAft>
              <a:buNone/>
            </a:pPr>
            <a:r>
              <a:rPr sz="1050" b="0" i="0">
                <a:solidFill>
                  <a:srgbClr val="C9D6EE"/>
                </a:solidFill>
                <a:latin typeface="Roboto Mono"/>
              </a:rPr>
              <a:t>4. Hinweis „Pilotangebot“</a:t>
            </a:r>
          </a:p>
          <a:p>
            <a:pPr algn="l">
              <a:spcAft>
                <a:spcPts val="150"/>
              </a:spcAft>
              <a:buNone/>
            </a:pPr>
            <a:r>
              <a:rPr sz="1050" b="0" i="0">
                <a:solidFill>
                  <a:srgbClr val="C9D6EE"/>
                </a:solidFill>
                <a:latin typeface="Roboto Mono"/>
              </a:rPr>
              <a:t>5. Nur E-Mail abfragen</a:t>
            </a:r>
          </a:p>
          <a:p>
            <a:pPr algn="l">
              <a:spcAft>
                <a:spcPts val="150"/>
              </a:spcAft>
              <a:buNone/>
            </a:pPr>
            <a:r>
              <a:rPr sz="1050" b="0" i="0">
                <a:solidFill>
                  <a:srgbClr val="FFC56B"/>
                </a:solidFill>
                <a:latin typeface="Roboto Mono"/>
              </a:rPr>
              <a:t>Farben: references/ci.md</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Varianten auf Knopfdruck</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FileCode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Vorlage</a:t>
            </a:r>
          </a:p>
          <a:p>
            <a:pPr algn="ctr">
              <a:spcAft>
                <a:spcPts val="0"/>
              </a:spcAft>
              <a:buNone/>
            </a:pPr>
            <a:r>
              <a:rPr sz="1150" b="1" i="0">
                <a:solidFill>
                  <a:srgbClr val="0E1F53"/>
                </a:solidFill>
                <a:latin typeface="Roboto"/>
              </a:rPr>
              <a:t>Landingpage</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baut</a:t>
            </a:r>
          </a:p>
          <a:p>
            <a:pPr algn="ctr">
              <a:spcAft>
                <a:spcPts val="0"/>
              </a:spcAft>
              <a:buNone/>
            </a:pPr>
            <a:r>
              <a:rPr sz="1150" b="1" i="0">
                <a:solidFill>
                  <a:srgbClr val="0E1F53"/>
                </a:solidFill>
                <a:latin typeface="Roboto"/>
              </a:rPr>
              <a:t>3 Varianten</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Link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Varianten A/B/C</a:t>
            </a:r>
          </a:p>
          <a:p>
            <a:pPr algn="ctr">
              <a:spcAft>
                <a:spcPts val="0"/>
              </a:spcAft>
              <a:buNone/>
            </a:pPr>
            <a:r>
              <a:rPr sz="1150" b="1" i="0">
                <a:solidFill>
                  <a:srgbClr val="0E1F53"/>
                </a:solidFill>
                <a:latin typeface="Roboto"/>
              </a:rPr>
              <a:t>online</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ChartColumn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Anmeldungen</a:t>
            </a:r>
          </a:p>
          <a:p>
            <a:pPr algn="ctr">
              <a:spcAft>
                <a:spcPts val="0"/>
              </a:spcAft>
              <a:buNone/>
            </a:pPr>
            <a:r>
              <a:rPr sz="1150" b="1" i="0">
                <a:solidFill>
                  <a:srgbClr val="0E1F53"/>
                </a:solidFill>
                <a:latin typeface="Roboto"/>
              </a:rPr>
              <a:t>in Tabelle</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Drei Überschriften, drei Zielgruppen: Der Agent baut die Varianten, die Formulare schreiben automatisch in eine Tabelle.</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130302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frontend-design</a:t>
            </a:r>
          </a:p>
        </p:txBody>
      </p:sp>
      <p:sp>
        <p:nvSpPr>
          <p:cNvPr id="42" name="Rounded Rectangle 41"/>
          <p:cNvSpPr/>
          <p:nvPr/>
        </p:nvSpPr>
        <p:spPr>
          <a:xfrm>
            <a:off x="6890003" y="5376672"/>
            <a:ext cx="171450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web-artifacts-builder</a:t>
            </a:r>
          </a:p>
        </p:txBody>
      </p:sp>
      <p:sp>
        <p:nvSpPr>
          <p:cNvPr id="43" name="TextBox 42"/>
          <p:cNvSpPr txBox="1"/>
          <p:nvPr/>
        </p:nvSpPr>
        <p:spPr>
          <a:xfrm>
            <a:off x="8805672" y="5321808"/>
            <a:ext cx="235915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Klickbare Landingpages und App-Entwürfe, auch ohne Programmierkenntnisse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Prototyp-Werkstatt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Prototyp-Werkstatt · Hochschule Rhein-Waal</a:t>
            </a:r>
          </a:p>
        </p:txBody>
      </p:sp>
      <p:sp>
        <p:nvSpPr>
          <p:cNvPr id="17" name="Rounded Rectangle 16"/>
          <p:cNvSpPr/>
          <p:nvPr/>
        </p:nvSpPr>
        <p:spPr>
          <a:xfrm>
            <a:off x="969264" y="2487168"/>
            <a:ext cx="7242047" cy="429927"/>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die Prototyp-Werkstatt der Hochschule Rhein-Waal: UX-Designerin und Texterin.</a:t>
            </a:r>
          </a:p>
        </p:txBody>
      </p:sp>
      <p:sp>
        <p:nvSpPr>
          <p:cNvPr id="20" name="Rounded Rectangle 19"/>
          <p:cNvSpPr/>
          <p:nvPr/>
        </p:nvSpPr>
        <p:spPr>
          <a:xfrm>
            <a:off x="969264" y="2981103"/>
            <a:ext cx="7242047" cy="85985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35967"/>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17679"/>
            <a:ext cx="6080759" cy="786702"/>
          </a:xfrm>
          <a:prstGeom prst="rect">
            <a:avLst/>
          </a:prstGeom>
          <a:noFill/>
        </p:spPr>
        <p:txBody>
          <a:bodyPr wrap="square" lIns="0" rIns="0" tIns="0" bIns="0" anchor="ctr"/>
          <a:lstStyle/>
          <a:p>
            <a:pPr algn="l">
              <a:spcAft>
                <a:spcPts val="0"/>
              </a:spcAft>
              <a:buNone/>
            </a:pPr>
            <a:r>
              <a:rPr sz="1150" b="0" i="0">
                <a:solidFill>
                  <a:srgbClr val="1B2440"/>
                </a:solidFill>
                <a:latin typeface="Roboto"/>
              </a:rPr>
              <a:t>Idee: Campus-Mittwoch, ein KMU-Challenge-Lab. Studierende lösen jeden Mittwoch echte Aufgaben regionaler Unternehmen. Riskanteste Annahme: Studierende kommen dafür freiwillig auf den Campus.</a:t>
            </a:r>
          </a:p>
        </p:txBody>
      </p:sp>
      <p:sp>
        <p:nvSpPr>
          <p:cNvPr id="23" name="Rounded Rectangle 22"/>
          <p:cNvSpPr/>
          <p:nvPr/>
        </p:nvSpPr>
        <p:spPr>
          <a:xfrm>
            <a:off x="969264" y="3904965"/>
            <a:ext cx="7242047" cy="42992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959829"/>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941541"/>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Baue ein Storyboard und eine Landingpage für einen Fake-Door-Test.</a:t>
            </a:r>
          </a:p>
        </p:txBody>
      </p:sp>
      <p:sp>
        <p:nvSpPr>
          <p:cNvPr id="26" name="Rounded Rectangle 25"/>
          <p:cNvSpPr/>
          <p:nvPr/>
        </p:nvSpPr>
        <p:spPr>
          <a:xfrm>
            <a:off x="969264" y="4398901"/>
            <a:ext cx="7242047" cy="53854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45376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435477"/>
            <a:ext cx="6080759" cy="465388"/>
          </a:xfrm>
          <a:prstGeom prst="rect">
            <a:avLst/>
          </a:prstGeom>
          <a:noFill/>
        </p:spPr>
        <p:txBody>
          <a:bodyPr wrap="square" lIns="0" rIns="0" tIns="0" bIns="0" anchor="ctr"/>
          <a:lstStyle/>
          <a:p>
            <a:pPr algn="l">
              <a:spcAft>
                <a:spcPts val="0"/>
              </a:spcAft>
              <a:buNone/>
            </a:pPr>
            <a:r>
              <a:rPr sz="1150" b="0" i="0">
                <a:solidFill>
                  <a:srgbClr val="1B2440"/>
                </a:solidFill>
                <a:latin typeface="Roboto"/>
              </a:rPr>
              <a:t>1. Storyboard aus Sicht der Persona Jonas. 2. Landingpage auf Deutsch und Englisch. 3. Beobachtungspunkte für den Test.</a:t>
            </a:r>
          </a:p>
        </p:txBody>
      </p:sp>
      <p:sp>
        <p:nvSpPr>
          <p:cNvPr id="29" name="Rounded Rectangle 28"/>
          <p:cNvSpPr/>
          <p:nvPr/>
        </p:nvSpPr>
        <p:spPr>
          <a:xfrm>
            <a:off x="969264" y="5001449"/>
            <a:ext cx="7242047" cy="429927"/>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56313"/>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38025"/>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Storyboard mit 4 Szenen. Landingpage als HTML mit Button „Platz sichern“.</a:t>
            </a:r>
          </a:p>
        </p:txBody>
      </p:sp>
      <p:sp>
        <p:nvSpPr>
          <p:cNvPr id="32" name="Rounded Rectangle 31"/>
          <p:cNvSpPr/>
          <p:nvPr/>
        </p:nvSpPr>
        <p:spPr>
          <a:xfrm>
            <a:off x="969264" y="5495384"/>
            <a:ext cx="7242047" cy="42992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5024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31960"/>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HSRW-Farben nutzen. Deutlich als Pilotangebot kennzeichnen. Nur E-Mail-Adresse abfragen.</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PencilRuler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Prototyp-Werkstatt</a:t>
            </a:r>
          </a:p>
          <a:p>
            <a:pPr algn="l">
              <a:spcAft>
                <a:spcPts val="0"/>
              </a:spcAft>
              <a:buNone/>
            </a:pPr>
            <a:r>
              <a:rPr sz="1100" b="0" i="0">
                <a:solidFill>
                  <a:srgbClr val="5A6684"/>
                </a:solidFill>
                <a:latin typeface="Roboto"/>
              </a:rPr>
              <a:t>Phase 5</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landingpage-prototyp</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Bild-KI</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frontend-design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5: Storyboard und Landingpage</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TextBox 10"/>
          <p:cNvSpPr txBox="1"/>
          <p:nvPr/>
        </p:nvSpPr>
        <p:spPr>
          <a:xfrm>
            <a:off x="841248" y="1965960"/>
            <a:ext cx="5486400"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Storyboard aus Sicht von Jonas</a:t>
            </a:r>
          </a:p>
        </p:txBody>
      </p:sp>
      <p:sp>
        <p:nvSpPr>
          <p:cNvPr id="12" name="Rounded Rectangle 11"/>
          <p:cNvSpPr/>
          <p:nvPr/>
        </p:nvSpPr>
        <p:spPr>
          <a:xfrm>
            <a:off x="841248" y="23774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5146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1</a:t>
            </a:r>
          </a:p>
        </p:txBody>
      </p:sp>
      <p:pic>
        <p:nvPicPr>
          <p:cNvPr id="14" name="Picture 13" descr="LuSmartphone_n.png"/>
          <p:cNvPicPr>
            <a:picLocks noChangeAspect="1"/>
          </p:cNvPicPr>
          <p:nvPr/>
        </p:nvPicPr>
        <p:blipFill>
          <a:blip r:embed="rId3"/>
          <a:stretch>
            <a:fillRect/>
          </a:stretch>
        </p:blipFill>
        <p:spPr>
          <a:xfrm>
            <a:off x="3127248" y="2514600"/>
            <a:ext cx="384048" cy="384048"/>
          </a:xfrm>
          <a:prstGeom prst="rect">
            <a:avLst/>
          </a:prstGeom>
        </p:spPr>
      </p:pic>
      <p:sp>
        <p:nvSpPr>
          <p:cNvPr id="15" name="TextBox 14"/>
          <p:cNvSpPr txBox="1"/>
          <p:nvPr/>
        </p:nvSpPr>
        <p:spPr>
          <a:xfrm>
            <a:off x="1408176" y="25146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Montag</a:t>
            </a:r>
          </a:p>
        </p:txBody>
      </p:sp>
      <p:sp>
        <p:nvSpPr>
          <p:cNvPr id="16" name="TextBox 15"/>
          <p:cNvSpPr txBox="1"/>
          <p:nvPr/>
        </p:nvSpPr>
        <p:spPr>
          <a:xfrm>
            <a:off x="978408" y="29443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Jonas sieht im Newsletter: Bäckerei Hoffmann sucht Ideen, um Azubis zu gewinnen.</a:t>
            </a:r>
          </a:p>
        </p:txBody>
      </p:sp>
      <p:sp>
        <p:nvSpPr>
          <p:cNvPr id="17" name="Rounded Rectangle 16"/>
          <p:cNvSpPr/>
          <p:nvPr/>
        </p:nvSpPr>
        <p:spPr>
          <a:xfrm>
            <a:off x="3858768" y="23774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995928" y="25146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2</a:t>
            </a:r>
          </a:p>
        </p:txBody>
      </p:sp>
      <p:pic>
        <p:nvPicPr>
          <p:cNvPr id="19" name="Picture 18" descr="LuUsers_n.png"/>
          <p:cNvPicPr>
            <a:picLocks noChangeAspect="1"/>
          </p:cNvPicPr>
          <p:nvPr/>
        </p:nvPicPr>
        <p:blipFill>
          <a:blip r:embed="rId4"/>
          <a:stretch>
            <a:fillRect/>
          </a:stretch>
        </p:blipFill>
        <p:spPr>
          <a:xfrm>
            <a:off x="6144768" y="2514600"/>
            <a:ext cx="384048" cy="384048"/>
          </a:xfrm>
          <a:prstGeom prst="rect">
            <a:avLst/>
          </a:prstGeom>
        </p:spPr>
      </p:pic>
      <p:sp>
        <p:nvSpPr>
          <p:cNvPr id="20" name="TextBox 19"/>
          <p:cNvSpPr txBox="1"/>
          <p:nvPr/>
        </p:nvSpPr>
        <p:spPr>
          <a:xfrm>
            <a:off x="4425696" y="25146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Mittwoch, 14 Uhr</a:t>
            </a:r>
          </a:p>
        </p:txBody>
      </p:sp>
      <p:sp>
        <p:nvSpPr>
          <p:cNvPr id="21" name="TextBox 20"/>
          <p:cNvSpPr txBox="1"/>
          <p:nvPr/>
        </p:nvSpPr>
        <p:spPr>
          <a:xfrm>
            <a:off x="3995928" y="29443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Vier Studierende arbeiten im Lab mit der Inhaberin an der Aufgabe.</a:t>
            </a:r>
          </a:p>
        </p:txBody>
      </p:sp>
      <p:sp>
        <p:nvSpPr>
          <p:cNvPr id="22" name="Rounded Rectangle 21"/>
          <p:cNvSpPr/>
          <p:nvPr/>
        </p:nvSpPr>
        <p:spPr>
          <a:xfrm>
            <a:off x="841248" y="42062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78408" y="43434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3</a:t>
            </a:r>
          </a:p>
        </p:txBody>
      </p:sp>
      <p:pic>
        <p:nvPicPr>
          <p:cNvPr id="24" name="Picture 23" descr="LuCoffee_n.png"/>
          <p:cNvPicPr>
            <a:picLocks noChangeAspect="1"/>
          </p:cNvPicPr>
          <p:nvPr/>
        </p:nvPicPr>
        <p:blipFill>
          <a:blip r:embed="rId5"/>
          <a:stretch>
            <a:fillRect/>
          </a:stretch>
        </p:blipFill>
        <p:spPr>
          <a:xfrm>
            <a:off x="3127248" y="4343400"/>
            <a:ext cx="384048" cy="384048"/>
          </a:xfrm>
          <a:prstGeom prst="rect">
            <a:avLst/>
          </a:prstGeom>
        </p:spPr>
      </p:pic>
      <p:sp>
        <p:nvSpPr>
          <p:cNvPr id="25" name="TextBox 24"/>
          <p:cNvSpPr txBox="1"/>
          <p:nvPr/>
        </p:nvSpPr>
        <p:spPr>
          <a:xfrm>
            <a:off x="1408176" y="43434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Mittwoch, 17 Uhr</a:t>
            </a:r>
          </a:p>
        </p:txBody>
      </p:sp>
      <p:sp>
        <p:nvSpPr>
          <p:cNvPr id="26" name="TextBox 25"/>
          <p:cNvSpPr txBox="1"/>
          <p:nvPr/>
        </p:nvSpPr>
        <p:spPr>
          <a:xfrm>
            <a:off x="978408" y="47731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Pitch, Feedback, Pizza. Jonas lernt Priya und die Inhaberin kennen.</a:t>
            </a:r>
          </a:p>
        </p:txBody>
      </p:sp>
      <p:sp>
        <p:nvSpPr>
          <p:cNvPr id="27" name="Rounded Rectangle 26"/>
          <p:cNvSpPr/>
          <p:nvPr/>
        </p:nvSpPr>
        <p:spPr>
          <a:xfrm>
            <a:off x="3858768" y="42062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3995928" y="43434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4</a:t>
            </a:r>
          </a:p>
        </p:txBody>
      </p:sp>
      <p:pic>
        <p:nvPicPr>
          <p:cNvPr id="29" name="Picture 28" descr="LuHandshake_n.png"/>
          <p:cNvPicPr>
            <a:picLocks noChangeAspect="1"/>
          </p:cNvPicPr>
          <p:nvPr/>
        </p:nvPicPr>
        <p:blipFill>
          <a:blip r:embed="rId6"/>
          <a:stretch>
            <a:fillRect/>
          </a:stretch>
        </p:blipFill>
        <p:spPr>
          <a:xfrm>
            <a:off x="6144768" y="4343400"/>
            <a:ext cx="384048" cy="384048"/>
          </a:xfrm>
          <a:prstGeom prst="rect">
            <a:avLst/>
          </a:prstGeom>
        </p:spPr>
      </p:pic>
      <p:sp>
        <p:nvSpPr>
          <p:cNvPr id="30" name="TextBox 29"/>
          <p:cNvSpPr txBox="1"/>
          <p:nvPr/>
        </p:nvSpPr>
        <p:spPr>
          <a:xfrm>
            <a:off x="4425696" y="43434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Danach</a:t>
            </a:r>
          </a:p>
        </p:txBody>
      </p:sp>
      <p:sp>
        <p:nvSpPr>
          <p:cNvPr id="31" name="TextBox 30"/>
          <p:cNvSpPr txBox="1"/>
          <p:nvPr/>
        </p:nvSpPr>
        <p:spPr>
          <a:xfrm>
            <a:off x="3995928" y="47731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Credits im Wahlmodul und ein Angebot für einen Werkstudentenjob.</a:t>
            </a:r>
          </a:p>
        </p:txBody>
      </p:sp>
      <p:sp>
        <p:nvSpPr>
          <p:cNvPr id="32" name="TextBox 31"/>
          <p:cNvSpPr txBox="1"/>
          <p:nvPr/>
        </p:nvSpPr>
        <p:spPr>
          <a:xfrm>
            <a:off x="6967728" y="1965960"/>
            <a:ext cx="4379976"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Landingpage für den Fake-Door-Test</a:t>
            </a:r>
          </a:p>
        </p:txBody>
      </p:sp>
      <p:sp>
        <p:nvSpPr>
          <p:cNvPr id="33" name="Rounded Rectangle 32"/>
          <p:cNvSpPr/>
          <p:nvPr/>
        </p:nvSpPr>
        <p:spPr>
          <a:xfrm>
            <a:off x="6967728" y="2377440"/>
            <a:ext cx="4379976" cy="352044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986016" y="2395728"/>
            <a:ext cx="4343400" cy="292608"/>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150608" y="2395728"/>
            <a:ext cx="4014215" cy="292608"/>
          </a:xfrm>
          <a:prstGeom prst="rect">
            <a:avLst/>
          </a:prstGeom>
          <a:noFill/>
        </p:spPr>
        <p:txBody>
          <a:bodyPr wrap="square" lIns="0" rIns="0" tIns="0" bIns="0" anchor="ctr"/>
          <a:lstStyle/>
          <a:p>
            <a:pPr algn="l">
              <a:spcAft>
                <a:spcPts val="400"/>
              </a:spcAft>
              <a:buNone/>
            </a:pPr>
            <a:r>
              <a:rPr sz="1000" b="0" i="0">
                <a:solidFill>
                  <a:srgbClr val="5A6684"/>
                </a:solidFill>
                <a:latin typeface="Roboto"/>
              </a:rPr>
              <a:t>campus-mittwoch.hsrw.example</a:t>
            </a:r>
          </a:p>
        </p:txBody>
      </p:sp>
      <p:sp>
        <p:nvSpPr>
          <p:cNvPr id="36" name="Rectangle 35"/>
          <p:cNvSpPr/>
          <p:nvPr/>
        </p:nvSpPr>
        <p:spPr>
          <a:xfrm>
            <a:off x="6986016" y="2688336"/>
            <a:ext cx="4343400" cy="1325880"/>
          </a:xfrm>
          <a:prstGeom prst="rect">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242048" y="2743200"/>
            <a:ext cx="3831336" cy="1234440"/>
          </a:xfrm>
          <a:prstGeom prst="rect">
            <a:avLst/>
          </a:prstGeom>
          <a:noFill/>
        </p:spPr>
        <p:txBody>
          <a:bodyPr wrap="square" lIns="0" rIns="0" tIns="0" bIns="0" anchor="ctr"/>
          <a:lstStyle/>
          <a:p>
            <a:pPr algn="l">
              <a:spcAft>
                <a:spcPts val="400"/>
              </a:spcAft>
              <a:buNone/>
            </a:pPr>
            <a:r>
              <a:rPr sz="1000" b="1" i="0">
                <a:solidFill>
                  <a:srgbClr val="9FD0FF"/>
                </a:solidFill>
                <a:latin typeface="Roboto"/>
              </a:rPr>
              <a:t>CAMPUS-MITTWOCH · PILOT</a:t>
            </a:r>
          </a:p>
          <a:p>
            <a:pPr algn="l">
              <a:spcAft>
                <a:spcPts val="400"/>
              </a:spcAft>
              <a:buNone/>
            </a:pPr>
            <a:r>
              <a:rPr sz="1600" b="1" i="0">
                <a:solidFill>
                  <a:srgbClr val="FFFFFF"/>
                </a:solidFill>
                <a:latin typeface="Roboto"/>
              </a:rPr>
              <a:t>Echte Aufgaben. Echte Unternehmen. Jeden Mittwoch am Campus.</a:t>
            </a:r>
          </a:p>
        </p:txBody>
      </p:sp>
      <p:pic>
        <p:nvPicPr>
          <p:cNvPr id="38" name="Picture 37" descr="LuCheck_p.png"/>
          <p:cNvPicPr>
            <a:picLocks noChangeAspect="1"/>
          </p:cNvPicPr>
          <p:nvPr/>
        </p:nvPicPr>
        <p:blipFill>
          <a:blip r:embed="rId7"/>
          <a:stretch>
            <a:fillRect/>
          </a:stretch>
        </p:blipFill>
        <p:spPr>
          <a:xfrm>
            <a:off x="7242048" y="4197096"/>
            <a:ext cx="237744" cy="237744"/>
          </a:xfrm>
          <a:prstGeom prst="rect">
            <a:avLst/>
          </a:prstGeom>
        </p:spPr>
      </p:pic>
      <p:sp>
        <p:nvSpPr>
          <p:cNvPr id="39" name="TextBox 38"/>
          <p:cNvSpPr txBox="1"/>
          <p:nvPr/>
        </p:nvSpPr>
        <p:spPr>
          <a:xfrm>
            <a:off x="7562088" y="4160520"/>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Praxisprojekte mit Unternehmen vom Niederrhein</a:t>
            </a:r>
          </a:p>
        </p:txBody>
      </p:sp>
      <p:pic>
        <p:nvPicPr>
          <p:cNvPr id="40" name="Picture 39" descr="LuCheck_p.png"/>
          <p:cNvPicPr>
            <a:picLocks noChangeAspect="1"/>
          </p:cNvPicPr>
          <p:nvPr/>
        </p:nvPicPr>
        <p:blipFill>
          <a:blip r:embed="rId7"/>
          <a:stretch>
            <a:fillRect/>
          </a:stretch>
        </p:blipFill>
        <p:spPr>
          <a:xfrm>
            <a:off x="7242048" y="4544568"/>
            <a:ext cx="237744" cy="237744"/>
          </a:xfrm>
          <a:prstGeom prst="rect">
            <a:avLst/>
          </a:prstGeom>
        </p:spPr>
      </p:pic>
      <p:sp>
        <p:nvSpPr>
          <p:cNvPr id="41" name="TextBox 40"/>
          <p:cNvSpPr txBox="1"/>
          <p:nvPr/>
        </p:nvSpPr>
        <p:spPr>
          <a:xfrm>
            <a:off x="7562088" y="4507992"/>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Credits im Wahlmodul, Zertifikat</a:t>
            </a:r>
          </a:p>
        </p:txBody>
      </p:sp>
      <p:pic>
        <p:nvPicPr>
          <p:cNvPr id="42" name="Picture 41" descr="LuCheck_p.png"/>
          <p:cNvPicPr>
            <a:picLocks noChangeAspect="1"/>
          </p:cNvPicPr>
          <p:nvPr/>
        </p:nvPicPr>
        <p:blipFill>
          <a:blip r:embed="rId7"/>
          <a:stretch>
            <a:fillRect/>
          </a:stretch>
        </p:blipFill>
        <p:spPr>
          <a:xfrm>
            <a:off x="7242048" y="4892040"/>
            <a:ext cx="237744" cy="237744"/>
          </a:xfrm>
          <a:prstGeom prst="rect">
            <a:avLst/>
          </a:prstGeom>
        </p:spPr>
      </p:pic>
      <p:sp>
        <p:nvSpPr>
          <p:cNvPr id="43" name="TextBox 42"/>
          <p:cNvSpPr txBox="1"/>
          <p:nvPr/>
        </p:nvSpPr>
        <p:spPr>
          <a:xfrm>
            <a:off x="7562088" y="4855464"/>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Kontakte für Jobs und Abschlussarbeit</a:t>
            </a:r>
          </a:p>
        </p:txBody>
      </p:sp>
      <p:sp>
        <p:nvSpPr>
          <p:cNvPr id="44" name="Rounded Rectangle 43"/>
          <p:cNvSpPr/>
          <p:nvPr/>
        </p:nvSpPr>
        <p:spPr>
          <a:xfrm>
            <a:off x="7242048" y="5257800"/>
            <a:ext cx="2011680" cy="45720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Platz sichern</a:t>
            </a:r>
          </a:p>
        </p:txBody>
      </p:sp>
      <p:sp>
        <p:nvSpPr>
          <p:cNvPr id="45" name="TextBox 44"/>
          <p:cNvSpPr txBox="1"/>
          <p:nvPr/>
        </p:nvSpPr>
        <p:spPr>
          <a:xfrm>
            <a:off x="9390888" y="5257800"/>
            <a:ext cx="1773936" cy="457200"/>
          </a:xfrm>
          <a:prstGeom prst="rect">
            <a:avLst/>
          </a:prstGeom>
          <a:noFill/>
        </p:spPr>
        <p:txBody>
          <a:bodyPr wrap="square" lIns="0" rIns="0" tIns="0" bIns="0" anchor="ctr"/>
          <a:lstStyle/>
          <a:p>
            <a:pPr algn="l">
              <a:spcAft>
                <a:spcPts val="400"/>
              </a:spcAft>
              <a:buNone/>
            </a:pPr>
            <a:r>
              <a:rPr sz="1100" b="0" i="1">
                <a:solidFill>
                  <a:srgbClr val="5A6684"/>
                </a:solidFill>
                <a:latin typeface="Roboto"/>
              </a:rPr>
              <a:t>auch auf Englisch</a:t>
            </a:r>
          </a:p>
        </p:txBody>
      </p:sp>
      <p:sp>
        <p:nvSpPr>
          <p:cNvPr id="46" name="TextBox 45"/>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Prototypen zur Veranschaulichung, Unternehmensname fiktiv · Illustratives Beispiel für den Workshop: Interviewaussagen und Testergebnisse sind fiktiv.</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30 MIN.</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Oval 8"/>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Prototypen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Bauen Sie in 15 Minuten einen Papier-Prototyp oder ein Storyboard Ihrer Top-Idee.</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Lassen Sie danach die Prototyp-Werkstatt eine Landingpage für dieselbe Idee bauen.</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Vergleichen Sie: Welcher Prototyp zeigt die riskante Annahme besser?</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30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Testbare Prototypen: Storyboard, Mock-up, Landingpage, Ablaufplan</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„Prototyp-Werkstatt“ aus der Prompt-Bibliothek und füllen Sie die [Klammern] aus.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6 · Testen</a:t>
            </a:r>
          </a:p>
        </p:txBody>
      </p:sp>
      <p:sp>
        <p:nvSpPr>
          <p:cNvPr id="3" name="Oval 2"/>
          <p:cNvSpPr/>
          <p:nvPr/>
        </p:nvSpPr>
        <p:spPr>
          <a:xfrm>
            <a:off x="92445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341863"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9" name="TextBox 8"/>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6: Testen</a:t>
            </a:r>
          </a:p>
        </p:txBody>
      </p:sp>
      <p:sp>
        <p:nvSpPr>
          <p:cNvPr id="10" name="TextBox 9"/>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Funktioniert die Lösung, und was lernen wir daraus?</a:t>
            </a:r>
          </a:p>
        </p:txBody>
      </p:sp>
      <p:sp>
        <p:nvSpPr>
          <p:cNvPr id="11" name="Rounded Rectangle 10"/>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Target_w.png"/>
          <p:cNvPicPr>
            <a:picLocks noChangeAspect="1"/>
          </p:cNvPicPr>
          <p:nvPr/>
        </p:nvPicPr>
        <p:blipFill>
          <a:blip r:embed="rId3"/>
          <a:stretch>
            <a:fillRect/>
          </a:stretch>
        </p:blipFill>
        <p:spPr>
          <a:xfrm>
            <a:off x="1201521" y="3496665"/>
            <a:ext cx="285292" cy="285292"/>
          </a:xfrm>
          <a:prstGeom prst="rect">
            <a:avLst/>
          </a:prstGeom>
        </p:spPr>
      </p:pic>
      <p:sp>
        <p:nvSpPr>
          <p:cNvPr id="14" name="TextBox 13"/>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5" name="TextBox 14"/>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Prototypen mit echten Nutzer:innen testen, lernen und entscheiden.</a:t>
            </a:r>
          </a:p>
        </p:txBody>
      </p:sp>
      <p:sp>
        <p:nvSpPr>
          <p:cNvPr id="16" name="Rounded Rectangle 15"/>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9" name="TextBox 18"/>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20" name="TextBox 19"/>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Nutzertest, Feedback-Grid, Fake-Door-Test, Pilot mit Kennzahlen</a:t>
            </a:r>
          </a:p>
        </p:txBody>
      </p:sp>
      <p:sp>
        <p:nvSpPr>
          <p:cNvPr id="21" name="Rounded Rectangle 20"/>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Boxes_w.png"/>
          <p:cNvPicPr>
            <a:picLocks noChangeAspect="1"/>
          </p:cNvPicPr>
          <p:nvPr/>
        </p:nvPicPr>
        <p:blipFill>
          <a:blip r:embed="rId5"/>
          <a:stretch>
            <a:fillRect/>
          </a:stretch>
        </p:blipFill>
        <p:spPr>
          <a:xfrm>
            <a:off x="8388705" y="3496665"/>
            <a:ext cx="285292" cy="285292"/>
          </a:xfrm>
          <a:prstGeom prst="rect">
            <a:avLst/>
          </a:prstGeom>
        </p:spPr>
      </p:pic>
      <p:sp>
        <p:nvSpPr>
          <p:cNvPr id="24" name="TextBox 23"/>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5" name="TextBox 24"/>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Testprotokolle, Feedback-Grid, Kennzahlen, Entscheidung: weiter, ändern oder stoppen</a:t>
            </a:r>
          </a:p>
        </p:txBody>
      </p:sp>
      <p:sp>
        <p:nvSpPr>
          <p:cNvPr id="26" name="Rounded Rectangle 25"/>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Bot_n.png"/>
          <p:cNvPicPr>
            <a:picLocks noChangeAspect="1"/>
          </p:cNvPicPr>
          <p:nvPr/>
        </p:nvPicPr>
        <p:blipFill>
          <a:blip r:embed="rId6"/>
          <a:stretch>
            <a:fillRect/>
          </a:stretch>
        </p:blipFill>
        <p:spPr>
          <a:xfrm>
            <a:off x="1069848" y="5577840"/>
            <a:ext cx="457200" cy="457200"/>
          </a:xfrm>
          <a:prstGeom prst="rect">
            <a:avLst/>
          </a:prstGeom>
        </p:spPr>
      </p:pic>
      <p:sp>
        <p:nvSpPr>
          <p:cNvPr id="28" name="TextBox 27"/>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Test-Auswerter</a:t>
            </a:r>
            <a:r>
              <a:rPr sz="1500" b="0" i="0">
                <a:solidFill>
                  <a:srgbClr val="0E1F53"/>
                </a:solidFill>
                <a:latin typeface="Roboto"/>
              </a:rPr>
              <a:t> – plant Tests und wertet Feedback und Kennzahlen aus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3" name="TextBox 12"/>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Annahme testen wir, und was ist unser Erfolgskriterium?</a:t>
            </a:r>
          </a:p>
          <a:p>
            <a:pPr algn="l" marL="164592" indent="-164592">
              <a:spcAft>
                <a:spcPts val="700"/>
              </a:spcAft>
              <a:buClr>
                <a:srgbClr val="FB2762"/>
              </a:buClr>
              <a:buFont typeface="Arial"/>
              <a:buChar char="?"/>
            </a:pPr>
            <a:r>
              <a:rPr sz="1350" b="0" i="0">
                <a:solidFill>
                  <a:srgbClr val="FFFFFF"/>
                </a:solidFill>
                <a:latin typeface="Roboto"/>
              </a:rPr>
              <a:t>Wen testen wir? Schon 5 Testpersonen zeigen die meisten Probleme.</a:t>
            </a:r>
          </a:p>
          <a:p>
            <a:pPr algn="l" marL="164592" indent="-164592">
              <a:spcAft>
                <a:spcPts val="700"/>
              </a:spcAft>
              <a:buClr>
                <a:srgbClr val="FB2762"/>
              </a:buClr>
              <a:buFont typeface="Arial"/>
              <a:buChar char="?"/>
            </a:pPr>
            <a:r>
              <a:rPr sz="1350" b="0" i="0">
                <a:solidFill>
                  <a:srgbClr val="FFFFFF"/>
                </a:solidFill>
                <a:latin typeface="Roboto"/>
              </a:rPr>
              <a:t>Was tun die Testpersonen, nicht nur was sie sagen?</a:t>
            </a:r>
          </a:p>
          <a:p>
            <a:pPr algn="l" marL="164592" indent="-164592">
              <a:spcAft>
                <a:spcPts val="700"/>
              </a:spcAft>
              <a:buClr>
                <a:srgbClr val="FB2762"/>
              </a:buClr>
              <a:buFont typeface="Arial"/>
              <a:buChar char="?"/>
            </a:pPr>
            <a:r>
              <a:rPr sz="1350" b="0" i="0">
                <a:solidFill>
                  <a:srgbClr val="FFFFFF"/>
                </a:solidFill>
                <a:latin typeface="Roboto"/>
              </a:rPr>
              <a:t>Was hat funktioniert, was nicht, was hat überrascht?</a:t>
            </a:r>
          </a:p>
          <a:p>
            <a:pPr algn="l" marL="164592" indent="-164592">
              <a:spcAft>
                <a:spcPts val="700"/>
              </a:spcAft>
              <a:buClr>
                <a:srgbClr val="FB2762"/>
              </a:buClr>
              <a:buFont typeface="Arial"/>
              <a:buChar char="?"/>
            </a:pPr>
            <a:r>
              <a:rPr sz="1350" b="0" i="0">
                <a:solidFill>
                  <a:srgbClr val="FFFFFF"/>
                </a:solidFill>
                <a:latin typeface="Roboto"/>
              </a:rPr>
              <a:t>Weiter, ändern oder stoppen? Und zurück in welche Phase?</a:t>
            </a:r>
          </a:p>
        </p:txBody>
      </p:sp>
      <p:sp>
        <p:nvSpPr>
          <p:cNvPr id="14" name="Rounded Rectangle 13"/>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Eye_w.png"/>
          <p:cNvPicPr>
            <a:picLocks noChangeAspect="1"/>
          </p:cNvPicPr>
          <p:nvPr/>
        </p:nvPicPr>
        <p:blipFill>
          <a:blip r:embed="rId3"/>
          <a:stretch>
            <a:fillRect/>
          </a:stretch>
        </p:blipFill>
        <p:spPr>
          <a:xfrm>
            <a:off x="5650260" y="2340132"/>
            <a:ext cx="275783" cy="275783"/>
          </a:xfrm>
          <a:prstGeom prst="rect">
            <a:avLst/>
          </a:prstGeom>
        </p:spPr>
      </p:pic>
      <p:sp>
        <p:nvSpPr>
          <p:cNvPr id="17" name="TextBox 16"/>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Nutzertest</a:t>
            </a:r>
          </a:p>
        </p:txBody>
      </p:sp>
      <p:sp>
        <p:nvSpPr>
          <p:cNvPr id="18" name="TextBox 17"/>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Testperson nutzt den Prototyp und denkt laut. Wir beobachten und schweigen.</a:t>
            </a:r>
          </a:p>
        </p:txBody>
      </p:sp>
      <p:sp>
        <p:nvSpPr>
          <p:cNvPr id="19" name="Rounded Rectangle 18"/>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Layers_w.png"/>
          <p:cNvPicPr>
            <a:picLocks noChangeAspect="1"/>
          </p:cNvPicPr>
          <p:nvPr/>
        </p:nvPicPr>
        <p:blipFill>
          <a:blip r:embed="rId4"/>
          <a:stretch>
            <a:fillRect/>
          </a:stretch>
        </p:blipFill>
        <p:spPr>
          <a:xfrm>
            <a:off x="8800368" y="2340132"/>
            <a:ext cx="275783" cy="275783"/>
          </a:xfrm>
          <a:prstGeom prst="rect">
            <a:avLst/>
          </a:prstGeom>
        </p:spPr>
      </p:pic>
      <p:sp>
        <p:nvSpPr>
          <p:cNvPr id="22" name="TextBox 21"/>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Feedback-Grid</a:t>
            </a:r>
          </a:p>
        </p:txBody>
      </p:sp>
      <p:sp>
        <p:nvSpPr>
          <p:cNvPr id="23" name="TextBox 22"/>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Vier Felder: Gut · Verbessern · Fragen · Ideen.</a:t>
            </a:r>
          </a:p>
        </p:txBody>
      </p:sp>
      <p:sp>
        <p:nvSpPr>
          <p:cNvPr id="24" name="Rounded Rectangle 23"/>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Link_w.png"/>
          <p:cNvPicPr>
            <a:picLocks noChangeAspect="1"/>
          </p:cNvPicPr>
          <p:nvPr/>
        </p:nvPicPr>
        <p:blipFill>
          <a:blip r:embed="rId5"/>
          <a:stretch>
            <a:fillRect/>
          </a:stretch>
        </p:blipFill>
        <p:spPr>
          <a:xfrm>
            <a:off x="5650260" y="4397532"/>
            <a:ext cx="275783" cy="275783"/>
          </a:xfrm>
          <a:prstGeom prst="rect">
            <a:avLst/>
          </a:prstGeom>
        </p:spPr>
      </p:pic>
      <p:sp>
        <p:nvSpPr>
          <p:cNvPr id="27" name="TextBox 26"/>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Fake-Door-Test</a:t>
            </a:r>
          </a:p>
        </p:txBody>
      </p:sp>
      <p:sp>
        <p:nvSpPr>
          <p:cNvPr id="28" name="TextBox 27"/>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Angebot ankündigen, bevor es existiert, und Anmeldungen zählen.</a:t>
            </a:r>
          </a:p>
        </p:txBody>
      </p:sp>
      <p:sp>
        <p:nvSpPr>
          <p:cNvPr id="29" name="Rounded Rectangle 28"/>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ChartColumn_w.png"/>
          <p:cNvPicPr>
            <a:picLocks noChangeAspect="1"/>
          </p:cNvPicPr>
          <p:nvPr/>
        </p:nvPicPr>
        <p:blipFill>
          <a:blip r:embed="rId6"/>
          <a:stretch>
            <a:fillRect/>
          </a:stretch>
        </p:blipFill>
        <p:spPr>
          <a:xfrm>
            <a:off x="8800368" y="4397532"/>
            <a:ext cx="275783" cy="275783"/>
          </a:xfrm>
          <a:prstGeom prst="rect">
            <a:avLst/>
          </a:prstGeom>
        </p:spPr>
      </p:pic>
      <p:sp>
        <p:nvSpPr>
          <p:cNvPr id="32" name="TextBox 31"/>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Pilot mit Kennzahlen</a:t>
            </a:r>
          </a:p>
        </p:txBody>
      </p:sp>
      <p:sp>
        <p:nvSpPr>
          <p:cNvPr id="33" name="TextBox 32"/>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Kleiner Echtbetrieb mit vorher festgelegten Erfolgskriterien.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Bot_w.png"/>
          <p:cNvPicPr>
            <a:picLocks noChangeAspect="1"/>
          </p:cNvPicPr>
          <p:nvPr/>
        </p:nvPicPr>
        <p:blipFill>
          <a:blip r:embed="rId3"/>
          <a:stretch>
            <a:fillRect/>
          </a:stretch>
        </p:blipFill>
        <p:spPr>
          <a:xfrm>
            <a:off x="1169700" y="2321844"/>
            <a:ext cx="275783" cy="275783"/>
          </a:xfrm>
          <a:prstGeom prst="rect">
            <a:avLst/>
          </a:prstGeom>
        </p:spPr>
      </p:pic>
      <p:sp>
        <p:nvSpPr>
          <p:cNvPr id="14" name="TextBox 13"/>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Test-Auswerter</a:t>
            </a:r>
          </a:p>
        </p:txBody>
      </p:sp>
      <p:sp>
        <p:nvSpPr>
          <p:cNvPr id="15" name="TextBox 14"/>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Testplan und Beobachtungsbogen</a:t>
            </a:r>
          </a:p>
        </p:txBody>
      </p:sp>
      <p:sp>
        <p:nvSpPr>
          <p:cNvPr id="16" name="Rounded Rectangle 15"/>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einen Testplan mit Hypothese, Erfolgskriterium, Ablauf und 6 Beobachtungsfragen.“</a:t>
            </a:r>
          </a:p>
        </p:txBody>
      </p:sp>
      <p:sp>
        <p:nvSpPr>
          <p:cNvPr id="18" name="Rounded Rectangle 17"/>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Layers_w.png"/>
          <p:cNvPicPr>
            <a:picLocks noChangeAspect="1"/>
          </p:cNvPicPr>
          <p:nvPr/>
        </p:nvPicPr>
        <p:blipFill>
          <a:blip r:embed="rId4"/>
          <a:stretch>
            <a:fillRect/>
          </a:stretch>
        </p:blipFill>
        <p:spPr>
          <a:xfrm>
            <a:off x="6560088" y="2321844"/>
            <a:ext cx="275783" cy="275783"/>
          </a:xfrm>
          <a:prstGeom prst="rect">
            <a:avLst/>
          </a:prstGeom>
        </p:spPr>
      </p:pic>
      <p:sp>
        <p:nvSpPr>
          <p:cNvPr id="21" name="TextBox 20"/>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Feedback-Analyse</a:t>
            </a:r>
          </a:p>
        </p:txBody>
      </p:sp>
      <p:sp>
        <p:nvSpPr>
          <p:cNvPr id="22" name="TextBox 21"/>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Notizen und Formularantworten ins Grid sortieren</a:t>
            </a:r>
          </a:p>
        </p:txBody>
      </p:sp>
      <p:sp>
        <p:nvSpPr>
          <p:cNvPr id="23" name="Rounded Rectangle 22"/>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„Sortiere dieses Feedback ins Feedback-Grid und zähle, wie oft jeder Punkt kam.“</a:t>
            </a:r>
          </a:p>
        </p:txBody>
      </p:sp>
      <p:sp>
        <p:nvSpPr>
          <p:cNvPr id="25" name="Rounded Rectangle 24"/>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ChartColumn_w.png"/>
          <p:cNvPicPr>
            <a:picLocks noChangeAspect="1"/>
          </p:cNvPicPr>
          <p:nvPr/>
        </p:nvPicPr>
        <p:blipFill>
          <a:blip r:embed="rId5"/>
          <a:stretch>
            <a:fillRect/>
          </a:stretch>
        </p:blipFill>
        <p:spPr>
          <a:xfrm>
            <a:off x="1169700" y="4351812"/>
            <a:ext cx="275783" cy="275783"/>
          </a:xfrm>
          <a:prstGeom prst="rect">
            <a:avLst/>
          </a:prstGeom>
        </p:spPr>
      </p:pic>
      <p:sp>
        <p:nvSpPr>
          <p:cNvPr id="28" name="TextBox 27"/>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Kennzahlen</a:t>
            </a:r>
          </a:p>
        </p:txBody>
      </p:sp>
      <p:sp>
        <p:nvSpPr>
          <p:cNvPr id="29" name="TextBox 28"/>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Anmeldungen, Klicks, Wiederkehr auswerten</a:t>
            </a:r>
          </a:p>
        </p:txBody>
      </p:sp>
      <p:sp>
        <p:nvSpPr>
          <p:cNvPr id="30" name="Rounded Rectangle 29"/>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„Vergleiche die Anmeldezahlen der Varianten A, B, C. Ist der Unterschied belastbar?“</a:t>
            </a:r>
          </a:p>
        </p:txBody>
      </p:sp>
      <p:sp>
        <p:nvSpPr>
          <p:cNvPr id="32" name="Rounded Rectangle 31"/>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Users_w.png"/>
          <p:cNvPicPr>
            <a:picLocks noChangeAspect="1"/>
          </p:cNvPicPr>
          <p:nvPr/>
        </p:nvPicPr>
        <p:blipFill>
          <a:blip r:embed="rId6"/>
          <a:stretch>
            <a:fillRect/>
          </a:stretch>
        </p:blipFill>
        <p:spPr>
          <a:xfrm>
            <a:off x="6560088" y="4351812"/>
            <a:ext cx="275783" cy="275783"/>
          </a:xfrm>
          <a:prstGeom prst="rect">
            <a:avLst/>
          </a:prstGeom>
        </p:spPr>
      </p:pic>
      <p:sp>
        <p:nvSpPr>
          <p:cNvPr id="35" name="TextBox 34"/>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Synthetischer Vortest</a:t>
            </a:r>
          </a:p>
        </p:txBody>
      </p:sp>
      <p:sp>
        <p:nvSpPr>
          <p:cNvPr id="36" name="TextBox 35"/>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Schwächen vorab finden, ersetzt nie echte Tests</a:t>
            </a:r>
          </a:p>
        </p:txBody>
      </p:sp>
      <p:sp>
        <p:nvSpPr>
          <p:cNvPr id="37" name="Rounded Rectangle 36"/>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„Prüfe die Landingpage aus Sicht von Persona Jonas: Was ist unklar?“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Test-Auswerter</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Test-Auswerter</a:t>
            </a:r>
          </a:p>
        </p:txBody>
      </p:sp>
      <p:sp>
        <p:nvSpPr>
          <p:cNvPr id="17" name="Rounded Rectangle 16"/>
          <p:cNvSpPr/>
          <p:nvPr/>
        </p:nvSpPr>
        <p:spPr>
          <a:xfrm>
            <a:off x="969264" y="2487168"/>
            <a:ext cx="7470648" cy="425603"/>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309360" cy="352451"/>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Test-Auswerter, Expertin für Nutzertests und datenbasierte Entscheidungen.</a:t>
            </a:r>
          </a:p>
        </p:txBody>
      </p:sp>
      <p:sp>
        <p:nvSpPr>
          <p:cNvPr id="20" name="Rounded Rectangle 19"/>
          <p:cNvSpPr/>
          <p:nvPr/>
        </p:nvSpPr>
        <p:spPr>
          <a:xfrm>
            <a:off x="969264" y="2976779"/>
            <a:ext cx="7470648" cy="694405"/>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31643"/>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13355"/>
            <a:ext cx="6309360" cy="621253"/>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6 „Testen“. Prototyp: [Beschreibung]. Hypothese: [Annahme]. Erfolgskriterium: [z. B. 30 % Anmeldungen]. Beigefügt: Testnotizen und Formularantworten.</a:t>
            </a:r>
          </a:p>
        </p:txBody>
      </p:sp>
      <p:sp>
        <p:nvSpPr>
          <p:cNvPr id="23" name="Rounded Rectangle 22"/>
          <p:cNvSpPr/>
          <p:nvPr/>
        </p:nvSpPr>
        <p:spPr>
          <a:xfrm>
            <a:off x="969264" y="3735192"/>
            <a:ext cx="7470648" cy="425603"/>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790056"/>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771768"/>
            <a:ext cx="6309360" cy="352451"/>
          </a:xfrm>
          <a:prstGeom prst="rect">
            <a:avLst/>
          </a:prstGeom>
          <a:noFill/>
        </p:spPr>
        <p:txBody>
          <a:bodyPr wrap="square" lIns="0" rIns="0" tIns="0" bIns="0" anchor="ctr"/>
          <a:lstStyle/>
          <a:p>
            <a:pPr algn="l">
              <a:spcAft>
                <a:spcPts val="0"/>
              </a:spcAft>
              <a:buNone/>
            </a:pPr>
            <a:r>
              <a:rPr sz="1150" b="0" i="0">
                <a:solidFill>
                  <a:srgbClr val="1B2440"/>
                </a:solidFill>
                <a:latin typeface="Roboto"/>
              </a:rPr>
              <a:t>Plane Tests und werte die Ergebnisse so aus, dass wir entscheiden können.</a:t>
            </a:r>
          </a:p>
        </p:txBody>
      </p:sp>
      <p:sp>
        <p:nvSpPr>
          <p:cNvPr id="26" name="Rounded Rectangle 25"/>
          <p:cNvSpPr/>
          <p:nvPr/>
        </p:nvSpPr>
        <p:spPr>
          <a:xfrm>
            <a:off x="969264" y="4224803"/>
            <a:ext cx="7470648" cy="645124"/>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27966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261379"/>
            <a:ext cx="6309360" cy="571972"/>
          </a:xfrm>
          <a:prstGeom prst="rect">
            <a:avLst/>
          </a:prstGeom>
          <a:noFill/>
        </p:spPr>
        <p:txBody>
          <a:bodyPr wrap="square" lIns="0" rIns="0" tIns="0" bIns="0" anchor="ctr"/>
          <a:lstStyle/>
          <a:p>
            <a:pPr algn="l">
              <a:spcAft>
                <a:spcPts val="0"/>
              </a:spcAft>
              <a:buNone/>
            </a:pPr>
            <a:r>
              <a:rPr sz="1150" b="0" i="0">
                <a:solidFill>
                  <a:srgbClr val="1B2440"/>
                </a:solidFill>
                <a:latin typeface="Roboto"/>
              </a:rPr>
              <a:t>1. Erfolgskriterium prüfen. 2. Feedback ins Grid sortieren. 3. Die 3 wichtigsten Änderungen ableiten. 4. Empfehlen: weiter, ändern oder stoppen.</a:t>
            </a:r>
          </a:p>
        </p:txBody>
      </p:sp>
      <p:sp>
        <p:nvSpPr>
          <p:cNvPr id="29" name="Rounded Rectangle 28"/>
          <p:cNvSpPr/>
          <p:nvPr/>
        </p:nvSpPr>
        <p:spPr>
          <a:xfrm>
            <a:off x="969264" y="4933936"/>
            <a:ext cx="7470648" cy="461443"/>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4988800"/>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4970512"/>
            <a:ext cx="6309360" cy="388291"/>
          </a:xfrm>
          <a:prstGeom prst="rect">
            <a:avLst/>
          </a:prstGeom>
          <a:noFill/>
        </p:spPr>
        <p:txBody>
          <a:bodyPr wrap="square" lIns="0" rIns="0" tIns="0" bIns="0" anchor="ctr"/>
          <a:lstStyle/>
          <a:p>
            <a:pPr algn="l">
              <a:spcAft>
                <a:spcPts val="0"/>
              </a:spcAft>
              <a:buNone/>
            </a:pPr>
            <a:r>
              <a:rPr sz="1150" b="0" i="0">
                <a:solidFill>
                  <a:srgbClr val="1B2440"/>
                </a:solidFill>
                <a:latin typeface="Roboto"/>
              </a:rPr>
              <a:t>Ein-Seiten-Bericht: Ergebnis vs. Kriterium, Feedback-Grid, Top-3-Änderungen, Empfehlung mit Ziel-Phase.</a:t>
            </a:r>
          </a:p>
        </p:txBody>
      </p:sp>
      <p:sp>
        <p:nvSpPr>
          <p:cNvPr id="32" name="Rounded Rectangle 31"/>
          <p:cNvSpPr/>
          <p:nvPr/>
        </p:nvSpPr>
        <p:spPr>
          <a:xfrm>
            <a:off x="969264" y="5459388"/>
            <a:ext cx="7470648" cy="465923"/>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1425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495964"/>
            <a:ext cx="6309360" cy="392771"/>
          </a:xfrm>
          <a:prstGeom prst="rect">
            <a:avLst/>
          </a:prstGeom>
          <a:noFill/>
        </p:spPr>
        <p:txBody>
          <a:bodyPr wrap="square" lIns="0" rIns="0" tIns="0" bIns="0" anchor="ctr"/>
          <a:lstStyle/>
          <a:p>
            <a:pPr algn="l">
              <a:spcAft>
                <a:spcPts val="0"/>
              </a:spcAft>
              <a:buNone/>
            </a:pPr>
            <a:r>
              <a:rPr sz="1150" b="0" i="0">
                <a:solidFill>
                  <a:srgbClr val="1B2440"/>
                </a:solidFill>
                <a:latin typeface="Roboto"/>
              </a:rPr>
              <a:t>Beobachtung von Interpretation trennen. Keine Schönfärberei. Kleine Stichproben als solche kennzeichnen.</a:t>
            </a:r>
          </a:p>
        </p:txBody>
      </p:sp>
      <p:sp>
        <p:nvSpPr>
          <p:cNvPr id="35" name="Rounded Rectangle 34"/>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7" name="Oval 36"/>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9" name="Oval 38"/>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1" name="Oval 40"/>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3" name="Oval 42"/>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5" name="Oval 44"/>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7" name="Oval 46"/>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9" name="Rounded Rectangle 48"/>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feedback-grid/SKILL.md</a:t>
            </a:r>
          </a:p>
        </p:txBody>
      </p:sp>
      <p:sp>
        <p:nvSpPr>
          <p:cNvPr id="16" name="TextBox 15"/>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feedback-grid</a:t>
            </a:r>
          </a:p>
          <a:p>
            <a:pPr algn="l">
              <a:spcAft>
                <a:spcPts val="150"/>
              </a:spcAft>
              <a:buNone/>
            </a:pPr>
            <a:r>
              <a:rPr sz="1050" b="0" i="0">
                <a:solidFill>
                  <a:srgbClr val="7FE0A7"/>
                </a:solidFill>
                <a:latin typeface="Roboto Mono"/>
              </a:rPr>
              <a:t>description: Sortiert Test-</a:t>
            </a:r>
          </a:p>
          <a:p>
            <a:pPr algn="l">
              <a:spcAft>
                <a:spcPts val="150"/>
              </a:spcAft>
              <a:buNone/>
            </a:pPr>
            <a:r>
              <a:rPr sz="1050" b="0" i="0">
                <a:solidFill>
                  <a:srgbClr val="7FE0A7"/>
                </a:solidFill>
                <a:latin typeface="Roboto Mono"/>
              </a:rPr>
              <a:t>  feedback ins Feedback-Grid und</a:t>
            </a:r>
          </a:p>
          <a:p>
            <a:pPr algn="l">
              <a:spcAft>
                <a:spcPts val="150"/>
              </a:spcAft>
              <a:buNone/>
            </a:pPr>
            <a:r>
              <a:rPr sz="1050" b="0" i="0">
                <a:solidFill>
                  <a:srgbClr val="7FE0A7"/>
                </a:solidFill>
                <a:latin typeface="Roboto Mono"/>
              </a:rPr>
              <a:t>  leitet Änderungen ab.</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Feedback auswerten</a:t>
            </a:r>
          </a:p>
          <a:p>
            <a:pPr algn="l">
              <a:spcAft>
                <a:spcPts val="150"/>
              </a:spcAft>
              <a:buNone/>
            </a:pPr>
            <a:r>
              <a:rPr sz="1050" b="0" i="0">
                <a:solidFill>
                  <a:srgbClr val="C9D6EE"/>
                </a:solidFill>
                <a:latin typeface="Roboto Mono"/>
              </a:rPr>
              <a:t>1. Jede Aussage einem Feld zu-</a:t>
            </a:r>
          </a:p>
          <a:p>
            <a:pPr algn="l">
              <a:spcAft>
                <a:spcPts val="150"/>
              </a:spcAft>
              <a:buNone/>
            </a:pPr>
            <a:r>
              <a:rPr sz="1050" b="0" i="0">
                <a:solidFill>
                  <a:srgbClr val="C9D6EE"/>
                </a:solidFill>
                <a:latin typeface="Roboto Mono"/>
              </a:rPr>
              <a:t>   ordnen: Gut, Verbessern,</a:t>
            </a:r>
          </a:p>
          <a:p>
            <a:pPr algn="l">
              <a:spcAft>
                <a:spcPts val="150"/>
              </a:spcAft>
              <a:buNone/>
            </a:pPr>
            <a:r>
              <a:rPr sz="1050" b="0" i="0">
                <a:solidFill>
                  <a:srgbClr val="C9D6EE"/>
                </a:solidFill>
                <a:latin typeface="Roboto Mono"/>
              </a:rPr>
              <a:t>   Fragen, Ideen</a:t>
            </a:r>
          </a:p>
          <a:p>
            <a:pPr algn="l">
              <a:spcAft>
                <a:spcPts val="150"/>
              </a:spcAft>
              <a:buNone/>
            </a:pPr>
            <a:r>
              <a:rPr sz="1050" b="0" i="0">
                <a:solidFill>
                  <a:srgbClr val="C9D6EE"/>
                </a:solidFill>
                <a:latin typeface="Roboto Mono"/>
              </a:rPr>
              <a:t>2. Häufigkeit zählen</a:t>
            </a:r>
          </a:p>
          <a:p>
            <a:pPr algn="l">
              <a:spcAft>
                <a:spcPts val="150"/>
              </a:spcAft>
              <a:buNone/>
            </a:pPr>
            <a:r>
              <a:rPr sz="1050" b="0" i="0">
                <a:solidFill>
                  <a:srgbClr val="C9D6EE"/>
                </a:solidFill>
                <a:latin typeface="Roboto Mono"/>
              </a:rPr>
              <a:t>3. Top-3-Änderungen ableiten</a:t>
            </a:r>
          </a:p>
          <a:p>
            <a:pPr algn="l">
              <a:spcAft>
                <a:spcPts val="150"/>
              </a:spcAft>
              <a:buNone/>
            </a:pPr>
            <a:r>
              <a:rPr sz="1050" b="0" i="0">
                <a:solidFill>
                  <a:srgbClr val="FFC56B"/>
                </a:solidFill>
                <a:latin typeface="Roboto Mono"/>
              </a:rPr>
              <a:t>Ausgabe: Tabelle + Kurzbericht</a:t>
            </a:r>
          </a:p>
        </p:txBody>
      </p:sp>
      <p:sp>
        <p:nvSpPr>
          <p:cNvPr id="17" name="Rounded Rectangle 16"/>
          <p:cNvSpPr/>
          <p:nvPr/>
        </p:nvSpPr>
        <p:spPr>
          <a:xfrm>
            <a:off x="5276088" y="2011680"/>
            <a:ext cx="6071616"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477255" y="214884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orkflow_w.png"/>
          <p:cNvPicPr>
            <a:picLocks noChangeAspect="1"/>
          </p:cNvPicPr>
          <p:nvPr/>
        </p:nvPicPr>
        <p:blipFill>
          <a:blip r:embed="rId3"/>
          <a:stretch>
            <a:fillRect/>
          </a:stretch>
        </p:blipFill>
        <p:spPr>
          <a:xfrm>
            <a:off x="5586983" y="2258568"/>
            <a:ext cx="237744" cy="237744"/>
          </a:xfrm>
          <a:prstGeom prst="rect">
            <a:avLst/>
          </a:prstGeom>
        </p:spPr>
      </p:pic>
      <p:sp>
        <p:nvSpPr>
          <p:cNvPr id="20" name="TextBox 19"/>
          <p:cNvSpPr txBox="1"/>
          <p:nvPr/>
        </p:nvSpPr>
        <p:spPr>
          <a:xfrm>
            <a:off x="6053327" y="214884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Wochenbericht während des Pilots</a:t>
            </a:r>
          </a:p>
        </p:txBody>
      </p:sp>
      <p:sp>
        <p:nvSpPr>
          <p:cNvPr id="21" name="Rounded Rectangle 20"/>
          <p:cNvSpPr/>
          <p:nvPr/>
        </p:nvSpPr>
        <p:spPr>
          <a:xfrm>
            <a:off x="54772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CalendarClock_n.png"/>
          <p:cNvPicPr>
            <a:picLocks noChangeAspect="1"/>
          </p:cNvPicPr>
          <p:nvPr/>
        </p:nvPicPr>
        <p:blipFill>
          <a:blip r:embed="rId4"/>
          <a:stretch>
            <a:fillRect/>
          </a:stretch>
        </p:blipFill>
        <p:spPr>
          <a:xfrm>
            <a:off x="5900166" y="2862072"/>
            <a:ext cx="365760" cy="365760"/>
          </a:xfrm>
          <a:prstGeom prst="rect">
            <a:avLst/>
          </a:prstGeom>
        </p:spPr>
      </p:pic>
      <p:sp>
        <p:nvSpPr>
          <p:cNvPr id="23" name="TextBox 22"/>
          <p:cNvSpPr txBox="1"/>
          <p:nvPr/>
        </p:nvSpPr>
        <p:spPr>
          <a:xfrm>
            <a:off x="55229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Jeden Freitag</a:t>
            </a:r>
          </a:p>
          <a:p>
            <a:pPr algn="ctr">
              <a:spcAft>
                <a:spcPts val="0"/>
              </a:spcAft>
              <a:buNone/>
            </a:pPr>
            <a:r>
              <a:rPr sz="1150" b="1" i="0">
                <a:solidFill>
                  <a:srgbClr val="0E1F53"/>
                </a:solidFill>
                <a:latin typeface="Roboto"/>
              </a:rPr>
              <a:t>16:00 Uhr</a:t>
            </a:r>
          </a:p>
        </p:txBody>
      </p:sp>
      <p:sp>
        <p:nvSpPr>
          <p:cNvPr id="24" name="Right Arrow 23"/>
          <p:cNvSpPr/>
          <p:nvPr/>
        </p:nvSpPr>
        <p:spPr>
          <a:xfrm>
            <a:off x="6734555"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63155"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ClipboardList_n.png"/>
          <p:cNvPicPr>
            <a:picLocks noChangeAspect="1"/>
          </p:cNvPicPr>
          <p:nvPr/>
        </p:nvPicPr>
        <p:blipFill>
          <a:blip r:embed="rId5"/>
          <a:stretch>
            <a:fillRect/>
          </a:stretch>
        </p:blipFill>
        <p:spPr>
          <a:xfrm>
            <a:off x="7386066" y="2862072"/>
            <a:ext cx="365760" cy="365760"/>
          </a:xfrm>
          <a:prstGeom prst="rect">
            <a:avLst/>
          </a:prstGeom>
        </p:spPr>
      </p:pic>
      <p:sp>
        <p:nvSpPr>
          <p:cNvPr id="27" name="TextBox 26"/>
          <p:cNvSpPr txBox="1"/>
          <p:nvPr/>
        </p:nvSpPr>
        <p:spPr>
          <a:xfrm>
            <a:off x="7008875"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Neue Antworten</a:t>
            </a:r>
          </a:p>
          <a:p>
            <a:pPr algn="ctr">
              <a:spcAft>
                <a:spcPts val="0"/>
              </a:spcAft>
              <a:buNone/>
            </a:pPr>
            <a:r>
              <a:rPr sz="1150" b="1" i="0">
                <a:solidFill>
                  <a:srgbClr val="0E1F53"/>
                </a:solidFill>
                <a:latin typeface="Roboto"/>
              </a:rPr>
              <a:t>&amp; Anmeldungen</a:t>
            </a:r>
          </a:p>
        </p:txBody>
      </p:sp>
      <p:sp>
        <p:nvSpPr>
          <p:cNvPr id="28" name="Right Arrow 27"/>
          <p:cNvSpPr/>
          <p:nvPr/>
        </p:nvSpPr>
        <p:spPr>
          <a:xfrm>
            <a:off x="82204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490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Bot_n.png"/>
          <p:cNvPicPr>
            <a:picLocks noChangeAspect="1"/>
          </p:cNvPicPr>
          <p:nvPr/>
        </p:nvPicPr>
        <p:blipFill>
          <a:blip r:embed="rId6"/>
          <a:stretch>
            <a:fillRect/>
          </a:stretch>
        </p:blipFill>
        <p:spPr>
          <a:xfrm>
            <a:off x="8871966" y="2862072"/>
            <a:ext cx="365760" cy="365760"/>
          </a:xfrm>
          <a:prstGeom prst="rect">
            <a:avLst/>
          </a:prstGeom>
        </p:spPr>
      </p:pic>
      <p:sp>
        <p:nvSpPr>
          <p:cNvPr id="31" name="TextBox 30"/>
          <p:cNvSpPr txBox="1"/>
          <p:nvPr/>
        </p:nvSpPr>
        <p:spPr>
          <a:xfrm>
            <a:off x="84947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nutzt Skill</a:t>
            </a:r>
          </a:p>
          <a:p>
            <a:pPr algn="ctr">
              <a:spcAft>
                <a:spcPts val="0"/>
              </a:spcAft>
              <a:buNone/>
            </a:pPr>
            <a:r>
              <a:rPr sz="1150" b="1" i="0">
                <a:solidFill>
                  <a:srgbClr val="0E1F53"/>
                </a:solidFill>
                <a:latin typeface="Roboto"/>
              </a:rPr>
              <a:t>feedback-grid</a:t>
            </a:r>
          </a:p>
        </p:txBody>
      </p:sp>
      <p:sp>
        <p:nvSpPr>
          <p:cNvPr id="32" name="Right Arrow 31"/>
          <p:cNvSpPr/>
          <p:nvPr/>
        </p:nvSpPr>
        <p:spPr>
          <a:xfrm>
            <a:off x="9706356" y="32278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934956" y="2788920"/>
            <a:ext cx="1211580" cy="109728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Mail_n.png"/>
          <p:cNvPicPr>
            <a:picLocks noChangeAspect="1"/>
          </p:cNvPicPr>
          <p:nvPr/>
        </p:nvPicPr>
        <p:blipFill>
          <a:blip r:embed="rId7"/>
          <a:stretch>
            <a:fillRect/>
          </a:stretch>
        </p:blipFill>
        <p:spPr>
          <a:xfrm>
            <a:off x="10357866" y="2862072"/>
            <a:ext cx="365760" cy="365760"/>
          </a:xfrm>
          <a:prstGeom prst="rect">
            <a:avLst/>
          </a:prstGeom>
        </p:spPr>
      </p:pic>
      <p:sp>
        <p:nvSpPr>
          <p:cNvPr id="35" name="TextBox 34"/>
          <p:cNvSpPr txBox="1"/>
          <p:nvPr/>
        </p:nvSpPr>
        <p:spPr>
          <a:xfrm>
            <a:off x="9980676" y="3246120"/>
            <a:ext cx="1120140" cy="594360"/>
          </a:xfrm>
          <a:prstGeom prst="rect">
            <a:avLst/>
          </a:prstGeom>
          <a:noFill/>
        </p:spPr>
        <p:txBody>
          <a:bodyPr wrap="square" lIns="0" rIns="0" tIns="0" bIns="0" anchor="t"/>
          <a:lstStyle/>
          <a:p>
            <a:pPr algn="ctr">
              <a:spcAft>
                <a:spcPts val="0"/>
              </a:spcAft>
              <a:buNone/>
            </a:pPr>
            <a:r>
              <a:rPr sz="1150" b="1" i="0">
                <a:solidFill>
                  <a:srgbClr val="0E1F53"/>
                </a:solidFill>
                <a:latin typeface="Roboto"/>
              </a:rPr>
              <a:t>Wochenbericht</a:t>
            </a:r>
          </a:p>
          <a:p>
            <a:pPr algn="ctr">
              <a:spcAft>
                <a:spcPts val="0"/>
              </a:spcAft>
              <a:buNone/>
            </a:pPr>
            <a:r>
              <a:rPr sz="1150" b="1" i="0">
                <a:solidFill>
                  <a:srgbClr val="0E1F53"/>
                </a:solidFill>
                <a:latin typeface="Roboto"/>
              </a:rPr>
              <a:t>ans Team</a:t>
            </a:r>
          </a:p>
        </p:txBody>
      </p:sp>
      <p:sp>
        <p:nvSpPr>
          <p:cNvPr id="36" name="TextBox 35"/>
          <p:cNvSpPr txBox="1"/>
          <p:nvPr/>
        </p:nvSpPr>
        <p:spPr>
          <a:xfrm>
            <a:off x="5477255" y="3977639"/>
            <a:ext cx="5669280" cy="457200"/>
          </a:xfrm>
          <a:prstGeom prst="rect">
            <a:avLst/>
          </a:prstGeom>
          <a:noFill/>
        </p:spPr>
        <p:txBody>
          <a:bodyPr wrap="square" lIns="0" rIns="0" tIns="0" bIns="0" anchor="t"/>
          <a:lstStyle/>
          <a:p>
            <a:pPr algn="l">
              <a:spcAft>
                <a:spcPts val="400"/>
              </a:spcAft>
              <a:buNone/>
            </a:pPr>
            <a:r>
              <a:rPr sz="1150" b="0" i="0">
                <a:solidFill>
                  <a:srgbClr val="5A6684"/>
                </a:solidFill>
                <a:latin typeface="Roboto"/>
              </a:rPr>
              <a:t>So sieht das Team jede Woche, ob der Pilot auf Kurs ist, ohne selbst Tabellen auszuwerten.</a:t>
            </a:r>
          </a:p>
        </p:txBody>
      </p:sp>
      <p:sp>
        <p:nvSpPr>
          <p:cNvPr id="37" name="Rounded Rectangle 36"/>
          <p:cNvSpPr/>
          <p:nvPr/>
        </p:nvSpPr>
        <p:spPr>
          <a:xfrm>
            <a:off x="5276088" y="4663440"/>
            <a:ext cx="607161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477255" y="480060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Github_w.png"/>
          <p:cNvPicPr>
            <a:picLocks noChangeAspect="1"/>
          </p:cNvPicPr>
          <p:nvPr/>
        </p:nvPicPr>
        <p:blipFill>
          <a:blip r:embed="rId8"/>
          <a:stretch>
            <a:fillRect/>
          </a:stretch>
        </p:blipFill>
        <p:spPr>
          <a:xfrm>
            <a:off x="5586983" y="4910328"/>
            <a:ext cx="237744" cy="237744"/>
          </a:xfrm>
          <a:prstGeom prst="rect">
            <a:avLst/>
          </a:prstGeom>
        </p:spPr>
      </p:pic>
      <p:sp>
        <p:nvSpPr>
          <p:cNvPr id="40" name="TextBox 39"/>
          <p:cNvSpPr txBox="1"/>
          <p:nvPr/>
        </p:nvSpPr>
        <p:spPr>
          <a:xfrm>
            <a:off x="6053327" y="4800600"/>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Passende GitHub-Skills</a:t>
            </a:r>
          </a:p>
        </p:txBody>
      </p:sp>
      <p:sp>
        <p:nvSpPr>
          <p:cNvPr id="41" name="Rounded Rectangle 40"/>
          <p:cNvSpPr/>
          <p:nvPr/>
        </p:nvSpPr>
        <p:spPr>
          <a:xfrm>
            <a:off x="5477255" y="5376672"/>
            <a:ext cx="12344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webapp-testing</a:t>
            </a:r>
          </a:p>
        </p:txBody>
      </p:sp>
      <p:sp>
        <p:nvSpPr>
          <p:cNvPr id="42" name="Rounded Rectangle 41"/>
          <p:cNvSpPr/>
          <p:nvPr/>
        </p:nvSpPr>
        <p:spPr>
          <a:xfrm>
            <a:off x="6821423" y="5376672"/>
            <a:ext cx="54864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0E1F53"/>
                </a:solidFill>
                <a:latin typeface="Roboto"/>
              </a:rPr>
              <a:t>xlsx</a:t>
            </a:r>
          </a:p>
        </p:txBody>
      </p:sp>
      <p:sp>
        <p:nvSpPr>
          <p:cNvPr id="43" name="TextBox 42"/>
          <p:cNvSpPr txBox="1"/>
          <p:nvPr/>
        </p:nvSpPr>
        <p:spPr>
          <a:xfrm>
            <a:off x="7571231" y="5321808"/>
            <a:ext cx="3593592" cy="548640"/>
          </a:xfrm>
          <a:prstGeom prst="rect">
            <a:avLst/>
          </a:prstGeom>
          <a:noFill/>
        </p:spPr>
        <p:txBody>
          <a:bodyPr wrap="square" lIns="0" rIns="0" tIns="0" bIns="0" anchor="ctr"/>
          <a:lstStyle/>
          <a:p>
            <a:pPr algn="l">
              <a:spcAft>
                <a:spcPts val="400"/>
              </a:spcAft>
              <a:buNone/>
            </a:pPr>
            <a:r>
              <a:rPr sz="1150" b="0" i="0">
                <a:solidFill>
                  <a:srgbClr val="0E1F53"/>
                </a:solidFill>
                <a:latin typeface="Roboto"/>
              </a:rPr>
              <a:t>Klick-Prototypen automatisch prüfen, Testdaten in Excel auswerten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Test-Auswerter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Test-Auswerter · Hochschule Rhein-Waal</a:t>
            </a:r>
          </a:p>
        </p:txBody>
      </p:sp>
      <p:sp>
        <p:nvSpPr>
          <p:cNvPr id="17" name="Rounded Rectangle 16"/>
          <p:cNvSpPr/>
          <p:nvPr/>
        </p:nvSpPr>
        <p:spPr>
          <a:xfrm>
            <a:off x="969264" y="2487168"/>
            <a:ext cx="7242047" cy="444107"/>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2020824" y="2523744"/>
            <a:ext cx="6080759" cy="370955"/>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Test-Auswerter für das Innovationsteam der Hochschule Rhein-Waal.</a:t>
            </a:r>
          </a:p>
        </p:txBody>
      </p:sp>
      <p:sp>
        <p:nvSpPr>
          <p:cNvPr id="20" name="Rounded Rectangle 19"/>
          <p:cNvSpPr/>
          <p:nvPr/>
        </p:nvSpPr>
        <p:spPr>
          <a:xfrm>
            <a:off x="969264" y="2995283"/>
            <a:ext cx="7242047" cy="743296"/>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3050147"/>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2020824" y="3031859"/>
            <a:ext cx="6080759" cy="670144"/>
          </a:xfrm>
          <a:prstGeom prst="rect">
            <a:avLst/>
          </a:prstGeom>
          <a:noFill/>
        </p:spPr>
        <p:txBody>
          <a:bodyPr wrap="square" lIns="0" rIns="0" tIns="0" bIns="0" anchor="ctr"/>
          <a:lstStyle/>
          <a:p>
            <a:pPr algn="l">
              <a:spcAft>
                <a:spcPts val="0"/>
              </a:spcAft>
              <a:buNone/>
            </a:pPr>
            <a:r>
              <a:rPr sz="1150" b="0" i="0">
                <a:solidFill>
                  <a:srgbClr val="1B2440"/>
                </a:solidFill>
                <a:latin typeface="Roboto"/>
              </a:rPr>
              <a:t>Pilot Campus-Mittwoch: 2 Wochen Fake-Door-Test, danach 3 Termine mit 2 Unternehmen. Hypothese: Studierende kommen für Praxisprojekte freiwillig auf den Campus.</a:t>
            </a:r>
          </a:p>
        </p:txBody>
      </p:sp>
      <p:sp>
        <p:nvSpPr>
          <p:cNvPr id="23" name="Rounded Rectangle 22"/>
          <p:cNvSpPr/>
          <p:nvPr/>
        </p:nvSpPr>
        <p:spPr>
          <a:xfrm>
            <a:off x="969264" y="3802587"/>
            <a:ext cx="7242047" cy="44410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3857451"/>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2020824" y="3839163"/>
            <a:ext cx="6080759" cy="370955"/>
          </a:xfrm>
          <a:prstGeom prst="rect">
            <a:avLst/>
          </a:prstGeom>
          <a:noFill/>
        </p:spPr>
        <p:txBody>
          <a:bodyPr wrap="square" lIns="0" rIns="0" tIns="0" bIns="0" anchor="ctr"/>
          <a:lstStyle/>
          <a:p>
            <a:pPr algn="l">
              <a:spcAft>
                <a:spcPts val="0"/>
              </a:spcAft>
              <a:buNone/>
            </a:pPr>
            <a:r>
              <a:rPr sz="1150" b="0" i="0">
                <a:solidFill>
                  <a:srgbClr val="1B2440"/>
                </a:solidFill>
                <a:latin typeface="Roboto"/>
              </a:rPr>
              <a:t>Werte Anmeldungen, Anwesenheit und Feedback aus und gib eine Empfehlung.</a:t>
            </a:r>
          </a:p>
        </p:txBody>
      </p:sp>
      <p:sp>
        <p:nvSpPr>
          <p:cNvPr id="26" name="Rounded Rectangle 25"/>
          <p:cNvSpPr/>
          <p:nvPr/>
        </p:nvSpPr>
        <p:spPr>
          <a:xfrm>
            <a:off x="969264" y="4310703"/>
            <a:ext cx="7242047" cy="598376"/>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0704" y="436556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2020824" y="4347279"/>
            <a:ext cx="6080759" cy="525224"/>
          </a:xfrm>
          <a:prstGeom prst="rect">
            <a:avLst/>
          </a:prstGeom>
          <a:noFill/>
        </p:spPr>
        <p:txBody>
          <a:bodyPr wrap="square" lIns="0" rIns="0" tIns="0" bIns="0" anchor="ctr"/>
          <a:lstStyle/>
          <a:p>
            <a:pPr algn="l">
              <a:spcAft>
                <a:spcPts val="0"/>
              </a:spcAft>
              <a:buNone/>
            </a:pPr>
            <a:r>
              <a:rPr sz="1150" b="0" i="0">
                <a:solidFill>
                  <a:srgbClr val="1B2440"/>
                </a:solidFill>
                <a:latin typeface="Roboto"/>
              </a:rPr>
              <a:t>1. Kennzahlen gegen Kriterien prüfen. 2. Feedback-Grid erstellen. 3. Unterschiede lokal/international betrachten. 4. Empfehlung.</a:t>
            </a:r>
          </a:p>
        </p:txBody>
      </p:sp>
      <p:sp>
        <p:nvSpPr>
          <p:cNvPr id="29" name="Rounded Rectangle 28"/>
          <p:cNvSpPr/>
          <p:nvPr/>
        </p:nvSpPr>
        <p:spPr>
          <a:xfrm>
            <a:off x="969264" y="4973088"/>
            <a:ext cx="7242047" cy="444107"/>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60704" y="5027952"/>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2020824" y="5009664"/>
            <a:ext cx="6080759" cy="370955"/>
          </a:xfrm>
          <a:prstGeom prst="rect">
            <a:avLst/>
          </a:prstGeom>
          <a:noFill/>
        </p:spPr>
        <p:txBody>
          <a:bodyPr wrap="square" lIns="0" rIns="0" tIns="0" bIns="0" anchor="ctr"/>
          <a:lstStyle/>
          <a:p>
            <a:pPr algn="l">
              <a:spcAft>
                <a:spcPts val="0"/>
              </a:spcAft>
              <a:buNone/>
            </a:pPr>
            <a:r>
              <a:rPr sz="1150" b="0" i="0">
                <a:solidFill>
                  <a:srgbClr val="1B2440"/>
                </a:solidFill>
                <a:latin typeface="Roboto"/>
              </a:rPr>
              <a:t>Ein-Seiten-Testbericht mit Kennzahlen, Feedback-Grid und Empfehlung.</a:t>
            </a:r>
          </a:p>
        </p:txBody>
      </p:sp>
      <p:sp>
        <p:nvSpPr>
          <p:cNvPr id="32" name="Rounded Rectangle 31"/>
          <p:cNvSpPr/>
          <p:nvPr/>
        </p:nvSpPr>
        <p:spPr>
          <a:xfrm>
            <a:off x="969264" y="5481204"/>
            <a:ext cx="7242047" cy="44410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60704" y="553606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2020824" y="5517780"/>
            <a:ext cx="6080759" cy="370955"/>
          </a:xfrm>
          <a:prstGeom prst="rect">
            <a:avLst/>
          </a:prstGeom>
          <a:noFill/>
        </p:spPr>
        <p:txBody>
          <a:bodyPr wrap="square" lIns="0" rIns="0" tIns="0" bIns="0" anchor="ctr"/>
          <a:lstStyle/>
          <a:p>
            <a:pPr algn="l">
              <a:spcAft>
                <a:spcPts val="0"/>
              </a:spcAft>
              <a:buNone/>
            </a:pPr>
            <a:r>
              <a:rPr sz="1150" b="0" i="0">
                <a:solidFill>
                  <a:srgbClr val="1B2440"/>
                </a:solidFill>
                <a:latin typeface="Roboto"/>
              </a:rPr>
              <a:t>Anonymisierte Daten. Kleine Stichprobe benennen. Keine Schönfärberei.</a:t>
            </a:r>
          </a:p>
        </p:txBody>
      </p:sp>
      <p:sp>
        <p:nvSpPr>
          <p:cNvPr id="35" name="Rounded Rectangle 34"/>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FlaskConical_w.png"/>
          <p:cNvPicPr>
            <a:picLocks noChangeAspect="1"/>
          </p:cNvPicPr>
          <p:nvPr/>
        </p:nvPicPr>
        <p:blipFill>
          <a:blip r:embed="rId3"/>
          <a:stretch>
            <a:fillRect/>
          </a:stretch>
        </p:blipFill>
        <p:spPr>
          <a:xfrm>
            <a:off x="8995867" y="2348179"/>
            <a:ext cx="332841" cy="332841"/>
          </a:xfrm>
          <a:prstGeom prst="rect">
            <a:avLst/>
          </a:prstGeom>
        </p:spPr>
      </p:pic>
      <p:sp>
        <p:nvSpPr>
          <p:cNvPr id="38" name="TextBox 37"/>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Test-Auswerter</a:t>
            </a:r>
          </a:p>
          <a:p>
            <a:pPr algn="l">
              <a:spcAft>
                <a:spcPts val="0"/>
              </a:spcAft>
              <a:buNone/>
            </a:pPr>
            <a:r>
              <a:rPr sz="1100" b="0" i="0">
                <a:solidFill>
                  <a:srgbClr val="5A6684"/>
                </a:solidFill>
                <a:latin typeface="Roboto"/>
              </a:rPr>
              <a:t>Phase 6</a:t>
            </a:r>
          </a:p>
        </p:txBody>
      </p:sp>
      <p:sp>
        <p:nvSpPr>
          <p:cNvPr id="39" name="TextBox 38"/>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40" name="Rounded Rectangle 39"/>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eck_p.png"/>
          <p:cNvPicPr>
            <a:picLocks noChangeAspect="1"/>
          </p:cNvPicPr>
          <p:nvPr/>
        </p:nvPicPr>
        <p:blipFill>
          <a:blip r:embed="rId4"/>
          <a:stretch>
            <a:fillRect/>
          </a:stretch>
        </p:blipFill>
        <p:spPr>
          <a:xfrm>
            <a:off x="8933688" y="3502152"/>
            <a:ext cx="237744" cy="237744"/>
          </a:xfrm>
          <a:prstGeom prst="rect">
            <a:avLst/>
          </a:prstGeom>
        </p:spPr>
      </p:pic>
      <p:sp>
        <p:nvSpPr>
          <p:cNvPr id="42" name="TextBox 41"/>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feedback-grid</a:t>
            </a:r>
          </a:p>
        </p:txBody>
      </p:sp>
      <p:sp>
        <p:nvSpPr>
          <p:cNvPr id="43" name="Rounded Rectangle 42"/>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uCheck_p.png"/>
          <p:cNvPicPr>
            <a:picLocks noChangeAspect="1"/>
          </p:cNvPicPr>
          <p:nvPr/>
        </p:nvPicPr>
        <p:blipFill>
          <a:blip r:embed="rId4"/>
          <a:stretch>
            <a:fillRect/>
          </a:stretch>
        </p:blipFill>
        <p:spPr>
          <a:xfrm>
            <a:off x="8933688" y="3977639"/>
            <a:ext cx="237744" cy="237744"/>
          </a:xfrm>
          <a:prstGeom prst="rect">
            <a:avLst/>
          </a:prstGeom>
        </p:spPr>
      </p:pic>
      <p:sp>
        <p:nvSpPr>
          <p:cNvPr id="45" name="TextBox 44"/>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Formular + Tabelle</a:t>
            </a:r>
          </a:p>
        </p:txBody>
      </p:sp>
      <p:sp>
        <p:nvSpPr>
          <p:cNvPr id="46" name="Rounded Rectangle 45"/>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LuCheck_p.png"/>
          <p:cNvPicPr>
            <a:picLocks noChangeAspect="1"/>
          </p:cNvPicPr>
          <p:nvPr/>
        </p:nvPicPr>
        <p:blipFill>
          <a:blip r:embed="rId4"/>
          <a:stretch>
            <a:fillRect/>
          </a:stretch>
        </p:blipFill>
        <p:spPr>
          <a:xfrm>
            <a:off x="8933688" y="4453128"/>
            <a:ext cx="237744" cy="237744"/>
          </a:xfrm>
          <a:prstGeom prst="rect">
            <a:avLst/>
          </a:prstGeom>
        </p:spPr>
      </p:pic>
      <p:sp>
        <p:nvSpPr>
          <p:cNvPr id="48" name="TextBox 47"/>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Wochenbericht (Fr 16:00)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Phase 6: Test, Feedback, Entscheidung</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384048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9848" y="2130552"/>
            <a:ext cx="3383280" cy="3749039"/>
          </a:xfrm>
          <a:prstGeom prst="rect">
            <a:avLst/>
          </a:prstGeom>
          <a:noFill/>
        </p:spPr>
        <p:txBody>
          <a:bodyPr wrap="square" lIns="0" rIns="0" tIns="0" bIns="0" anchor="t"/>
          <a:lstStyle/>
          <a:p>
            <a:pPr algn="l">
              <a:spcAft>
                <a:spcPts val="600"/>
              </a:spcAft>
              <a:buNone/>
            </a:pPr>
            <a:r>
              <a:rPr sz="1500" b="1" i="0">
                <a:solidFill>
                  <a:srgbClr val="9FD0FF"/>
                </a:solidFill>
                <a:latin typeface="Roboto"/>
              </a:rPr>
              <a:t>Testplan</a:t>
            </a:r>
          </a:p>
          <a:p>
            <a:pPr algn="l">
              <a:spcAft>
                <a:spcPts val="100"/>
              </a:spcAft>
              <a:buNone/>
            </a:pPr>
            <a:r>
              <a:rPr sz="1200" b="1" i="0">
                <a:solidFill>
                  <a:srgbClr val="9FD0FF"/>
                </a:solidFill>
                <a:latin typeface="Roboto"/>
              </a:rPr>
              <a:t>Hypothese</a:t>
            </a:r>
          </a:p>
          <a:p>
            <a:pPr algn="l">
              <a:spcAft>
                <a:spcPts val="800"/>
              </a:spcAft>
              <a:buNone/>
            </a:pPr>
            <a:r>
              <a:rPr sz="1250" b="0" i="0">
                <a:solidFill>
                  <a:srgbClr val="FFFFFF"/>
                </a:solidFill>
                <a:latin typeface="Roboto"/>
              </a:rPr>
              <a:t>Für echte Praxisprojekte kommen Studierende freiwillig auf den Campus.</a:t>
            </a:r>
          </a:p>
          <a:p>
            <a:pPr algn="l">
              <a:spcAft>
                <a:spcPts val="100"/>
              </a:spcAft>
              <a:buNone/>
            </a:pPr>
            <a:r>
              <a:rPr sz="1200" b="1" i="0">
                <a:solidFill>
                  <a:srgbClr val="9FD0FF"/>
                </a:solidFill>
                <a:latin typeface="Roboto"/>
              </a:rPr>
              <a:t>Erfolgskriterien</a:t>
            </a:r>
          </a:p>
          <a:p>
            <a:pPr algn="l" marL="164592" indent="-164592">
              <a:spcAft>
                <a:spcPts val="200"/>
              </a:spcAft>
              <a:buClr>
                <a:srgbClr val="FB2762"/>
              </a:buClr>
              <a:buFont typeface="Arial"/>
              <a:buChar char="•"/>
            </a:pPr>
            <a:r>
              <a:rPr sz="1250" b="0" i="0">
                <a:solidFill>
                  <a:srgbClr val="FFFFFF"/>
                </a:solidFill>
                <a:latin typeface="Roboto"/>
              </a:rPr>
              <a:t>≥ 40 Anmeldungen in 2 Wochen</a:t>
            </a:r>
          </a:p>
          <a:p>
            <a:pPr algn="l" marL="164592" indent="-164592">
              <a:spcAft>
                <a:spcPts val="800"/>
              </a:spcAft>
              <a:buClr>
                <a:srgbClr val="FB2762"/>
              </a:buClr>
              <a:buFont typeface="Arial"/>
              <a:buChar char="•"/>
            </a:pPr>
            <a:r>
              <a:rPr sz="1250" b="0" i="0">
                <a:solidFill>
                  <a:srgbClr val="FFFFFF"/>
                </a:solidFill>
                <a:latin typeface="Roboto"/>
              </a:rPr>
              <a:t>≥ 60 % kommen zu 2 von 3 Terminen</a:t>
            </a:r>
          </a:p>
          <a:p>
            <a:pPr algn="l">
              <a:spcAft>
                <a:spcPts val="100"/>
              </a:spcAft>
              <a:buNone/>
            </a:pPr>
            <a:r>
              <a:rPr sz="1200" b="1" i="0">
                <a:solidFill>
                  <a:srgbClr val="9FD0FF"/>
                </a:solidFill>
                <a:latin typeface="Roboto"/>
              </a:rPr>
              <a:t>Aufbau</a:t>
            </a:r>
          </a:p>
          <a:p>
            <a:pPr algn="l">
              <a:spcAft>
                <a:spcPts val="400"/>
              </a:spcAft>
              <a:buNone/>
            </a:pPr>
            <a:r>
              <a:rPr sz="1250" b="0" i="0">
                <a:solidFill>
                  <a:srgbClr val="FFFFFF"/>
                </a:solidFill>
                <a:latin typeface="Roboto"/>
              </a:rPr>
              <a:t>Fake-Door-Test, dann Pilot mit 3 Terminen und 2 Unternehmen aus dem Projekt KI für KMU</a:t>
            </a:r>
          </a:p>
        </p:txBody>
      </p:sp>
      <p:sp>
        <p:nvSpPr>
          <p:cNvPr id="13" name="Rounded Rectangle 12"/>
          <p:cNvSpPr/>
          <p:nvPr/>
        </p:nvSpPr>
        <p:spPr>
          <a:xfrm>
            <a:off x="4956048"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38928" y="2029968"/>
            <a:ext cx="1642872" cy="502920"/>
          </a:xfrm>
          <a:prstGeom prst="rect">
            <a:avLst/>
          </a:prstGeom>
          <a:noFill/>
        </p:spPr>
        <p:txBody>
          <a:bodyPr wrap="square" lIns="0" rIns="0" tIns="0" bIns="0" anchor="t"/>
          <a:lstStyle/>
          <a:p>
            <a:pPr algn="l">
              <a:spcAft>
                <a:spcPts val="400"/>
              </a:spcAft>
              <a:buNone/>
            </a:pPr>
            <a:r>
              <a:rPr sz="2400" b="1" i="0">
                <a:solidFill>
                  <a:srgbClr val="1E8E4E"/>
                </a:solidFill>
                <a:latin typeface="Roboto"/>
              </a:rPr>
              <a:t>52</a:t>
            </a:r>
          </a:p>
        </p:txBody>
      </p:sp>
      <p:sp>
        <p:nvSpPr>
          <p:cNvPr id="15" name="TextBox 14"/>
          <p:cNvSpPr txBox="1"/>
          <p:nvPr/>
        </p:nvSpPr>
        <p:spPr>
          <a:xfrm>
            <a:off x="5138928"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Anmeldungen</a:t>
            </a:r>
          </a:p>
        </p:txBody>
      </p:sp>
      <p:sp>
        <p:nvSpPr>
          <p:cNvPr id="16" name="Rounded Rectangle 15"/>
          <p:cNvSpPr/>
          <p:nvPr/>
        </p:nvSpPr>
        <p:spPr>
          <a:xfrm>
            <a:off x="7147560"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30439" y="2029968"/>
            <a:ext cx="1642872" cy="502920"/>
          </a:xfrm>
          <a:prstGeom prst="rect">
            <a:avLst/>
          </a:prstGeom>
          <a:noFill/>
        </p:spPr>
        <p:txBody>
          <a:bodyPr wrap="square" lIns="0" rIns="0" tIns="0" bIns="0" anchor="t"/>
          <a:lstStyle/>
          <a:p>
            <a:pPr algn="l">
              <a:spcAft>
                <a:spcPts val="400"/>
              </a:spcAft>
              <a:buNone/>
            </a:pPr>
            <a:r>
              <a:rPr sz="2400" b="1" i="0">
                <a:solidFill>
                  <a:srgbClr val="1E8E4E"/>
                </a:solidFill>
                <a:latin typeface="Roboto"/>
              </a:rPr>
              <a:t>68 %</a:t>
            </a:r>
          </a:p>
        </p:txBody>
      </p:sp>
      <p:sp>
        <p:nvSpPr>
          <p:cNvPr id="18" name="TextBox 17"/>
          <p:cNvSpPr txBox="1"/>
          <p:nvPr/>
        </p:nvSpPr>
        <p:spPr>
          <a:xfrm>
            <a:off x="7330439"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Wiederkehr</a:t>
            </a:r>
          </a:p>
        </p:txBody>
      </p:sp>
      <p:sp>
        <p:nvSpPr>
          <p:cNvPr id="19" name="Rounded Rectangle 18"/>
          <p:cNvSpPr/>
          <p:nvPr/>
        </p:nvSpPr>
        <p:spPr>
          <a:xfrm>
            <a:off x="9339072"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21952" y="2029968"/>
            <a:ext cx="1642872" cy="502920"/>
          </a:xfrm>
          <a:prstGeom prst="rect">
            <a:avLst/>
          </a:prstGeom>
          <a:noFill/>
        </p:spPr>
        <p:txBody>
          <a:bodyPr wrap="square" lIns="0" rIns="0" tIns="0" bIns="0" anchor="t"/>
          <a:lstStyle/>
          <a:p>
            <a:pPr algn="l">
              <a:spcAft>
                <a:spcPts val="400"/>
              </a:spcAft>
              <a:buNone/>
            </a:pPr>
            <a:r>
              <a:rPr sz="2400" b="1" i="0">
                <a:solidFill>
                  <a:srgbClr val="0E1F53"/>
                </a:solidFill>
                <a:latin typeface="Roboto"/>
              </a:rPr>
              <a:t>2 von 3</a:t>
            </a:r>
          </a:p>
        </p:txBody>
      </p:sp>
      <p:sp>
        <p:nvSpPr>
          <p:cNvPr id="21" name="TextBox 20"/>
          <p:cNvSpPr txBox="1"/>
          <p:nvPr/>
        </p:nvSpPr>
        <p:spPr>
          <a:xfrm>
            <a:off x="9521952"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Kriterien klar erfüllt</a:t>
            </a:r>
          </a:p>
        </p:txBody>
      </p:sp>
      <p:sp>
        <p:nvSpPr>
          <p:cNvPr id="22" name="Rounded Rectangle 21"/>
          <p:cNvSpPr/>
          <p:nvPr/>
        </p:nvSpPr>
        <p:spPr>
          <a:xfrm>
            <a:off x="4956048" y="3108960"/>
            <a:ext cx="3104388" cy="804672"/>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120640" y="3154679"/>
            <a:ext cx="2775204" cy="731520"/>
          </a:xfrm>
          <a:prstGeom prst="rect">
            <a:avLst/>
          </a:prstGeom>
          <a:noFill/>
        </p:spPr>
        <p:txBody>
          <a:bodyPr wrap="square" lIns="0" rIns="0" tIns="0" bIns="0" anchor="ctr"/>
          <a:lstStyle/>
          <a:p>
            <a:pPr algn="l">
              <a:spcAft>
                <a:spcPts val="100"/>
              </a:spcAft>
              <a:buNone/>
            </a:pPr>
            <a:r>
              <a:rPr sz="1250" b="1" i="0">
                <a:solidFill>
                  <a:srgbClr val="1E8E4E"/>
                </a:solidFill>
                <a:latin typeface="Roboto"/>
              </a:rPr>
              <a:t>Gut</a:t>
            </a:r>
          </a:p>
          <a:p>
            <a:pPr algn="l">
              <a:spcAft>
                <a:spcPts val="400"/>
              </a:spcAft>
              <a:buNone/>
            </a:pPr>
            <a:r>
              <a:rPr sz="1150" b="0" i="0">
                <a:solidFill>
                  <a:srgbClr val="0E1F53"/>
                </a:solidFill>
                <a:latin typeface="Roboto"/>
              </a:rPr>
              <a:t>Endlich echte Fälle · Kontakt zu Unternehmen</a:t>
            </a:r>
          </a:p>
        </p:txBody>
      </p:sp>
      <p:sp>
        <p:nvSpPr>
          <p:cNvPr id="24" name="Rounded Rectangle 23"/>
          <p:cNvSpPr/>
          <p:nvPr/>
        </p:nvSpPr>
        <p:spPr>
          <a:xfrm>
            <a:off x="8243316" y="3108960"/>
            <a:ext cx="3104388" cy="804672"/>
          </a:xfrm>
          <a:prstGeom prst="roundRect">
            <a:avLst>
              <a:gd name="adj" fmla="val 6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07908" y="3154679"/>
            <a:ext cx="2775204" cy="731520"/>
          </a:xfrm>
          <a:prstGeom prst="rect">
            <a:avLst/>
          </a:prstGeom>
          <a:noFill/>
        </p:spPr>
        <p:txBody>
          <a:bodyPr wrap="square" lIns="0" rIns="0" tIns="0" bIns="0" anchor="ctr"/>
          <a:lstStyle/>
          <a:p>
            <a:pPr algn="l">
              <a:spcAft>
                <a:spcPts val="100"/>
              </a:spcAft>
              <a:buNone/>
            </a:pPr>
            <a:r>
              <a:rPr sz="1250" b="1" i="0">
                <a:solidFill>
                  <a:srgbClr val="FB2762"/>
                </a:solidFill>
                <a:latin typeface="Roboto"/>
              </a:rPr>
              <a:t>Verbessern</a:t>
            </a:r>
          </a:p>
          <a:p>
            <a:pPr algn="l">
              <a:spcAft>
                <a:spcPts val="400"/>
              </a:spcAft>
              <a:buNone/>
            </a:pPr>
            <a:r>
              <a:rPr sz="1150" b="0" i="0">
                <a:solidFill>
                  <a:srgbClr val="0E1F53"/>
                </a:solidFill>
                <a:latin typeface="Roboto"/>
              </a:rPr>
              <a:t>14 Uhr kollidiert mit Pflichtmodul · Credits unklar</a:t>
            </a:r>
          </a:p>
        </p:txBody>
      </p:sp>
      <p:sp>
        <p:nvSpPr>
          <p:cNvPr id="26" name="Rounded Rectangle 25"/>
          <p:cNvSpPr/>
          <p:nvPr/>
        </p:nvSpPr>
        <p:spPr>
          <a:xfrm>
            <a:off x="4956048" y="4023360"/>
            <a:ext cx="3104388" cy="804672"/>
          </a:xfrm>
          <a:prstGeom prst="roundRect">
            <a:avLst>
              <a:gd name="adj" fmla="val 6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120640" y="4069080"/>
            <a:ext cx="2775204" cy="731520"/>
          </a:xfrm>
          <a:prstGeom prst="rect">
            <a:avLst/>
          </a:prstGeom>
          <a:noFill/>
        </p:spPr>
        <p:txBody>
          <a:bodyPr wrap="square" lIns="0" rIns="0" tIns="0" bIns="0" anchor="ctr"/>
          <a:lstStyle/>
          <a:p>
            <a:pPr algn="l">
              <a:spcAft>
                <a:spcPts val="100"/>
              </a:spcAft>
              <a:buNone/>
            </a:pPr>
            <a:r>
              <a:rPr sz="1250" b="1" i="0">
                <a:solidFill>
                  <a:srgbClr val="1F6FD1"/>
                </a:solidFill>
                <a:latin typeface="Roboto"/>
              </a:rPr>
              <a:t>Fragen</a:t>
            </a:r>
          </a:p>
          <a:p>
            <a:pPr algn="l">
              <a:spcAft>
                <a:spcPts val="400"/>
              </a:spcAft>
              <a:buNone/>
            </a:pPr>
            <a:r>
              <a:rPr sz="1150" b="0" i="0">
                <a:solidFill>
                  <a:srgbClr val="0E1F53"/>
                </a:solidFill>
                <a:latin typeface="Roboto"/>
              </a:rPr>
              <a:t>Gibt es ein Zertifikat? · Geht das auch ohne Deutsch?</a:t>
            </a:r>
          </a:p>
        </p:txBody>
      </p:sp>
      <p:sp>
        <p:nvSpPr>
          <p:cNvPr id="28" name="Rounded Rectangle 27"/>
          <p:cNvSpPr/>
          <p:nvPr/>
        </p:nvSpPr>
        <p:spPr>
          <a:xfrm>
            <a:off x="8243316" y="4023360"/>
            <a:ext cx="3104388" cy="804672"/>
          </a:xfrm>
          <a:prstGeom prst="roundRect">
            <a:avLst>
              <a:gd name="adj" fmla="val 6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07908" y="4069080"/>
            <a:ext cx="2775204" cy="731520"/>
          </a:xfrm>
          <a:prstGeom prst="rect">
            <a:avLst/>
          </a:prstGeom>
          <a:noFill/>
        </p:spPr>
        <p:txBody>
          <a:bodyPr wrap="square" lIns="0" rIns="0" tIns="0" bIns="0" anchor="ctr"/>
          <a:lstStyle/>
          <a:p>
            <a:pPr algn="l">
              <a:spcAft>
                <a:spcPts val="100"/>
              </a:spcAft>
              <a:buNone/>
            </a:pPr>
            <a:r>
              <a:rPr sz="1250" b="1" i="0">
                <a:solidFill>
                  <a:srgbClr val="D9730D"/>
                </a:solidFill>
                <a:latin typeface="Roboto"/>
              </a:rPr>
              <a:t>Ideen</a:t>
            </a:r>
          </a:p>
          <a:p>
            <a:pPr algn="l">
              <a:spcAft>
                <a:spcPts val="400"/>
              </a:spcAft>
              <a:buNone/>
            </a:pPr>
            <a:r>
              <a:rPr sz="1150" b="0" i="0">
                <a:solidFill>
                  <a:srgbClr val="0E1F53"/>
                </a:solidFill>
                <a:latin typeface="Roboto"/>
              </a:rPr>
              <a:t>Online-Zuschaltung für Pendelnde · Challenges auf Englisch</a:t>
            </a:r>
          </a:p>
        </p:txBody>
      </p:sp>
      <p:sp>
        <p:nvSpPr>
          <p:cNvPr id="30" name="Rounded Rectangle 29"/>
          <p:cNvSpPr/>
          <p:nvPr/>
        </p:nvSpPr>
        <p:spPr>
          <a:xfrm>
            <a:off x="4956048" y="5029200"/>
            <a:ext cx="6391656" cy="96012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RefreshCw_w.png"/>
          <p:cNvPicPr>
            <a:picLocks noChangeAspect="1"/>
          </p:cNvPicPr>
          <p:nvPr/>
        </p:nvPicPr>
        <p:blipFill>
          <a:blip r:embed="rId3"/>
          <a:stretch>
            <a:fillRect/>
          </a:stretch>
        </p:blipFill>
        <p:spPr>
          <a:xfrm>
            <a:off x="5184648" y="5257800"/>
            <a:ext cx="502920" cy="502920"/>
          </a:xfrm>
          <a:prstGeom prst="rect">
            <a:avLst/>
          </a:prstGeom>
        </p:spPr>
      </p:pic>
      <p:sp>
        <p:nvSpPr>
          <p:cNvPr id="32" name="TextBox 31"/>
          <p:cNvSpPr txBox="1"/>
          <p:nvPr/>
        </p:nvSpPr>
        <p:spPr>
          <a:xfrm>
            <a:off x="5870448" y="5029200"/>
            <a:ext cx="5294376" cy="960120"/>
          </a:xfrm>
          <a:prstGeom prst="rect">
            <a:avLst/>
          </a:prstGeom>
          <a:noFill/>
        </p:spPr>
        <p:txBody>
          <a:bodyPr wrap="square" lIns="0" rIns="0" tIns="0" bIns="0" anchor="ctr"/>
          <a:lstStyle/>
          <a:p>
            <a:pPr algn="l">
              <a:spcAft>
                <a:spcPts val="200"/>
              </a:spcAft>
              <a:buNone/>
            </a:pPr>
            <a:r>
              <a:rPr sz="1500" b="1" i="0">
                <a:solidFill>
                  <a:srgbClr val="FFFFFF"/>
                </a:solidFill>
                <a:latin typeface="Roboto"/>
              </a:rPr>
              <a:t>Entscheidung: weiter, mit Änderungen</a:t>
            </a:r>
          </a:p>
          <a:p>
            <a:pPr algn="l">
              <a:spcAft>
                <a:spcPts val="400"/>
              </a:spcAft>
              <a:buNone/>
            </a:pPr>
            <a:r>
              <a:rPr sz="1250" b="0" i="0">
                <a:solidFill>
                  <a:srgbClr val="FFFFFF"/>
                </a:solidFill>
                <a:latin typeface="Roboto"/>
              </a:rPr>
              <a:t>Termin verlegen, Credits klären, zweisprachig anbieten → zurück in Phase 5</a:t>
            </a:r>
          </a:p>
        </p:txBody>
      </p:sp>
      <p:sp>
        <p:nvSpPr>
          <p:cNvPr id="33" name="TextBox 32"/>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sind Sie dran: Übertragen Sie es auf Ihr Unternehmen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20 MIN.</a:t>
            </a:r>
          </a:p>
        </p:txBody>
      </p:sp>
      <p:sp>
        <p:nvSpPr>
          <p:cNvPr id="4" name="Oval 3"/>
          <p:cNvSpPr/>
          <p:nvPr/>
        </p:nvSpPr>
        <p:spPr>
          <a:xfrm>
            <a:off x="92445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341863"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Oval 8"/>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6</a:t>
            </a:r>
          </a:p>
        </p:txBody>
      </p:sp>
      <p:sp>
        <p:nvSpPr>
          <p:cNvPr id="10" name="TextBox 9"/>
          <p:cNvSpPr txBox="1"/>
          <p:nvPr/>
        </p:nvSpPr>
        <p:spPr>
          <a:xfrm>
            <a:off x="6409944" y="850392"/>
            <a:ext cx="27432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6: Testen</a:t>
            </a:r>
          </a:p>
        </p:txBody>
      </p:sp>
      <p:sp>
        <p:nvSpPr>
          <p:cNvPr id="11" name="Rounded Rectangle 10"/>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3" name="TextBox 12"/>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Testen Sie Ihren Prototyp 5 Minuten mit einer Person aus einer anderen Gruppe.</a:t>
            </a:r>
          </a:p>
        </p:txBody>
      </p:sp>
      <p:sp>
        <p:nvSpPr>
          <p:cNvPr id="14" name="Rounded Rectangle 13"/>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6" name="TextBox 15"/>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Notieren Sie alles im Feedback-Grid: Gut, Verbessern, Fragen, Ideen.</a:t>
            </a:r>
          </a:p>
        </p:txBody>
      </p:sp>
      <p:sp>
        <p:nvSpPr>
          <p:cNvPr id="17" name="Rounded Rectangle 16"/>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9" name="TextBox 18"/>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Lassen Sie den Test-Auswerter die Notizen auswerten und eine Empfehlung geben.</a:t>
            </a:r>
          </a:p>
        </p:txBody>
      </p:sp>
      <p:sp>
        <p:nvSpPr>
          <p:cNvPr id="20" name="Rounded Rectangle 19"/>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Timer_w.png"/>
          <p:cNvPicPr>
            <a:picLocks noChangeAspect="1"/>
          </p:cNvPicPr>
          <p:nvPr/>
        </p:nvPicPr>
        <p:blipFill>
          <a:blip r:embed="rId3"/>
          <a:stretch>
            <a:fillRect/>
          </a:stretch>
        </p:blipFill>
        <p:spPr>
          <a:xfrm>
            <a:off x="8339328" y="2240280"/>
            <a:ext cx="548640" cy="548640"/>
          </a:xfrm>
          <a:prstGeom prst="rect">
            <a:avLst/>
          </a:prstGeom>
        </p:spPr>
      </p:pic>
      <p:sp>
        <p:nvSpPr>
          <p:cNvPr id="22" name="TextBox 21"/>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20 Min.</a:t>
            </a:r>
          </a:p>
        </p:txBody>
      </p:sp>
      <p:sp>
        <p:nvSpPr>
          <p:cNvPr id="23" name="TextBox 22"/>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Ihr Ergebnis</a:t>
            </a:r>
          </a:p>
          <a:p>
            <a:pPr algn="l">
              <a:spcAft>
                <a:spcPts val="400"/>
              </a:spcAft>
              <a:buNone/>
            </a:pPr>
            <a:r>
              <a:rPr sz="1350" b="0" i="0">
                <a:solidFill>
                  <a:srgbClr val="FFFFFF"/>
                </a:solidFill>
                <a:latin typeface="Roboto"/>
              </a:rPr>
              <a:t>Testprotokolle, Feedback-Grid, Kennzahlen, Entscheidung: weiter, ändern oder stoppen</a:t>
            </a:r>
          </a:p>
        </p:txBody>
      </p:sp>
      <p:sp>
        <p:nvSpPr>
          <p:cNvPr id="24" name="Rounded Rectangle 23"/>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Prompt-Vorlage: </a:t>
            </a:r>
            <a:r>
              <a:rPr sz="1350" b="0" i="0">
                <a:solidFill>
                  <a:srgbClr val="0E1F53"/>
                </a:solidFill>
                <a:latin typeface="Roboto"/>
              </a:rPr>
              <a:t>Nutzen Sie den Systemprompt „Test-Auswerter“ aus der Prompt-Bibliothek und füllen Sie die [Klammern] aus.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7 · Dauerbetrieb</a:t>
            </a:r>
          </a:p>
        </p:txBody>
      </p:sp>
      <p:sp>
        <p:nvSpPr>
          <p:cNvPr id="3" name="Text Placeholder 2"/>
          <p:cNvSpPr>
            <a:spLocks noGrp="1"/>
          </p:cNvSpPr>
          <p:nvPr>
            <p:ph type="body" idx="11" sz="quarter"/>
          </p:nvPr>
        </p:nvSpPr>
        <p:spPr/>
        <p:txBody>
          <a:bodyPr/>
          <a:lstStyle/>
          <a:p>
            <a:r>
              <a:rPr b="0" sz="2000"/>
              <a:t>Agenten, die jede Woche von selbst für Sie arbeiten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als Routine: Ihr Agenten-Kalender</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alendarClock_w.png"/>
          <p:cNvPicPr>
            <a:picLocks noChangeAspect="1"/>
          </p:cNvPicPr>
          <p:nvPr/>
        </p:nvPicPr>
        <p:blipFill>
          <a:blip r:embed="rId3"/>
          <a:stretch>
            <a:fillRect/>
          </a:stretch>
        </p:blipFill>
        <p:spPr>
          <a:xfrm>
            <a:off x="1223467" y="2366467"/>
            <a:ext cx="332841" cy="332841"/>
          </a:xfrm>
          <a:prstGeom prst="rect">
            <a:avLst/>
          </a:prstGeom>
        </p:spPr>
      </p:pic>
      <p:sp>
        <p:nvSpPr>
          <p:cNvPr id="7" name="TextBox 6"/>
          <p:cNvSpPr txBox="1"/>
          <p:nvPr/>
        </p:nvSpPr>
        <p:spPr>
          <a:xfrm>
            <a:off x="1069848"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Wöchentlich</a:t>
            </a:r>
          </a:p>
        </p:txBody>
      </p:sp>
      <p:sp>
        <p:nvSpPr>
          <p:cNvPr id="8" name="Rounded Rectangle 7"/>
          <p:cNvSpPr/>
          <p:nvPr/>
        </p:nvSpPr>
        <p:spPr>
          <a:xfrm>
            <a:off x="1024128"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1288"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Markt-Radar: Montag 7:00</a:t>
            </a:r>
          </a:p>
        </p:txBody>
      </p:sp>
      <p:sp>
        <p:nvSpPr>
          <p:cNvPr id="10" name="Rounded Rectangle 9"/>
          <p:cNvSpPr/>
          <p:nvPr/>
        </p:nvSpPr>
        <p:spPr>
          <a:xfrm>
            <a:off x="1024128"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61288"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Bewertungs-Digest: Freitag</a:t>
            </a:r>
          </a:p>
        </p:txBody>
      </p:sp>
      <p:sp>
        <p:nvSpPr>
          <p:cNvPr id="12" name="Rounded Rectangle 11"/>
          <p:cNvSpPr/>
          <p:nvPr/>
        </p:nvSpPr>
        <p:spPr>
          <a:xfrm>
            <a:off x="1024128"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61288"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Pilot-Wochenbericht</a:t>
            </a:r>
          </a:p>
        </p:txBody>
      </p:sp>
      <p:sp>
        <p:nvSpPr>
          <p:cNvPr id="14" name="Rounded Rectangle 13"/>
          <p:cNvSpPr/>
          <p:nvPr/>
        </p:nvSpPr>
        <p:spPr>
          <a:xfrm>
            <a:off x="3536441"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765041"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Clock_w.png"/>
          <p:cNvPicPr>
            <a:picLocks noChangeAspect="1"/>
          </p:cNvPicPr>
          <p:nvPr/>
        </p:nvPicPr>
        <p:blipFill>
          <a:blip r:embed="rId4"/>
          <a:stretch>
            <a:fillRect/>
          </a:stretch>
        </p:blipFill>
        <p:spPr>
          <a:xfrm>
            <a:off x="3918661" y="2366467"/>
            <a:ext cx="332841" cy="332841"/>
          </a:xfrm>
          <a:prstGeom prst="rect">
            <a:avLst/>
          </a:prstGeom>
        </p:spPr>
      </p:pic>
      <p:sp>
        <p:nvSpPr>
          <p:cNvPr id="17" name="TextBox 16"/>
          <p:cNvSpPr txBox="1"/>
          <p:nvPr/>
        </p:nvSpPr>
        <p:spPr>
          <a:xfrm>
            <a:off x="3765041"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Monatlich</a:t>
            </a:r>
          </a:p>
        </p:txBody>
      </p:sp>
      <p:sp>
        <p:nvSpPr>
          <p:cNvPr id="18" name="Rounded Rectangle 17"/>
          <p:cNvSpPr/>
          <p:nvPr/>
        </p:nvSpPr>
        <p:spPr>
          <a:xfrm>
            <a:off x="3719322"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56481"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Wettbewerber-Monitor</a:t>
            </a:r>
          </a:p>
        </p:txBody>
      </p:sp>
      <p:sp>
        <p:nvSpPr>
          <p:cNvPr id="20" name="Rounded Rectangle 19"/>
          <p:cNvSpPr/>
          <p:nvPr/>
        </p:nvSpPr>
        <p:spPr>
          <a:xfrm>
            <a:off x="3719322"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856481"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Förderprogramm-Scout</a:t>
            </a:r>
          </a:p>
        </p:txBody>
      </p:sp>
      <p:sp>
        <p:nvSpPr>
          <p:cNvPr id="22" name="Rounded Rectangle 21"/>
          <p:cNvSpPr/>
          <p:nvPr/>
        </p:nvSpPr>
        <p:spPr>
          <a:xfrm>
            <a:off x="3719322"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856481"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Ideen-Report an die Geschäftsführung</a:t>
            </a:r>
          </a:p>
        </p:txBody>
      </p:sp>
      <p:sp>
        <p:nvSpPr>
          <p:cNvPr id="24" name="Rounded Rectangle 23"/>
          <p:cNvSpPr/>
          <p:nvPr/>
        </p:nvSpPr>
        <p:spPr>
          <a:xfrm>
            <a:off x="6231636"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60236"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TrendingUp_w.png"/>
          <p:cNvPicPr>
            <a:picLocks noChangeAspect="1"/>
          </p:cNvPicPr>
          <p:nvPr/>
        </p:nvPicPr>
        <p:blipFill>
          <a:blip r:embed="rId5"/>
          <a:stretch>
            <a:fillRect/>
          </a:stretch>
        </p:blipFill>
        <p:spPr>
          <a:xfrm>
            <a:off x="6613855" y="2366467"/>
            <a:ext cx="332841" cy="332841"/>
          </a:xfrm>
          <a:prstGeom prst="rect">
            <a:avLst/>
          </a:prstGeom>
        </p:spPr>
      </p:pic>
      <p:sp>
        <p:nvSpPr>
          <p:cNvPr id="27" name="TextBox 26"/>
          <p:cNvSpPr txBox="1"/>
          <p:nvPr/>
        </p:nvSpPr>
        <p:spPr>
          <a:xfrm>
            <a:off x="6460236"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Quartalsweise</a:t>
            </a:r>
          </a:p>
        </p:txBody>
      </p:sp>
      <p:sp>
        <p:nvSpPr>
          <p:cNvPr id="28" name="Rounded Rectangle 27"/>
          <p:cNvSpPr/>
          <p:nvPr/>
        </p:nvSpPr>
        <p:spPr>
          <a:xfrm>
            <a:off x="6414516"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51675"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Trendreport fürs Strategie-Meeting</a:t>
            </a:r>
          </a:p>
        </p:txBody>
      </p:sp>
      <p:sp>
        <p:nvSpPr>
          <p:cNvPr id="30" name="Rounded Rectangle 29"/>
          <p:cNvSpPr/>
          <p:nvPr/>
        </p:nvSpPr>
        <p:spPr>
          <a:xfrm>
            <a:off x="6414516"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51675"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Persona-Update aus Vertrieb und Service</a:t>
            </a:r>
          </a:p>
        </p:txBody>
      </p:sp>
      <p:sp>
        <p:nvSpPr>
          <p:cNvPr id="32" name="Rounded Rectangle 31"/>
          <p:cNvSpPr/>
          <p:nvPr/>
        </p:nvSpPr>
        <p:spPr>
          <a:xfrm>
            <a:off x="8926830"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155430" y="2212848"/>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Zap_w.png"/>
          <p:cNvPicPr>
            <a:picLocks noChangeAspect="1"/>
          </p:cNvPicPr>
          <p:nvPr/>
        </p:nvPicPr>
        <p:blipFill>
          <a:blip r:embed="rId6"/>
          <a:stretch>
            <a:fillRect/>
          </a:stretch>
        </p:blipFill>
        <p:spPr>
          <a:xfrm>
            <a:off x="9309049" y="2366467"/>
            <a:ext cx="332841" cy="332841"/>
          </a:xfrm>
          <a:prstGeom prst="rect">
            <a:avLst/>
          </a:prstGeom>
        </p:spPr>
      </p:pic>
      <p:sp>
        <p:nvSpPr>
          <p:cNvPr id="35" name="TextBox 34"/>
          <p:cNvSpPr txBox="1"/>
          <p:nvPr/>
        </p:nvSpPr>
        <p:spPr>
          <a:xfrm>
            <a:off x="9155430" y="3017520"/>
            <a:ext cx="1963674" cy="411480"/>
          </a:xfrm>
          <a:prstGeom prst="rect">
            <a:avLst/>
          </a:prstGeom>
          <a:noFill/>
        </p:spPr>
        <p:txBody>
          <a:bodyPr wrap="square" lIns="0" rIns="0" tIns="0" bIns="0" anchor="t"/>
          <a:lstStyle/>
          <a:p>
            <a:pPr algn="l">
              <a:spcAft>
                <a:spcPts val="400"/>
              </a:spcAft>
              <a:buNone/>
            </a:pPr>
            <a:r>
              <a:rPr sz="1800" b="1" i="0">
                <a:solidFill>
                  <a:srgbClr val="FB2762"/>
                </a:solidFill>
                <a:latin typeface="Roboto"/>
              </a:rPr>
              <a:t>Bei Ereignis</a:t>
            </a:r>
          </a:p>
        </p:txBody>
      </p:sp>
      <p:sp>
        <p:nvSpPr>
          <p:cNvPr id="36" name="Rounded Rectangle 35"/>
          <p:cNvSpPr/>
          <p:nvPr/>
        </p:nvSpPr>
        <p:spPr>
          <a:xfrm>
            <a:off x="9109709"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46869"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Neues Interview → Auswertung</a:t>
            </a:r>
          </a:p>
        </p:txBody>
      </p:sp>
      <p:sp>
        <p:nvSpPr>
          <p:cNvPr id="38" name="Rounded Rectangle 37"/>
          <p:cNvSpPr/>
          <p:nvPr/>
        </p:nvSpPr>
        <p:spPr>
          <a:xfrm>
            <a:off x="9109709"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246869"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 Idee im Formular → Bewertung</a:t>
            </a:r>
          </a:p>
        </p:txBody>
      </p:sp>
      <p:sp>
        <p:nvSpPr>
          <p:cNvPr id="40" name="Rounded Rectangle 39"/>
          <p:cNvSpPr/>
          <p:nvPr/>
        </p:nvSpPr>
        <p:spPr>
          <a:xfrm>
            <a:off x="9109709"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46869"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 Ausschreibung → Prüfung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Markt-Radar für jeden Montag</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Markt-Radar · geplante Aufgabe</a:t>
            </a:r>
          </a:p>
        </p:txBody>
      </p:sp>
      <p:sp>
        <p:nvSpPr>
          <p:cNvPr id="10" name="Rounded Rectangle 9"/>
          <p:cNvSpPr/>
          <p:nvPr/>
        </p:nvSpPr>
        <p:spPr>
          <a:xfrm>
            <a:off x="969264" y="2487168"/>
            <a:ext cx="7470648" cy="524829"/>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2" name="TextBox 11"/>
          <p:cNvSpPr txBox="1"/>
          <p:nvPr/>
        </p:nvSpPr>
        <p:spPr>
          <a:xfrm>
            <a:off x="2020824" y="2523744"/>
            <a:ext cx="6309360" cy="451677"/>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Markt-Radar, ein Analyst, der jeden Montag die wichtigsten Marktsignale für die Geschäftsführung zusammenfasst.</a:t>
            </a:r>
          </a:p>
        </p:txBody>
      </p:sp>
      <p:sp>
        <p:nvSpPr>
          <p:cNvPr id="13" name="Rounded Rectangle 12"/>
          <p:cNvSpPr/>
          <p:nvPr/>
        </p:nvSpPr>
        <p:spPr>
          <a:xfrm>
            <a:off x="969264" y="3076005"/>
            <a:ext cx="7470648" cy="511598"/>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3130869"/>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15" name="TextBox 14"/>
          <p:cNvSpPr txBox="1"/>
          <p:nvPr/>
        </p:nvSpPr>
        <p:spPr>
          <a:xfrm>
            <a:off x="2020824" y="3112581"/>
            <a:ext cx="6309360" cy="438446"/>
          </a:xfrm>
          <a:prstGeom prst="rect">
            <a:avLst/>
          </a:prstGeom>
          <a:noFill/>
        </p:spPr>
        <p:txBody>
          <a:bodyPr wrap="square" lIns="0" rIns="0" tIns="0" bIns="0" anchor="ctr"/>
          <a:lstStyle/>
          <a:p>
            <a:pPr algn="l">
              <a:spcAft>
                <a:spcPts val="0"/>
              </a:spcAft>
              <a:buNone/>
            </a:pPr>
            <a:r>
              <a:rPr sz="1150" b="0" i="0">
                <a:solidFill>
                  <a:srgbClr val="1B2440"/>
                </a:solidFill>
                <a:latin typeface="Roboto"/>
              </a:rPr>
              <a:t>[Unternehmen], [Branche] am Niederrhein. Kundschaft: [Zielgruppen]. Wettbewerber: [3–5 Namen]. Themen: [Stichworte].</a:t>
            </a:r>
          </a:p>
        </p:txBody>
      </p:sp>
      <p:sp>
        <p:nvSpPr>
          <p:cNvPr id="16" name="Rounded Rectangle 15"/>
          <p:cNvSpPr/>
          <p:nvPr/>
        </p:nvSpPr>
        <p:spPr>
          <a:xfrm>
            <a:off x="969264" y="3651611"/>
            <a:ext cx="7470648" cy="46749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3706475"/>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18" name="TextBox 17"/>
          <p:cNvSpPr txBox="1"/>
          <p:nvPr/>
        </p:nvSpPr>
        <p:spPr>
          <a:xfrm>
            <a:off x="2020824" y="3688187"/>
            <a:ext cx="6309360" cy="394343"/>
          </a:xfrm>
          <a:prstGeom prst="rect">
            <a:avLst/>
          </a:prstGeom>
          <a:noFill/>
        </p:spPr>
        <p:txBody>
          <a:bodyPr wrap="square" lIns="0" rIns="0" tIns="0" bIns="0" anchor="ctr"/>
          <a:lstStyle/>
          <a:p>
            <a:pPr algn="l">
              <a:spcAft>
                <a:spcPts val="0"/>
              </a:spcAft>
              <a:buNone/>
            </a:pPr>
            <a:r>
              <a:rPr sz="1150" b="0" i="0">
                <a:solidFill>
                  <a:srgbClr val="1B2440"/>
                </a:solidFill>
                <a:latin typeface="Roboto"/>
              </a:rPr>
              <a:t>Recherchiere, was sich in den letzten 7 Tagen zu diesen Themen getan hat, und schicke ein kurzes Briefing.</a:t>
            </a:r>
          </a:p>
        </p:txBody>
      </p:sp>
      <p:sp>
        <p:nvSpPr>
          <p:cNvPr id="19" name="Rounded Rectangle 18"/>
          <p:cNvSpPr/>
          <p:nvPr/>
        </p:nvSpPr>
        <p:spPr>
          <a:xfrm>
            <a:off x="969264" y="4183114"/>
            <a:ext cx="7470648" cy="55570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423797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1" name="TextBox 20"/>
          <p:cNvSpPr txBox="1"/>
          <p:nvPr/>
        </p:nvSpPr>
        <p:spPr>
          <a:xfrm>
            <a:off x="2020824" y="4219690"/>
            <a:ext cx="6309360" cy="482549"/>
          </a:xfrm>
          <a:prstGeom prst="rect">
            <a:avLst/>
          </a:prstGeom>
          <a:noFill/>
        </p:spPr>
        <p:txBody>
          <a:bodyPr wrap="square" lIns="0" rIns="0" tIns="0" bIns="0" anchor="ctr"/>
          <a:lstStyle/>
          <a:p>
            <a:pPr algn="l">
              <a:spcAft>
                <a:spcPts val="0"/>
              </a:spcAft>
              <a:buNone/>
            </a:pPr>
            <a:r>
              <a:rPr sz="1150" b="0" i="0">
                <a:solidFill>
                  <a:srgbClr val="1B2440"/>
                </a:solidFill>
                <a:latin typeface="Roboto"/>
              </a:rPr>
              <a:t>1. Websuche je Thema und Wettbewerber. 2. Nur Neues der letzten 7 Tage. 3. Relevanz bewerten. 4. Je Signal eine Handlungsidee.</a:t>
            </a:r>
          </a:p>
        </p:txBody>
      </p:sp>
      <p:sp>
        <p:nvSpPr>
          <p:cNvPr id="22" name="Rounded Rectangle 21"/>
          <p:cNvSpPr/>
          <p:nvPr/>
        </p:nvSpPr>
        <p:spPr>
          <a:xfrm>
            <a:off x="969264" y="4802824"/>
            <a:ext cx="7470648" cy="60862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4857688"/>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24" name="TextBox 23"/>
          <p:cNvSpPr txBox="1"/>
          <p:nvPr/>
        </p:nvSpPr>
        <p:spPr>
          <a:xfrm>
            <a:off x="2020824" y="4839400"/>
            <a:ext cx="6309360" cy="535473"/>
          </a:xfrm>
          <a:prstGeom prst="rect">
            <a:avLst/>
          </a:prstGeom>
          <a:noFill/>
        </p:spPr>
        <p:txBody>
          <a:bodyPr wrap="square" lIns="0" rIns="0" tIns="0" bIns="0" anchor="ctr"/>
          <a:lstStyle/>
          <a:p>
            <a:pPr algn="l">
              <a:spcAft>
                <a:spcPts val="0"/>
              </a:spcAft>
              <a:buNone/>
            </a:pPr>
            <a:r>
              <a:rPr sz="1150" b="0" i="0">
                <a:solidFill>
                  <a:srgbClr val="1B2440"/>
                </a:solidFill>
                <a:latin typeface="Roboto"/>
              </a:rPr>
              <a:t>Mail „Markt-Radar KW [Nr.]“: Top 3 Signale mit je 2 Sätzen, Link und Handlungsidee, danach max. 5 Kurzmeldungen. Lesezeit unter 3 Minuten.</a:t>
            </a:r>
          </a:p>
        </p:txBody>
      </p:sp>
      <p:sp>
        <p:nvSpPr>
          <p:cNvPr id="25" name="Rounded Rectangle 24"/>
          <p:cNvSpPr/>
          <p:nvPr/>
        </p:nvSpPr>
        <p:spPr>
          <a:xfrm>
            <a:off x="969264" y="5475458"/>
            <a:ext cx="7470648" cy="449853"/>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553032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27" name="TextBox 26"/>
          <p:cNvSpPr txBox="1"/>
          <p:nvPr/>
        </p:nvSpPr>
        <p:spPr>
          <a:xfrm>
            <a:off x="2020824" y="5512034"/>
            <a:ext cx="6309360" cy="376701"/>
          </a:xfrm>
          <a:prstGeom prst="rect">
            <a:avLst/>
          </a:prstGeom>
          <a:noFill/>
        </p:spPr>
        <p:txBody>
          <a:bodyPr wrap="square" lIns="0" rIns="0" tIns="0" bIns="0" anchor="ctr"/>
          <a:lstStyle/>
          <a:p>
            <a:pPr algn="l">
              <a:spcAft>
                <a:spcPts val="0"/>
              </a:spcAft>
              <a:buNone/>
            </a:pPr>
            <a:r>
              <a:rPr sz="1150" b="0" i="0">
                <a:solidFill>
                  <a:srgbClr val="1B2440"/>
                </a:solidFill>
                <a:latin typeface="Roboto"/>
              </a:rPr>
              <a:t>Nur Quellen mit Datum und Link. Keine Gerüchte. Ist nichts Relevantes passiert, sag das in einem Satz.</a:t>
            </a:r>
          </a:p>
        </p:txBody>
      </p:sp>
      <p:sp>
        <p:nvSpPr>
          <p:cNvPr id="28" name="Rounded Rectangle 27"/>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Einstellungen</a:t>
            </a:r>
          </a:p>
        </p:txBody>
      </p:sp>
      <p:sp>
        <p:nvSpPr>
          <p:cNvPr id="30" name="Oval 29"/>
          <p:cNvSpPr/>
          <p:nvPr/>
        </p:nvSpPr>
        <p:spPr>
          <a:xfrm>
            <a:off x="9043416" y="265176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CalendarClock_w.png"/>
          <p:cNvPicPr>
            <a:picLocks noChangeAspect="1"/>
          </p:cNvPicPr>
          <p:nvPr/>
        </p:nvPicPr>
        <p:blipFill>
          <a:blip r:embed="rId3"/>
          <a:stretch>
            <a:fillRect/>
          </a:stretch>
        </p:blipFill>
        <p:spPr>
          <a:xfrm>
            <a:off x="9153144" y="2761488"/>
            <a:ext cx="237744" cy="237744"/>
          </a:xfrm>
          <a:prstGeom prst="rect">
            <a:avLst/>
          </a:prstGeom>
        </p:spPr>
      </p:pic>
      <p:sp>
        <p:nvSpPr>
          <p:cNvPr id="32" name="TextBox 31"/>
          <p:cNvSpPr txBox="1"/>
          <p:nvPr/>
        </p:nvSpPr>
        <p:spPr>
          <a:xfrm>
            <a:off x="9619488" y="260604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Zeitplan</a:t>
            </a:r>
          </a:p>
          <a:p>
            <a:pPr algn="l">
              <a:spcAft>
                <a:spcPts val="0"/>
              </a:spcAft>
              <a:buNone/>
            </a:pPr>
            <a:r>
              <a:rPr sz="1150" b="0" i="0">
                <a:solidFill>
                  <a:srgbClr val="5A6684"/>
                </a:solidFill>
                <a:latin typeface="Roboto"/>
              </a:rPr>
              <a:t>wöchentlich, Mo 7:00</a:t>
            </a:r>
          </a:p>
        </p:txBody>
      </p:sp>
      <p:sp>
        <p:nvSpPr>
          <p:cNvPr id="33" name="Oval 32"/>
          <p:cNvSpPr/>
          <p:nvPr/>
        </p:nvSpPr>
        <p:spPr>
          <a:xfrm>
            <a:off x="9043416" y="347472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Search_w.png"/>
          <p:cNvPicPr>
            <a:picLocks noChangeAspect="1"/>
          </p:cNvPicPr>
          <p:nvPr/>
        </p:nvPicPr>
        <p:blipFill>
          <a:blip r:embed="rId4"/>
          <a:stretch>
            <a:fillRect/>
          </a:stretch>
        </p:blipFill>
        <p:spPr>
          <a:xfrm>
            <a:off x="9153144" y="3584448"/>
            <a:ext cx="237744" cy="237744"/>
          </a:xfrm>
          <a:prstGeom prst="rect">
            <a:avLst/>
          </a:prstGeom>
        </p:spPr>
      </p:pic>
      <p:sp>
        <p:nvSpPr>
          <p:cNvPr id="35" name="TextBox 34"/>
          <p:cNvSpPr txBox="1"/>
          <p:nvPr/>
        </p:nvSpPr>
        <p:spPr>
          <a:xfrm>
            <a:off x="9619488" y="342900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Werkzeuge</a:t>
            </a:r>
          </a:p>
          <a:p>
            <a:pPr algn="l">
              <a:spcAft>
                <a:spcPts val="0"/>
              </a:spcAft>
              <a:buNone/>
            </a:pPr>
            <a:r>
              <a:rPr sz="1150" b="0" i="0">
                <a:solidFill>
                  <a:srgbClr val="5A6684"/>
                </a:solidFill>
                <a:latin typeface="Roboto"/>
              </a:rPr>
              <a:t>Websuche, Deep Research</a:t>
            </a:r>
          </a:p>
        </p:txBody>
      </p:sp>
      <p:sp>
        <p:nvSpPr>
          <p:cNvPr id="36" name="Oval 35"/>
          <p:cNvSpPr/>
          <p:nvPr/>
        </p:nvSpPr>
        <p:spPr>
          <a:xfrm>
            <a:off x="9043416" y="42976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Mail_w.png"/>
          <p:cNvPicPr>
            <a:picLocks noChangeAspect="1"/>
          </p:cNvPicPr>
          <p:nvPr/>
        </p:nvPicPr>
        <p:blipFill>
          <a:blip r:embed="rId5"/>
          <a:stretch>
            <a:fillRect/>
          </a:stretch>
        </p:blipFill>
        <p:spPr>
          <a:xfrm>
            <a:off x="9153144" y="4407408"/>
            <a:ext cx="237744" cy="237744"/>
          </a:xfrm>
          <a:prstGeom prst="rect">
            <a:avLst/>
          </a:prstGeom>
        </p:spPr>
      </p:pic>
      <p:sp>
        <p:nvSpPr>
          <p:cNvPr id="38" name="TextBox 37"/>
          <p:cNvSpPr txBox="1"/>
          <p:nvPr/>
        </p:nvSpPr>
        <p:spPr>
          <a:xfrm>
            <a:off x="9619488" y="425196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Ausgabe</a:t>
            </a:r>
          </a:p>
          <a:p>
            <a:pPr algn="l">
              <a:spcAft>
                <a:spcPts val="0"/>
              </a:spcAft>
              <a:buNone/>
            </a:pPr>
            <a:r>
              <a:rPr sz="1150" b="0" i="0">
                <a:solidFill>
                  <a:srgbClr val="5A6684"/>
                </a:solidFill>
                <a:latin typeface="Roboto"/>
              </a:rPr>
              <a:t>Mail an das Team</a:t>
            </a:r>
          </a:p>
        </p:txBody>
      </p:sp>
      <p:sp>
        <p:nvSpPr>
          <p:cNvPr id="39" name="Oval 38"/>
          <p:cNvSpPr/>
          <p:nvPr/>
        </p:nvSpPr>
        <p:spPr>
          <a:xfrm>
            <a:off x="9043416" y="512064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UserRound_w.png"/>
          <p:cNvPicPr>
            <a:picLocks noChangeAspect="1"/>
          </p:cNvPicPr>
          <p:nvPr/>
        </p:nvPicPr>
        <p:blipFill>
          <a:blip r:embed="rId6"/>
          <a:stretch>
            <a:fillRect/>
          </a:stretch>
        </p:blipFill>
        <p:spPr>
          <a:xfrm>
            <a:off x="9153144" y="5230368"/>
            <a:ext cx="237744" cy="237744"/>
          </a:xfrm>
          <a:prstGeom prst="rect">
            <a:avLst/>
          </a:prstGeom>
        </p:spPr>
      </p:pic>
      <p:sp>
        <p:nvSpPr>
          <p:cNvPr id="41" name="TextBox 40"/>
          <p:cNvSpPr txBox="1"/>
          <p:nvPr/>
        </p:nvSpPr>
        <p:spPr>
          <a:xfrm>
            <a:off x="9619488" y="507492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Verantwortlich</a:t>
            </a:r>
          </a:p>
          <a:p>
            <a:pPr algn="l">
              <a:spcAft>
                <a:spcPts val="0"/>
              </a:spcAft>
              <a:buNone/>
            </a:pPr>
            <a:r>
              <a:rPr sz="1150" b="0" i="0">
                <a:solidFill>
                  <a:srgbClr val="5A6684"/>
                </a:solidFill>
                <a:latin typeface="Roboto"/>
              </a:rPr>
              <a:t>eine Person liest und teilt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So läuft der Markt-Radar technisch: zwei Wege</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10506456"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103120"/>
            <a:ext cx="5486400"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Weg A · Geplante Aufgabe im KI-Assistenten</a:t>
            </a:r>
          </a:p>
        </p:txBody>
      </p:sp>
      <p:sp>
        <p:nvSpPr>
          <p:cNvPr id="6" name="Rounded Rectangle 5"/>
          <p:cNvSpPr/>
          <p:nvPr/>
        </p:nvSpPr>
        <p:spPr>
          <a:xfrm>
            <a:off x="9518904" y="2130552"/>
            <a:ext cx="1458883"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ohne Programmierung</a:t>
            </a:r>
          </a:p>
        </p:txBody>
      </p:sp>
      <p:sp>
        <p:nvSpPr>
          <p:cNvPr id="7" name="Rounded Rectangle 6"/>
          <p:cNvSpPr/>
          <p:nvPr/>
        </p:nvSpPr>
        <p:spPr>
          <a:xfrm>
            <a:off x="1069848"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07007"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1</a:t>
            </a:r>
          </a:p>
        </p:txBody>
      </p:sp>
      <p:sp>
        <p:nvSpPr>
          <p:cNvPr id="9" name="TextBox 8"/>
          <p:cNvSpPr txBox="1"/>
          <p:nvPr/>
        </p:nvSpPr>
        <p:spPr>
          <a:xfrm>
            <a:off x="1728216"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Agent mit Systemprompt anlegen</a:t>
            </a:r>
          </a:p>
        </p:txBody>
      </p:sp>
      <p:sp>
        <p:nvSpPr>
          <p:cNvPr id="10" name="Right Arrow 9"/>
          <p:cNvSpPr/>
          <p:nvPr/>
        </p:nvSpPr>
        <p:spPr>
          <a:xfrm>
            <a:off x="3406140"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662172"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799332"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2</a:t>
            </a:r>
          </a:p>
        </p:txBody>
      </p:sp>
      <p:sp>
        <p:nvSpPr>
          <p:cNvPr id="13" name="TextBox 12"/>
          <p:cNvSpPr txBox="1"/>
          <p:nvPr/>
        </p:nvSpPr>
        <p:spPr>
          <a:xfrm>
            <a:off x="4320540"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Aufgabe planen: wöchentlich, Mo 7:00</a:t>
            </a:r>
          </a:p>
        </p:txBody>
      </p:sp>
      <p:sp>
        <p:nvSpPr>
          <p:cNvPr id="14" name="Right Arrow 13"/>
          <p:cNvSpPr/>
          <p:nvPr/>
        </p:nvSpPr>
        <p:spPr>
          <a:xfrm>
            <a:off x="5998464"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254496"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91656"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3</a:t>
            </a:r>
          </a:p>
        </p:txBody>
      </p:sp>
      <p:sp>
        <p:nvSpPr>
          <p:cNvPr id="17" name="TextBox 16"/>
          <p:cNvSpPr txBox="1"/>
          <p:nvPr/>
        </p:nvSpPr>
        <p:spPr>
          <a:xfrm>
            <a:off x="6912864"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Benachrichtigung per Mail oder App</a:t>
            </a:r>
          </a:p>
        </p:txBody>
      </p:sp>
      <p:sp>
        <p:nvSpPr>
          <p:cNvPr id="18" name="Right Arrow 17"/>
          <p:cNvSpPr/>
          <p:nvPr/>
        </p:nvSpPr>
        <p:spPr>
          <a:xfrm>
            <a:off x="8590788"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846820"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983980"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4</a:t>
            </a:r>
          </a:p>
        </p:txBody>
      </p:sp>
      <p:sp>
        <p:nvSpPr>
          <p:cNvPr id="21" name="TextBox 20"/>
          <p:cNvSpPr txBox="1"/>
          <p:nvPr/>
        </p:nvSpPr>
        <p:spPr>
          <a:xfrm>
            <a:off x="9505188"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2 Wochen prüfen, Prompt schärfen</a:t>
            </a:r>
          </a:p>
        </p:txBody>
      </p:sp>
      <p:sp>
        <p:nvSpPr>
          <p:cNvPr id="22" name="Rounded Rectangle 21"/>
          <p:cNvSpPr/>
          <p:nvPr/>
        </p:nvSpPr>
        <p:spPr>
          <a:xfrm>
            <a:off x="841248" y="4023360"/>
            <a:ext cx="10506456"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9848" y="4114800"/>
            <a:ext cx="5486400"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Weg B · Workflow-Tool, z. B. n8n</a:t>
            </a:r>
          </a:p>
        </p:txBody>
      </p:sp>
      <p:sp>
        <p:nvSpPr>
          <p:cNvPr id="24" name="Rounded Rectangle 23"/>
          <p:cNvSpPr/>
          <p:nvPr/>
        </p:nvSpPr>
        <p:spPr>
          <a:xfrm>
            <a:off x="9153144" y="4142232"/>
            <a:ext cx="1770610" cy="292608"/>
          </a:xfrm>
          <a:prstGeom prst="roundRect">
            <a:avLst>
              <a:gd name="adj" fmla="val 50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F6FD1"/>
                </a:solidFill>
                <a:latin typeface="Roboto"/>
              </a:rPr>
              <a:t>mehr Kontrolle &amp; Quellen</a:t>
            </a:r>
          </a:p>
        </p:txBody>
      </p:sp>
      <p:sp>
        <p:nvSpPr>
          <p:cNvPr id="25" name="Rounded Rectangle 24"/>
          <p:cNvSpPr/>
          <p:nvPr/>
        </p:nvSpPr>
        <p:spPr>
          <a:xfrm>
            <a:off x="106984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207007"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CalendarClock_w.png"/>
          <p:cNvPicPr>
            <a:picLocks noChangeAspect="1"/>
          </p:cNvPicPr>
          <p:nvPr/>
        </p:nvPicPr>
        <p:blipFill>
          <a:blip r:embed="rId3"/>
          <a:stretch>
            <a:fillRect/>
          </a:stretch>
        </p:blipFill>
        <p:spPr>
          <a:xfrm>
            <a:off x="1316736" y="4864608"/>
            <a:ext cx="237744" cy="237744"/>
          </a:xfrm>
          <a:prstGeom prst="rect">
            <a:avLst/>
          </a:prstGeom>
        </p:spPr>
      </p:pic>
      <p:sp>
        <p:nvSpPr>
          <p:cNvPr id="28" name="TextBox 27"/>
          <p:cNvSpPr txBox="1"/>
          <p:nvPr/>
        </p:nvSpPr>
        <p:spPr>
          <a:xfrm>
            <a:off x="175564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Zeitplan</a:t>
            </a:r>
          </a:p>
        </p:txBody>
      </p:sp>
      <p:sp>
        <p:nvSpPr>
          <p:cNvPr id="29" name="TextBox 28"/>
          <p:cNvSpPr txBox="1"/>
          <p:nvPr/>
        </p:nvSpPr>
        <p:spPr>
          <a:xfrm>
            <a:off x="1207007"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Mo 7:00</a:t>
            </a:r>
          </a:p>
        </p:txBody>
      </p:sp>
      <p:cxnSp>
        <p:nvCxnSpPr>
          <p:cNvPr id="30" name="Connector 29"/>
          <p:cNvCxnSpPr/>
          <p:nvPr/>
        </p:nvCxnSpPr>
        <p:spPr>
          <a:xfrm>
            <a:off x="2860243"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134563"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3271723"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Globe_w.png"/>
          <p:cNvPicPr>
            <a:picLocks noChangeAspect="1"/>
          </p:cNvPicPr>
          <p:nvPr/>
        </p:nvPicPr>
        <p:blipFill>
          <a:blip r:embed="rId4"/>
          <a:stretch>
            <a:fillRect/>
          </a:stretch>
        </p:blipFill>
        <p:spPr>
          <a:xfrm>
            <a:off x="3381451" y="4864608"/>
            <a:ext cx="237744" cy="237744"/>
          </a:xfrm>
          <a:prstGeom prst="rect">
            <a:avLst/>
          </a:prstGeom>
        </p:spPr>
      </p:pic>
      <p:sp>
        <p:nvSpPr>
          <p:cNvPr id="34" name="TextBox 33"/>
          <p:cNvSpPr txBox="1"/>
          <p:nvPr/>
        </p:nvSpPr>
        <p:spPr>
          <a:xfrm>
            <a:off x="3820363"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Quellen</a:t>
            </a:r>
          </a:p>
        </p:txBody>
      </p:sp>
      <p:sp>
        <p:nvSpPr>
          <p:cNvPr id="35" name="TextBox 34"/>
          <p:cNvSpPr txBox="1"/>
          <p:nvPr/>
        </p:nvSpPr>
        <p:spPr>
          <a:xfrm>
            <a:off x="3271723"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Websuche, RSS, Newsletter</a:t>
            </a:r>
          </a:p>
        </p:txBody>
      </p:sp>
      <p:cxnSp>
        <p:nvCxnSpPr>
          <p:cNvPr id="36" name="Connector 35"/>
          <p:cNvCxnSpPr/>
          <p:nvPr/>
        </p:nvCxnSpPr>
        <p:spPr>
          <a:xfrm>
            <a:off x="4924958"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19927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336438" y="475488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Bot_w.png"/>
          <p:cNvPicPr>
            <a:picLocks noChangeAspect="1"/>
          </p:cNvPicPr>
          <p:nvPr/>
        </p:nvPicPr>
        <p:blipFill>
          <a:blip r:embed="rId5"/>
          <a:stretch>
            <a:fillRect/>
          </a:stretch>
        </p:blipFill>
        <p:spPr>
          <a:xfrm>
            <a:off x="5446166" y="4864608"/>
            <a:ext cx="237744" cy="237744"/>
          </a:xfrm>
          <a:prstGeom prst="rect">
            <a:avLst/>
          </a:prstGeom>
        </p:spPr>
      </p:pic>
      <p:sp>
        <p:nvSpPr>
          <p:cNvPr id="40" name="TextBox 39"/>
          <p:cNvSpPr txBox="1"/>
          <p:nvPr/>
        </p:nvSpPr>
        <p:spPr>
          <a:xfrm>
            <a:off x="588507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KI-Agent</a:t>
            </a:r>
          </a:p>
        </p:txBody>
      </p:sp>
      <p:sp>
        <p:nvSpPr>
          <p:cNvPr id="41" name="TextBox 40"/>
          <p:cNvSpPr txBox="1"/>
          <p:nvPr/>
        </p:nvSpPr>
        <p:spPr>
          <a:xfrm>
            <a:off x="5336438"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Systemprompt Markt-Radar</a:t>
            </a:r>
          </a:p>
        </p:txBody>
      </p:sp>
      <p:cxnSp>
        <p:nvCxnSpPr>
          <p:cNvPr id="42" name="Connector 41"/>
          <p:cNvCxnSpPr/>
          <p:nvPr/>
        </p:nvCxnSpPr>
        <p:spPr>
          <a:xfrm>
            <a:off x="6989673"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263993"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01153"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LuMail_w.png"/>
          <p:cNvPicPr>
            <a:picLocks noChangeAspect="1"/>
          </p:cNvPicPr>
          <p:nvPr/>
        </p:nvPicPr>
        <p:blipFill>
          <a:blip r:embed="rId6"/>
          <a:stretch>
            <a:fillRect/>
          </a:stretch>
        </p:blipFill>
        <p:spPr>
          <a:xfrm>
            <a:off x="7510881" y="4864608"/>
            <a:ext cx="237744" cy="237744"/>
          </a:xfrm>
          <a:prstGeom prst="rect">
            <a:avLst/>
          </a:prstGeom>
        </p:spPr>
      </p:pic>
      <p:sp>
        <p:nvSpPr>
          <p:cNvPr id="46" name="TextBox 45"/>
          <p:cNvSpPr txBox="1"/>
          <p:nvPr/>
        </p:nvSpPr>
        <p:spPr>
          <a:xfrm>
            <a:off x="7949793"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Versand</a:t>
            </a:r>
          </a:p>
        </p:txBody>
      </p:sp>
      <p:sp>
        <p:nvSpPr>
          <p:cNvPr id="47" name="TextBox 46"/>
          <p:cNvSpPr txBox="1"/>
          <p:nvPr/>
        </p:nvSpPr>
        <p:spPr>
          <a:xfrm>
            <a:off x="7401153"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Gmail / Outlook</a:t>
            </a:r>
          </a:p>
        </p:txBody>
      </p:sp>
      <p:cxnSp>
        <p:nvCxnSpPr>
          <p:cNvPr id="48" name="Connector 47"/>
          <p:cNvCxnSpPr/>
          <p:nvPr/>
        </p:nvCxnSpPr>
        <p:spPr>
          <a:xfrm>
            <a:off x="9054388"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32870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9465868"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LuChartColumn_w.png"/>
          <p:cNvPicPr>
            <a:picLocks noChangeAspect="1"/>
          </p:cNvPicPr>
          <p:nvPr/>
        </p:nvPicPr>
        <p:blipFill>
          <a:blip r:embed="rId7"/>
          <a:stretch>
            <a:fillRect/>
          </a:stretch>
        </p:blipFill>
        <p:spPr>
          <a:xfrm>
            <a:off x="9575596" y="4864608"/>
            <a:ext cx="237744" cy="237744"/>
          </a:xfrm>
          <a:prstGeom prst="rect">
            <a:avLst/>
          </a:prstGeom>
        </p:spPr>
      </p:pic>
      <p:sp>
        <p:nvSpPr>
          <p:cNvPr id="52" name="TextBox 51"/>
          <p:cNvSpPr txBox="1"/>
          <p:nvPr/>
        </p:nvSpPr>
        <p:spPr>
          <a:xfrm>
            <a:off x="1001450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Archiv</a:t>
            </a:r>
          </a:p>
        </p:txBody>
      </p:sp>
      <p:sp>
        <p:nvSpPr>
          <p:cNvPr id="53" name="TextBox 52"/>
          <p:cNvSpPr txBox="1"/>
          <p:nvPr/>
        </p:nvSpPr>
        <p:spPr>
          <a:xfrm>
            <a:off x="9465868"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Tabelle mit allen Signalen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Das Ergebnis: Montagmorgen im Postfach der HSRW</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7498079" cy="3977639"/>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461504" cy="82296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057400"/>
            <a:ext cx="7040879" cy="777240"/>
          </a:xfrm>
          <a:prstGeom prst="rect">
            <a:avLst/>
          </a:prstGeom>
          <a:noFill/>
        </p:spPr>
        <p:txBody>
          <a:bodyPr wrap="square" lIns="0" rIns="0" tIns="0" bIns="0" anchor="ctr"/>
          <a:lstStyle/>
          <a:p>
            <a:pPr algn="l">
              <a:spcAft>
                <a:spcPts val="100"/>
              </a:spcAft>
              <a:buNone/>
            </a:pPr>
            <a:r>
              <a:rPr sz="1200" b="1" i="0">
                <a:solidFill>
                  <a:srgbClr val="5A6684"/>
                </a:solidFill>
                <a:latin typeface="Roboto"/>
              </a:rPr>
              <a:t>Von: </a:t>
            </a:r>
            <a:r>
              <a:rPr sz="1200" b="0" i="0">
                <a:solidFill>
                  <a:srgbClr val="0E1F53"/>
                </a:solidFill>
                <a:latin typeface="Roboto"/>
              </a:rPr>
              <a:t>Markt-Radar (Agent)</a:t>
            </a:r>
          </a:p>
          <a:p>
            <a:pPr algn="l">
              <a:spcAft>
                <a:spcPts val="100"/>
              </a:spcAft>
              <a:buNone/>
            </a:pPr>
            <a:r>
              <a:rPr sz="1200" b="1" i="0">
                <a:solidFill>
                  <a:srgbClr val="5A6684"/>
                </a:solidFill>
                <a:latin typeface="Roboto"/>
              </a:rPr>
              <a:t>An: </a:t>
            </a:r>
            <a:r>
              <a:rPr sz="1200" b="0" i="0">
                <a:solidFill>
                  <a:srgbClr val="0E1F53"/>
                </a:solidFill>
                <a:latin typeface="Roboto"/>
              </a:rPr>
              <a:t>Innovationsteam HSRW</a:t>
            </a:r>
          </a:p>
          <a:p>
            <a:pPr algn="l">
              <a:spcAft>
                <a:spcPts val="400"/>
              </a:spcAft>
              <a:buNone/>
            </a:pPr>
            <a:r>
              <a:rPr sz="1200" b="1" i="0">
                <a:solidFill>
                  <a:srgbClr val="5A6684"/>
                </a:solidFill>
                <a:latin typeface="Roboto"/>
              </a:rPr>
              <a:t>Betreff: </a:t>
            </a:r>
            <a:r>
              <a:rPr sz="1200" b="1" i="0">
                <a:solidFill>
                  <a:srgbClr val="0E1F53"/>
                </a:solidFill>
                <a:latin typeface="Roboto"/>
              </a:rPr>
              <a:t>Markt-Radar KW 42 · 3 Signale für die HSRW</a:t>
            </a:r>
          </a:p>
        </p:txBody>
      </p:sp>
      <p:sp>
        <p:nvSpPr>
          <p:cNvPr id="7" name="Oval 6"/>
          <p:cNvSpPr/>
          <p:nvPr/>
        </p:nvSpPr>
        <p:spPr>
          <a:xfrm>
            <a:off x="1069848" y="3090672"/>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1</a:t>
            </a:r>
          </a:p>
        </p:txBody>
      </p:sp>
      <p:sp>
        <p:nvSpPr>
          <p:cNvPr id="8" name="TextBox 7"/>
          <p:cNvSpPr txBox="1"/>
          <p:nvPr/>
        </p:nvSpPr>
        <p:spPr>
          <a:xfrm>
            <a:off x="1618488" y="3017520"/>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Nachbarhochschule startet Bachelor mit festem Präsenztag</a:t>
            </a:r>
          </a:p>
          <a:p>
            <a:pPr algn="l">
              <a:spcAft>
                <a:spcPts val="100"/>
              </a:spcAft>
              <a:buNone/>
            </a:pPr>
            <a:r>
              <a:rPr sz="1250" b="1" i="0">
                <a:solidFill>
                  <a:srgbClr val="FB2762"/>
                </a:solidFill>
                <a:latin typeface="Roboto"/>
              </a:rPr>
              <a:t>→ </a:t>
            </a:r>
            <a:r>
              <a:rPr sz="1250" b="0" i="0">
                <a:solidFill>
                  <a:srgbClr val="0E1F53"/>
                </a:solidFill>
                <a:latin typeface="Roboto"/>
              </a:rPr>
              <a:t>Idee: Campus-Mittwoch als Profilmerkmal kommunizieren</a:t>
            </a:r>
          </a:p>
          <a:p>
            <a:pPr algn="l">
              <a:spcAft>
                <a:spcPts val="0"/>
              </a:spcAft>
              <a:buNone/>
            </a:pPr>
            <a:r>
              <a:rPr sz="1050" b="0" i="0">
                <a:solidFill>
                  <a:srgbClr val="5A6684"/>
                </a:solidFill>
                <a:latin typeface="Roboto"/>
              </a:rPr>
              <a:t>Quelle: [Link] · [Datum]</a:t>
            </a:r>
          </a:p>
        </p:txBody>
      </p:sp>
      <p:sp>
        <p:nvSpPr>
          <p:cNvPr id="9" name="Oval 8"/>
          <p:cNvSpPr/>
          <p:nvPr/>
        </p:nvSpPr>
        <p:spPr>
          <a:xfrm>
            <a:off x="1069848" y="4023360"/>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2</a:t>
            </a:r>
          </a:p>
        </p:txBody>
      </p:sp>
      <p:sp>
        <p:nvSpPr>
          <p:cNvPr id="10" name="TextBox 9"/>
          <p:cNvSpPr txBox="1"/>
          <p:nvPr/>
        </p:nvSpPr>
        <p:spPr>
          <a:xfrm>
            <a:off x="1618488" y="3950208"/>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IT.NRW veröffentlicht neue Zahlen zu Studienanfänger:innen</a:t>
            </a:r>
          </a:p>
          <a:p>
            <a:pPr algn="l">
              <a:spcAft>
                <a:spcPts val="100"/>
              </a:spcAft>
              <a:buNone/>
            </a:pPr>
            <a:r>
              <a:rPr sz="1250" b="1" i="0">
                <a:solidFill>
                  <a:srgbClr val="FB2762"/>
                </a:solidFill>
                <a:latin typeface="Roboto"/>
              </a:rPr>
              <a:t>→ </a:t>
            </a:r>
            <a:r>
              <a:rPr sz="1250" b="0" i="0">
                <a:solidFill>
                  <a:srgbClr val="0E1F53"/>
                </a:solidFill>
                <a:latin typeface="Roboto"/>
              </a:rPr>
              <a:t>Idee: eigene Prognose für 2026 aktualisieren</a:t>
            </a:r>
          </a:p>
          <a:p>
            <a:pPr algn="l">
              <a:spcAft>
                <a:spcPts val="0"/>
              </a:spcAft>
              <a:buNone/>
            </a:pPr>
            <a:r>
              <a:rPr sz="1050" b="0" i="0">
                <a:solidFill>
                  <a:srgbClr val="5A6684"/>
                </a:solidFill>
                <a:latin typeface="Roboto"/>
              </a:rPr>
              <a:t>Quelle: [Link] · [Datum]</a:t>
            </a:r>
          </a:p>
        </p:txBody>
      </p:sp>
      <p:sp>
        <p:nvSpPr>
          <p:cNvPr id="11" name="Oval 10"/>
          <p:cNvSpPr/>
          <p:nvPr/>
        </p:nvSpPr>
        <p:spPr>
          <a:xfrm>
            <a:off x="1069848" y="4956048"/>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3</a:t>
            </a:r>
          </a:p>
        </p:txBody>
      </p:sp>
      <p:sp>
        <p:nvSpPr>
          <p:cNvPr id="12" name="TextBox 11"/>
          <p:cNvSpPr txBox="1"/>
          <p:nvPr/>
        </p:nvSpPr>
        <p:spPr>
          <a:xfrm>
            <a:off x="1618488" y="4882896"/>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Neuer Förderaufruf für Transfer zwischen Hochschule und Mittelstand</a:t>
            </a:r>
          </a:p>
          <a:p>
            <a:pPr algn="l">
              <a:spcAft>
                <a:spcPts val="100"/>
              </a:spcAft>
              <a:buNone/>
            </a:pPr>
            <a:r>
              <a:rPr sz="1250" b="1" i="0">
                <a:solidFill>
                  <a:srgbClr val="FB2762"/>
                </a:solidFill>
                <a:latin typeface="Roboto"/>
              </a:rPr>
              <a:t>→ </a:t>
            </a:r>
            <a:r>
              <a:rPr sz="1250" b="0" i="0">
                <a:solidFill>
                  <a:srgbClr val="0E1F53"/>
                </a:solidFill>
                <a:latin typeface="Roboto"/>
              </a:rPr>
              <a:t>Idee: Antrag für das KMU-Challenge-Lab prüfen</a:t>
            </a:r>
          </a:p>
          <a:p>
            <a:pPr algn="l">
              <a:spcAft>
                <a:spcPts val="0"/>
              </a:spcAft>
              <a:buNone/>
            </a:pPr>
            <a:r>
              <a:rPr sz="1050" b="0" i="0">
                <a:solidFill>
                  <a:srgbClr val="5A6684"/>
                </a:solidFill>
                <a:latin typeface="Roboto"/>
              </a:rPr>
              <a:t>Quelle: [Link] · [Datum]</a:t>
            </a:r>
          </a:p>
        </p:txBody>
      </p:sp>
      <p:sp>
        <p:nvSpPr>
          <p:cNvPr id="13" name="Rounded Rectangle 12"/>
          <p:cNvSpPr/>
          <p:nvPr/>
        </p:nvSpPr>
        <p:spPr>
          <a:xfrm>
            <a:off x="8613648" y="2011680"/>
            <a:ext cx="2734056"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42248" y="2194560"/>
            <a:ext cx="2276856" cy="3657600"/>
          </a:xfrm>
          <a:prstGeom prst="rect">
            <a:avLst/>
          </a:prstGeom>
          <a:noFill/>
        </p:spPr>
        <p:txBody>
          <a:bodyPr wrap="square" lIns="0" rIns="0" tIns="0" bIns="0" anchor="t"/>
          <a:lstStyle/>
          <a:p>
            <a:pPr algn="l">
              <a:spcAft>
                <a:spcPts val="1000"/>
              </a:spcAft>
              <a:buNone/>
            </a:pPr>
            <a:r>
              <a:rPr sz="1500" b="1" i="0">
                <a:solidFill>
                  <a:srgbClr val="9FD0FF"/>
                </a:solidFill>
                <a:latin typeface="Roboto"/>
              </a:rPr>
              <a:t>Was die Mail gut macht</a:t>
            </a:r>
          </a:p>
          <a:p>
            <a:pPr algn="l" marL="164592" indent="-164592">
              <a:spcAft>
                <a:spcPts val="800"/>
              </a:spcAft>
              <a:buClr>
                <a:srgbClr val="FB2762"/>
              </a:buClr>
              <a:buFont typeface="Arial"/>
              <a:buChar char="•"/>
            </a:pPr>
            <a:r>
              <a:rPr sz="1350" b="0" i="0">
                <a:solidFill>
                  <a:srgbClr val="FFFFFF"/>
                </a:solidFill>
                <a:latin typeface="Roboto"/>
              </a:rPr>
              <a:t>Nur drei Signale, klar priorisiert</a:t>
            </a:r>
          </a:p>
          <a:p>
            <a:pPr algn="l" marL="164592" indent="-164592">
              <a:spcAft>
                <a:spcPts val="800"/>
              </a:spcAft>
              <a:buClr>
                <a:srgbClr val="FB2762"/>
              </a:buClr>
              <a:buFont typeface="Arial"/>
              <a:buChar char="•"/>
            </a:pPr>
            <a:r>
              <a:rPr sz="1350" b="0" i="0">
                <a:solidFill>
                  <a:srgbClr val="FFFFFF"/>
                </a:solidFill>
                <a:latin typeface="Roboto"/>
              </a:rPr>
              <a:t>Jede Meldung mit Quelle und Datum</a:t>
            </a:r>
          </a:p>
          <a:p>
            <a:pPr algn="l" marL="164592" indent="-164592">
              <a:spcAft>
                <a:spcPts val="800"/>
              </a:spcAft>
              <a:buClr>
                <a:srgbClr val="FB2762"/>
              </a:buClr>
              <a:buFont typeface="Arial"/>
              <a:buChar char="•"/>
            </a:pPr>
            <a:r>
              <a:rPr sz="1350" b="0" i="0">
                <a:solidFill>
                  <a:srgbClr val="FFFFFF"/>
                </a:solidFill>
                <a:latin typeface="Roboto"/>
              </a:rPr>
              <a:t>Konkrete Handlungsidee statt bloßer News</a:t>
            </a:r>
          </a:p>
          <a:p>
            <a:pPr algn="l" marL="164592" indent="-164592">
              <a:spcAft>
                <a:spcPts val="800"/>
              </a:spcAft>
              <a:buClr>
                <a:srgbClr val="FB2762"/>
              </a:buClr>
              <a:buFont typeface="Arial"/>
              <a:buChar char="•"/>
            </a:pPr>
            <a:r>
              <a:rPr sz="1350" b="0" i="0">
                <a:solidFill>
                  <a:srgbClr val="FFFFFF"/>
                </a:solidFill>
                <a:latin typeface="Roboto"/>
              </a:rPr>
              <a:t>In unter 3 Minuten gelesen</a:t>
            </a:r>
          </a:p>
          <a:p>
            <a:pPr algn="l" marL="164592" indent="-164592">
              <a:spcAft>
                <a:spcPts val="800"/>
              </a:spcAft>
              <a:buClr>
                <a:srgbClr val="FB2762"/>
              </a:buClr>
              <a:buFont typeface="Arial"/>
              <a:buChar char="•"/>
            </a:pPr>
            <a:r>
              <a:rPr sz="1350" b="0" i="0">
                <a:solidFill>
                  <a:srgbClr val="FFFFFF"/>
                </a:solidFill>
                <a:latin typeface="Roboto"/>
              </a:rPr>
              <a:t>Ein Mensch entscheidet, was daraus folgt</a:t>
            </a:r>
          </a:p>
        </p:txBody>
      </p:sp>
      <p:sp>
        <p:nvSpPr>
          <p:cNvPr id="15" name="TextBox 14"/>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Inhalte fiktiv, zur Veranschaulichung des Formats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Weitere Dauerläufer, die sich für KMU lohnen</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Eye_w.png"/>
          <p:cNvPicPr>
            <a:picLocks noChangeAspect="1"/>
          </p:cNvPicPr>
          <p:nvPr/>
        </p:nvPicPr>
        <p:blipFill>
          <a:blip r:embed="rId3"/>
          <a:stretch>
            <a:fillRect/>
          </a:stretch>
        </p:blipFill>
        <p:spPr>
          <a:xfrm>
            <a:off x="1174089" y="2344521"/>
            <a:ext cx="285292" cy="285292"/>
          </a:xfrm>
          <a:prstGeom prst="rect">
            <a:avLst/>
          </a:prstGeom>
        </p:spPr>
      </p:pic>
      <p:sp>
        <p:nvSpPr>
          <p:cNvPr id="7" name="TextBox 6"/>
          <p:cNvSpPr txBox="1"/>
          <p:nvPr/>
        </p:nvSpPr>
        <p:spPr>
          <a:xfrm>
            <a:off x="1728216" y="2176272"/>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Wettbewerber-Monitor</a:t>
            </a:r>
          </a:p>
          <a:p>
            <a:pPr algn="l">
              <a:spcAft>
                <a:spcPts val="0"/>
              </a:spcAft>
              <a:buNone/>
            </a:pPr>
            <a:r>
              <a:rPr sz="1150" b="1" i="0">
                <a:solidFill>
                  <a:srgbClr val="FB2762"/>
                </a:solidFill>
                <a:latin typeface="Roboto"/>
              </a:rPr>
              <a:t>monatlich</a:t>
            </a:r>
          </a:p>
        </p:txBody>
      </p:sp>
      <p:sp>
        <p:nvSpPr>
          <p:cNvPr id="8" name="TextBox 7"/>
          <p:cNvSpPr txBox="1"/>
          <p:nvPr/>
        </p:nvSpPr>
        <p:spPr>
          <a:xfrm>
            <a:off x="1042416" y="2926080"/>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Neue Angebote, Preise und Stellenanzeigen der Wettbewerber im Überblick.</a:t>
            </a:r>
          </a:p>
        </p:txBody>
      </p:sp>
      <p:sp>
        <p:nvSpPr>
          <p:cNvPr id="9" name="Rounded Rectangle 8"/>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36008" y="2212848"/>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cale_w.png"/>
          <p:cNvPicPr>
            <a:picLocks noChangeAspect="1"/>
          </p:cNvPicPr>
          <p:nvPr/>
        </p:nvPicPr>
        <p:blipFill>
          <a:blip r:embed="rId4"/>
          <a:stretch>
            <a:fillRect/>
          </a:stretch>
        </p:blipFill>
        <p:spPr>
          <a:xfrm>
            <a:off x="4767681" y="2344521"/>
            <a:ext cx="285292" cy="285292"/>
          </a:xfrm>
          <a:prstGeom prst="rect">
            <a:avLst/>
          </a:prstGeom>
        </p:spPr>
      </p:pic>
      <p:sp>
        <p:nvSpPr>
          <p:cNvPr id="12" name="TextBox 11"/>
          <p:cNvSpPr txBox="1"/>
          <p:nvPr/>
        </p:nvSpPr>
        <p:spPr>
          <a:xfrm>
            <a:off x="5321808" y="2176272"/>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Förderprogramm-Scout</a:t>
            </a:r>
          </a:p>
          <a:p>
            <a:pPr algn="l">
              <a:spcAft>
                <a:spcPts val="0"/>
              </a:spcAft>
              <a:buNone/>
            </a:pPr>
            <a:r>
              <a:rPr sz="1150" b="1" i="0">
                <a:solidFill>
                  <a:srgbClr val="FB2762"/>
                </a:solidFill>
                <a:latin typeface="Roboto"/>
              </a:rPr>
              <a:t>monatlich</a:t>
            </a:r>
          </a:p>
        </p:txBody>
      </p:sp>
      <p:sp>
        <p:nvSpPr>
          <p:cNvPr id="13" name="TextBox 12"/>
          <p:cNvSpPr txBox="1"/>
          <p:nvPr/>
        </p:nvSpPr>
        <p:spPr>
          <a:xfrm>
            <a:off x="4636008" y="2926080"/>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Passende Förderprogramme mit Fristen und Eignungs-Check.</a:t>
            </a:r>
          </a:p>
        </p:txBody>
      </p:sp>
      <p:sp>
        <p:nvSpPr>
          <p:cNvPr id="14" name="Rounded Rectangle 13"/>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0"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MessagesSquare_w.png"/>
          <p:cNvPicPr>
            <a:picLocks noChangeAspect="1"/>
          </p:cNvPicPr>
          <p:nvPr/>
        </p:nvPicPr>
        <p:blipFill>
          <a:blip r:embed="rId5"/>
          <a:stretch>
            <a:fillRect/>
          </a:stretch>
        </p:blipFill>
        <p:spPr>
          <a:xfrm>
            <a:off x="8361273" y="2344521"/>
            <a:ext cx="285292" cy="285292"/>
          </a:xfrm>
          <a:prstGeom prst="rect">
            <a:avLst/>
          </a:prstGeom>
        </p:spPr>
      </p:pic>
      <p:sp>
        <p:nvSpPr>
          <p:cNvPr id="17" name="TextBox 16"/>
          <p:cNvSpPr txBox="1"/>
          <p:nvPr/>
        </p:nvSpPr>
        <p:spPr>
          <a:xfrm>
            <a:off x="8915400" y="2176272"/>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Bewertungs-Digest</a:t>
            </a:r>
          </a:p>
          <a:p>
            <a:pPr algn="l">
              <a:spcAft>
                <a:spcPts val="0"/>
              </a:spcAft>
              <a:buNone/>
            </a:pPr>
            <a:r>
              <a:rPr sz="1150" b="1" i="0">
                <a:solidFill>
                  <a:srgbClr val="FB2762"/>
                </a:solidFill>
                <a:latin typeface="Roboto"/>
              </a:rPr>
              <a:t>wöchentlich</a:t>
            </a:r>
          </a:p>
        </p:txBody>
      </p:sp>
      <p:sp>
        <p:nvSpPr>
          <p:cNvPr id="18" name="TextBox 17"/>
          <p:cNvSpPr txBox="1"/>
          <p:nvPr/>
        </p:nvSpPr>
        <p:spPr>
          <a:xfrm>
            <a:off x="8229600" y="2926080"/>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Neue Online-Bewertungen auswerten, Antwortentwürfe vorbereiten.</a:t>
            </a:r>
          </a:p>
        </p:txBody>
      </p:sp>
      <p:sp>
        <p:nvSpPr>
          <p:cNvPr id="19" name="Rounded Rectangle 18"/>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42416" y="4242816"/>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earch_w.png"/>
          <p:cNvPicPr>
            <a:picLocks noChangeAspect="1"/>
          </p:cNvPicPr>
          <p:nvPr/>
        </p:nvPicPr>
        <p:blipFill>
          <a:blip r:embed="rId6"/>
          <a:stretch>
            <a:fillRect/>
          </a:stretch>
        </p:blipFill>
        <p:spPr>
          <a:xfrm>
            <a:off x="1174089" y="4374489"/>
            <a:ext cx="285292" cy="285292"/>
          </a:xfrm>
          <a:prstGeom prst="rect">
            <a:avLst/>
          </a:prstGeom>
        </p:spPr>
      </p:pic>
      <p:sp>
        <p:nvSpPr>
          <p:cNvPr id="22" name="TextBox 21"/>
          <p:cNvSpPr txBox="1"/>
          <p:nvPr/>
        </p:nvSpPr>
        <p:spPr>
          <a:xfrm>
            <a:off x="1728216" y="4206240"/>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Ausschreibungs-Radar</a:t>
            </a:r>
          </a:p>
          <a:p>
            <a:pPr algn="l">
              <a:spcAft>
                <a:spcPts val="0"/>
              </a:spcAft>
              <a:buNone/>
            </a:pPr>
            <a:r>
              <a:rPr sz="1150" b="1" i="0">
                <a:solidFill>
                  <a:srgbClr val="FB2762"/>
                </a:solidFill>
                <a:latin typeface="Roboto"/>
              </a:rPr>
              <a:t>täglich</a:t>
            </a:r>
          </a:p>
        </p:txBody>
      </p:sp>
      <p:sp>
        <p:nvSpPr>
          <p:cNvPr id="23" name="TextBox 22"/>
          <p:cNvSpPr txBox="1"/>
          <p:nvPr/>
        </p:nvSpPr>
        <p:spPr>
          <a:xfrm>
            <a:off x="1042416" y="4956048"/>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Öffentliche Ausschreibungen nach Stichworten filtern und bewerten.</a:t>
            </a:r>
          </a:p>
        </p:txBody>
      </p:sp>
      <p:sp>
        <p:nvSpPr>
          <p:cNvPr id="24" name="Rounded Rectangle 23"/>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636008"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Handshake_w.png"/>
          <p:cNvPicPr>
            <a:picLocks noChangeAspect="1"/>
          </p:cNvPicPr>
          <p:nvPr/>
        </p:nvPicPr>
        <p:blipFill>
          <a:blip r:embed="rId7"/>
          <a:stretch>
            <a:fillRect/>
          </a:stretch>
        </p:blipFill>
        <p:spPr>
          <a:xfrm>
            <a:off x="4767681" y="4374489"/>
            <a:ext cx="285292" cy="285292"/>
          </a:xfrm>
          <a:prstGeom prst="rect">
            <a:avLst/>
          </a:prstGeom>
        </p:spPr>
      </p:pic>
      <p:sp>
        <p:nvSpPr>
          <p:cNvPr id="27" name="TextBox 26"/>
          <p:cNvSpPr txBox="1"/>
          <p:nvPr/>
        </p:nvSpPr>
        <p:spPr>
          <a:xfrm>
            <a:off x="5321808" y="4206240"/>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Termin-Nachbereitung</a:t>
            </a:r>
          </a:p>
          <a:p>
            <a:pPr algn="l">
              <a:spcAft>
                <a:spcPts val="0"/>
              </a:spcAft>
              <a:buNone/>
            </a:pPr>
            <a:r>
              <a:rPr sz="1150" b="1" i="0">
                <a:solidFill>
                  <a:srgbClr val="FB2762"/>
                </a:solidFill>
                <a:latin typeface="Roboto"/>
              </a:rPr>
              <a:t>nach jedem Kundentermin</a:t>
            </a:r>
          </a:p>
        </p:txBody>
      </p:sp>
      <p:sp>
        <p:nvSpPr>
          <p:cNvPr id="28" name="TextBox 27"/>
          <p:cNvSpPr txBox="1"/>
          <p:nvPr/>
        </p:nvSpPr>
        <p:spPr>
          <a:xfrm>
            <a:off x="4636008" y="4956048"/>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Notizen strukturieren, Kundenwunsch festhalten, Follow-up-Mail entwerfen.</a:t>
            </a:r>
          </a:p>
        </p:txBody>
      </p:sp>
      <p:sp>
        <p:nvSpPr>
          <p:cNvPr id="29" name="Rounded Rectangle 28"/>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29600" y="4242816"/>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Lightbulb_w.png"/>
          <p:cNvPicPr>
            <a:picLocks noChangeAspect="1"/>
          </p:cNvPicPr>
          <p:nvPr/>
        </p:nvPicPr>
        <p:blipFill>
          <a:blip r:embed="rId8"/>
          <a:stretch>
            <a:fillRect/>
          </a:stretch>
        </p:blipFill>
        <p:spPr>
          <a:xfrm>
            <a:off x="8361273" y="4374489"/>
            <a:ext cx="285292" cy="285292"/>
          </a:xfrm>
          <a:prstGeom prst="rect">
            <a:avLst/>
          </a:prstGeom>
        </p:spPr>
      </p:pic>
      <p:sp>
        <p:nvSpPr>
          <p:cNvPr id="32" name="TextBox 31"/>
          <p:cNvSpPr txBox="1"/>
          <p:nvPr/>
        </p:nvSpPr>
        <p:spPr>
          <a:xfrm>
            <a:off x="8915400" y="4206240"/>
            <a:ext cx="2267712"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Ideen-Briefkasten</a:t>
            </a:r>
          </a:p>
          <a:p>
            <a:pPr algn="l">
              <a:spcAft>
                <a:spcPts val="0"/>
              </a:spcAft>
              <a:buNone/>
            </a:pPr>
            <a:r>
              <a:rPr sz="1150" b="1" i="0">
                <a:solidFill>
                  <a:srgbClr val="FB2762"/>
                </a:solidFill>
                <a:latin typeface="Roboto"/>
              </a:rPr>
              <a:t>bei jeder neuen Idee</a:t>
            </a:r>
          </a:p>
        </p:txBody>
      </p:sp>
      <p:sp>
        <p:nvSpPr>
          <p:cNvPr id="33" name="TextBox 32"/>
          <p:cNvSpPr txBox="1"/>
          <p:nvPr/>
        </p:nvSpPr>
        <p:spPr>
          <a:xfrm>
            <a:off x="8229600" y="4956048"/>
            <a:ext cx="2916936" cy="868680"/>
          </a:xfrm>
          <a:prstGeom prst="rect">
            <a:avLst/>
          </a:prstGeom>
          <a:noFill/>
        </p:spPr>
        <p:txBody>
          <a:bodyPr wrap="square" lIns="0" rIns="0" tIns="0" bIns="0" anchor="t"/>
          <a:lstStyle/>
          <a:p>
            <a:pPr algn="l">
              <a:spcAft>
                <a:spcPts val="400"/>
              </a:spcAft>
              <a:buNone/>
            </a:pPr>
            <a:r>
              <a:rPr sz="1300" b="0" i="0">
                <a:solidFill>
                  <a:srgbClr val="0E1F53"/>
                </a:solidFill>
                <a:latin typeface="Roboto"/>
              </a:rPr>
              <a:t>Ideen aus dem Team sammeln, ergänzen, bewerten, monatlich berichten.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Teil 8 · Transfer</a:t>
            </a:r>
          </a:p>
        </p:txBody>
      </p:sp>
      <p:sp>
        <p:nvSpPr>
          <p:cNvPr id="3" name="Text Placeholder 2"/>
          <p:cNvSpPr>
            <a:spLocks noGrp="1"/>
          </p:cNvSpPr>
          <p:nvPr>
            <p:ph type="body" idx="11" sz="quarter"/>
          </p:nvPr>
        </p:nvSpPr>
        <p:spPr/>
        <p:txBody>
          <a:bodyPr/>
          <a:lstStyle/>
          <a:p>
            <a:r>
              <a:rPr b="0" sz="2000"/>
              <a:t>Vom Workshop in den Betrieb</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 Fahrplan für die nächsten 90 Tage</a:t>
            </a:r>
          </a:p>
        </p:txBody>
      </p:sp>
      <p:sp>
        <p:nvSpPr>
          <p:cNvPr id="3" name="Rounded Rectangle 2"/>
          <p:cNvSpPr/>
          <p:nvPr/>
        </p:nvSpPr>
        <p:spPr>
          <a:xfrm>
            <a:off x="841248" y="850392"/>
            <a:ext cx="94731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TRANSFER</a:t>
            </a:r>
          </a:p>
        </p:txBody>
      </p:sp>
      <p:sp>
        <p:nvSpPr>
          <p:cNvPr id="4" name="Rounded Rectangle 3"/>
          <p:cNvSpPr/>
          <p:nvPr/>
        </p:nvSpPr>
        <p:spPr>
          <a:xfrm>
            <a:off x="841248" y="2011680"/>
            <a:ext cx="3258311" cy="91440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1–30</a:t>
            </a:r>
          </a:p>
          <a:p>
            <a:pPr algn="l">
              <a:spcAft>
                <a:spcPts val="0"/>
              </a:spcAft>
              <a:buNone/>
            </a:pPr>
            <a:r>
              <a:rPr sz="1300" b="0" i="0">
                <a:solidFill>
                  <a:srgbClr val="FFFFFF"/>
                </a:solidFill>
                <a:latin typeface="Roboto"/>
              </a:rPr>
              <a:t>Verstehen &amp; Beobachten</a:t>
            </a:r>
          </a:p>
        </p:txBody>
      </p:sp>
      <p:sp>
        <p:nvSpPr>
          <p:cNvPr id="6" name="Right Arrow 5"/>
          <p:cNvSpPr/>
          <p:nvPr/>
        </p:nvSpPr>
        <p:spPr>
          <a:xfrm>
            <a:off x="4163568" y="2331720"/>
            <a:ext cx="237744" cy="274320"/>
          </a:xfrm>
          <a:prstGeom prst="rightArrow">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41248"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9848" y="3200400"/>
            <a:ext cx="2801111" cy="2743200"/>
          </a:xfrm>
          <a:prstGeom prst="rect">
            <a:avLst/>
          </a:prstGeom>
          <a:noFill/>
        </p:spPr>
        <p:txBody>
          <a:bodyPr wrap="square" lIns="0" rIns="0" tIns="0" bIns="0" anchor="t"/>
          <a:lstStyle/>
          <a:p>
            <a:pPr algn="l" marL="274320" indent="-274320">
              <a:spcAft>
                <a:spcPts val="1200"/>
              </a:spcAft>
              <a:buClr>
                <a:srgbClr val="0E1F53"/>
              </a:buClr>
              <a:buFont typeface="Arial"/>
              <a:buChar char="✓"/>
            </a:pPr>
            <a:r>
              <a:rPr sz="1500" b="0" i="0">
                <a:solidFill>
                  <a:srgbClr val="0E1F53"/>
                </a:solidFill>
                <a:latin typeface="Roboto"/>
              </a:rPr>
              <a:t>Eine Challenge wählen</a:t>
            </a:r>
          </a:p>
          <a:p>
            <a:pPr algn="l" marL="274320" indent="-274320">
              <a:spcAft>
                <a:spcPts val="1200"/>
              </a:spcAft>
              <a:buClr>
                <a:srgbClr val="0E1F53"/>
              </a:buClr>
              <a:buFont typeface="Arial"/>
              <a:buChar char="✓"/>
            </a:pPr>
            <a:r>
              <a:rPr sz="1500" b="0" i="0">
                <a:solidFill>
                  <a:srgbClr val="0E1F53"/>
                </a:solidFill>
                <a:latin typeface="Roboto"/>
              </a:rPr>
              <a:t>Team aus 3–5 Personen bilden</a:t>
            </a:r>
          </a:p>
          <a:p>
            <a:pPr algn="l" marL="274320" indent="-274320">
              <a:spcAft>
                <a:spcPts val="1200"/>
              </a:spcAft>
              <a:buClr>
                <a:srgbClr val="0E1F53"/>
              </a:buClr>
              <a:buFont typeface="Arial"/>
              <a:buChar char="✓"/>
            </a:pPr>
            <a:r>
              <a:rPr sz="1500" b="0" i="0">
                <a:solidFill>
                  <a:srgbClr val="0E1F53"/>
                </a:solidFill>
                <a:latin typeface="Roboto"/>
              </a:rPr>
              <a:t>Markt-Radar einrichten</a:t>
            </a:r>
          </a:p>
          <a:p>
            <a:pPr algn="l" marL="274320" indent="-274320">
              <a:spcAft>
                <a:spcPts val="1200"/>
              </a:spcAft>
              <a:buClr>
                <a:srgbClr val="0E1F53"/>
              </a:buClr>
              <a:buFont typeface="Arial"/>
              <a:buChar char="✓"/>
            </a:pPr>
            <a:r>
              <a:rPr sz="1500" b="0" i="0">
                <a:solidFill>
                  <a:srgbClr val="0E1F53"/>
                </a:solidFill>
                <a:latin typeface="Roboto"/>
              </a:rPr>
              <a:t>5 Gespräche mit Kundschaft führen</a:t>
            </a:r>
          </a:p>
        </p:txBody>
      </p:sp>
      <p:sp>
        <p:nvSpPr>
          <p:cNvPr id="9" name="Rounded Rectangle 8"/>
          <p:cNvSpPr/>
          <p:nvPr/>
        </p:nvSpPr>
        <p:spPr>
          <a:xfrm>
            <a:off x="4465320" y="2011680"/>
            <a:ext cx="3258311" cy="914400"/>
          </a:xfrm>
          <a:prstGeom prst="roundRect">
            <a:avLst>
              <a:gd name="adj" fmla="val 6000"/>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93920"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31–60</a:t>
            </a:r>
          </a:p>
          <a:p>
            <a:pPr algn="l">
              <a:spcAft>
                <a:spcPts val="0"/>
              </a:spcAft>
              <a:buNone/>
            </a:pPr>
            <a:r>
              <a:rPr sz="1300" b="0" i="0">
                <a:solidFill>
                  <a:srgbClr val="FFFFFF"/>
                </a:solidFill>
                <a:latin typeface="Roboto"/>
              </a:rPr>
              <a:t>Verdichten &amp; Ideen bauen</a:t>
            </a:r>
          </a:p>
        </p:txBody>
      </p:sp>
      <p:sp>
        <p:nvSpPr>
          <p:cNvPr id="11" name="Right Arrow 10"/>
          <p:cNvSpPr/>
          <p:nvPr/>
        </p:nvSpPr>
        <p:spPr>
          <a:xfrm>
            <a:off x="7787639" y="2331720"/>
            <a:ext cx="237744" cy="274320"/>
          </a:xfrm>
          <a:prstGeom prst="rightArrow">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465320"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93920" y="3200400"/>
            <a:ext cx="2801111" cy="2743200"/>
          </a:xfrm>
          <a:prstGeom prst="rect">
            <a:avLst/>
          </a:prstGeom>
          <a:noFill/>
        </p:spPr>
        <p:txBody>
          <a:bodyPr wrap="square" lIns="0" rIns="0" tIns="0" bIns="0" anchor="t"/>
          <a:lstStyle/>
          <a:p>
            <a:pPr algn="l" marL="274320" indent="-274320">
              <a:spcAft>
                <a:spcPts val="1200"/>
              </a:spcAft>
              <a:buClr>
                <a:srgbClr val="2B4A9B"/>
              </a:buClr>
              <a:buFont typeface="Arial"/>
              <a:buChar char="✓"/>
            </a:pPr>
            <a:r>
              <a:rPr sz="1500" b="0" i="0">
                <a:solidFill>
                  <a:srgbClr val="0E1F53"/>
                </a:solidFill>
                <a:latin typeface="Roboto"/>
              </a:rPr>
              <a:t>Insights und Persona erarbeiten</a:t>
            </a:r>
          </a:p>
          <a:p>
            <a:pPr algn="l" marL="274320" indent="-274320">
              <a:spcAft>
                <a:spcPts val="1200"/>
              </a:spcAft>
              <a:buClr>
                <a:srgbClr val="2B4A9B"/>
              </a:buClr>
              <a:buFont typeface="Arial"/>
              <a:buChar char="✓"/>
            </a:pPr>
            <a:r>
              <a:rPr sz="1500" b="0" i="0">
                <a:solidFill>
                  <a:srgbClr val="0E1F53"/>
                </a:solidFill>
                <a:latin typeface="Roboto"/>
              </a:rPr>
              <a:t>Ideen-Workshop (2 Stunden)</a:t>
            </a:r>
          </a:p>
          <a:p>
            <a:pPr algn="l" marL="274320" indent="-274320">
              <a:spcAft>
                <a:spcPts val="1200"/>
              </a:spcAft>
              <a:buClr>
                <a:srgbClr val="2B4A9B"/>
              </a:buClr>
              <a:buFont typeface="Arial"/>
              <a:buChar char="✓"/>
            </a:pPr>
            <a:r>
              <a:rPr sz="1500" b="0" i="0">
                <a:solidFill>
                  <a:srgbClr val="0E1F53"/>
                </a:solidFill>
                <a:latin typeface="Roboto"/>
              </a:rPr>
              <a:t>Einen Prototyp bauen</a:t>
            </a:r>
          </a:p>
          <a:p>
            <a:pPr algn="l" marL="274320" indent="-274320">
              <a:spcAft>
                <a:spcPts val="1200"/>
              </a:spcAft>
              <a:buClr>
                <a:srgbClr val="2B4A9B"/>
              </a:buClr>
              <a:buFont typeface="Arial"/>
              <a:buChar char="✓"/>
            </a:pPr>
            <a:r>
              <a:rPr sz="1500" b="0" i="0">
                <a:solidFill>
                  <a:srgbClr val="0E1F53"/>
                </a:solidFill>
                <a:latin typeface="Roboto"/>
              </a:rPr>
              <a:t>Mit 5 Personen testen</a:t>
            </a:r>
          </a:p>
        </p:txBody>
      </p:sp>
      <p:sp>
        <p:nvSpPr>
          <p:cNvPr id="14" name="Rounded Rectangle 13"/>
          <p:cNvSpPr/>
          <p:nvPr/>
        </p:nvSpPr>
        <p:spPr>
          <a:xfrm>
            <a:off x="8089391" y="2011680"/>
            <a:ext cx="3258311" cy="91440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17991"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61–90</a:t>
            </a:r>
          </a:p>
          <a:p>
            <a:pPr algn="l">
              <a:spcAft>
                <a:spcPts val="0"/>
              </a:spcAft>
              <a:buNone/>
            </a:pPr>
            <a:r>
              <a:rPr sz="1300" b="0" i="0">
                <a:solidFill>
                  <a:srgbClr val="FFFFFF"/>
                </a:solidFill>
                <a:latin typeface="Roboto"/>
              </a:rPr>
              <a:t>Pilot &amp; Routine</a:t>
            </a:r>
          </a:p>
        </p:txBody>
      </p:sp>
      <p:sp>
        <p:nvSpPr>
          <p:cNvPr id="16" name="Rounded Rectangle 15"/>
          <p:cNvSpPr/>
          <p:nvPr/>
        </p:nvSpPr>
        <p:spPr>
          <a:xfrm>
            <a:off x="8089391"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17991" y="3200400"/>
            <a:ext cx="2801111" cy="2743200"/>
          </a:xfrm>
          <a:prstGeom prst="rect">
            <a:avLst/>
          </a:prstGeom>
          <a:noFill/>
        </p:spPr>
        <p:txBody>
          <a:bodyPr wrap="square" lIns="0" rIns="0" tIns="0" bIns="0" anchor="t"/>
          <a:lstStyle/>
          <a:p>
            <a:pPr algn="l" marL="274320" indent="-274320">
              <a:spcAft>
                <a:spcPts val="1200"/>
              </a:spcAft>
              <a:buClr>
                <a:srgbClr val="FB2762"/>
              </a:buClr>
              <a:buFont typeface="Arial"/>
              <a:buChar char="✓"/>
            </a:pPr>
            <a:r>
              <a:rPr sz="1500" b="0" i="0">
                <a:solidFill>
                  <a:srgbClr val="0E1F53"/>
                </a:solidFill>
                <a:latin typeface="Roboto"/>
              </a:rPr>
              <a:t>Pilot mit Kennzahlen starten</a:t>
            </a:r>
          </a:p>
          <a:p>
            <a:pPr algn="l" marL="274320" indent="-274320">
              <a:spcAft>
                <a:spcPts val="1200"/>
              </a:spcAft>
              <a:buClr>
                <a:srgbClr val="FB2762"/>
              </a:buClr>
              <a:buFont typeface="Arial"/>
              <a:buChar char="✓"/>
            </a:pPr>
            <a:r>
              <a:rPr sz="1500" b="0" i="0">
                <a:solidFill>
                  <a:srgbClr val="0E1F53"/>
                </a:solidFill>
                <a:latin typeface="Roboto"/>
              </a:rPr>
              <a:t>Zwei weitere Dauerläufer einrichten</a:t>
            </a:r>
          </a:p>
          <a:p>
            <a:pPr algn="l" marL="274320" indent="-274320">
              <a:spcAft>
                <a:spcPts val="1200"/>
              </a:spcAft>
              <a:buClr>
                <a:srgbClr val="FB2762"/>
              </a:buClr>
              <a:buFont typeface="Arial"/>
              <a:buChar char="✓"/>
            </a:pPr>
            <a:r>
              <a:rPr sz="1500" b="0" i="0">
                <a:solidFill>
                  <a:srgbClr val="0E1F53"/>
                </a:solidFill>
                <a:latin typeface="Roboto"/>
              </a:rPr>
              <a:t>Ergebnisse im Team vorstellen</a:t>
            </a:r>
          </a:p>
          <a:p>
            <a:pPr algn="l" marL="274320" indent="-274320">
              <a:spcAft>
                <a:spcPts val="1200"/>
              </a:spcAft>
              <a:buClr>
                <a:srgbClr val="FB2762"/>
              </a:buClr>
              <a:buFont typeface="Arial"/>
              <a:buChar char="✓"/>
            </a:pPr>
            <a:r>
              <a:rPr sz="1500" b="0" i="0">
                <a:solidFill>
                  <a:srgbClr val="0E1F53"/>
                </a:solidFill>
                <a:latin typeface="Roboto"/>
              </a:rPr>
              <a:t>Nächste Challenge wählen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 Start ab morgen: fünf konkrete Schritte</a:t>
            </a:r>
          </a:p>
        </p:txBody>
      </p:sp>
      <p:sp>
        <p:nvSpPr>
          <p:cNvPr id="3" name="Rounded Rectangle 2"/>
          <p:cNvSpPr/>
          <p:nvPr/>
        </p:nvSpPr>
        <p:spPr>
          <a:xfrm>
            <a:off x="841248" y="850392"/>
            <a:ext cx="94731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TRANSFER</a:t>
            </a:r>
          </a:p>
        </p:txBody>
      </p:sp>
      <p:sp>
        <p:nvSpPr>
          <p:cNvPr id="4" name="Rounded Rectangle 3"/>
          <p:cNvSpPr/>
          <p:nvPr/>
        </p:nvSpPr>
        <p:spPr>
          <a:xfrm>
            <a:off x="841248" y="2011680"/>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21408"/>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1</a:t>
            </a:r>
          </a:p>
        </p:txBody>
      </p:sp>
      <p:pic>
        <p:nvPicPr>
          <p:cNvPr id="6" name="Picture 5" descr="LuShieldCheck_n.png"/>
          <p:cNvPicPr>
            <a:picLocks noChangeAspect="1"/>
          </p:cNvPicPr>
          <p:nvPr/>
        </p:nvPicPr>
        <p:blipFill>
          <a:blip r:embed="rId3"/>
          <a:stretch>
            <a:fillRect/>
          </a:stretch>
        </p:blipFill>
        <p:spPr>
          <a:xfrm>
            <a:off x="1618488" y="2185416"/>
            <a:ext cx="329184" cy="329184"/>
          </a:xfrm>
          <a:prstGeom prst="rect">
            <a:avLst/>
          </a:prstGeom>
        </p:spPr>
      </p:pic>
      <p:sp>
        <p:nvSpPr>
          <p:cNvPr id="7" name="TextBox 6"/>
          <p:cNvSpPr txBox="1"/>
          <p:nvPr/>
        </p:nvSpPr>
        <p:spPr>
          <a:xfrm>
            <a:off x="2121408" y="2011680"/>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KI-Zugang klären</a:t>
            </a:r>
          </a:p>
        </p:txBody>
      </p:sp>
      <p:sp>
        <p:nvSpPr>
          <p:cNvPr id="8" name="TextBox 7"/>
          <p:cNvSpPr txBox="1"/>
          <p:nvPr/>
        </p:nvSpPr>
        <p:spPr>
          <a:xfrm>
            <a:off x="5413248" y="2011680"/>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Business-Version mit Datenschutzvertrag statt privater Gratis-Konten.</a:t>
            </a:r>
          </a:p>
        </p:txBody>
      </p:sp>
      <p:sp>
        <p:nvSpPr>
          <p:cNvPr id="9" name="Rounded Rectangle 8"/>
          <p:cNvSpPr/>
          <p:nvPr/>
        </p:nvSpPr>
        <p:spPr>
          <a:xfrm>
            <a:off x="841248" y="2798064"/>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78408" y="2907792"/>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2</a:t>
            </a:r>
          </a:p>
        </p:txBody>
      </p:sp>
      <p:pic>
        <p:nvPicPr>
          <p:cNvPr id="11" name="Picture 10" descr="LuBot_n.png"/>
          <p:cNvPicPr>
            <a:picLocks noChangeAspect="1"/>
          </p:cNvPicPr>
          <p:nvPr/>
        </p:nvPicPr>
        <p:blipFill>
          <a:blip r:embed="rId4"/>
          <a:stretch>
            <a:fillRect/>
          </a:stretch>
        </p:blipFill>
        <p:spPr>
          <a:xfrm>
            <a:off x="1618488" y="2971800"/>
            <a:ext cx="329184" cy="329184"/>
          </a:xfrm>
          <a:prstGeom prst="rect">
            <a:avLst/>
          </a:prstGeom>
        </p:spPr>
      </p:pic>
      <p:sp>
        <p:nvSpPr>
          <p:cNvPr id="12" name="TextBox 11"/>
          <p:cNvSpPr txBox="1"/>
          <p:nvPr/>
        </p:nvSpPr>
        <p:spPr>
          <a:xfrm>
            <a:off x="2121408" y="2798064"/>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Ersten Agenten aufsetzen</a:t>
            </a:r>
          </a:p>
        </p:txBody>
      </p:sp>
      <p:sp>
        <p:nvSpPr>
          <p:cNvPr id="13" name="TextBox 12"/>
          <p:cNvSpPr txBox="1"/>
          <p:nvPr/>
        </p:nvSpPr>
        <p:spPr>
          <a:xfrm>
            <a:off x="5413248" y="2798064"/>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Mit der Systemprompt-Vorlage aus der Prompt-Bibliothek.</a:t>
            </a:r>
          </a:p>
        </p:txBody>
      </p:sp>
      <p:sp>
        <p:nvSpPr>
          <p:cNvPr id="14" name="Rounded Rectangle 13"/>
          <p:cNvSpPr/>
          <p:nvPr/>
        </p:nvSpPr>
        <p:spPr>
          <a:xfrm>
            <a:off x="841248" y="3584448"/>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78408" y="3694176"/>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3</a:t>
            </a:r>
          </a:p>
        </p:txBody>
      </p:sp>
      <p:pic>
        <p:nvPicPr>
          <p:cNvPr id="16" name="Picture 15" descr="LuCalendarClock_n.png"/>
          <p:cNvPicPr>
            <a:picLocks noChangeAspect="1"/>
          </p:cNvPicPr>
          <p:nvPr/>
        </p:nvPicPr>
        <p:blipFill>
          <a:blip r:embed="rId5"/>
          <a:stretch>
            <a:fillRect/>
          </a:stretch>
        </p:blipFill>
        <p:spPr>
          <a:xfrm>
            <a:off x="1618488" y="3758184"/>
            <a:ext cx="329184" cy="329184"/>
          </a:xfrm>
          <a:prstGeom prst="rect">
            <a:avLst/>
          </a:prstGeom>
        </p:spPr>
      </p:pic>
      <p:sp>
        <p:nvSpPr>
          <p:cNvPr id="17" name="TextBox 16"/>
          <p:cNvSpPr txBox="1"/>
          <p:nvPr/>
        </p:nvSpPr>
        <p:spPr>
          <a:xfrm>
            <a:off x="2121408" y="3584448"/>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Markt-Radar einplanen</a:t>
            </a:r>
          </a:p>
        </p:txBody>
      </p:sp>
      <p:sp>
        <p:nvSpPr>
          <p:cNvPr id="18" name="TextBox 17"/>
          <p:cNvSpPr txBox="1"/>
          <p:nvPr/>
        </p:nvSpPr>
        <p:spPr>
          <a:xfrm>
            <a:off x="5413248" y="3584448"/>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Als geplante Aufgabe für den nächsten Montag, 7:00 Uhr.</a:t>
            </a:r>
          </a:p>
        </p:txBody>
      </p:sp>
      <p:sp>
        <p:nvSpPr>
          <p:cNvPr id="19" name="Rounded Rectangle 18"/>
          <p:cNvSpPr/>
          <p:nvPr/>
        </p:nvSpPr>
        <p:spPr>
          <a:xfrm>
            <a:off x="841248" y="4370832"/>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8408" y="448056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4</a:t>
            </a:r>
          </a:p>
        </p:txBody>
      </p:sp>
      <p:pic>
        <p:nvPicPr>
          <p:cNvPr id="21" name="Picture 20" descr="LuMic_n.png"/>
          <p:cNvPicPr>
            <a:picLocks noChangeAspect="1"/>
          </p:cNvPicPr>
          <p:nvPr/>
        </p:nvPicPr>
        <p:blipFill>
          <a:blip r:embed="rId6"/>
          <a:stretch>
            <a:fillRect/>
          </a:stretch>
        </p:blipFill>
        <p:spPr>
          <a:xfrm>
            <a:off x="1618488" y="4544568"/>
            <a:ext cx="329184" cy="329184"/>
          </a:xfrm>
          <a:prstGeom prst="rect">
            <a:avLst/>
          </a:prstGeom>
        </p:spPr>
      </p:pic>
      <p:sp>
        <p:nvSpPr>
          <p:cNvPr id="22" name="TextBox 21"/>
          <p:cNvSpPr txBox="1"/>
          <p:nvPr/>
        </p:nvSpPr>
        <p:spPr>
          <a:xfrm>
            <a:off x="2121408" y="4370832"/>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Zwei Kundengespräche blocken</a:t>
            </a:r>
          </a:p>
        </p:txBody>
      </p:sp>
      <p:sp>
        <p:nvSpPr>
          <p:cNvPr id="23" name="TextBox 22"/>
          <p:cNvSpPr txBox="1"/>
          <p:nvPr/>
        </p:nvSpPr>
        <p:spPr>
          <a:xfrm>
            <a:off x="5413248" y="4370832"/>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Echte Gespräche sind durch nichts zu ersetzen.</a:t>
            </a:r>
          </a:p>
        </p:txBody>
      </p:sp>
      <p:sp>
        <p:nvSpPr>
          <p:cNvPr id="24" name="Rounded Rectangle 23"/>
          <p:cNvSpPr/>
          <p:nvPr/>
        </p:nvSpPr>
        <p:spPr>
          <a:xfrm>
            <a:off x="841248" y="5157216"/>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78408" y="5266944"/>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5</a:t>
            </a:r>
          </a:p>
        </p:txBody>
      </p:sp>
      <p:pic>
        <p:nvPicPr>
          <p:cNvPr id="26" name="Picture 25" descr="LuUserRound_n.png"/>
          <p:cNvPicPr>
            <a:picLocks noChangeAspect="1"/>
          </p:cNvPicPr>
          <p:nvPr/>
        </p:nvPicPr>
        <p:blipFill>
          <a:blip r:embed="rId7"/>
          <a:stretch>
            <a:fillRect/>
          </a:stretch>
        </p:blipFill>
        <p:spPr>
          <a:xfrm>
            <a:off x="1618488" y="5330952"/>
            <a:ext cx="329184" cy="329184"/>
          </a:xfrm>
          <a:prstGeom prst="rect">
            <a:avLst/>
          </a:prstGeom>
        </p:spPr>
      </p:pic>
      <p:sp>
        <p:nvSpPr>
          <p:cNvPr id="27" name="TextBox 26"/>
          <p:cNvSpPr txBox="1"/>
          <p:nvPr/>
        </p:nvSpPr>
        <p:spPr>
          <a:xfrm>
            <a:off x="2121408" y="5157216"/>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Verantwortung festlegen</a:t>
            </a:r>
          </a:p>
        </p:txBody>
      </p:sp>
      <p:sp>
        <p:nvSpPr>
          <p:cNvPr id="28" name="TextBox 27"/>
          <p:cNvSpPr txBox="1"/>
          <p:nvPr/>
        </p:nvSpPr>
        <p:spPr>
          <a:xfrm>
            <a:off x="5413248" y="5157216"/>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Eine Person kümmert sich um Innovation, eine Stunde pro Woche.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Canvas: Mein Innovationsvorhaben</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20 MIN.</a:t>
            </a:r>
          </a:p>
        </p:txBody>
      </p:sp>
      <p:sp>
        <p:nvSpPr>
          <p:cNvPr id="4" name="Rounded Rectangle 3"/>
          <p:cNvSpPr/>
          <p:nvPr/>
        </p:nvSpPr>
        <p:spPr>
          <a:xfrm>
            <a:off x="841248" y="2011680"/>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24128" y="219456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arget_w.png"/>
          <p:cNvPicPr>
            <a:picLocks noChangeAspect="1"/>
          </p:cNvPicPr>
          <p:nvPr/>
        </p:nvPicPr>
        <p:blipFill>
          <a:blip r:embed="rId3"/>
          <a:stretch>
            <a:fillRect/>
          </a:stretch>
        </p:blipFill>
        <p:spPr>
          <a:xfrm>
            <a:off x="1133856" y="2304288"/>
            <a:ext cx="237744" cy="237744"/>
          </a:xfrm>
          <a:prstGeom prst="rect">
            <a:avLst/>
          </a:prstGeom>
        </p:spPr>
      </p:pic>
      <p:sp>
        <p:nvSpPr>
          <p:cNvPr id="7" name="TextBox 6"/>
          <p:cNvSpPr txBox="1"/>
          <p:nvPr/>
        </p:nvSpPr>
        <p:spPr>
          <a:xfrm>
            <a:off x="1591056" y="2148840"/>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Meine Design Challenge</a:t>
            </a:r>
          </a:p>
          <a:p>
            <a:pPr algn="l">
              <a:spcAft>
                <a:spcPts val="0"/>
              </a:spcAft>
              <a:buNone/>
            </a:pPr>
            <a:r>
              <a:rPr sz="1150" b="0" i="0">
                <a:solidFill>
                  <a:srgbClr val="5A6684"/>
                </a:solidFill>
                <a:latin typeface="Roboto"/>
              </a:rPr>
              <a:t>Wie können wir …?</a:t>
            </a:r>
          </a:p>
        </p:txBody>
      </p:sp>
      <p:cxnSp>
        <p:nvCxnSpPr>
          <p:cNvPr id="8" name="Connector 7"/>
          <p:cNvCxnSpPr/>
          <p:nvPr/>
        </p:nvCxnSpPr>
        <p:spPr>
          <a:xfrm>
            <a:off x="1069848" y="306324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 y="333756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69848" y="361188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19600" y="2011680"/>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02480" y="219456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Users_w.png"/>
          <p:cNvPicPr>
            <a:picLocks noChangeAspect="1"/>
          </p:cNvPicPr>
          <p:nvPr/>
        </p:nvPicPr>
        <p:blipFill>
          <a:blip r:embed="rId4"/>
          <a:stretch>
            <a:fillRect/>
          </a:stretch>
        </p:blipFill>
        <p:spPr>
          <a:xfrm>
            <a:off x="4712208" y="2304288"/>
            <a:ext cx="237744" cy="237744"/>
          </a:xfrm>
          <a:prstGeom prst="rect">
            <a:avLst/>
          </a:prstGeom>
        </p:spPr>
      </p:pic>
      <p:sp>
        <p:nvSpPr>
          <p:cNvPr id="14" name="TextBox 13"/>
          <p:cNvSpPr txBox="1"/>
          <p:nvPr/>
        </p:nvSpPr>
        <p:spPr>
          <a:xfrm>
            <a:off x="5169408" y="2148840"/>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Meine Zielgruppe</a:t>
            </a:r>
          </a:p>
          <a:p>
            <a:pPr algn="l">
              <a:spcAft>
                <a:spcPts val="0"/>
              </a:spcAft>
              <a:buNone/>
            </a:pPr>
            <a:r>
              <a:rPr sz="1150" b="0" i="0">
                <a:solidFill>
                  <a:srgbClr val="5A6684"/>
                </a:solidFill>
                <a:latin typeface="Roboto"/>
              </a:rPr>
              <a:t>Für wen lösen wir das?</a:t>
            </a:r>
          </a:p>
        </p:txBody>
      </p:sp>
      <p:cxnSp>
        <p:nvCxnSpPr>
          <p:cNvPr id="15" name="Connector 14"/>
          <p:cNvCxnSpPr/>
          <p:nvPr/>
        </p:nvCxnSpPr>
        <p:spPr>
          <a:xfrm>
            <a:off x="4648200" y="306324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48200" y="333756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48200" y="361188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97952" y="2011680"/>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180832" y="219456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Scale_w.png"/>
          <p:cNvPicPr>
            <a:picLocks noChangeAspect="1"/>
          </p:cNvPicPr>
          <p:nvPr/>
        </p:nvPicPr>
        <p:blipFill>
          <a:blip r:embed="rId5"/>
          <a:stretch>
            <a:fillRect/>
          </a:stretch>
        </p:blipFill>
        <p:spPr>
          <a:xfrm>
            <a:off x="8290560" y="2304288"/>
            <a:ext cx="237744" cy="237744"/>
          </a:xfrm>
          <a:prstGeom prst="rect">
            <a:avLst/>
          </a:prstGeom>
        </p:spPr>
      </p:pic>
      <p:sp>
        <p:nvSpPr>
          <p:cNvPr id="21" name="TextBox 20"/>
          <p:cNvSpPr txBox="1"/>
          <p:nvPr/>
        </p:nvSpPr>
        <p:spPr>
          <a:xfrm>
            <a:off x="8747760" y="2148840"/>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Riskanteste Annahme</a:t>
            </a:r>
          </a:p>
          <a:p>
            <a:pPr algn="l">
              <a:spcAft>
                <a:spcPts val="0"/>
              </a:spcAft>
              <a:buNone/>
            </a:pPr>
            <a:r>
              <a:rPr sz="1150" b="0" i="0">
                <a:solidFill>
                  <a:srgbClr val="5A6684"/>
                </a:solidFill>
                <a:latin typeface="Roboto"/>
              </a:rPr>
              <a:t>Was muss stimmen, damit es klappt?</a:t>
            </a:r>
          </a:p>
        </p:txBody>
      </p:sp>
      <p:cxnSp>
        <p:nvCxnSpPr>
          <p:cNvPr id="22" name="Connector 21"/>
          <p:cNvCxnSpPr/>
          <p:nvPr/>
        </p:nvCxnSpPr>
        <p:spPr>
          <a:xfrm>
            <a:off x="8226552" y="306324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26552" y="333756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226552" y="3611880"/>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41248" y="4041648"/>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24128" y="4224528"/>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PencilRuler_w.png"/>
          <p:cNvPicPr>
            <a:picLocks noChangeAspect="1"/>
          </p:cNvPicPr>
          <p:nvPr/>
        </p:nvPicPr>
        <p:blipFill>
          <a:blip r:embed="rId6"/>
          <a:stretch>
            <a:fillRect/>
          </a:stretch>
        </p:blipFill>
        <p:spPr>
          <a:xfrm>
            <a:off x="1133856" y="4334256"/>
            <a:ext cx="237744" cy="237744"/>
          </a:xfrm>
          <a:prstGeom prst="rect">
            <a:avLst/>
          </a:prstGeom>
        </p:spPr>
      </p:pic>
      <p:sp>
        <p:nvSpPr>
          <p:cNvPr id="28" name="TextBox 27"/>
          <p:cNvSpPr txBox="1"/>
          <p:nvPr/>
        </p:nvSpPr>
        <p:spPr>
          <a:xfrm>
            <a:off x="1591056" y="4178808"/>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Erster Prototyp</a:t>
            </a:r>
          </a:p>
          <a:p>
            <a:pPr algn="l">
              <a:spcAft>
                <a:spcPts val="0"/>
              </a:spcAft>
              <a:buNone/>
            </a:pPr>
            <a:r>
              <a:rPr sz="1150" b="0" i="0">
                <a:solidFill>
                  <a:srgbClr val="5A6684"/>
                </a:solidFill>
                <a:latin typeface="Roboto"/>
              </a:rPr>
              <a:t>Was baue ich in einer Woche?</a:t>
            </a:r>
          </a:p>
        </p:txBody>
      </p:sp>
      <p:cxnSp>
        <p:nvCxnSpPr>
          <p:cNvPr id="29" name="Connector 28"/>
          <p:cNvCxnSpPr/>
          <p:nvPr/>
        </p:nvCxnSpPr>
        <p:spPr>
          <a:xfrm>
            <a:off x="1069848" y="509320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69848" y="536752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69848" y="564184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419600" y="4041648"/>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602480" y="4224528"/>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ChartColumn_w.png"/>
          <p:cNvPicPr>
            <a:picLocks noChangeAspect="1"/>
          </p:cNvPicPr>
          <p:nvPr/>
        </p:nvPicPr>
        <p:blipFill>
          <a:blip r:embed="rId7"/>
          <a:stretch>
            <a:fillRect/>
          </a:stretch>
        </p:blipFill>
        <p:spPr>
          <a:xfrm>
            <a:off x="4712208" y="4334256"/>
            <a:ext cx="237744" cy="237744"/>
          </a:xfrm>
          <a:prstGeom prst="rect">
            <a:avLst/>
          </a:prstGeom>
        </p:spPr>
      </p:pic>
      <p:sp>
        <p:nvSpPr>
          <p:cNvPr id="35" name="TextBox 34"/>
          <p:cNvSpPr txBox="1"/>
          <p:nvPr/>
        </p:nvSpPr>
        <p:spPr>
          <a:xfrm>
            <a:off x="5169408" y="4178808"/>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Erfolgskriterium</a:t>
            </a:r>
          </a:p>
          <a:p>
            <a:pPr algn="l">
              <a:spcAft>
                <a:spcPts val="0"/>
              </a:spcAft>
              <a:buNone/>
            </a:pPr>
            <a:r>
              <a:rPr sz="1150" b="0" i="0">
                <a:solidFill>
                  <a:srgbClr val="5A6684"/>
                </a:solidFill>
                <a:latin typeface="Roboto"/>
              </a:rPr>
              <a:t>Woran erkenne ich Erfolg?</a:t>
            </a:r>
          </a:p>
        </p:txBody>
      </p:sp>
      <p:cxnSp>
        <p:nvCxnSpPr>
          <p:cNvPr id="36" name="Connector 35"/>
          <p:cNvCxnSpPr/>
          <p:nvPr/>
        </p:nvCxnSpPr>
        <p:spPr>
          <a:xfrm>
            <a:off x="4648200" y="509320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648200" y="536752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648200" y="564184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997952" y="4041648"/>
            <a:ext cx="3349752"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180832" y="4224528"/>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Bot_w.png"/>
          <p:cNvPicPr>
            <a:picLocks noChangeAspect="1"/>
          </p:cNvPicPr>
          <p:nvPr/>
        </p:nvPicPr>
        <p:blipFill>
          <a:blip r:embed="rId8"/>
          <a:stretch>
            <a:fillRect/>
          </a:stretch>
        </p:blipFill>
        <p:spPr>
          <a:xfrm>
            <a:off x="8290560" y="4334256"/>
            <a:ext cx="237744" cy="237744"/>
          </a:xfrm>
          <a:prstGeom prst="rect">
            <a:avLst/>
          </a:prstGeom>
        </p:spPr>
      </p:pic>
      <p:sp>
        <p:nvSpPr>
          <p:cNvPr id="42" name="TextBox 41"/>
          <p:cNvSpPr txBox="1"/>
          <p:nvPr/>
        </p:nvSpPr>
        <p:spPr>
          <a:xfrm>
            <a:off x="8747760" y="4178808"/>
            <a:ext cx="2435352" cy="548640"/>
          </a:xfrm>
          <a:prstGeom prst="rect">
            <a:avLst/>
          </a:prstGeom>
          <a:noFill/>
        </p:spPr>
        <p:txBody>
          <a:bodyPr wrap="square" lIns="0" rIns="0" tIns="0" bIns="0" anchor="ctr"/>
          <a:lstStyle/>
          <a:p>
            <a:pPr algn="l">
              <a:spcAft>
                <a:spcPts val="0"/>
              </a:spcAft>
              <a:buNone/>
            </a:pPr>
            <a:r>
              <a:rPr sz="1450" b="1" i="0">
                <a:solidFill>
                  <a:srgbClr val="0E1F53"/>
                </a:solidFill>
                <a:latin typeface="Roboto"/>
              </a:rPr>
              <a:t>Mein erster Agent</a:t>
            </a:r>
          </a:p>
          <a:p>
            <a:pPr algn="l">
              <a:spcAft>
                <a:spcPts val="0"/>
              </a:spcAft>
              <a:buNone/>
            </a:pPr>
            <a:r>
              <a:rPr sz="1150" b="0" i="0">
                <a:solidFill>
                  <a:srgbClr val="5A6684"/>
                </a:solidFill>
                <a:latin typeface="Roboto"/>
              </a:rPr>
              <a:t>Welche Aufgabe übernimmt er?</a:t>
            </a:r>
          </a:p>
        </p:txBody>
      </p:sp>
      <p:cxnSp>
        <p:nvCxnSpPr>
          <p:cNvPr id="43" name="Connector 42"/>
          <p:cNvCxnSpPr/>
          <p:nvPr/>
        </p:nvCxnSpPr>
        <p:spPr>
          <a:xfrm>
            <a:off x="8226552" y="509320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226552" y="536752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226552" y="5641848"/>
            <a:ext cx="289255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Zum Weiterlesen und Ausprobieren</a:t>
            </a:r>
          </a:p>
        </p:txBody>
      </p:sp>
      <p:sp>
        <p:nvSpPr>
          <p:cNvPr id="3" name="Rounded Rectangle 2"/>
          <p:cNvSpPr/>
          <p:nvPr/>
        </p:nvSpPr>
        <p:spPr>
          <a:xfrm>
            <a:off x="841248" y="850392"/>
            <a:ext cx="11155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RESSOURCEN</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ompass_w.png"/>
          <p:cNvPicPr>
            <a:picLocks noChangeAspect="1"/>
          </p:cNvPicPr>
          <p:nvPr/>
        </p:nvPicPr>
        <p:blipFill>
          <a:blip r:embed="rId3"/>
          <a:stretch>
            <a:fillRect/>
          </a:stretch>
        </p:blipFill>
        <p:spPr>
          <a:xfrm>
            <a:off x="1163116" y="2333548"/>
            <a:ext cx="261518" cy="261518"/>
          </a:xfrm>
          <a:prstGeom prst="rect">
            <a:avLst/>
          </a:prstGeom>
        </p:spPr>
      </p:pic>
      <p:sp>
        <p:nvSpPr>
          <p:cNvPr id="7" name="TextBox 6"/>
          <p:cNvSpPr txBox="1"/>
          <p:nvPr/>
        </p:nvSpPr>
        <p:spPr>
          <a:xfrm>
            <a:off x="1682496"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Design Thinking</a:t>
            </a:r>
          </a:p>
        </p:txBody>
      </p:sp>
      <p:sp>
        <p:nvSpPr>
          <p:cNvPr id="8" name="TextBox 7"/>
          <p:cNvSpPr txBox="1"/>
          <p:nvPr/>
        </p:nvSpPr>
        <p:spPr>
          <a:xfrm>
            <a:off x="1042416"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HPI Academy: hpi-academy.de</a:t>
            </a:r>
          </a:p>
          <a:p>
            <a:pPr algn="l" marL="164592" indent="-164592">
              <a:spcAft>
                <a:spcPts val="400"/>
              </a:spcAft>
              <a:buClr>
                <a:srgbClr val="FB2762"/>
              </a:buClr>
              <a:buFont typeface="Arial"/>
              <a:buChar char="•"/>
            </a:pPr>
            <a:r>
              <a:rPr sz="1250" b="0" i="0">
                <a:solidFill>
                  <a:srgbClr val="0E1F53"/>
                </a:solidFill>
                <a:latin typeface="Roboto"/>
              </a:rPr>
              <a:t>IDEO: designkit.org (Methoden-Sammlung)</a:t>
            </a:r>
          </a:p>
        </p:txBody>
      </p:sp>
      <p:sp>
        <p:nvSpPr>
          <p:cNvPr id="9" name="Rounded Rectangle 8"/>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36008"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FileCode_w.png"/>
          <p:cNvPicPr>
            <a:picLocks noChangeAspect="1"/>
          </p:cNvPicPr>
          <p:nvPr/>
        </p:nvPicPr>
        <p:blipFill>
          <a:blip r:embed="rId4"/>
          <a:stretch>
            <a:fillRect/>
          </a:stretch>
        </p:blipFill>
        <p:spPr>
          <a:xfrm>
            <a:off x="4756708" y="2333548"/>
            <a:ext cx="261518" cy="261518"/>
          </a:xfrm>
          <a:prstGeom prst="rect">
            <a:avLst/>
          </a:prstGeom>
        </p:spPr>
      </p:pic>
      <p:sp>
        <p:nvSpPr>
          <p:cNvPr id="12" name="TextBox 11"/>
          <p:cNvSpPr txBox="1"/>
          <p:nvPr/>
        </p:nvSpPr>
        <p:spPr>
          <a:xfrm>
            <a:off x="5276088"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Skills</a:t>
            </a:r>
          </a:p>
        </p:txBody>
      </p:sp>
      <p:sp>
        <p:nvSpPr>
          <p:cNvPr id="13" name="TextBox 12"/>
          <p:cNvSpPr txBox="1"/>
          <p:nvPr/>
        </p:nvSpPr>
        <p:spPr>
          <a:xfrm>
            <a:off x="4636008"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Standard: agentskills.io</a:t>
            </a:r>
          </a:p>
          <a:p>
            <a:pPr algn="l" marL="164592" indent="-164592">
              <a:spcAft>
                <a:spcPts val="400"/>
              </a:spcAft>
              <a:buClr>
                <a:srgbClr val="FB2762"/>
              </a:buClr>
              <a:buFont typeface="Arial"/>
              <a:buChar char="•"/>
            </a:pPr>
            <a:r>
              <a:rPr sz="1250" b="0" i="0">
                <a:solidFill>
                  <a:srgbClr val="0E1F53"/>
                </a:solidFill>
                <a:latin typeface="Roboto"/>
              </a:rPr>
              <a:t>Fertige Skills: github.com/anthropics/skills</a:t>
            </a:r>
          </a:p>
        </p:txBody>
      </p:sp>
      <p:sp>
        <p:nvSpPr>
          <p:cNvPr id="14" name="Rounded Rectangle 13"/>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0"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Workflow_w.png"/>
          <p:cNvPicPr>
            <a:picLocks noChangeAspect="1"/>
          </p:cNvPicPr>
          <p:nvPr/>
        </p:nvPicPr>
        <p:blipFill>
          <a:blip r:embed="rId5"/>
          <a:stretch>
            <a:fillRect/>
          </a:stretch>
        </p:blipFill>
        <p:spPr>
          <a:xfrm>
            <a:off x="8350300" y="2333548"/>
            <a:ext cx="261518" cy="261518"/>
          </a:xfrm>
          <a:prstGeom prst="rect">
            <a:avLst/>
          </a:prstGeom>
        </p:spPr>
      </p:pic>
      <p:sp>
        <p:nvSpPr>
          <p:cNvPr id="17" name="TextBox 16"/>
          <p:cNvSpPr txBox="1"/>
          <p:nvPr/>
        </p:nvSpPr>
        <p:spPr>
          <a:xfrm>
            <a:off x="8869680"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Automatisierung</a:t>
            </a:r>
          </a:p>
        </p:txBody>
      </p:sp>
      <p:sp>
        <p:nvSpPr>
          <p:cNvPr id="18" name="TextBox 17"/>
          <p:cNvSpPr txBox="1"/>
          <p:nvPr/>
        </p:nvSpPr>
        <p:spPr>
          <a:xfrm>
            <a:off x="8229600"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n8n: n8n.io (auch selbst hostbar)</a:t>
            </a:r>
          </a:p>
          <a:p>
            <a:pPr algn="l" marL="164592" indent="-164592">
              <a:spcAft>
                <a:spcPts val="400"/>
              </a:spcAft>
              <a:buClr>
                <a:srgbClr val="FB2762"/>
              </a:buClr>
              <a:buFont typeface="Arial"/>
              <a:buChar char="•"/>
            </a:pPr>
            <a:r>
              <a:rPr sz="1250" b="0" i="0">
                <a:solidFill>
                  <a:srgbClr val="0E1F53"/>
                </a:solidFill>
                <a:latin typeface="Roboto"/>
              </a:rPr>
              <a:t>Make, Power Automate, Zapier</a:t>
            </a:r>
          </a:p>
        </p:txBody>
      </p:sp>
      <p:sp>
        <p:nvSpPr>
          <p:cNvPr id="19" name="Rounded Rectangle 18"/>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42416" y="4242816"/>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hieldCheck_w.png"/>
          <p:cNvPicPr>
            <a:picLocks noChangeAspect="1"/>
          </p:cNvPicPr>
          <p:nvPr/>
        </p:nvPicPr>
        <p:blipFill>
          <a:blip r:embed="rId6"/>
          <a:stretch>
            <a:fillRect/>
          </a:stretch>
        </p:blipFill>
        <p:spPr>
          <a:xfrm>
            <a:off x="1163116" y="4363516"/>
            <a:ext cx="261518" cy="261518"/>
          </a:xfrm>
          <a:prstGeom prst="rect">
            <a:avLst/>
          </a:prstGeom>
        </p:spPr>
      </p:pic>
      <p:sp>
        <p:nvSpPr>
          <p:cNvPr id="22" name="TextBox 21"/>
          <p:cNvSpPr txBox="1"/>
          <p:nvPr/>
        </p:nvSpPr>
        <p:spPr>
          <a:xfrm>
            <a:off x="1682496"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Recht &amp; Rahmen</a:t>
            </a:r>
          </a:p>
        </p:txBody>
      </p:sp>
      <p:sp>
        <p:nvSpPr>
          <p:cNvPr id="23" name="TextBox 22"/>
          <p:cNvSpPr txBox="1"/>
          <p:nvPr/>
        </p:nvSpPr>
        <p:spPr>
          <a:xfrm>
            <a:off x="1042416"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Bundesnetzagentur: KI-Service-Desk zur KI-Verordnung</a:t>
            </a:r>
          </a:p>
          <a:p>
            <a:pPr algn="l" marL="164592" indent="-164592">
              <a:spcAft>
                <a:spcPts val="400"/>
              </a:spcAft>
              <a:buClr>
                <a:srgbClr val="FB2762"/>
              </a:buClr>
              <a:buFont typeface="Arial"/>
              <a:buChar char="•"/>
            </a:pPr>
            <a:r>
              <a:rPr sz="1250" b="0" i="0">
                <a:solidFill>
                  <a:srgbClr val="0E1F53"/>
                </a:solidFill>
                <a:latin typeface="Roboto"/>
              </a:rPr>
              <a:t>Datenschutzkonferenz: Orientierungshilfe KI</a:t>
            </a:r>
          </a:p>
        </p:txBody>
      </p:sp>
      <p:sp>
        <p:nvSpPr>
          <p:cNvPr id="24" name="Rounded Rectangle 23"/>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636008" y="4242816"/>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uilding2_w.png"/>
          <p:cNvPicPr>
            <a:picLocks noChangeAspect="1"/>
          </p:cNvPicPr>
          <p:nvPr/>
        </p:nvPicPr>
        <p:blipFill>
          <a:blip r:embed="rId7"/>
          <a:stretch>
            <a:fillRect/>
          </a:stretch>
        </p:blipFill>
        <p:spPr>
          <a:xfrm>
            <a:off x="4756708" y="4363516"/>
            <a:ext cx="261518" cy="261518"/>
          </a:xfrm>
          <a:prstGeom prst="rect">
            <a:avLst/>
          </a:prstGeom>
        </p:spPr>
      </p:pic>
      <p:sp>
        <p:nvSpPr>
          <p:cNvPr id="27" name="TextBox 26"/>
          <p:cNvSpPr txBox="1"/>
          <p:nvPr/>
        </p:nvSpPr>
        <p:spPr>
          <a:xfrm>
            <a:off x="5276088"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Unterstützung für KMU</a:t>
            </a:r>
          </a:p>
        </p:txBody>
      </p:sp>
      <p:sp>
        <p:nvSpPr>
          <p:cNvPr id="28" name="TextBox 27"/>
          <p:cNvSpPr txBox="1"/>
          <p:nvPr/>
        </p:nvSpPr>
        <p:spPr>
          <a:xfrm>
            <a:off x="4636008"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Mittelstand-Digital Zentren: mittelstand-digital.de</a:t>
            </a:r>
          </a:p>
          <a:p>
            <a:pPr algn="l" marL="164592" indent="-164592">
              <a:spcAft>
                <a:spcPts val="400"/>
              </a:spcAft>
              <a:buClr>
                <a:srgbClr val="FB2762"/>
              </a:buClr>
              <a:buFont typeface="Arial"/>
              <a:buChar char="•"/>
            </a:pPr>
            <a:r>
              <a:rPr sz="1250" b="0" i="0">
                <a:solidFill>
                  <a:srgbClr val="0E1F53"/>
                </a:solidFill>
                <a:latin typeface="Roboto"/>
              </a:rPr>
              <a:t>Projekt KI für KMU: Ansprechpersonen auf der nächsten Folie</a:t>
            </a:r>
          </a:p>
        </p:txBody>
      </p:sp>
      <p:sp>
        <p:nvSpPr>
          <p:cNvPr id="29" name="Rounded Rectangle 28"/>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29600" y="4242816"/>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BookOpen_w.png"/>
          <p:cNvPicPr>
            <a:picLocks noChangeAspect="1"/>
          </p:cNvPicPr>
          <p:nvPr/>
        </p:nvPicPr>
        <p:blipFill>
          <a:blip r:embed="rId8"/>
          <a:stretch>
            <a:fillRect/>
          </a:stretch>
        </p:blipFill>
        <p:spPr>
          <a:xfrm>
            <a:off x="8350300" y="4363516"/>
            <a:ext cx="261518" cy="261518"/>
          </a:xfrm>
          <a:prstGeom prst="rect">
            <a:avLst/>
          </a:prstGeom>
        </p:spPr>
      </p:pic>
      <p:sp>
        <p:nvSpPr>
          <p:cNvPr id="32" name="TextBox 31"/>
          <p:cNvSpPr txBox="1"/>
          <p:nvPr/>
        </p:nvSpPr>
        <p:spPr>
          <a:xfrm>
            <a:off x="8869680"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Prompt-Bibliothek</a:t>
            </a:r>
          </a:p>
        </p:txBody>
      </p:sp>
      <p:sp>
        <p:nvSpPr>
          <p:cNvPr id="33" name="TextBox 32"/>
          <p:cNvSpPr txBox="1"/>
          <p:nvPr/>
        </p:nvSpPr>
        <p:spPr>
          <a:xfrm>
            <a:off x="8229600"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Alle Systemprompts dieses Workshops</a:t>
            </a:r>
          </a:p>
          <a:p>
            <a:pPr algn="l" marL="164592" indent="-164592">
              <a:spcAft>
                <a:spcPts val="400"/>
              </a:spcAft>
              <a:buClr>
                <a:srgbClr val="FB2762"/>
              </a:buClr>
              <a:buFont typeface="Arial"/>
              <a:buChar char="•"/>
            </a:pPr>
            <a:r>
              <a:rPr sz="1250" b="0" i="0">
                <a:solidFill>
                  <a:srgbClr val="0E1F53"/>
                </a:solidFill>
                <a:latin typeface="Roboto"/>
              </a:rPr>
              <a:t>zum Kopieren und Anpassen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Quellen</a:t>
            </a:r>
          </a:p>
        </p:txBody>
      </p:sp>
      <p:sp>
        <p:nvSpPr>
          <p:cNvPr id="3" name="Rounded Rectangle 2"/>
          <p:cNvSpPr/>
          <p:nvPr/>
        </p:nvSpPr>
        <p:spPr>
          <a:xfrm>
            <a:off x="841248" y="850392"/>
            <a:ext cx="86319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QUELLEN</a:t>
            </a:r>
          </a:p>
        </p:txBody>
      </p:sp>
      <p:sp>
        <p:nvSpPr>
          <p:cNvPr id="4" name="Rounded Rectangle 3"/>
          <p:cNvSpPr/>
          <p:nvPr/>
        </p:nvSpPr>
        <p:spPr>
          <a:xfrm>
            <a:off x="841248" y="2011680"/>
            <a:ext cx="1050645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5568" y="2194560"/>
            <a:ext cx="9957816" cy="3657600"/>
          </a:xfrm>
          <a:prstGeom prst="rect">
            <a:avLst/>
          </a:prstGeom>
          <a:noFill/>
        </p:spPr>
        <p:txBody>
          <a:bodyPr wrap="square" lIns="0" rIns="0" tIns="0" bIns="0" anchor="t"/>
          <a:lstStyle/>
          <a:p>
            <a:pPr algn="l" marL="164592" indent="-164592">
              <a:spcAft>
                <a:spcPts val="500"/>
              </a:spcAft>
              <a:buClr>
                <a:srgbClr val="FB2762"/>
              </a:buClr>
              <a:buFont typeface="Arial"/>
              <a:buChar char="•"/>
            </a:pPr>
            <a:r>
              <a:rPr sz="1300" b="0" i="0">
                <a:solidFill>
                  <a:srgbClr val="0E1F53"/>
                </a:solidFill>
                <a:latin typeface="Roboto"/>
              </a:rPr>
              <a:t>Bitkom e. V. (2025): Befragung zur KI-Nutzung in Unternehmen ab 20 Beschäftigten, Pressemitteilung September 2025.</a:t>
            </a:r>
          </a:p>
          <a:p>
            <a:pPr algn="l" marL="164592" indent="-164592">
              <a:spcAft>
                <a:spcPts val="500"/>
              </a:spcAft>
              <a:buClr>
                <a:srgbClr val="FB2762"/>
              </a:buClr>
              <a:buFont typeface="Arial"/>
              <a:buChar char="•"/>
            </a:pPr>
            <a:r>
              <a:rPr sz="1300" b="0" i="0">
                <a:solidFill>
                  <a:srgbClr val="0E1F53"/>
                </a:solidFill>
                <a:latin typeface="Roboto"/>
              </a:rPr>
              <a:t>Brown, T. (2009): Change by Design. New York: HarperBusiness.</a:t>
            </a:r>
          </a:p>
          <a:p>
            <a:pPr algn="l" marL="164592" indent="-164592">
              <a:spcAft>
                <a:spcPts val="500"/>
              </a:spcAft>
              <a:buClr>
                <a:srgbClr val="FB2762"/>
              </a:buClr>
              <a:buFont typeface="Arial"/>
              <a:buChar char="•"/>
            </a:pPr>
            <a:r>
              <a:rPr sz="1300" b="0" i="0">
                <a:solidFill>
                  <a:srgbClr val="0E1F53"/>
                </a:solidFill>
                <a:latin typeface="Roboto"/>
              </a:rPr>
              <a:t>Destatis (2024): Jedes fünfte Unternehmen nutzt künstliche Intelligenz. Pressemitteilung Nr. 444 vom 25.11.2024.</a:t>
            </a:r>
          </a:p>
          <a:p>
            <a:pPr algn="l" marL="164592" indent="-164592">
              <a:spcAft>
                <a:spcPts val="500"/>
              </a:spcAft>
              <a:buClr>
                <a:srgbClr val="FB2762"/>
              </a:buClr>
              <a:buFont typeface="Arial"/>
              <a:buChar char="•"/>
            </a:pPr>
            <a:r>
              <a:rPr sz="1300" b="0" i="0">
                <a:solidFill>
                  <a:srgbClr val="0E1F53"/>
                </a:solidFill>
                <a:latin typeface="Roboto"/>
              </a:rPr>
              <a:t>Hochschule Rhein-Waal (2025): Pressemitteilung zu den Studierendenzahlen im Wintersemester 2025/26 (Stichtag 31.10.2025).</a:t>
            </a:r>
          </a:p>
          <a:p>
            <a:pPr algn="l" marL="164592" indent="-164592">
              <a:spcAft>
                <a:spcPts val="500"/>
              </a:spcAft>
              <a:buClr>
                <a:srgbClr val="FB2762"/>
              </a:buClr>
              <a:buFont typeface="Arial"/>
              <a:buChar char="•"/>
            </a:pPr>
            <a:r>
              <a:rPr sz="1300" b="0" i="0">
                <a:solidFill>
                  <a:srgbClr val="0E1F53"/>
                </a:solidFill>
                <a:latin typeface="Roboto"/>
              </a:rPr>
              <a:t>Hochschule Rhein-Waal (2021, 2022): Zahlen der Hochschule Rhein-Waal 2020 und 2021.</a:t>
            </a:r>
          </a:p>
          <a:p>
            <a:pPr algn="l" marL="164592" indent="-164592">
              <a:spcAft>
                <a:spcPts val="500"/>
              </a:spcAft>
              <a:buClr>
                <a:srgbClr val="FB2762"/>
              </a:buClr>
              <a:buFont typeface="Arial"/>
              <a:buChar char="•"/>
            </a:pPr>
            <a:r>
              <a:rPr sz="1300" b="0" i="0">
                <a:solidFill>
                  <a:srgbClr val="0E1F53"/>
                </a:solidFill>
                <a:latin typeface="Roboto"/>
              </a:rPr>
              <a:t>HPI School of Design Thinking, Hasso-Plattner-Institut Potsdam: Design-Thinking-Prozess in sechs Phasen.</a:t>
            </a:r>
          </a:p>
          <a:p>
            <a:pPr algn="l" marL="164592" indent="-164592">
              <a:spcAft>
                <a:spcPts val="500"/>
              </a:spcAft>
              <a:buClr>
                <a:srgbClr val="FB2762"/>
              </a:buClr>
              <a:buFont typeface="Arial"/>
              <a:buChar char="•"/>
            </a:pPr>
            <a:r>
              <a:rPr sz="1300" b="0" i="0">
                <a:solidFill>
                  <a:srgbClr val="0E1F53"/>
                </a:solidFill>
                <a:latin typeface="Roboto"/>
              </a:rPr>
              <a:t>KfW Research (2026): KfW-Innovationsbericht Mittelstand 2025.</a:t>
            </a:r>
          </a:p>
          <a:p>
            <a:pPr algn="l" marL="164592" indent="-164592">
              <a:spcAft>
                <a:spcPts val="500"/>
              </a:spcAft>
              <a:buClr>
                <a:srgbClr val="FB2762"/>
              </a:buClr>
              <a:buFont typeface="Arial"/>
              <a:buChar char="•"/>
            </a:pPr>
            <a:r>
              <a:rPr sz="1300" b="0" i="0">
                <a:solidFill>
                  <a:srgbClr val="0E1F53"/>
                </a:solidFill>
                <a:latin typeface="Roboto"/>
              </a:rPr>
              <a:t>Landtag NRW (2025): Drucksache 18/16085 mit Angaben von IT.NRW zu Studienanfänger:innen.</a:t>
            </a:r>
          </a:p>
          <a:p>
            <a:pPr algn="l" marL="164592" indent="-164592">
              <a:spcAft>
                <a:spcPts val="500"/>
              </a:spcAft>
              <a:buClr>
                <a:srgbClr val="FB2762"/>
              </a:buClr>
              <a:buFont typeface="Arial"/>
              <a:buChar char="•"/>
            </a:pPr>
            <a:r>
              <a:rPr sz="1300" b="0" i="0">
                <a:solidFill>
                  <a:srgbClr val="0E1F53"/>
                </a:solidFill>
                <a:latin typeface="Roboto"/>
              </a:rPr>
              <a:t>OECD/Eurostat (2018): Oslo Manual 2018, 4. Auflage. Paris/Luxemburg.</a:t>
            </a:r>
          </a:p>
          <a:p>
            <a:pPr algn="l" marL="164592" indent="-164592">
              <a:spcAft>
                <a:spcPts val="500"/>
              </a:spcAft>
              <a:buClr>
                <a:srgbClr val="FB2762"/>
              </a:buClr>
              <a:buFont typeface="Arial"/>
              <a:buChar char="•"/>
            </a:pPr>
            <a:r>
              <a:rPr sz="1300" b="0" i="0">
                <a:solidFill>
                  <a:srgbClr val="0E1F53"/>
                </a:solidFill>
                <a:latin typeface="Roboto"/>
              </a:rPr>
              <a:t>Verordnung (EU) 2024/1689 (KI-Verordnung), Art. 4 KI-Kompetenz, gültig seit 02.02.2025.</a:t>
            </a:r>
          </a:p>
          <a:p>
            <a:pPr algn="l" marL="164592" indent="-164592">
              <a:spcAft>
                <a:spcPts val="500"/>
              </a:spcAft>
              <a:buClr>
                <a:srgbClr val="FB2762"/>
              </a:buClr>
              <a:buFont typeface="Arial"/>
              <a:buChar char="•"/>
            </a:pPr>
            <a:r>
              <a:rPr sz="1300" b="0" i="0">
                <a:solidFill>
                  <a:srgbClr val="0E1F53"/>
                </a:solidFill>
                <a:latin typeface="Roboto"/>
              </a:rPr>
              <a:t>Agent Skills Spezifikation: agentskills.io; Beispiel-Skills: github.com/anthropics/skills (abgerufen Oktober 2026).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a:themeElements>
    <a:clrScheme name="KI für KMU">
      <a:dk1>
        <a:srgbClr val="0E1F53"/>
      </a:dk1>
      <a:lt1>
        <a:srgbClr val="D5ECFE"/>
      </a:lt1>
      <a:dk2>
        <a:srgbClr val="0E1F53"/>
      </a:dk2>
      <a:lt2>
        <a:srgbClr val="D5ECFE"/>
      </a:lt2>
      <a:accent1>
        <a:srgbClr val="0E1F53"/>
      </a:accent1>
      <a:accent2>
        <a:srgbClr val="D5ECFE"/>
      </a:accent2>
      <a:accent3>
        <a:srgbClr val="FFFFFF"/>
      </a:accent3>
      <a:accent4>
        <a:srgbClr val="FB2762"/>
      </a:accent4>
      <a:accent5>
        <a:srgbClr val="FFFF00"/>
      </a:accent5>
      <a:accent6>
        <a:srgbClr val="00B050"/>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AB1A8060D28FA43BB9900564A78FB5F" ma:contentTypeVersion="11" ma:contentTypeDescription="Ein neues Dokument erstellen." ma:contentTypeScope="" ma:versionID="144e6748869825956ab089d46687b714">
  <xsd:schema xmlns:xsd="http://www.w3.org/2001/XMLSchema" xmlns:xs="http://www.w3.org/2001/XMLSchema" xmlns:p="http://schemas.microsoft.com/office/2006/metadata/properties" xmlns:ns2="2f2b9811-e224-499d-9cee-5ea94efd50cd" xmlns:ns3="0d50e631-021e-46c4-8466-675917dabca7" targetNamespace="http://schemas.microsoft.com/office/2006/metadata/properties" ma:root="true" ma:fieldsID="46124d4402fc9abb362099b213c94ac0" ns2:_="" ns3:_="">
    <xsd:import namespace="2f2b9811-e224-499d-9cee-5ea94efd50cd"/>
    <xsd:import namespace="0d50e631-021e-46c4-8466-675917dabc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b9811-e224-499d-9cee-5ea94efd5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7a9c7e18-6737-40fa-b448-03ddc414b1f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50e631-021e-46c4-8466-675917dabca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6abe772-63e3-48a9-946e-7b19bff8b72d}" ma:internalName="TaxCatchAll" ma:showField="CatchAllData" ma:web="0d50e631-021e-46c4-8466-675917dabc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2b9811-e224-499d-9cee-5ea94efd50cd">
      <Terms xmlns="http://schemas.microsoft.com/office/infopath/2007/PartnerControls"/>
    </lcf76f155ced4ddcb4097134ff3c332f>
    <TaxCatchAll xmlns="0d50e631-021e-46c4-8466-675917dabca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51883B-F1CC-4AE1-8B47-ACC0C47EE8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2b9811-e224-499d-9cee-5ea94efd50cd"/>
    <ds:schemaRef ds:uri="0d50e631-021e-46c4-8466-675917dabc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696C649-5B39-4CB8-8F3E-47F05CFF70B1}">
  <ds:schemaRefs>
    <ds:schemaRef ds:uri="http://schemas.microsoft.com/office/2006/metadata/properties"/>
    <ds:schemaRef ds:uri="http://schemas.microsoft.com/office/infopath/2007/PartnerControls"/>
    <ds:schemaRef ds:uri="72c6d9d0-3d9b-424b-95f4-b197d81fd0e7"/>
    <ds:schemaRef ds:uri="8b3dfbf8-1ae1-4b5f-be9c-68dbb0ad3816"/>
    <ds:schemaRef ds:uri="2f2b9811-e224-499d-9cee-5ea94efd50cd"/>
    <ds:schemaRef ds:uri="0d50e631-021e-46c4-8466-675917dabca7"/>
  </ds:schemaRefs>
</ds:datastoreItem>
</file>

<file path=customXml/itemProps3.xml><?xml version="1.0" encoding="utf-8"?>
<ds:datastoreItem xmlns:ds="http://schemas.openxmlformats.org/officeDocument/2006/customXml" ds:itemID="{A1E9A523-2ADD-48B3-AD86-64F03EEAF6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Words>
  <Application>Microsoft Office PowerPoint</Application>
  <PresentationFormat>Widescreen</PresentationFormat>
  <Paragraphs>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Dutzi</dc:creator>
  <cp:lastModifiedBy>Helen Dutzi</cp:lastModifiedBy>
  <cp:revision>3</cp:revision>
  <dcterms:created xsi:type="dcterms:W3CDTF">2026-04-01T07:51:41Z</dcterms:created>
  <dcterms:modified xsi:type="dcterms:W3CDTF">2026-10-14T12:40:27Z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0x0101008AB1A8060D28FA43BB9900564A78FB5F</vt:lpwstr>
  </property>
  <property fmtid="{D5CDD505-2E9C-101B-9397-08002B2CF9AE}" pid="3" name="MediaServiceImageTags">
    <vt:lpwstr/>
  </property>
</Properties>
</file>