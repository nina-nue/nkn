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0"/>
    <p:sldId id="257" r:id="rId9"/>
    <p:sldId id="258" r:id="rId7"/>
    <p:sldId id="259" r:id="rId6"/>
    <p:sldId id="260" r:id="rId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96" userDrawn="1">
          <p15:clr>
            <a:srgbClr val="A4A3A4"/>
          </p15:clr>
        </p15:guide>
        <p15:guide id="2" pos="5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D53A7-A6F8-4D7A-92A0-B761737A18BF}" v="1" dt="2026-04-14T14:29:15.273"/>
    <p1510:client id="{832B96DA-4D16-4391-89A1-C43C48631DDD}" v="6" dt="2026-04-15T06:06:27.490"/>
    <p1510:client id="{8ADB1845-F5F4-49FC-9783-0BE813E3BFE9}" v="3" dt="2026-04-15T06:09:22.5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6" autoAdjust="0"/>
    <p:restoredTop sz="88182" autoAdjust="0"/>
  </p:normalViewPr>
  <p:slideViewPr>
    <p:cSldViewPr showGuides="1">
      <p:cViewPr varScale="1">
        <p:scale>
          <a:sx n="66" d="100"/>
          <a:sy n="66" d="100"/>
        </p:scale>
        <p:origin x="1032" y="48"/>
      </p:cViewPr>
      <p:guideLst>
        <p:guide orient="horz" pos="1296"/>
        <p:guide pos="576"/>
      </p:guideLst>
    </p:cSldViewPr>
  </p:slideViewPr>
  <p:notesTextViewPr>
    <p:cViewPr>
      <p:scale>
        <a:sx n="3" d="2"/>
        <a:sy n="3" d="2"/>
      </p:scale>
      <p:origin x="0" y="0"/>
    </p:cViewPr>
  </p:notesTextViewPr>
  <p:sorterViewPr>
    <p:cViewPr>
      <p:scale>
        <a:sx n="60" d="100"/>
        <a:sy n="6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5/10/relationships/revisionInfo" Target="revisionInfo.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Überblick über die drei Stunden. Kern ist der Durchlauf bis kurz vor das Prototyping, an der HSRW und an der eigenen Challenge.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Begrüßung durch Julian Hüsken, Projektmanagement KI für KMU NiederRhein, Kreis Wesel EntwicklungsAgentur Wirtschaft.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Reihe besteht aus zwei Präsenzworkshops mit digitaler Begleitung dazwischen. Die Anmeldung umfasst alle Termine. Bitte zu den Präsenzterminen einen Laptop mitbringen.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Zeitplan für drei Stunden. Die Übungen sind kurz gehalten, die Vertiefung passiert in der Remote-Phase.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Ziele angelehnt an die Ausschreibung der Reihe KI.INNOVATION.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Eine Erfindung ist noch keine Innovation. Innovation entsteht erst, wenn eine neue Idee umgesetzt wird und bei Kundinnen und Kunden oder im Betrieb einen Nutzen stiftet. Definition angelehnt an das Oslo Manual (OECD/Eurostat 2018).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Zahlen aus dem KfW-Innovationsbericht Mittelstand 2025 und der Destatis-Erhebung zur KI-Nutzung. Kernaussage: Große Mittelständler sind fast doppelt so oft erfolgreich wie kleine. Bei KI ist die Lücke noch größer. Genau diese Lücke soll das Projekt KI für KMU schließen.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Positiv starten: KMU sind nah an der Kundschaft und entscheiden schnell. Die Hürden sind real, aber genau dort setzen Design Thinking (Struktur) und KI (Zeit und Know-how) 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Schaubild der Reihe: Design Thinking in fünf Phasen. Phase 1 Empathie umfasst zwei Arbeitsschritte, Verstehen (Recherche) und Beobachten (Interviews). Unten: welcher Termin welche Phasen abdeckt.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Landkarte für die Reihe. Faustregel: KI beschleunigt Recherche, Strukturierung und Variantenbildung. Empathie, echte Gespräche und Entscheidungen bleiben beim Team.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großen Anbieter bieten diese Bausteine inzwischen an, nur unter anderen Namen. Wir bleiben heute werkzeugneutral. Die Beispiele funktionieren in ChatGPT, Claude, Microsoft Copilot und Google Gemini.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Dieser Farbcode zieht sich durch den ganzen Workshop. Bei jedem Agenten sehen Sie dieselben sechs Bausteine. Tipp: Rolle und Kontext werden am häufigsten vergessen und machen den größten Qualitätsunterschied.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Gleiche Aufgabe, zwei Prompts. Der linke liefert generische Allgemeinplätze. Der rechte liefert verwertbare, überprüfbare Ergebnisse. Lassen Sie die Teilnehmenden beide Varianten live ausprobieren.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Weg ist in allen Tools gleich, nur die Menüs heißen anders. Zeigen Sie live das Anlegen eines Agenten im Tool, das die Teilnehmenden im Betrieb nutzen. Wichtig ist Schritt 5: Agenten werden durch Testen gut, nicht durch Nachdenken.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Research ist ein Agent, der eine Frage in Teilfragen zerlegt, selbstständig dutzende Quellen durchsucht und einen Bericht mit Quellenangaben schreibt. Dauert typischerweise einige Minuten bis eine halbe Stunde. Ideal für Phase 1 und für Markt- und Wettbewerbsanalysen. Ergebnisse immer stichprobenartig an den Quellen prüfen.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 sind ein offener Standard, den Anthropic im Dezember 2025 veröffentlicht hat (agentskills.io). Ein Skill ist ein Ordner mit einer Datei SKILL.md: oben Name und Beschreibung, darunter die Anleitung. Der Agent lädt den Skill nur, wenn er ihn braucht. Inzwischen unterstützen viele Werkzeuge das Format, u. a. Claude, ChatGPT/Codex, GitHub Copilot und Cursor. Fertige Skills gibt es z. B. im GitHub-Repository anthropics/skills.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 sind frei verfügbar. Drei Sammlungen passen besonders gut zum Innovationsprozess. Wichtig: Vor der Nutzung Lizenz und Inhalt prüfen, denn ein Skill ist eine Anleitung, die Ihr Agent ausführt.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Seit 2. Februar 2025 verpflichtet Art. 4 der KI-Verordnung (EU AI Act) Unternehmen, die KI einsetzen, für ausreichende KI-Kompetenz ihrer Beschäftigten zu sorgen. Dieser Workshop ist ein Baustein dafür. Bei personenbezogenen Daten gelten die DSGVO-Regeln: Business-Versionen mit Auftragsverarbeitungsvertrag nutzen.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Zahlen hat der Challenge-Scout per Deep Research zusammengetragen (Quellen unten). Spannend: Die Erstsemesterzahl ist 2025 um rund 20 % gestiegen, die Gesamtzahl liegt aber deutlich unter dem früheren Niveau von 7.000 bis 7.400. Und 2026 fehlt in NRW wegen der Rückkehr zu G9 fast ein ganzer Abiturjahrgang.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würde die Hochschulleitung das Problem heute beschreiben. Wichtig für Design Thinking: Das sind zunächst Beobachtungen und Annahmen. Ob der Campus wirklich leer ist und warum, prüfen wir beim Beobachten.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Für jede Phase setzen wir einen eigenen Agenten mit eigenem Systemprompt auf. Dazu kommt ein Dauerläufer, der Markt-Radar, der jeden Montag von selbst neue Marktsignale liefert. Das Innovationsteam in der Mitte steuert, prüft und entscheidet.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Leitfragen strukturieren die Teamarbeit. Die Methoden sind klassische Design-Thinking-Werkzeuge, die auch ganz ohne KI funktionieren.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Werkzeuge mit je einem Beispiel-Prompt zum direkten Ausprobieren. Alle Prompts finden Sie auch im Arbeitsheft.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ein eigener Skill für diese Phase. Rechts oben: wie sich der Schritt automatisieren lässt. Rechts unten: fertige Skills aus öffentlichen GitHub-Repositories, passend zu dieser Phase. Vor dem Einsatz Lizenz und Inhalt prüfen.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Systemprompt, ausgefüllt für die Hochschule Rhein-Waal. Die Vorlage mit Platzhaltern steht im Arbeitsheft. Rechts: welche Werkzeuge und Skills der Agent dafür nutzt.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Dossier trennt sauber Fakten und Annahmen. Die Annahmen gehen als Prüfaufträge in die Interviews. Aus der Ausgangsfrage der Hochschulleitung wird eine offene Design Challenge, die noch keine Lösung vorwegnimmt.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Einzel- oder Tandemarbeit an der eigenen Innovationsherausforderung. Moderation geht herum und hilft beim Prompten.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Leitfragen strukturieren die Teamarbeit. Die Methoden sind klassische Design-Thinking-Werkzeuge, die auch ganz ohne KI funktionieren.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Werkzeuge mit je einem Beispiel-Prompt zum direkten Ausprobieren. Alle Prompts finden Sie auch im Arbeitsheft.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ein eigener Skill für diese Phase. Rechts oben: wie sich der Schritt automatisieren lässt. Rechts unten: fertige Skills aus öffentlichen GitHub-Repositories, passend zu dieser Phase. Vor dem Einsatz Lizenz und Inhalt prüfen.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Systemprompt, ausgefüllt für die Hochschule Rhein-Waal. Die Vorlage mit Platzhaltern steht im Arbeitsheft. Rechts: welche Werkzeuge und Skills der Agent dafür nutzt.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Leitfaden-Auszug und erste Stimmen. Die Zitate sind für den Workshop erfunden, aber typisch für das, was solche Interviews ergeben können. In einem echten Projekt stammen sie aus den Transkripten.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Einzel- oder Tandemarbeit an der eigenen Innovationsherausforderung. Moderation geht herum und hilft beim Prompten.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Leitfragen strukturieren die Teamarbeit. Die Methoden sind klassische Design-Thinking-Werkzeuge, die auch ganz ohne KI funktionieren.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Werkzeuge mit je einem Beispiel-Prompt zum direkten Ausprobieren. Alle Prompts finden Sie auch im Arbeitsheft.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ein eigener Skill für diese Phase. Rechts oben: wie sich der Schritt automatisieren lässt. Rechts unten: fertige Skills aus öffentlichen GitHub-Repositories, passend zu dieser Phase. Vor dem Einsatz Lizenz und Inhalt prüfen.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Systemprompt, ausgefüllt für die Hochschule Rhein-Waal. Die Vorlage mit Platzhaltern steht im Arbeitsheft. Rechts: welche Werkzeuge und Skills der Agent dafür nutzt.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 Personas aus den Clustern. Für den weiteren Prozess wählt das Team Jonas als primäre Persona, Priya profitiert aber von denselben Lösungen. Die Wie-können-wir-Frage unten ist der Startpunkt für die Ideenfindung.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Einzel- oder Tandemarbeit an der eigenen Innovationsherausforderung. Moderation geht herum und hilft beim Prompten.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Leitfragen strukturieren die Teamarbeit. Die Methoden sind klassische Design-Thinking-Werkzeuge, die auch ganz ohne KI funktionieren.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Werkzeuge mit je einem Beispiel-Prompt zum direkten Ausprobieren. Alle Prompts finden Sie auch im Arbeitsheft.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ein eigener Skill für diese Phase. Rechts oben: wie sich der Schritt automatisieren lässt. Rechts unten: fertige Skills aus öffentlichen GitHub-Repositories, passend zu dieser Phase. Vor dem Einsatz Lizenz und Inhalt prüfen.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Systemprompt, ausgefüllt für die Hochschule Rhein-Waal. Die Vorlage mit Platzhaltern steht im Arbeitsheft. Rechts: welche Werkzeuge und Skills der Agent dafür nutzt.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Aus 32 Team-Ideen und 15 KI-Ergänzungen bleiben nach Clustern acht Konzepte. Der Agent hat einen Bewertungsvorschlag gemacht, das Team hat per Dot-Voting entschieden: Der Campus-Mittwoch mit KMU-Challenges geht in den Prototyp. Er verbindet beide Personas und knüpft an das Projekt KI für KMU an.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Einzel- oder Tandemarbeit an der eigenen Innovationsherausforderung. Moderation geht herum und hilft beim Prompten.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Remote-Phase ist der wichtigste Teil der Reihe: Hier treffen die Teilnehmenden echte Menschen. Alle Vorlagen und Prompts stehen im Arbeitsheft.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Remote-Beratung am 10.11. ist fester Bestandteil. Die Termine am 13. und 16.11. sind optional und nach Bedarf.</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Rückblick und Ausblick: Heute haben wir die Phasen 1 bis 3 durchlaufen. In der Remote-Phase vertiefen die Teilnehmenden, am 20.11. folgen Prototypen, Bewertung, Pitch und der Start ins Testen.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Dank, Hinweis auf Arbeitsheft und Remote-Beratung am 10.11. von 17 bis 19 Uhr.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66996F0A-761E-DEB6-45D2-3621742AC7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Rectangle 7"/>
          <p:cNvSpPr>
            <a:spLocks/>
          </p:cNvSpPr>
          <p:nvPr userDrawn="1"/>
        </p:nvSpPr>
        <p:spPr>
          <a:xfrm>
            <a:off x="0" y="-1"/>
            <a:ext cx="12192000" cy="6858000"/>
          </a:xfrm>
          <a:prstGeom prst="rect">
            <a:avLst/>
          </a:prstGeom>
          <a:solidFill>
            <a:schemeClr val="accent1">
              <a:alpha val="37000"/>
            </a:schemeClr>
          </a:solidFill>
          <a:ln w="12700">
            <a:noFill/>
            <a:miter/>
          </a:ln>
        </p:spPr>
        <p:txBody>
          <a:bodyPr lIns="45719" rIns="45719" anchor="ctr"/>
          <a:lstStyle/>
          <a:p>
            <a:pPr algn="ctr">
              <a:defRPr>
                <a:solidFill>
                  <a:schemeClr val="accent2"/>
                </a:solidFill>
              </a:defRPr>
            </a:pPr>
            <a:endParaRPr dirty="0">
              <a:solidFill>
                <a:schemeClr val="accent2"/>
              </a:solidFill>
              <a:latin typeface="Arial" panose="020B0604020202020204" pitchFamily="34" charset="0"/>
              <a:cs typeface="Arial" panose="020B0604020202020204" pitchFamily="34" charset="0"/>
            </a:endParaRPr>
          </a:p>
        </p:txBody>
      </p:sp>
      <p:pic>
        <p:nvPicPr>
          <p:cNvPr id="9" name="Grafik 8" descr="Ein Bild, das Screenshot, Text, Software, Betriebssystem enthält.&#10;&#10;KI-generierte Inhalte können fehlerhaft sein.">
            <a:extLst>
              <a:ext uri="{FF2B5EF4-FFF2-40B4-BE49-F238E27FC236}">
                <a16:creationId xmlns:a16="http://schemas.microsoft.com/office/drawing/2014/main" id="{DB261F60-79C7-A249-1744-51B62E90B35C}"/>
              </a:ext>
            </a:extLst>
          </p:cNvPr>
          <p:cNvPicPr>
            <a:picLocks noChangeAspect="1"/>
          </p:cNvPicPr>
          <p:nvPr userDrawn="1"/>
        </p:nvPicPr>
        <p:blipFill>
          <a:blip r:embed="rId3">
            <a:extLst>
              <a:ext uri="{28A0092B-C50C-407E-A947-70E740481C1C}">
                <a14:useLocalDpi xmlns:a14="http://schemas.microsoft.com/office/drawing/2010/main" val="0"/>
              </a:ext>
            </a:extLst>
          </a:blip>
          <a:srcRect t="174" r="933" b="90034"/>
          <a:stretch>
            <a:fillRect/>
          </a:stretch>
        </p:blipFill>
        <p:spPr>
          <a:xfrm>
            <a:off x="0" y="0"/>
            <a:ext cx="12192001" cy="677862"/>
          </a:xfrm>
          <a:prstGeom prst="rect">
            <a:avLst/>
          </a:prstGeom>
        </p:spPr>
      </p:pic>
      <p:pic>
        <p:nvPicPr>
          <p:cNvPr id="2" name="Förderlogos EU Landesregierung_white.png" descr="Förderlogos EU Landesregierung_white.png">
            <a:extLst>
              <a:ext uri="{FF2B5EF4-FFF2-40B4-BE49-F238E27FC236}">
                <a16:creationId xmlns:a16="http://schemas.microsoft.com/office/drawing/2014/main" id="{837FCD26-0F02-C76B-533A-B85AD0A62070}"/>
              </a:ext>
            </a:extLst>
          </p:cNvPr>
          <p:cNvPicPr>
            <a:picLocks noChangeAspect="1"/>
          </p:cNvPicPr>
          <p:nvPr userDrawn="1"/>
        </p:nvPicPr>
        <p:blipFill>
          <a:blip r:embed="rId4"/>
          <a:stretch>
            <a:fillRect/>
          </a:stretch>
        </p:blipFill>
        <p:spPr>
          <a:xfrm>
            <a:off x="692072" y="6098941"/>
            <a:ext cx="4513493" cy="681421"/>
          </a:xfrm>
          <a:prstGeom prst="rect">
            <a:avLst/>
          </a:prstGeom>
          <a:ln w="12700">
            <a:miter lim="400000"/>
          </a:ln>
        </p:spPr>
      </p:pic>
      <p:sp>
        <p:nvSpPr>
          <p:cNvPr id="4" name="Textplatzhalter 3">
            <a:extLst>
              <a:ext uri="{FF2B5EF4-FFF2-40B4-BE49-F238E27FC236}">
                <a16:creationId xmlns:a16="http://schemas.microsoft.com/office/drawing/2014/main" id="{B1417894-3158-262D-E698-DFADE710472D}"/>
              </a:ext>
            </a:extLst>
          </p:cNvPr>
          <p:cNvSpPr>
            <a:spLocks noGrp="1"/>
          </p:cNvSpPr>
          <p:nvPr>
            <p:ph type="body" sz="quarter" idx="10" hasCustomPrompt="1"/>
          </p:nvPr>
        </p:nvSpPr>
        <p:spPr>
          <a:xfrm>
            <a:off x="838200" y="5715000"/>
            <a:ext cx="1600200" cy="306388"/>
          </a:xfrm>
        </p:spPr>
        <p:txBody>
          <a:bodyPr/>
          <a:lstStyle>
            <a:lvl1pPr>
              <a:defRPr sz="1000">
                <a:solidFill>
                  <a:schemeClr val="accent2"/>
                </a:solidFill>
              </a:defRPr>
            </a:lvl1pPr>
            <a:lvl2pPr>
              <a:defRPr sz="1000"/>
            </a:lvl2pPr>
            <a:lvl3pPr>
              <a:defRPr sz="1000"/>
            </a:lvl3pPr>
            <a:lvl4pPr>
              <a:defRPr sz="1000"/>
            </a:lvl4pPr>
            <a:lvl5pPr>
              <a:defRPr sz="1000"/>
            </a:lvl5pPr>
          </a:lstStyle>
          <a:p>
            <a:pPr lvl="0"/>
            <a:r>
              <a:rPr lang="de-DE" dirty="0"/>
              <a:t>Datum</a:t>
            </a:r>
          </a:p>
        </p:txBody>
      </p:sp>
      <p:sp>
        <p:nvSpPr>
          <p:cNvPr id="5" name="Textplatzhalter 10">
            <a:extLst>
              <a:ext uri="{FF2B5EF4-FFF2-40B4-BE49-F238E27FC236}">
                <a16:creationId xmlns:a16="http://schemas.microsoft.com/office/drawing/2014/main" id="{1F51AA21-1A88-D2ED-1A1F-491F5EA23AB6}"/>
              </a:ext>
            </a:extLst>
          </p:cNvPr>
          <p:cNvSpPr>
            <a:spLocks noGrp="1"/>
          </p:cNvSpPr>
          <p:nvPr>
            <p:ph type="body" sz="quarter" idx="12" hasCustomPrompt="1"/>
          </p:nvPr>
        </p:nvSpPr>
        <p:spPr>
          <a:xfrm>
            <a:off x="850491" y="2294923"/>
            <a:ext cx="4637482" cy="677863"/>
          </a:xfrm>
          <a:ln w="12700">
            <a:miter lim="400000"/>
          </a:ln>
        </p:spPr>
        <p:txBody>
          <a:bodyPr lIns="45719" rIns="45719">
            <a:normAutofit fontScale="92500" lnSpcReduction="10000"/>
          </a:bodyPr>
          <a:lstStyle>
            <a:lvl1pPr>
              <a:defRPr kumimoji="0" lang="de-DE" sz="4800" b="1" i="0" u="none" strike="noStrike" kern="0" cap="none" spc="0" normalizeH="0" baseline="0" dirty="0" smtClean="0">
                <a:ln>
                  <a:noFill/>
                </a:ln>
                <a:solidFill>
                  <a:srgbClr val="CBEAEC"/>
                </a:solidFill>
                <a:effectLst/>
                <a:uLnTx/>
                <a:uFillTx/>
                <a:latin typeface="Arial" panose="020B0604020202020204" pitchFamily="34" charset="0"/>
                <a:ea typeface="Arial" panose="020B0604020202020204" pitchFamily="34" charset="0"/>
                <a:cs typeface="Arial" panose="020B0604020202020204" pitchFamily="34" charset="0"/>
              </a:defRPr>
            </a:lvl1pPr>
            <a:lvl2pPr>
              <a:defRPr lang="de-DE" sz="4800" b="0" i="0" u="none" strike="noStrike" cap="none" spc="0" baseline="0" dirty="0" smtClean="0">
                <a:solidFill>
                  <a:schemeClr val="accent2"/>
                </a:solidFill>
                <a:uFillTx/>
                <a:latin typeface="Arial" panose="020B0604020202020204" pitchFamily="34" charset="0"/>
                <a:ea typeface="Arial" panose="020B0604020202020204" pitchFamily="34" charset="0"/>
                <a:cs typeface="Arial" panose="020B0604020202020204" pitchFamily="34" charset="0"/>
              </a:defRPr>
            </a:lvl2pPr>
            <a:lvl3pPr>
              <a:defRPr lang="de-DE" sz="4800" b="0" i="0" u="none" strike="noStrike" cap="none" spc="0" baseline="0" dirty="0" smtClean="0">
                <a:solidFill>
                  <a:schemeClr val="accent2"/>
                </a:solidFill>
                <a:uFillTx/>
                <a:latin typeface="Arial" panose="020B0604020202020204" pitchFamily="34" charset="0"/>
                <a:ea typeface="Arial" panose="020B0604020202020204" pitchFamily="34" charset="0"/>
                <a:cs typeface="Arial" panose="020B0604020202020204" pitchFamily="34" charset="0"/>
              </a:defRPr>
            </a:lvl3pPr>
            <a:lvl4pPr>
              <a:defRPr kumimoji="0" lang="de-DE" sz="4800" b="0" i="0" u="none" strike="noStrike" kern="0" cap="none" spc="0" normalizeH="0" baseline="0" dirty="0" smtClean="0">
                <a:ln>
                  <a:noFill/>
                </a:ln>
                <a:solidFill>
                  <a:srgbClr val="CBEAEC"/>
                </a:solidFill>
                <a:effectLst/>
                <a:uLnTx/>
                <a:uFillTx/>
                <a:latin typeface="Arial" panose="020B0604020202020204" pitchFamily="34" charset="0"/>
                <a:ea typeface="Arial" panose="020B0604020202020204" pitchFamily="34" charset="0"/>
                <a:cs typeface="Arial" panose="020B0604020202020204" pitchFamily="34" charset="0"/>
              </a:defRPr>
            </a:lvl4pPr>
            <a:lvl5pPr>
              <a:defRPr kumimoji="0" lang="de-DE" sz="4800" b="0" i="0" u="none" strike="noStrike" kern="0" cap="none" spc="0" normalizeH="0" baseline="0" dirty="0">
                <a:ln>
                  <a:noFill/>
                </a:ln>
                <a:solidFill>
                  <a:srgbClr val="CBEAEC"/>
                </a:solidFill>
                <a:effectLst/>
                <a:uLnTx/>
                <a:uFillTx/>
                <a:latin typeface="Arial" panose="020B0604020202020204" pitchFamily="34" charset="0"/>
                <a:ea typeface="Arial" panose="020B0604020202020204" pitchFamily="34" charset="0"/>
                <a:cs typeface="Arial" panose="020B0604020202020204" pitchFamily="34" charset="0"/>
              </a:defRPr>
            </a:lvl5pPr>
          </a:lstStyle>
          <a:p>
            <a:pPr marR="0" lvl="0" fontAlgn="auto">
              <a:spcAft>
                <a:spcPts val="0"/>
              </a:spcAft>
              <a:buClrTx/>
              <a:buSzTx/>
              <a:tabLst/>
            </a:pPr>
            <a:r>
              <a:rPr lang="de-DE" dirty="0"/>
              <a:t>Titel</a:t>
            </a:r>
          </a:p>
        </p:txBody>
      </p:sp>
      <p:sp>
        <p:nvSpPr>
          <p:cNvPr id="6" name="Textplatzhalter 14">
            <a:extLst>
              <a:ext uri="{FF2B5EF4-FFF2-40B4-BE49-F238E27FC236}">
                <a16:creationId xmlns:a16="http://schemas.microsoft.com/office/drawing/2014/main" id="{BB378DE6-CCE8-F60F-AFA8-278A81840B56}"/>
              </a:ext>
            </a:extLst>
          </p:cNvPr>
          <p:cNvSpPr>
            <a:spLocks noGrp="1"/>
          </p:cNvSpPr>
          <p:nvPr>
            <p:ph type="body" sz="quarter" idx="13" hasCustomPrompt="1"/>
          </p:nvPr>
        </p:nvSpPr>
        <p:spPr>
          <a:xfrm>
            <a:off x="850491" y="3011563"/>
            <a:ext cx="4637482" cy="904875"/>
          </a:xfrm>
          <a:ln w="12700">
            <a:miter lim="400000"/>
          </a:ln>
        </p:spPr>
        <p:txBody>
          <a:bodyPr lIns="45719" rIns="45719">
            <a:normAutofit/>
          </a:bodyPr>
          <a:lstStyle>
            <a:lvl1pPr>
              <a:lnSpc>
                <a:spcPct val="100000"/>
              </a:lnSpc>
              <a:defRPr kumimoji="0" lang="de-DE" sz="3300" b="0" i="0" u="none" strike="noStrike" kern="0" cap="none" spc="0" normalizeH="0" baseline="0" smtClean="0">
                <a:ln>
                  <a:noFill/>
                </a:ln>
                <a:solidFill>
                  <a:srgbClr val="CBEAEC"/>
                </a:solidFill>
                <a:effectLst/>
                <a:uLnTx/>
                <a:uFillTx/>
                <a:latin typeface="Arial" panose="020B0604020202020204" pitchFamily="34" charset="0"/>
                <a:ea typeface="Open Sans Regular Regular"/>
                <a:cs typeface="Arial" panose="020B0604020202020204" pitchFamily="34" charset="0"/>
              </a:defRPr>
            </a:lvl1pPr>
            <a:lvl2pPr>
              <a:defRPr lang="de-DE" sz="2800" b="0" i="0" u="none" strike="noStrike" cap="none" spc="0" baseline="0" smtClean="0">
                <a:uFillTx/>
                <a:latin typeface="Open Sans Regular Regular"/>
                <a:ea typeface="Open Sans Regular Regular"/>
                <a:cs typeface="Open Sans Regular Regular"/>
              </a:defRPr>
            </a:lvl2pPr>
            <a:lvl3pPr>
              <a:defRPr lang="de-DE" sz="2800" b="0" i="0" u="none" strike="noStrike" cap="none" spc="0" baseline="0" smtClean="0">
                <a:uFillTx/>
                <a:latin typeface="Open Sans Regular Regular"/>
                <a:ea typeface="Open Sans Regular Regular"/>
                <a:cs typeface="Open Sans Regular Regular"/>
              </a:defRPr>
            </a:lvl3pPr>
            <a:lvl4pPr>
              <a:defRPr lang="de-DE" sz="2800" b="0" i="0" u="none" strike="noStrike" cap="none" spc="0" baseline="0" smtClean="0">
                <a:uFillTx/>
                <a:latin typeface="Open Sans Regular Regular"/>
                <a:ea typeface="Open Sans Regular Regular"/>
                <a:cs typeface="Open Sans Regular Regular"/>
              </a:defRPr>
            </a:lvl4pPr>
            <a:lvl5pPr>
              <a:defRPr lang="de-DE" sz="2800" b="0" i="0" u="none" strike="noStrike" cap="none" spc="0" baseline="0">
                <a:uFillTx/>
                <a:latin typeface="Open Sans Regular Regular"/>
                <a:ea typeface="Open Sans Regular Regular"/>
                <a:cs typeface="Open Sans Regular Regular"/>
              </a:defRPr>
            </a:lvl5pPr>
          </a:lstStyle>
          <a:p>
            <a:pPr marR="0" lvl="0" fontAlgn="auto">
              <a:spcAft>
                <a:spcPts val="0"/>
              </a:spcAft>
              <a:buClrTx/>
              <a:buSzTx/>
              <a:tabLst/>
            </a:pPr>
            <a:r>
              <a:rPr lang="de-DE" dirty="0" err="1"/>
              <a:t>Subtitle</a:t>
            </a:r>
            <a:endParaRPr lang="de-DE" dirty="0"/>
          </a:p>
        </p:txBody>
      </p:sp>
      <p:sp>
        <p:nvSpPr>
          <p:cNvPr id="8" name="Textplatzhalter 17">
            <a:extLst>
              <a:ext uri="{FF2B5EF4-FFF2-40B4-BE49-F238E27FC236}">
                <a16:creationId xmlns:a16="http://schemas.microsoft.com/office/drawing/2014/main" id="{0F0ADED2-AD16-F89F-45B7-84A298308FD6}"/>
              </a:ext>
            </a:extLst>
          </p:cNvPr>
          <p:cNvSpPr>
            <a:spLocks noGrp="1"/>
          </p:cNvSpPr>
          <p:nvPr>
            <p:ph type="body" sz="quarter" idx="14" hasCustomPrompt="1"/>
          </p:nvPr>
        </p:nvSpPr>
        <p:spPr>
          <a:xfrm>
            <a:off x="850490" y="4194811"/>
            <a:ext cx="4637481" cy="656548"/>
          </a:xfrm>
          <a:ln w="12700">
            <a:miter lim="400000"/>
          </a:ln>
        </p:spPr>
        <p:txBody>
          <a:bodyPr lIns="45719" rIns="45719">
            <a:noAutofit/>
          </a:bodyPr>
          <a:lstStyle>
            <a:lvl1pPr>
              <a:defRPr kumimoji="0" lang="de-DE" b="0" i="0" u="none" strike="noStrike" kern="0" cap="none" spc="0" normalizeH="0" baseline="0" smtClean="0">
                <a:ln>
                  <a:noFill/>
                </a:ln>
                <a:solidFill>
                  <a:srgbClr val="CBEAEC"/>
                </a:solidFill>
                <a:effectLst/>
                <a:uLnTx/>
                <a:uFillTx/>
                <a:latin typeface="Arial" panose="020B0604020202020204" pitchFamily="34" charset="0"/>
                <a:ea typeface="Open Sans Regular Regular"/>
                <a:cs typeface="Arial" panose="020B0604020202020204" pitchFamily="34" charset="0"/>
              </a:defRPr>
            </a:lvl1pPr>
            <a:lvl2pPr>
              <a:defRPr lang="de-DE" sz="2800" b="0" i="0" u="none" strike="noStrike" cap="none" spc="0" baseline="0" smtClean="0">
                <a:uFillTx/>
                <a:latin typeface="Open Sans Regular Regular"/>
                <a:ea typeface="Open Sans Regular Regular"/>
                <a:cs typeface="Open Sans Regular Regular"/>
              </a:defRPr>
            </a:lvl2pPr>
            <a:lvl3pPr>
              <a:defRPr lang="de-DE" sz="2800" b="0" i="0" u="none" strike="noStrike" cap="none" spc="0" baseline="0" smtClean="0">
                <a:uFillTx/>
                <a:latin typeface="Open Sans Regular Regular"/>
                <a:ea typeface="Open Sans Regular Regular"/>
                <a:cs typeface="Open Sans Regular Regular"/>
              </a:defRPr>
            </a:lvl3pPr>
            <a:lvl4pPr>
              <a:defRPr lang="de-DE" sz="2800" b="0" i="0" u="none" strike="noStrike" cap="none" spc="0" baseline="0" smtClean="0">
                <a:uFillTx/>
                <a:latin typeface="Open Sans Regular Regular"/>
                <a:ea typeface="Open Sans Regular Regular"/>
                <a:cs typeface="Open Sans Regular Regular"/>
              </a:defRPr>
            </a:lvl4pPr>
            <a:lvl5pPr>
              <a:defRPr lang="de-DE" sz="2800" b="0" i="0" u="none" strike="noStrike" cap="none" spc="0" baseline="0">
                <a:uFillTx/>
                <a:latin typeface="Open Sans Regular Regular"/>
                <a:ea typeface="Open Sans Regular Regular"/>
                <a:cs typeface="Open Sans Regular Regular"/>
              </a:defRPr>
            </a:lvl5pPr>
          </a:lstStyle>
          <a:p>
            <a:pPr marR="0" lvl="0" fontAlgn="auto">
              <a:spcAft>
                <a:spcPts val="0"/>
              </a:spcAft>
              <a:buClrTx/>
              <a:buSzTx/>
              <a:tabLst/>
            </a:pPr>
            <a:r>
              <a:rPr lang="de-DE" dirty="0"/>
              <a:t>Beschreibung</a:t>
            </a:r>
          </a:p>
        </p:txBody>
      </p:sp>
    </p:spTree>
    <p:extLst>
      <p:ext uri="{BB962C8B-B14F-4D97-AF65-F5344CB8AC3E}">
        <p14:creationId xmlns:p14="http://schemas.microsoft.com/office/powerpoint/2010/main" val="154725032"/>
      </p:ext>
    </p:extLst>
  </p:cSld>
  <p:clrMapOvr>
    <a:masterClrMapping/>
  </p:clrMapOvr>
  <p:extLst>
    <p:ext uri="{DCECCB84-F9BA-43D5-87BE-67443E8EF086}">
      <p15:sldGuideLst xmlns:p15="http://schemas.microsoft.com/office/powerpoint/2012/main">
        <p15:guide id="1" orient="horz" pos="3984"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at">
    <p:spTree>
      <p:nvGrpSpPr>
        <p:cNvPr id="1" name=""/>
        <p:cNvGrpSpPr/>
        <p:nvPr/>
      </p:nvGrpSpPr>
      <p:grpSpPr>
        <a:xfrm>
          <a:off x="0" y="0"/>
          <a:ext cx="0" cy="0"/>
          <a:chOff x="0" y="0"/>
          <a:chExt cx="0" cy="0"/>
        </a:xfrm>
      </p:grpSpPr>
      <p:sp>
        <p:nvSpPr>
          <p:cNvPr id="89" name="Rechteck 88">
            <a:extLst>
              <a:ext uri="{FF2B5EF4-FFF2-40B4-BE49-F238E27FC236}">
                <a16:creationId xmlns:a16="http://schemas.microsoft.com/office/drawing/2014/main" id="{6795310C-2FC9-E703-5BDB-AAE1E40A3852}"/>
              </a:ext>
            </a:extLst>
          </p:cNvPr>
          <p:cNvSpPr>
            <a:spLocks noGrp="1" noRot="1" noMove="1" noResize="1" noEditPoints="1" noAdjustHandles="1" noChangeArrowheads="1" noChangeShapeType="1"/>
          </p:cNvSpPr>
          <p:nvPr userDrawn="1"/>
        </p:nvSpPr>
        <p:spPr>
          <a:xfrm>
            <a:off x="0" y="762000"/>
            <a:ext cx="12192000" cy="6096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66" name="Textplatzhalter 65">
            <a:extLst>
              <a:ext uri="{FF2B5EF4-FFF2-40B4-BE49-F238E27FC236}">
                <a16:creationId xmlns:a16="http://schemas.microsoft.com/office/drawing/2014/main" id="{160B682C-8BAA-CB57-34C9-5B4AA3E3BD43}"/>
              </a:ext>
            </a:extLst>
          </p:cNvPr>
          <p:cNvSpPr>
            <a:spLocks noGrp="1"/>
          </p:cNvSpPr>
          <p:nvPr>
            <p:ph type="body" sz="quarter" idx="10" hasCustomPrompt="1"/>
          </p:nvPr>
        </p:nvSpPr>
        <p:spPr>
          <a:xfrm>
            <a:off x="857693" y="1371598"/>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1</a:t>
            </a:r>
          </a:p>
        </p:txBody>
      </p:sp>
      <p:sp>
        <p:nvSpPr>
          <p:cNvPr id="71" name="Textplatzhalter 70">
            <a:extLst>
              <a:ext uri="{FF2B5EF4-FFF2-40B4-BE49-F238E27FC236}">
                <a16:creationId xmlns:a16="http://schemas.microsoft.com/office/drawing/2014/main" id="{EF13C968-583D-F71E-827A-E3F2A0C3D7DD}"/>
              </a:ext>
            </a:extLst>
          </p:cNvPr>
          <p:cNvSpPr>
            <a:spLocks noGrp="1"/>
          </p:cNvSpPr>
          <p:nvPr>
            <p:ph type="body" sz="quarter" idx="11" hasCustomPrompt="1"/>
          </p:nvPr>
        </p:nvSpPr>
        <p:spPr>
          <a:xfrm>
            <a:off x="1772093" y="1371598"/>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72" name="Textplatzhalter 65">
            <a:extLst>
              <a:ext uri="{FF2B5EF4-FFF2-40B4-BE49-F238E27FC236}">
                <a16:creationId xmlns:a16="http://schemas.microsoft.com/office/drawing/2014/main" id="{AB741820-9379-07E2-FB30-C5E0E4A1FD39}"/>
              </a:ext>
            </a:extLst>
          </p:cNvPr>
          <p:cNvSpPr>
            <a:spLocks noGrp="1"/>
          </p:cNvSpPr>
          <p:nvPr>
            <p:ph type="body" sz="quarter" idx="12" hasCustomPrompt="1"/>
          </p:nvPr>
        </p:nvSpPr>
        <p:spPr>
          <a:xfrm>
            <a:off x="867525" y="1981198"/>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2</a:t>
            </a:r>
          </a:p>
        </p:txBody>
      </p:sp>
      <p:sp>
        <p:nvSpPr>
          <p:cNvPr id="73" name="Textplatzhalter 70">
            <a:extLst>
              <a:ext uri="{FF2B5EF4-FFF2-40B4-BE49-F238E27FC236}">
                <a16:creationId xmlns:a16="http://schemas.microsoft.com/office/drawing/2014/main" id="{FCD5209A-5C7D-6254-D436-877E1451B70E}"/>
              </a:ext>
            </a:extLst>
          </p:cNvPr>
          <p:cNvSpPr>
            <a:spLocks noGrp="1"/>
          </p:cNvSpPr>
          <p:nvPr>
            <p:ph type="body" sz="quarter" idx="13" hasCustomPrompt="1"/>
          </p:nvPr>
        </p:nvSpPr>
        <p:spPr>
          <a:xfrm>
            <a:off x="1781925" y="1981198"/>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74" name="Textplatzhalter 65">
            <a:extLst>
              <a:ext uri="{FF2B5EF4-FFF2-40B4-BE49-F238E27FC236}">
                <a16:creationId xmlns:a16="http://schemas.microsoft.com/office/drawing/2014/main" id="{E21D8006-24BD-EA37-95DD-243B62556299}"/>
              </a:ext>
            </a:extLst>
          </p:cNvPr>
          <p:cNvSpPr>
            <a:spLocks noGrp="1"/>
          </p:cNvSpPr>
          <p:nvPr>
            <p:ph type="body" sz="quarter" idx="14" hasCustomPrompt="1"/>
          </p:nvPr>
        </p:nvSpPr>
        <p:spPr>
          <a:xfrm>
            <a:off x="872441" y="2590798"/>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3</a:t>
            </a:r>
          </a:p>
        </p:txBody>
      </p:sp>
      <p:sp>
        <p:nvSpPr>
          <p:cNvPr id="75" name="Textplatzhalter 70">
            <a:extLst>
              <a:ext uri="{FF2B5EF4-FFF2-40B4-BE49-F238E27FC236}">
                <a16:creationId xmlns:a16="http://schemas.microsoft.com/office/drawing/2014/main" id="{A1A5FE3A-9FA7-D4F9-3CC5-76874F48FBD3}"/>
              </a:ext>
            </a:extLst>
          </p:cNvPr>
          <p:cNvSpPr>
            <a:spLocks noGrp="1"/>
          </p:cNvSpPr>
          <p:nvPr>
            <p:ph type="body" sz="quarter" idx="15" hasCustomPrompt="1"/>
          </p:nvPr>
        </p:nvSpPr>
        <p:spPr>
          <a:xfrm>
            <a:off x="1786841" y="2590798"/>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76" name="Textplatzhalter 65">
            <a:extLst>
              <a:ext uri="{FF2B5EF4-FFF2-40B4-BE49-F238E27FC236}">
                <a16:creationId xmlns:a16="http://schemas.microsoft.com/office/drawing/2014/main" id="{1E5EBA11-0531-F6C3-56A3-8D8545D2254A}"/>
              </a:ext>
            </a:extLst>
          </p:cNvPr>
          <p:cNvSpPr>
            <a:spLocks noGrp="1"/>
          </p:cNvSpPr>
          <p:nvPr>
            <p:ph type="body" sz="quarter" idx="16" hasCustomPrompt="1"/>
          </p:nvPr>
        </p:nvSpPr>
        <p:spPr>
          <a:xfrm>
            <a:off x="869983" y="3238499"/>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4</a:t>
            </a:r>
          </a:p>
        </p:txBody>
      </p:sp>
      <p:sp>
        <p:nvSpPr>
          <p:cNvPr id="77" name="Textplatzhalter 70">
            <a:extLst>
              <a:ext uri="{FF2B5EF4-FFF2-40B4-BE49-F238E27FC236}">
                <a16:creationId xmlns:a16="http://schemas.microsoft.com/office/drawing/2014/main" id="{A84E6EA4-62BE-DBDC-C27A-CBD5EC1B51BB}"/>
              </a:ext>
            </a:extLst>
          </p:cNvPr>
          <p:cNvSpPr>
            <a:spLocks noGrp="1"/>
          </p:cNvSpPr>
          <p:nvPr>
            <p:ph type="body" sz="quarter" idx="17" hasCustomPrompt="1"/>
          </p:nvPr>
        </p:nvSpPr>
        <p:spPr>
          <a:xfrm>
            <a:off x="1784383" y="3238499"/>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78" name="Textplatzhalter 65">
            <a:extLst>
              <a:ext uri="{FF2B5EF4-FFF2-40B4-BE49-F238E27FC236}">
                <a16:creationId xmlns:a16="http://schemas.microsoft.com/office/drawing/2014/main" id="{C2886185-9642-FDB1-F912-CA918DD200DF}"/>
              </a:ext>
            </a:extLst>
          </p:cNvPr>
          <p:cNvSpPr>
            <a:spLocks noGrp="1"/>
          </p:cNvSpPr>
          <p:nvPr>
            <p:ph type="body" sz="quarter" idx="18" hasCustomPrompt="1"/>
          </p:nvPr>
        </p:nvSpPr>
        <p:spPr>
          <a:xfrm>
            <a:off x="879815" y="3848099"/>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5</a:t>
            </a:r>
          </a:p>
        </p:txBody>
      </p:sp>
      <p:sp>
        <p:nvSpPr>
          <p:cNvPr id="79" name="Textplatzhalter 70">
            <a:extLst>
              <a:ext uri="{FF2B5EF4-FFF2-40B4-BE49-F238E27FC236}">
                <a16:creationId xmlns:a16="http://schemas.microsoft.com/office/drawing/2014/main" id="{D6B0BF4A-E545-1763-E245-D6305EC2F88B}"/>
              </a:ext>
            </a:extLst>
          </p:cNvPr>
          <p:cNvSpPr>
            <a:spLocks noGrp="1"/>
          </p:cNvSpPr>
          <p:nvPr>
            <p:ph type="body" sz="quarter" idx="19" hasCustomPrompt="1"/>
          </p:nvPr>
        </p:nvSpPr>
        <p:spPr>
          <a:xfrm>
            <a:off x="1794215" y="3848099"/>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80" name="Textplatzhalter 65">
            <a:extLst>
              <a:ext uri="{FF2B5EF4-FFF2-40B4-BE49-F238E27FC236}">
                <a16:creationId xmlns:a16="http://schemas.microsoft.com/office/drawing/2014/main" id="{ADA145ED-2296-4158-BF39-A33910298D52}"/>
              </a:ext>
            </a:extLst>
          </p:cNvPr>
          <p:cNvSpPr>
            <a:spLocks noGrp="1"/>
          </p:cNvSpPr>
          <p:nvPr>
            <p:ph type="body" sz="quarter" idx="20" hasCustomPrompt="1"/>
          </p:nvPr>
        </p:nvSpPr>
        <p:spPr>
          <a:xfrm>
            <a:off x="884731" y="4457699"/>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6</a:t>
            </a:r>
          </a:p>
        </p:txBody>
      </p:sp>
      <p:sp>
        <p:nvSpPr>
          <p:cNvPr id="81" name="Textplatzhalter 70">
            <a:extLst>
              <a:ext uri="{FF2B5EF4-FFF2-40B4-BE49-F238E27FC236}">
                <a16:creationId xmlns:a16="http://schemas.microsoft.com/office/drawing/2014/main" id="{742F63B3-5E50-A834-0349-3CDEB5F3C46D}"/>
              </a:ext>
            </a:extLst>
          </p:cNvPr>
          <p:cNvSpPr>
            <a:spLocks noGrp="1"/>
          </p:cNvSpPr>
          <p:nvPr>
            <p:ph type="body" sz="quarter" idx="21" hasCustomPrompt="1"/>
          </p:nvPr>
        </p:nvSpPr>
        <p:spPr>
          <a:xfrm>
            <a:off x="1799131" y="4457699"/>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82" name="Textplatzhalter 65">
            <a:extLst>
              <a:ext uri="{FF2B5EF4-FFF2-40B4-BE49-F238E27FC236}">
                <a16:creationId xmlns:a16="http://schemas.microsoft.com/office/drawing/2014/main" id="{5DC0753C-23CB-8AB8-6858-D0D928A52267}"/>
              </a:ext>
            </a:extLst>
          </p:cNvPr>
          <p:cNvSpPr>
            <a:spLocks noGrp="1"/>
          </p:cNvSpPr>
          <p:nvPr>
            <p:ph type="body" sz="quarter" idx="22" hasCustomPrompt="1"/>
          </p:nvPr>
        </p:nvSpPr>
        <p:spPr>
          <a:xfrm>
            <a:off x="874899" y="5105400"/>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7</a:t>
            </a:r>
          </a:p>
        </p:txBody>
      </p:sp>
      <p:sp>
        <p:nvSpPr>
          <p:cNvPr id="83" name="Textplatzhalter 70">
            <a:extLst>
              <a:ext uri="{FF2B5EF4-FFF2-40B4-BE49-F238E27FC236}">
                <a16:creationId xmlns:a16="http://schemas.microsoft.com/office/drawing/2014/main" id="{D2428D57-EB9D-5ACF-AD67-D2F8A2F3B2CC}"/>
              </a:ext>
            </a:extLst>
          </p:cNvPr>
          <p:cNvSpPr>
            <a:spLocks noGrp="1"/>
          </p:cNvSpPr>
          <p:nvPr>
            <p:ph type="body" sz="quarter" idx="23" hasCustomPrompt="1"/>
          </p:nvPr>
        </p:nvSpPr>
        <p:spPr>
          <a:xfrm>
            <a:off x="1789299" y="5105400"/>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84" name="Textplatzhalter 65">
            <a:extLst>
              <a:ext uri="{FF2B5EF4-FFF2-40B4-BE49-F238E27FC236}">
                <a16:creationId xmlns:a16="http://schemas.microsoft.com/office/drawing/2014/main" id="{30B1108D-6917-FE20-979A-1057353AD5E2}"/>
              </a:ext>
            </a:extLst>
          </p:cNvPr>
          <p:cNvSpPr>
            <a:spLocks noGrp="1"/>
          </p:cNvSpPr>
          <p:nvPr>
            <p:ph type="body" sz="quarter" idx="24" hasCustomPrompt="1"/>
          </p:nvPr>
        </p:nvSpPr>
        <p:spPr>
          <a:xfrm>
            <a:off x="879815" y="5715000"/>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8</a:t>
            </a:r>
          </a:p>
        </p:txBody>
      </p:sp>
      <p:sp>
        <p:nvSpPr>
          <p:cNvPr id="85" name="Textplatzhalter 70">
            <a:extLst>
              <a:ext uri="{FF2B5EF4-FFF2-40B4-BE49-F238E27FC236}">
                <a16:creationId xmlns:a16="http://schemas.microsoft.com/office/drawing/2014/main" id="{3D290B68-E708-7F29-DC75-FB9EC59CB4E9}"/>
              </a:ext>
            </a:extLst>
          </p:cNvPr>
          <p:cNvSpPr>
            <a:spLocks noGrp="1"/>
          </p:cNvSpPr>
          <p:nvPr>
            <p:ph type="body" sz="quarter" idx="25" hasCustomPrompt="1"/>
          </p:nvPr>
        </p:nvSpPr>
        <p:spPr>
          <a:xfrm>
            <a:off x="1794215" y="5715000"/>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pic>
        <p:nvPicPr>
          <p:cNvPr id="88" name="Grafik 87">
            <a:extLst>
              <a:ext uri="{FF2B5EF4-FFF2-40B4-BE49-F238E27FC236}">
                <a16:creationId xmlns:a16="http://schemas.microsoft.com/office/drawing/2014/main" id="{8595A25F-93F0-3A97-2497-4B667BA69E12}"/>
              </a:ext>
            </a:extLst>
          </p:cNvPr>
          <p:cNvPicPr>
            <a:picLocks noChangeAspect="1"/>
          </p:cNvPicPr>
          <p:nvPr userDrawn="1"/>
        </p:nvPicPr>
        <p:blipFill>
          <a:blip r:embed="rId2">
            <a:alphaModFix/>
            <a:extLst>
              <a:ext uri="{28A0092B-C50C-407E-A947-70E740481C1C}">
                <a14:useLocalDpi xmlns:a14="http://schemas.microsoft.com/office/drawing/2010/main" val="0"/>
              </a:ext>
            </a:extLst>
          </a:blip>
          <a:srcRect r="830" b="90288"/>
          <a:stretch>
            <a:fillRect/>
          </a:stretch>
        </p:blipFill>
        <p:spPr>
          <a:xfrm>
            <a:off x="0" y="-11946"/>
            <a:ext cx="12192000" cy="671605"/>
          </a:xfrm>
          <a:prstGeom prst="rect">
            <a:avLst/>
          </a:prstGeom>
        </p:spPr>
      </p:pic>
    </p:spTree>
    <p:extLst>
      <p:ext uri="{BB962C8B-B14F-4D97-AF65-F5344CB8AC3E}">
        <p14:creationId xmlns:p14="http://schemas.microsoft.com/office/powerpoint/2010/main" val="3383102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ChangeAspect="1"/>
          </p:cNvPicPr>
          <p:nvPr userDrawn="1"/>
        </p:nvPicPr>
        <p:blipFill>
          <a:blip r:embed="rId2"/>
          <a:stretch>
            <a:fillRect/>
          </a:stretch>
        </p:blipFill>
        <p:spPr>
          <a:xfrm>
            <a:off x="3700064" y="719093"/>
            <a:ext cx="4791871" cy="5419814"/>
          </a:xfrm>
          <a:prstGeom prst="rect">
            <a:avLst/>
          </a:prstGeom>
        </p:spPr>
      </p:pic>
      <p:pic>
        <p:nvPicPr>
          <p:cNvPr id="11" name="Grafik 10" descr="Ein Bild, das Screenshot, Text, Software, Betriebssystem enthält.&#10;&#10;KI-generierte Inhalte können fehlerhaft sein.">
            <a:extLst>
              <a:ext uri="{FF2B5EF4-FFF2-40B4-BE49-F238E27FC236}">
                <a16:creationId xmlns:a16="http://schemas.microsoft.com/office/drawing/2014/main" id="{ED8E95D5-78AE-E31B-0831-9943F581DA4B}"/>
              </a:ext>
            </a:extLst>
          </p:cNvPr>
          <p:cNvPicPr>
            <a:picLocks noChangeAspect="1"/>
          </p:cNvPicPr>
          <p:nvPr userDrawn="1"/>
        </p:nvPicPr>
        <p:blipFill>
          <a:blip r:embed="rId3">
            <a:extLst>
              <a:ext uri="{28A0092B-C50C-407E-A947-70E740481C1C}">
                <a14:useLocalDpi xmlns:a14="http://schemas.microsoft.com/office/drawing/2010/main" val="0"/>
              </a:ext>
            </a:extLst>
          </a:blip>
          <a:srcRect t="174" r="933" b="90034"/>
          <a:stretch>
            <a:fillRect/>
          </a:stretch>
        </p:blipFill>
        <p:spPr>
          <a:xfrm>
            <a:off x="0" y="0"/>
            <a:ext cx="12192001" cy="677862"/>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Tree>
    <p:extLst>
      <p:ext uri="{BB962C8B-B14F-4D97-AF65-F5344CB8AC3E}">
        <p14:creationId xmlns:p14="http://schemas.microsoft.com/office/powerpoint/2010/main" val="175364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pic>
        <p:nvPicPr>
          <p:cNvPr id="11" name="Grafik 10" descr="Ein Bild, das Screenshot, Text, Software, Betriebssystem enthält.&#10;&#10;KI-generierte Inhalte können fehlerhaft sein.">
            <a:extLst>
              <a:ext uri="{FF2B5EF4-FFF2-40B4-BE49-F238E27FC236}">
                <a16:creationId xmlns:a16="http://schemas.microsoft.com/office/drawing/2014/main" id="{ED8E95D5-78AE-E31B-0831-9943F581DA4B}"/>
              </a:ext>
            </a:extLst>
          </p:cNvPr>
          <p:cNvPicPr>
            <a:picLocks noChangeAspect="1"/>
          </p:cNvPicPr>
          <p:nvPr userDrawn="1"/>
        </p:nvPicPr>
        <p:blipFill>
          <a:blip r:embed="rId3">
            <a:extLst>
              <a:ext uri="{28A0092B-C50C-407E-A947-70E740481C1C}">
                <a14:useLocalDpi xmlns:a14="http://schemas.microsoft.com/office/drawing/2010/main" val="0"/>
              </a:ext>
            </a:extLst>
          </a:blip>
          <a:srcRect t="174" r="933" b="90034"/>
          <a:stretch>
            <a:fillRect/>
          </a:stretch>
        </p:blipFill>
        <p:spPr>
          <a:xfrm>
            <a:off x="0" y="0"/>
            <a:ext cx="12192001" cy="677862"/>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855406" y="2047710"/>
            <a:ext cx="9038304" cy="3895889"/>
          </a:xfrm>
        </p:spPr>
        <p:txBody>
          <a:bodyPr>
            <a:noAutofit/>
          </a:bodyPr>
          <a:lstStyle>
            <a:lvl1pPr algn="l">
              <a:defRPr sz="1800">
                <a:solidFill>
                  <a:schemeClr val="bg1"/>
                </a:solidFill>
              </a:defRPr>
            </a:lvl1pPr>
          </a:lstStyle>
          <a:p>
            <a:pPr lvl="0"/>
            <a:r>
              <a:rPr lang="de-DE" dirty="0"/>
              <a:t>Text</a:t>
            </a:r>
          </a:p>
        </p:txBody>
      </p:sp>
      <p:sp>
        <p:nvSpPr>
          <p:cNvPr id="2" name="Foliennummer">
            <a:extLst>
              <a:ext uri="{FF2B5EF4-FFF2-40B4-BE49-F238E27FC236}">
                <a16:creationId xmlns:a16="http://schemas.microsoft.com/office/drawing/2014/main" id="{E6BDE9D2-F032-EC10-4EC7-0A2593769016}"/>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Tree>
    <p:extLst>
      <p:ext uri="{BB962C8B-B14F-4D97-AF65-F5344CB8AC3E}">
        <p14:creationId xmlns:p14="http://schemas.microsoft.com/office/powerpoint/2010/main" val="898378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ild">
    <p:spTree>
      <p:nvGrpSpPr>
        <p:cNvPr id="1" name=""/>
        <p:cNvGrpSpPr/>
        <p:nvPr/>
      </p:nvGrpSpPr>
      <p:grpSpPr>
        <a:xfrm>
          <a:off x="0" y="0"/>
          <a:ext cx="0" cy="0"/>
          <a:chOff x="0" y="0"/>
          <a:chExt cx="0" cy="0"/>
        </a:xfrm>
      </p:grpSpPr>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pic>
        <p:nvPicPr>
          <p:cNvPr id="2" name="Grafik 1" descr="Ein Bild, das Screenshot, Text, Software, Betriebssystem enthält.&#10;&#10;KI-generierte Inhalte können fehlerhaft sein.">
            <a:extLst>
              <a:ext uri="{FF2B5EF4-FFF2-40B4-BE49-F238E27FC236}">
                <a16:creationId xmlns:a16="http://schemas.microsoft.com/office/drawing/2014/main" id="{E50B5517-37C0-4226-FC70-FEB1E085BCD1}"/>
              </a:ext>
            </a:extLst>
          </p:cNvPr>
          <p:cNvPicPr>
            <a:picLocks noChangeAspect="1"/>
          </p:cNvPicPr>
          <p:nvPr userDrawn="1"/>
        </p:nvPicPr>
        <p:blipFill>
          <a:blip r:embed="rId2">
            <a:extLst>
              <a:ext uri="{28A0092B-C50C-407E-A947-70E740481C1C}">
                <a14:useLocalDpi xmlns:a14="http://schemas.microsoft.com/office/drawing/2010/main" val="0"/>
              </a:ext>
            </a:extLst>
          </a:blip>
          <a:srcRect t="174" r="933" b="90034"/>
          <a:stretch>
            <a:fillRect/>
          </a:stretch>
        </p:blipFill>
        <p:spPr>
          <a:xfrm>
            <a:off x="0" y="0"/>
            <a:ext cx="12192001" cy="677862"/>
          </a:xfrm>
          <a:prstGeom prst="rect">
            <a:avLst/>
          </a:prstGeom>
        </p:spPr>
      </p:pic>
      <p:sp>
        <p:nvSpPr>
          <p:cNvPr id="3" name="Textplatzhalter 12">
            <a:extLst>
              <a:ext uri="{FF2B5EF4-FFF2-40B4-BE49-F238E27FC236}">
                <a16:creationId xmlns:a16="http://schemas.microsoft.com/office/drawing/2014/main" id="{0515B767-F434-5EFE-A550-57B4B7978003}"/>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accent1"/>
                </a:solidFill>
              </a:defRPr>
            </a:lvl1pPr>
          </a:lstStyle>
          <a:p>
            <a:pPr lvl="0"/>
            <a:r>
              <a:rPr lang="de-DE" dirty="0"/>
              <a:t>Headline</a:t>
            </a:r>
          </a:p>
        </p:txBody>
      </p:sp>
    </p:spTree>
    <p:extLst>
      <p:ext uri="{BB962C8B-B14F-4D97-AF65-F5344CB8AC3E}">
        <p14:creationId xmlns:p14="http://schemas.microsoft.com/office/powerpoint/2010/main" val="2876770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BI_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ChangeAspect="1"/>
          </p:cNvPicPr>
          <p:nvPr userDrawn="1"/>
        </p:nvPicPr>
        <p:blipFill>
          <a:blip r:embed="rId2"/>
          <a:stretch>
            <a:fillRect/>
          </a:stretch>
        </p:blipFill>
        <p:spPr>
          <a:xfrm>
            <a:off x="3700064" y="719093"/>
            <a:ext cx="4791871" cy="5419814"/>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969379B-8033-C4C5-8C1D-ADAC0BAA7BA6}"/>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descr="Ein Bild, das Screenshot, Text, Software, Betriebssystem enthält.&#10;&#10;KI-generierte Inhalte können fehlerhaft sein.">
            <a:extLst>
              <a:ext uri="{FF2B5EF4-FFF2-40B4-BE49-F238E27FC236}">
                <a16:creationId xmlns:a16="http://schemas.microsoft.com/office/drawing/2014/main" id="{68C35C11-CF50-3790-418D-179093554CD5}"/>
              </a:ext>
            </a:extLst>
          </p:cNvPr>
          <p:cNvPicPr>
            <a:picLocks noChangeAspect="1"/>
          </p:cNvPicPr>
          <p:nvPr userDrawn="1"/>
        </p:nvPicPr>
        <p:blipFill>
          <a:blip r:embed="rId3">
            <a:extLst>
              <a:ext uri="{28A0092B-C50C-407E-A947-70E740481C1C}">
                <a14:useLocalDpi xmlns:a14="http://schemas.microsoft.com/office/drawing/2010/main" val="0"/>
              </a:ext>
            </a:extLst>
          </a:blip>
          <a:srcRect r="77091" b="90219"/>
          <a:stretch>
            <a:fillRect/>
          </a:stretch>
        </p:blipFill>
        <p:spPr>
          <a:xfrm>
            <a:off x="9372600" y="-12489"/>
            <a:ext cx="2819400" cy="677108"/>
          </a:xfrm>
          <a:prstGeom prst="rect">
            <a:avLst/>
          </a:prstGeom>
        </p:spPr>
      </p:pic>
    </p:spTree>
    <p:extLst>
      <p:ext uri="{BB962C8B-B14F-4D97-AF65-F5344CB8AC3E}">
        <p14:creationId xmlns:p14="http://schemas.microsoft.com/office/powerpoint/2010/main" val="1661788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BI_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sp>
        <p:nvSpPr>
          <p:cNvPr id="2" name="Foliennummer">
            <a:extLst>
              <a:ext uri="{FF2B5EF4-FFF2-40B4-BE49-F238E27FC236}">
                <a16:creationId xmlns:a16="http://schemas.microsoft.com/office/drawing/2014/main" id="{E6BDE9D2-F032-EC10-4EC7-0A2593769016}"/>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7CE065F-5084-7405-317F-0D7F24BA6C25}"/>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Screenshot, Text, Software, Betriebssystem enthält.&#10;&#10;KI-generierte Inhalte können fehlerhaft sein.">
            <a:extLst>
              <a:ext uri="{FF2B5EF4-FFF2-40B4-BE49-F238E27FC236}">
                <a16:creationId xmlns:a16="http://schemas.microsoft.com/office/drawing/2014/main" id="{76A30B38-AE1D-297E-7553-CA049636B28F}"/>
              </a:ext>
            </a:extLst>
          </p:cNvPr>
          <p:cNvPicPr>
            <a:picLocks noChangeAspect="1"/>
          </p:cNvPicPr>
          <p:nvPr userDrawn="1"/>
        </p:nvPicPr>
        <p:blipFill>
          <a:blip r:embed="rId3">
            <a:extLst>
              <a:ext uri="{28A0092B-C50C-407E-A947-70E740481C1C}">
                <a14:useLocalDpi xmlns:a14="http://schemas.microsoft.com/office/drawing/2010/main" val="0"/>
              </a:ext>
            </a:extLst>
          </a:blip>
          <a:srcRect r="77091" b="90219"/>
          <a:stretch>
            <a:fillRect/>
          </a:stretch>
        </p:blipFill>
        <p:spPr>
          <a:xfrm>
            <a:off x="9372600" y="-12489"/>
            <a:ext cx="2819400" cy="677108"/>
          </a:xfrm>
          <a:prstGeom prst="rect">
            <a:avLst/>
          </a:prstGeom>
        </p:spPr>
      </p:pic>
      <p:sp>
        <p:nvSpPr>
          <p:cNvPr id="3" name="Textplatzhalter 12">
            <a:extLst>
              <a:ext uri="{FF2B5EF4-FFF2-40B4-BE49-F238E27FC236}">
                <a16:creationId xmlns:a16="http://schemas.microsoft.com/office/drawing/2014/main" id="{8D507E73-2554-9966-5F18-D1B42E5F08C7}"/>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bg1"/>
                </a:solidFill>
              </a:defRPr>
            </a:lvl1pPr>
          </a:lstStyle>
          <a:p>
            <a:pPr lvl="0"/>
            <a:r>
              <a:rPr lang="de-DE" dirty="0"/>
              <a:t>Headline</a:t>
            </a:r>
          </a:p>
        </p:txBody>
      </p:sp>
      <p:sp>
        <p:nvSpPr>
          <p:cNvPr id="6" name="Textplatzhalter 12">
            <a:extLst>
              <a:ext uri="{FF2B5EF4-FFF2-40B4-BE49-F238E27FC236}">
                <a16:creationId xmlns:a16="http://schemas.microsoft.com/office/drawing/2014/main" id="{F2B1DAFD-E6F5-8EF3-0EA5-C4EF9674EE59}"/>
              </a:ext>
            </a:extLst>
          </p:cNvPr>
          <p:cNvSpPr>
            <a:spLocks noGrp="1"/>
          </p:cNvSpPr>
          <p:nvPr>
            <p:ph type="body" sz="quarter" idx="11" hasCustomPrompt="1"/>
          </p:nvPr>
        </p:nvSpPr>
        <p:spPr>
          <a:xfrm>
            <a:off x="855406" y="2047710"/>
            <a:ext cx="9038304" cy="3895889"/>
          </a:xfrm>
        </p:spPr>
        <p:txBody>
          <a:bodyPr>
            <a:noAutofit/>
          </a:bodyPr>
          <a:lstStyle>
            <a:lvl1pPr algn="l">
              <a:defRPr sz="1800">
                <a:solidFill>
                  <a:schemeClr val="bg1"/>
                </a:solidFill>
              </a:defRPr>
            </a:lvl1pPr>
          </a:lstStyle>
          <a:p>
            <a:pPr lvl="0"/>
            <a:r>
              <a:rPr lang="de-DE" dirty="0"/>
              <a:t>Text</a:t>
            </a:r>
          </a:p>
        </p:txBody>
      </p:sp>
    </p:spTree>
    <p:extLst>
      <p:ext uri="{BB962C8B-B14F-4D97-AF65-F5344CB8AC3E}">
        <p14:creationId xmlns:p14="http://schemas.microsoft.com/office/powerpoint/2010/main" val="698177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BI_Bild">
    <p:spTree>
      <p:nvGrpSpPr>
        <p:cNvPr id="1" name=""/>
        <p:cNvGrpSpPr/>
        <p:nvPr/>
      </p:nvGrpSpPr>
      <p:grpSpPr>
        <a:xfrm>
          <a:off x="0" y="0"/>
          <a:ext cx="0" cy="0"/>
          <a:chOff x="0" y="0"/>
          <a:chExt cx="0" cy="0"/>
        </a:xfrm>
      </p:grpSpPr>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3" name="Rechteck 2">
            <a:extLst>
              <a:ext uri="{FF2B5EF4-FFF2-40B4-BE49-F238E27FC236}">
                <a16:creationId xmlns:a16="http://schemas.microsoft.com/office/drawing/2014/main" id="{5B96BF63-47EB-03EC-158E-C6DFA9F0F0DE}"/>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Screenshot, Text, Software, Betriebssystem enthält.&#10;&#10;KI-generierte Inhalte können fehlerhaft sein.">
            <a:extLst>
              <a:ext uri="{FF2B5EF4-FFF2-40B4-BE49-F238E27FC236}">
                <a16:creationId xmlns:a16="http://schemas.microsoft.com/office/drawing/2014/main" id="{C9D1AD3A-0877-3087-9154-FF0D2A79B449}"/>
              </a:ext>
            </a:extLst>
          </p:cNvPr>
          <p:cNvPicPr>
            <a:picLocks noChangeAspect="1"/>
          </p:cNvPicPr>
          <p:nvPr userDrawn="1"/>
        </p:nvPicPr>
        <p:blipFill>
          <a:blip r:embed="rId2">
            <a:extLst>
              <a:ext uri="{28A0092B-C50C-407E-A947-70E740481C1C}">
                <a14:useLocalDpi xmlns:a14="http://schemas.microsoft.com/office/drawing/2010/main" val="0"/>
              </a:ext>
            </a:extLst>
          </a:blip>
          <a:srcRect r="77091" b="90219"/>
          <a:stretch>
            <a:fillRect/>
          </a:stretch>
        </p:blipFill>
        <p:spPr>
          <a:xfrm>
            <a:off x="9372600" y="-12489"/>
            <a:ext cx="2819400" cy="677108"/>
          </a:xfrm>
          <a:prstGeom prst="rect">
            <a:avLst/>
          </a:prstGeom>
        </p:spPr>
      </p:pic>
      <p:sp>
        <p:nvSpPr>
          <p:cNvPr id="2" name="Textplatzhalter 12">
            <a:extLst>
              <a:ext uri="{FF2B5EF4-FFF2-40B4-BE49-F238E27FC236}">
                <a16:creationId xmlns:a16="http://schemas.microsoft.com/office/drawing/2014/main" id="{C9CA9EF5-268D-C624-9FF8-5FE2EA42AE43}"/>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accent1"/>
                </a:solidFill>
              </a:defRPr>
            </a:lvl1pPr>
          </a:lstStyle>
          <a:p>
            <a:pPr lvl="0"/>
            <a:r>
              <a:rPr lang="de-DE" dirty="0"/>
              <a:t>Headline</a:t>
            </a:r>
          </a:p>
        </p:txBody>
      </p:sp>
    </p:spTree>
    <p:extLst>
      <p:ext uri="{BB962C8B-B14F-4D97-AF65-F5344CB8AC3E}">
        <p14:creationId xmlns:p14="http://schemas.microsoft.com/office/powerpoint/2010/main" val="2547754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Bi_Kleve_Wesel_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ChangeAspect="1"/>
          </p:cNvPicPr>
          <p:nvPr userDrawn="1"/>
        </p:nvPicPr>
        <p:blipFill>
          <a:blip r:embed="rId2"/>
          <a:stretch>
            <a:fillRect/>
          </a:stretch>
        </p:blipFill>
        <p:spPr>
          <a:xfrm>
            <a:off x="3700064" y="719093"/>
            <a:ext cx="4791871" cy="5419814"/>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969379B-8033-C4C5-8C1D-ADAC0BAA7BA6}"/>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descr="Ein Bild, das Screenshot, Text, Software, Betriebssystem enthält.&#10;&#10;KI-generierte Inhalte können fehlerhaft sein.">
            <a:extLst>
              <a:ext uri="{FF2B5EF4-FFF2-40B4-BE49-F238E27FC236}">
                <a16:creationId xmlns:a16="http://schemas.microsoft.com/office/drawing/2014/main" id="{68C35C11-CF50-3790-418D-179093554CD5}"/>
              </a:ext>
            </a:extLst>
          </p:cNvPr>
          <p:cNvPicPr>
            <a:picLocks noChangeAspect="1"/>
          </p:cNvPicPr>
          <p:nvPr userDrawn="1"/>
        </p:nvPicPr>
        <p:blipFill>
          <a:blip r:embed="rId3">
            <a:extLst>
              <a:ext uri="{28A0092B-C50C-407E-A947-70E740481C1C}">
                <a14:useLocalDpi xmlns:a14="http://schemas.microsoft.com/office/drawing/2010/main" val="0"/>
              </a:ext>
            </a:extLst>
          </a:blip>
          <a:srcRect r="45514" b="90219"/>
          <a:stretch>
            <a:fillRect/>
          </a:stretch>
        </p:blipFill>
        <p:spPr>
          <a:xfrm>
            <a:off x="5486400" y="-12489"/>
            <a:ext cx="6705600" cy="677108"/>
          </a:xfrm>
          <a:prstGeom prst="rect">
            <a:avLst/>
          </a:prstGeom>
        </p:spPr>
      </p:pic>
    </p:spTree>
    <p:extLst>
      <p:ext uri="{BB962C8B-B14F-4D97-AF65-F5344CB8AC3E}">
        <p14:creationId xmlns:p14="http://schemas.microsoft.com/office/powerpoint/2010/main" val="308261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BI_Kleve_Wesel_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sp>
        <p:nvSpPr>
          <p:cNvPr id="2" name="Foliennummer">
            <a:extLst>
              <a:ext uri="{FF2B5EF4-FFF2-40B4-BE49-F238E27FC236}">
                <a16:creationId xmlns:a16="http://schemas.microsoft.com/office/drawing/2014/main" id="{E6BDE9D2-F032-EC10-4EC7-0A2593769016}"/>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7CE065F-5084-7405-317F-0D7F24BA6C25}"/>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2" descr="Ein Bild, das Screenshot, Text, Software, Betriebssystem enthält.&#10;&#10;KI-generierte Inhalte können fehlerhaft sein.">
            <a:extLst>
              <a:ext uri="{FF2B5EF4-FFF2-40B4-BE49-F238E27FC236}">
                <a16:creationId xmlns:a16="http://schemas.microsoft.com/office/drawing/2014/main" id="{B35E5E6D-4032-7B0C-C73D-269F91DCB9FF}"/>
              </a:ext>
            </a:extLst>
          </p:cNvPr>
          <p:cNvPicPr>
            <a:picLocks noChangeAspect="1"/>
          </p:cNvPicPr>
          <p:nvPr userDrawn="1"/>
        </p:nvPicPr>
        <p:blipFill>
          <a:blip r:embed="rId3">
            <a:extLst>
              <a:ext uri="{28A0092B-C50C-407E-A947-70E740481C1C}">
                <a14:useLocalDpi xmlns:a14="http://schemas.microsoft.com/office/drawing/2010/main" val="0"/>
              </a:ext>
            </a:extLst>
          </a:blip>
          <a:srcRect r="45514" b="90219"/>
          <a:stretch>
            <a:fillRect/>
          </a:stretch>
        </p:blipFill>
        <p:spPr>
          <a:xfrm>
            <a:off x="5486400" y="-12489"/>
            <a:ext cx="6705600" cy="677108"/>
          </a:xfrm>
          <a:prstGeom prst="rect">
            <a:avLst/>
          </a:prstGeom>
        </p:spPr>
      </p:pic>
      <p:sp>
        <p:nvSpPr>
          <p:cNvPr id="6" name="Textplatzhalter 12">
            <a:extLst>
              <a:ext uri="{FF2B5EF4-FFF2-40B4-BE49-F238E27FC236}">
                <a16:creationId xmlns:a16="http://schemas.microsoft.com/office/drawing/2014/main" id="{4A6487C4-1467-1325-5EE8-1B6ED7498F1E}"/>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bg1"/>
                </a:solidFill>
              </a:defRPr>
            </a:lvl1pPr>
          </a:lstStyle>
          <a:p>
            <a:pPr lvl="0"/>
            <a:r>
              <a:rPr lang="de-DE" dirty="0"/>
              <a:t>Headline</a:t>
            </a:r>
          </a:p>
        </p:txBody>
      </p:sp>
      <p:sp>
        <p:nvSpPr>
          <p:cNvPr id="7" name="Textplatzhalter 12">
            <a:extLst>
              <a:ext uri="{FF2B5EF4-FFF2-40B4-BE49-F238E27FC236}">
                <a16:creationId xmlns:a16="http://schemas.microsoft.com/office/drawing/2014/main" id="{D604B747-810E-C7E6-7EF4-5E96D49BEA2F}"/>
              </a:ext>
            </a:extLst>
          </p:cNvPr>
          <p:cNvSpPr>
            <a:spLocks noGrp="1"/>
          </p:cNvSpPr>
          <p:nvPr>
            <p:ph type="body" sz="quarter" idx="11" hasCustomPrompt="1"/>
          </p:nvPr>
        </p:nvSpPr>
        <p:spPr>
          <a:xfrm>
            <a:off x="855406" y="2047710"/>
            <a:ext cx="9038304" cy="3895889"/>
          </a:xfrm>
        </p:spPr>
        <p:txBody>
          <a:bodyPr>
            <a:noAutofit/>
          </a:bodyPr>
          <a:lstStyle>
            <a:lvl1pPr algn="l">
              <a:defRPr sz="1800">
                <a:solidFill>
                  <a:schemeClr val="bg1"/>
                </a:solidFill>
              </a:defRPr>
            </a:lvl1pPr>
          </a:lstStyle>
          <a:p>
            <a:pPr lvl="0"/>
            <a:r>
              <a:rPr lang="de-DE" dirty="0"/>
              <a:t>Text</a:t>
            </a:r>
          </a:p>
        </p:txBody>
      </p:sp>
    </p:spTree>
    <p:extLst>
      <p:ext uri="{BB962C8B-B14F-4D97-AF65-F5344CB8AC3E}">
        <p14:creationId xmlns:p14="http://schemas.microsoft.com/office/powerpoint/2010/main" val="2532827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BI_Kleve_Wesel_Bild">
    <p:spTree>
      <p:nvGrpSpPr>
        <p:cNvPr id="1" name=""/>
        <p:cNvGrpSpPr/>
        <p:nvPr/>
      </p:nvGrpSpPr>
      <p:grpSpPr>
        <a:xfrm>
          <a:off x="0" y="0"/>
          <a:ext cx="0" cy="0"/>
          <a:chOff x="0" y="0"/>
          <a:chExt cx="0" cy="0"/>
        </a:xfrm>
      </p:grpSpPr>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3" name="Rechteck 2">
            <a:extLst>
              <a:ext uri="{FF2B5EF4-FFF2-40B4-BE49-F238E27FC236}">
                <a16:creationId xmlns:a16="http://schemas.microsoft.com/office/drawing/2014/main" id="{5B96BF63-47EB-03EC-158E-C6DFA9F0F0DE}"/>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 name="Grafik 1" descr="Ein Bild, das Screenshot, Text, Software, Betriebssystem enthält.&#10;&#10;KI-generierte Inhalte können fehlerhaft sein.">
            <a:extLst>
              <a:ext uri="{FF2B5EF4-FFF2-40B4-BE49-F238E27FC236}">
                <a16:creationId xmlns:a16="http://schemas.microsoft.com/office/drawing/2014/main" id="{6D5F2E56-CAB6-4FC2-A553-55BB9B95067B}"/>
              </a:ext>
            </a:extLst>
          </p:cNvPr>
          <p:cNvPicPr>
            <a:picLocks noChangeAspect="1"/>
          </p:cNvPicPr>
          <p:nvPr userDrawn="1"/>
        </p:nvPicPr>
        <p:blipFill>
          <a:blip r:embed="rId2">
            <a:extLst>
              <a:ext uri="{28A0092B-C50C-407E-A947-70E740481C1C}">
                <a14:useLocalDpi xmlns:a14="http://schemas.microsoft.com/office/drawing/2010/main" val="0"/>
              </a:ext>
            </a:extLst>
          </a:blip>
          <a:srcRect r="45514" b="90219"/>
          <a:stretch>
            <a:fillRect/>
          </a:stretch>
        </p:blipFill>
        <p:spPr>
          <a:xfrm>
            <a:off x="5486400" y="-12489"/>
            <a:ext cx="6705600" cy="677108"/>
          </a:xfrm>
          <a:prstGeom prst="rect">
            <a:avLst/>
          </a:prstGeom>
        </p:spPr>
      </p:pic>
      <p:sp>
        <p:nvSpPr>
          <p:cNvPr id="5" name="Textplatzhalter 12">
            <a:extLst>
              <a:ext uri="{FF2B5EF4-FFF2-40B4-BE49-F238E27FC236}">
                <a16:creationId xmlns:a16="http://schemas.microsoft.com/office/drawing/2014/main" id="{3D3F1ECB-FF9D-5B9B-F809-55FCE436325B}"/>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accent1"/>
                </a:solidFill>
              </a:defRPr>
            </a:lvl1pPr>
          </a:lstStyle>
          <a:p>
            <a:pPr lvl="0"/>
            <a:r>
              <a:rPr lang="de-DE" dirty="0"/>
              <a:t>Headline</a:t>
            </a:r>
          </a:p>
        </p:txBody>
      </p:sp>
    </p:spTree>
    <p:extLst>
      <p:ext uri="{BB962C8B-B14F-4D97-AF65-F5344CB8AC3E}">
        <p14:creationId xmlns:p14="http://schemas.microsoft.com/office/powerpoint/2010/main" val="41830090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UDE_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ChangeAspect="1"/>
          </p:cNvPicPr>
          <p:nvPr userDrawn="1"/>
        </p:nvPicPr>
        <p:blipFill>
          <a:blip r:embed="rId2"/>
          <a:stretch>
            <a:fillRect/>
          </a:stretch>
        </p:blipFill>
        <p:spPr>
          <a:xfrm>
            <a:off x="3700064" y="719093"/>
            <a:ext cx="4791871" cy="5419814"/>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969379B-8033-C4C5-8C1D-ADAC0BAA7BA6}"/>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logo_claim_vorschau_png.png">
            <a:extLst>
              <a:ext uri="{FF2B5EF4-FFF2-40B4-BE49-F238E27FC236}">
                <a16:creationId xmlns:a16="http://schemas.microsoft.com/office/drawing/2014/main" id="{E1FDB0BD-636A-16F1-6294-DFB5F77C500C}"/>
              </a:ext>
            </a:extLst>
          </p:cNvPr>
          <p:cNvPicPr/>
          <p:nvPr userDrawn="1"/>
        </p:nvPicPr>
        <p:blipFill>
          <a:blip r:embed="rId3" cstate="screen">
            <a:extLst>
              <a:ext uri="{28A0092B-C50C-407E-A947-70E740481C1C}">
                <a14:useLocalDpi xmlns:a14="http://schemas.microsoft.com/office/drawing/2010/main"/>
              </a:ext>
            </a:extLst>
          </a:blip>
          <a:stretch>
            <a:fillRect/>
          </a:stretch>
        </p:blipFill>
        <p:spPr>
          <a:xfrm>
            <a:off x="10392000" y="0"/>
            <a:ext cx="1800000" cy="692696"/>
          </a:xfrm>
          <a:prstGeom prst="rect">
            <a:avLst/>
          </a:prstGeom>
          <a:ln w="3175">
            <a:miter lim="400000"/>
          </a:ln>
        </p:spPr>
      </p:pic>
    </p:spTree>
    <p:extLst>
      <p:ext uri="{BB962C8B-B14F-4D97-AF65-F5344CB8AC3E}">
        <p14:creationId xmlns:p14="http://schemas.microsoft.com/office/powerpoint/2010/main" val="2329204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UDE_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sp>
        <p:nvSpPr>
          <p:cNvPr id="2" name="Foliennummer">
            <a:extLst>
              <a:ext uri="{FF2B5EF4-FFF2-40B4-BE49-F238E27FC236}">
                <a16:creationId xmlns:a16="http://schemas.microsoft.com/office/drawing/2014/main" id="{E6BDE9D2-F032-EC10-4EC7-0A2593769016}"/>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7CE065F-5084-7405-317F-0D7F24BA6C25}"/>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logo_claim_vorschau_png.png">
            <a:extLst>
              <a:ext uri="{FF2B5EF4-FFF2-40B4-BE49-F238E27FC236}">
                <a16:creationId xmlns:a16="http://schemas.microsoft.com/office/drawing/2014/main" id="{D83FF166-373C-D6F3-291E-A9C70F1F6A09}"/>
              </a:ext>
            </a:extLst>
          </p:cNvPr>
          <p:cNvPicPr/>
          <p:nvPr userDrawn="1"/>
        </p:nvPicPr>
        <p:blipFill>
          <a:blip r:embed="rId3" cstate="screen">
            <a:extLst>
              <a:ext uri="{28A0092B-C50C-407E-A947-70E740481C1C}">
                <a14:useLocalDpi xmlns:a14="http://schemas.microsoft.com/office/drawing/2010/main"/>
              </a:ext>
            </a:extLst>
          </a:blip>
          <a:stretch>
            <a:fillRect/>
          </a:stretch>
        </p:blipFill>
        <p:spPr>
          <a:xfrm>
            <a:off x="10392000" y="0"/>
            <a:ext cx="1800000" cy="692696"/>
          </a:xfrm>
          <a:prstGeom prst="rect">
            <a:avLst/>
          </a:prstGeom>
          <a:ln w="3175">
            <a:miter lim="400000"/>
          </a:ln>
        </p:spPr>
      </p:pic>
      <p:sp>
        <p:nvSpPr>
          <p:cNvPr id="7" name="Textplatzhalter 12">
            <a:extLst>
              <a:ext uri="{FF2B5EF4-FFF2-40B4-BE49-F238E27FC236}">
                <a16:creationId xmlns:a16="http://schemas.microsoft.com/office/drawing/2014/main" id="{2DCF2CA3-9B31-1F84-D423-994006DF13A1}"/>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bg1"/>
                </a:solidFill>
              </a:defRPr>
            </a:lvl1pPr>
          </a:lstStyle>
          <a:p>
            <a:pPr lvl="0"/>
            <a:r>
              <a:rPr lang="de-DE" dirty="0"/>
              <a:t>Headline</a:t>
            </a:r>
          </a:p>
        </p:txBody>
      </p:sp>
      <p:sp>
        <p:nvSpPr>
          <p:cNvPr id="9" name="Textplatzhalter 12">
            <a:extLst>
              <a:ext uri="{FF2B5EF4-FFF2-40B4-BE49-F238E27FC236}">
                <a16:creationId xmlns:a16="http://schemas.microsoft.com/office/drawing/2014/main" id="{A29E7F47-EBAB-DBDF-D9E1-F9E93A95D238}"/>
              </a:ext>
            </a:extLst>
          </p:cNvPr>
          <p:cNvSpPr>
            <a:spLocks noGrp="1"/>
          </p:cNvSpPr>
          <p:nvPr>
            <p:ph type="body" sz="quarter" idx="11" hasCustomPrompt="1"/>
          </p:nvPr>
        </p:nvSpPr>
        <p:spPr>
          <a:xfrm>
            <a:off x="855406" y="2047710"/>
            <a:ext cx="9038304" cy="3895889"/>
          </a:xfrm>
        </p:spPr>
        <p:txBody>
          <a:bodyPr>
            <a:noAutofit/>
          </a:bodyPr>
          <a:lstStyle>
            <a:lvl1pPr algn="l">
              <a:defRPr sz="1800">
                <a:solidFill>
                  <a:schemeClr val="bg1"/>
                </a:solidFill>
              </a:defRPr>
            </a:lvl1pPr>
          </a:lstStyle>
          <a:p>
            <a:pPr lvl="0"/>
            <a:r>
              <a:rPr lang="de-DE" dirty="0"/>
              <a:t>Text</a:t>
            </a:r>
          </a:p>
        </p:txBody>
      </p:sp>
    </p:spTree>
    <p:extLst>
      <p:ext uri="{BB962C8B-B14F-4D97-AF65-F5344CB8AC3E}">
        <p14:creationId xmlns:p14="http://schemas.microsoft.com/office/powerpoint/2010/main" val="28847625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UDE_Bild">
    <p:spTree>
      <p:nvGrpSpPr>
        <p:cNvPr id="1" name=""/>
        <p:cNvGrpSpPr/>
        <p:nvPr/>
      </p:nvGrpSpPr>
      <p:grpSpPr>
        <a:xfrm>
          <a:off x="0" y="0"/>
          <a:ext cx="0" cy="0"/>
          <a:chOff x="0" y="0"/>
          <a:chExt cx="0" cy="0"/>
        </a:xfrm>
      </p:grpSpPr>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3" name="Rechteck 2">
            <a:extLst>
              <a:ext uri="{FF2B5EF4-FFF2-40B4-BE49-F238E27FC236}">
                <a16:creationId xmlns:a16="http://schemas.microsoft.com/office/drawing/2014/main" id="{5B96BF63-47EB-03EC-158E-C6DFA9F0F0DE}"/>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logo_claim_vorschau_png.png">
            <a:extLst>
              <a:ext uri="{FF2B5EF4-FFF2-40B4-BE49-F238E27FC236}">
                <a16:creationId xmlns:a16="http://schemas.microsoft.com/office/drawing/2014/main" id="{DEF69894-E344-AEBC-7DFF-8CB7296C7CD7}"/>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a:off x="10392000" y="0"/>
            <a:ext cx="1800000" cy="692696"/>
          </a:xfrm>
          <a:prstGeom prst="rect">
            <a:avLst/>
          </a:prstGeom>
          <a:ln w="3175">
            <a:miter lim="400000"/>
          </a:ln>
        </p:spPr>
      </p:pic>
      <p:sp>
        <p:nvSpPr>
          <p:cNvPr id="7" name="Textplatzhalter 12">
            <a:extLst>
              <a:ext uri="{FF2B5EF4-FFF2-40B4-BE49-F238E27FC236}">
                <a16:creationId xmlns:a16="http://schemas.microsoft.com/office/drawing/2014/main" id="{5F67D8BB-A92A-82AD-BDC1-416166DAA7E6}"/>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accent1"/>
                </a:solidFill>
              </a:defRPr>
            </a:lvl1pPr>
          </a:lstStyle>
          <a:p>
            <a:pPr lvl="0"/>
            <a:r>
              <a:rPr lang="de-DE" dirty="0"/>
              <a:t>Headline</a:t>
            </a:r>
          </a:p>
        </p:txBody>
      </p:sp>
    </p:spTree>
    <p:extLst>
      <p:ext uri="{BB962C8B-B14F-4D97-AF65-F5344CB8AC3E}">
        <p14:creationId xmlns:p14="http://schemas.microsoft.com/office/powerpoint/2010/main" val="6062125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SRW_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ChangeAspect="1"/>
          </p:cNvPicPr>
          <p:nvPr userDrawn="1"/>
        </p:nvPicPr>
        <p:blipFill>
          <a:blip r:embed="rId2"/>
          <a:stretch>
            <a:fillRect/>
          </a:stretch>
        </p:blipFill>
        <p:spPr>
          <a:xfrm>
            <a:off x="3700064" y="719093"/>
            <a:ext cx="4791871" cy="5419814"/>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969379B-8033-C4C5-8C1D-ADAC0BAA7BA6}"/>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Screenshot, Text, Software, Betriebssystem enthält.&#10;&#10;KI-generierte Inhalte können fehlerhaft sein.">
            <a:extLst>
              <a:ext uri="{FF2B5EF4-FFF2-40B4-BE49-F238E27FC236}">
                <a16:creationId xmlns:a16="http://schemas.microsoft.com/office/drawing/2014/main" id="{D4A46FE5-6327-8A8F-3BC4-FC1116BFAC91}"/>
              </a:ext>
            </a:extLst>
          </p:cNvPr>
          <p:cNvPicPr>
            <a:picLocks noChangeAspect="1"/>
          </p:cNvPicPr>
          <p:nvPr userDrawn="1"/>
        </p:nvPicPr>
        <p:blipFill>
          <a:blip r:embed="rId3">
            <a:extLst>
              <a:ext uri="{28A0092B-C50C-407E-A947-70E740481C1C}">
                <a14:useLocalDpi xmlns:a14="http://schemas.microsoft.com/office/drawing/2010/main" val="0"/>
              </a:ext>
            </a:extLst>
          </a:blip>
          <a:srcRect l="65574" r="16413" b="90208"/>
          <a:stretch>
            <a:fillRect/>
          </a:stretch>
        </p:blipFill>
        <p:spPr>
          <a:xfrm>
            <a:off x="9975112" y="-12489"/>
            <a:ext cx="2216888" cy="677862"/>
          </a:xfrm>
          <a:prstGeom prst="rect">
            <a:avLst/>
          </a:prstGeom>
        </p:spPr>
      </p:pic>
    </p:spTree>
    <p:extLst>
      <p:ext uri="{BB962C8B-B14F-4D97-AF65-F5344CB8AC3E}">
        <p14:creationId xmlns:p14="http://schemas.microsoft.com/office/powerpoint/2010/main" val="36789463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SRW_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sp>
        <p:nvSpPr>
          <p:cNvPr id="2" name="Foliennummer">
            <a:extLst>
              <a:ext uri="{FF2B5EF4-FFF2-40B4-BE49-F238E27FC236}">
                <a16:creationId xmlns:a16="http://schemas.microsoft.com/office/drawing/2014/main" id="{E6BDE9D2-F032-EC10-4EC7-0A2593769016}"/>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7CE065F-5084-7405-317F-0D7F24BA6C25}"/>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2" descr="Ein Bild, das Screenshot, Text, Software, Betriebssystem enthält.&#10;&#10;KI-generierte Inhalte können fehlerhaft sein.">
            <a:extLst>
              <a:ext uri="{FF2B5EF4-FFF2-40B4-BE49-F238E27FC236}">
                <a16:creationId xmlns:a16="http://schemas.microsoft.com/office/drawing/2014/main" id="{C6EF630A-1EAC-4F00-91C5-1AE1ACAFAA1A}"/>
              </a:ext>
            </a:extLst>
          </p:cNvPr>
          <p:cNvPicPr>
            <a:picLocks noChangeAspect="1"/>
          </p:cNvPicPr>
          <p:nvPr userDrawn="1"/>
        </p:nvPicPr>
        <p:blipFill>
          <a:blip r:embed="rId3">
            <a:extLst>
              <a:ext uri="{28A0092B-C50C-407E-A947-70E740481C1C}">
                <a14:useLocalDpi xmlns:a14="http://schemas.microsoft.com/office/drawing/2010/main" val="0"/>
              </a:ext>
            </a:extLst>
          </a:blip>
          <a:srcRect l="65574" r="16413" b="90208"/>
          <a:stretch>
            <a:fillRect/>
          </a:stretch>
        </p:blipFill>
        <p:spPr>
          <a:xfrm>
            <a:off x="9975112" y="-12489"/>
            <a:ext cx="2216888" cy="677862"/>
          </a:xfrm>
          <a:prstGeom prst="rect">
            <a:avLst/>
          </a:prstGeom>
        </p:spPr>
      </p:pic>
      <p:sp>
        <p:nvSpPr>
          <p:cNvPr id="5" name="Textplatzhalter 12">
            <a:extLst>
              <a:ext uri="{FF2B5EF4-FFF2-40B4-BE49-F238E27FC236}">
                <a16:creationId xmlns:a16="http://schemas.microsoft.com/office/drawing/2014/main" id="{AA0B4866-9CF9-4ED7-CDC4-D99431B19231}"/>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bg1"/>
                </a:solidFill>
              </a:defRPr>
            </a:lvl1pPr>
          </a:lstStyle>
          <a:p>
            <a:pPr lvl="0"/>
            <a:r>
              <a:rPr lang="de-DE" dirty="0"/>
              <a:t>Headline</a:t>
            </a:r>
          </a:p>
        </p:txBody>
      </p:sp>
      <p:sp>
        <p:nvSpPr>
          <p:cNvPr id="7" name="Textplatzhalter 12">
            <a:extLst>
              <a:ext uri="{FF2B5EF4-FFF2-40B4-BE49-F238E27FC236}">
                <a16:creationId xmlns:a16="http://schemas.microsoft.com/office/drawing/2014/main" id="{EE38E761-A36E-7594-B560-D57397A0D7FE}"/>
              </a:ext>
            </a:extLst>
          </p:cNvPr>
          <p:cNvSpPr>
            <a:spLocks noGrp="1"/>
          </p:cNvSpPr>
          <p:nvPr>
            <p:ph type="body" sz="quarter" idx="11" hasCustomPrompt="1"/>
          </p:nvPr>
        </p:nvSpPr>
        <p:spPr>
          <a:xfrm>
            <a:off x="855406" y="2047710"/>
            <a:ext cx="9038304" cy="3895889"/>
          </a:xfrm>
        </p:spPr>
        <p:txBody>
          <a:bodyPr>
            <a:noAutofit/>
          </a:bodyPr>
          <a:lstStyle>
            <a:lvl1pPr algn="l">
              <a:defRPr sz="1800">
                <a:solidFill>
                  <a:schemeClr val="bg1"/>
                </a:solidFill>
              </a:defRPr>
            </a:lvl1pPr>
          </a:lstStyle>
          <a:p>
            <a:pPr lvl="0"/>
            <a:r>
              <a:rPr lang="de-DE" dirty="0"/>
              <a:t>Text</a:t>
            </a:r>
          </a:p>
        </p:txBody>
      </p:sp>
    </p:spTree>
    <p:extLst>
      <p:ext uri="{BB962C8B-B14F-4D97-AF65-F5344CB8AC3E}">
        <p14:creationId xmlns:p14="http://schemas.microsoft.com/office/powerpoint/2010/main" val="2131313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SRW_Bild">
    <p:spTree>
      <p:nvGrpSpPr>
        <p:cNvPr id="1" name=""/>
        <p:cNvGrpSpPr/>
        <p:nvPr/>
      </p:nvGrpSpPr>
      <p:grpSpPr>
        <a:xfrm>
          <a:off x="0" y="0"/>
          <a:ext cx="0" cy="0"/>
          <a:chOff x="0" y="0"/>
          <a:chExt cx="0" cy="0"/>
        </a:xfrm>
      </p:grpSpPr>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3" name="Rechteck 2">
            <a:extLst>
              <a:ext uri="{FF2B5EF4-FFF2-40B4-BE49-F238E27FC236}">
                <a16:creationId xmlns:a16="http://schemas.microsoft.com/office/drawing/2014/main" id="{5B96BF63-47EB-03EC-158E-C6DFA9F0F0DE}"/>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 name="Grafik 1" descr="Ein Bild, das Screenshot, Text, Software, Betriebssystem enthält.&#10;&#10;KI-generierte Inhalte können fehlerhaft sein.">
            <a:extLst>
              <a:ext uri="{FF2B5EF4-FFF2-40B4-BE49-F238E27FC236}">
                <a16:creationId xmlns:a16="http://schemas.microsoft.com/office/drawing/2014/main" id="{31FDEEC8-9420-0C31-D39A-7E33FA21185F}"/>
              </a:ext>
            </a:extLst>
          </p:cNvPr>
          <p:cNvPicPr>
            <a:picLocks noChangeAspect="1"/>
          </p:cNvPicPr>
          <p:nvPr userDrawn="1"/>
        </p:nvPicPr>
        <p:blipFill>
          <a:blip r:embed="rId2">
            <a:extLst>
              <a:ext uri="{28A0092B-C50C-407E-A947-70E740481C1C}">
                <a14:useLocalDpi xmlns:a14="http://schemas.microsoft.com/office/drawing/2010/main" val="0"/>
              </a:ext>
            </a:extLst>
          </a:blip>
          <a:srcRect l="65574" r="16413" b="90208"/>
          <a:stretch>
            <a:fillRect/>
          </a:stretch>
        </p:blipFill>
        <p:spPr>
          <a:xfrm>
            <a:off x="9975112" y="-12489"/>
            <a:ext cx="2216888" cy="677862"/>
          </a:xfrm>
          <a:prstGeom prst="rect">
            <a:avLst/>
          </a:prstGeom>
        </p:spPr>
      </p:pic>
      <p:sp>
        <p:nvSpPr>
          <p:cNvPr id="4" name="Textplatzhalter 12">
            <a:extLst>
              <a:ext uri="{FF2B5EF4-FFF2-40B4-BE49-F238E27FC236}">
                <a16:creationId xmlns:a16="http://schemas.microsoft.com/office/drawing/2014/main" id="{F331DDE3-EC64-B396-CC65-C0D73D52E023}"/>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accent1"/>
                </a:solidFill>
              </a:defRPr>
            </a:lvl1pPr>
          </a:lstStyle>
          <a:p>
            <a:pPr lvl="0"/>
            <a:r>
              <a:rPr lang="de-DE" dirty="0"/>
              <a:t>Headline</a:t>
            </a:r>
          </a:p>
        </p:txBody>
      </p:sp>
    </p:spTree>
    <p:extLst>
      <p:ext uri="{BB962C8B-B14F-4D97-AF65-F5344CB8AC3E}">
        <p14:creationId xmlns:p14="http://schemas.microsoft.com/office/powerpoint/2010/main" val="16366775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HAN_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ChangeAspect="1"/>
          </p:cNvPicPr>
          <p:nvPr userDrawn="1"/>
        </p:nvPicPr>
        <p:blipFill>
          <a:blip r:embed="rId2"/>
          <a:stretch>
            <a:fillRect/>
          </a:stretch>
        </p:blipFill>
        <p:spPr>
          <a:xfrm>
            <a:off x="3700064" y="719093"/>
            <a:ext cx="4791871" cy="5419814"/>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969379B-8033-C4C5-8C1D-ADAC0BAA7BA6}"/>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Screenshot, Text, Software, Betriebssystem enthält.&#10;&#10;KI-generierte Inhalte können fehlerhaft sein.">
            <a:extLst>
              <a:ext uri="{FF2B5EF4-FFF2-40B4-BE49-F238E27FC236}">
                <a16:creationId xmlns:a16="http://schemas.microsoft.com/office/drawing/2014/main" id="{D4A46FE5-6327-8A8F-3BC4-FC1116BFAC91}"/>
              </a:ext>
            </a:extLst>
          </p:cNvPr>
          <p:cNvPicPr>
            <a:picLocks noChangeAspect="1"/>
          </p:cNvPicPr>
          <p:nvPr userDrawn="1"/>
        </p:nvPicPr>
        <p:blipFill>
          <a:blip r:embed="rId3">
            <a:extLst>
              <a:ext uri="{28A0092B-C50C-407E-A947-70E740481C1C}">
                <a14:useLocalDpi xmlns:a14="http://schemas.microsoft.com/office/drawing/2010/main" val="0"/>
              </a:ext>
            </a:extLst>
          </a:blip>
          <a:srcRect l="51181" r="30806" b="90208"/>
          <a:stretch>
            <a:fillRect/>
          </a:stretch>
        </p:blipFill>
        <p:spPr>
          <a:xfrm>
            <a:off x="9975112" y="-12489"/>
            <a:ext cx="2216888" cy="677862"/>
          </a:xfrm>
          <a:prstGeom prst="rect">
            <a:avLst/>
          </a:prstGeom>
        </p:spPr>
      </p:pic>
    </p:spTree>
    <p:extLst>
      <p:ext uri="{BB962C8B-B14F-4D97-AF65-F5344CB8AC3E}">
        <p14:creationId xmlns:p14="http://schemas.microsoft.com/office/powerpoint/2010/main" val="36407867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AN_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sp>
        <p:nvSpPr>
          <p:cNvPr id="2" name="Foliennummer">
            <a:extLst>
              <a:ext uri="{FF2B5EF4-FFF2-40B4-BE49-F238E27FC236}">
                <a16:creationId xmlns:a16="http://schemas.microsoft.com/office/drawing/2014/main" id="{E6BDE9D2-F032-EC10-4EC7-0A2593769016}"/>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7CE065F-5084-7405-317F-0D7F24BA6C25}"/>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Screenshot, Text, Software, Betriebssystem enthält.&#10;&#10;KI-generierte Inhalte können fehlerhaft sein.">
            <a:extLst>
              <a:ext uri="{FF2B5EF4-FFF2-40B4-BE49-F238E27FC236}">
                <a16:creationId xmlns:a16="http://schemas.microsoft.com/office/drawing/2014/main" id="{619D5115-409A-6ED2-6556-F72412D279EC}"/>
              </a:ext>
            </a:extLst>
          </p:cNvPr>
          <p:cNvPicPr>
            <a:picLocks noChangeAspect="1"/>
          </p:cNvPicPr>
          <p:nvPr userDrawn="1"/>
        </p:nvPicPr>
        <p:blipFill>
          <a:blip r:embed="rId3">
            <a:extLst>
              <a:ext uri="{28A0092B-C50C-407E-A947-70E740481C1C}">
                <a14:useLocalDpi xmlns:a14="http://schemas.microsoft.com/office/drawing/2010/main" val="0"/>
              </a:ext>
            </a:extLst>
          </a:blip>
          <a:srcRect l="51181" r="30806" b="90208"/>
          <a:stretch>
            <a:fillRect/>
          </a:stretch>
        </p:blipFill>
        <p:spPr>
          <a:xfrm>
            <a:off x="9975112" y="-12489"/>
            <a:ext cx="2216888" cy="677862"/>
          </a:xfrm>
          <a:prstGeom prst="rect">
            <a:avLst/>
          </a:prstGeom>
        </p:spPr>
      </p:pic>
      <p:sp>
        <p:nvSpPr>
          <p:cNvPr id="6" name="Textplatzhalter 12">
            <a:extLst>
              <a:ext uri="{FF2B5EF4-FFF2-40B4-BE49-F238E27FC236}">
                <a16:creationId xmlns:a16="http://schemas.microsoft.com/office/drawing/2014/main" id="{5C4BA39F-0B27-C8D3-C439-E510D2B1D984}"/>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bg1"/>
                </a:solidFill>
              </a:defRPr>
            </a:lvl1pPr>
          </a:lstStyle>
          <a:p>
            <a:pPr lvl="0"/>
            <a:r>
              <a:rPr lang="de-DE" dirty="0"/>
              <a:t>Headline</a:t>
            </a:r>
          </a:p>
        </p:txBody>
      </p:sp>
      <p:sp>
        <p:nvSpPr>
          <p:cNvPr id="7" name="Textplatzhalter 12">
            <a:extLst>
              <a:ext uri="{FF2B5EF4-FFF2-40B4-BE49-F238E27FC236}">
                <a16:creationId xmlns:a16="http://schemas.microsoft.com/office/drawing/2014/main" id="{A5161A92-3246-82E5-EA8D-E99934AADFF5}"/>
              </a:ext>
            </a:extLst>
          </p:cNvPr>
          <p:cNvSpPr>
            <a:spLocks noGrp="1"/>
          </p:cNvSpPr>
          <p:nvPr>
            <p:ph type="body" sz="quarter" idx="11" hasCustomPrompt="1"/>
          </p:nvPr>
        </p:nvSpPr>
        <p:spPr>
          <a:xfrm>
            <a:off x="855406" y="2047710"/>
            <a:ext cx="9038304" cy="3895889"/>
          </a:xfrm>
        </p:spPr>
        <p:txBody>
          <a:bodyPr>
            <a:noAutofit/>
          </a:bodyPr>
          <a:lstStyle>
            <a:lvl1pPr algn="l">
              <a:defRPr sz="1800">
                <a:solidFill>
                  <a:schemeClr val="bg1"/>
                </a:solidFill>
              </a:defRPr>
            </a:lvl1pPr>
          </a:lstStyle>
          <a:p>
            <a:pPr lvl="0"/>
            <a:r>
              <a:rPr lang="de-DE" dirty="0"/>
              <a:t>Text</a:t>
            </a:r>
          </a:p>
        </p:txBody>
      </p:sp>
    </p:spTree>
    <p:extLst>
      <p:ext uri="{BB962C8B-B14F-4D97-AF65-F5344CB8AC3E}">
        <p14:creationId xmlns:p14="http://schemas.microsoft.com/office/powerpoint/2010/main" val="34823987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HAN_Bild">
    <p:spTree>
      <p:nvGrpSpPr>
        <p:cNvPr id="1" name=""/>
        <p:cNvGrpSpPr/>
        <p:nvPr/>
      </p:nvGrpSpPr>
      <p:grpSpPr>
        <a:xfrm>
          <a:off x="0" y="0"/>
          <a:ext cx="0" cy="0"/>
          <a:chOff x="0" y="0"/>
          <a:chExt cx="0" cy="0"/>
        </a:xfrm>
      </p:grpSpPr>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3" name="Rechteck 2">
            <a:extLst>
              <a:ext uri="{FF2B5EF4-FFF2-40B4-BE49-F238E27FC236}">
                <a16:creationId xmlns:a16="http://schemas.microsoft.com/office/drawing/2014/main" id="{5B96BF63-47EB-03EC-158E-C6DFA9F0F0DE}"/>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Screenshot, Text, Software, Betriebssystem enthält.&#10;&#10;KI-generierte Inhalte können fehlerhaft sein.">
            <a:extLst>
              <a:ext uri="{FF2B5EF4-FFF2-40B4-BE49-F238E27FC236}">
                <a16:creationId xmlns:a16="http://schemas.microsoft.com/office/drawing/2014/main" id="{8BBEBF3C-BF84-7E8C-68F1-7768628A2405}"/>
              </a:ext>
            </a:extLst>
          </p:cNvPr>
          <p:cNvPicPr>
            <a:picLocks noChangeAspect="1"/>
          </p:cNvPicPr>
          <p:nvPr userDrawn="1"/>
        </p:nvPicPr>
        <p:blipFill>
          <a:blip r:embed="rId2">
            <a:extLst>
              <a:ext uri="{28A0092B-C50C-407E-A947-70E740481C1C}">
                <a14:useLocalDpi xmlns:a14="http://schemas.microsoft.com/office/drawing/2010/main" val="0"/>
              </a:ext>
            </a:extLst>
          </a:blip>
          <a:srcRect l="51181" r="30806" b="90208"/>
          <a:stretch>
            <a:fillRect/>
          </a:stretch>
        </p:blipFill>
        <p:spPr>
          <a:xfrm>
            <a:off x="9975112" y="-12489"/>
            <a:ext cx="2216888" cy="677862"/>
          </a:xfrm>
          <a:prstGeom prst="rect">
            <a:avLst/>
          </a:prstGeom>
        </p:spPr>
      </p:pic>
      <p:sp>
        <p:nvSpPr>
          <p:cNvPr id="5" name="Textplatzhalter 12">
            <a:extLst>
              <a:ext uri="{FF2B5EF4-FFF2-40B4-BE49-F238E27FC236}">
                <a16:creationId xmlns:a16="http://schemas.microsoft.com/office/drawing/2014/main" id="{8EB30946-4AED-54CB-D38B-4439361B0C07}"/>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accent1"/>
                </a:solidFill>
              </a:defRPr>
            </a:lvl1pPr>
          </a:lstStyle>
          <a:p>
            <a:pPr lvl="0"/>
            <a:r>
              <a:rPr lang="de-DE" dirty="0"/>
              <a:t>Headline</a:t>
            </a:r>
          </a:p>
        </p:txBody>
      </p:sp>
    </p:spTree>
    <p:extLst>
      <p:ext uri="{BB962C8B-B14F-4D97-AF65-F5344CB8AC3E}">
        <p14:creationId xmlns:p14="http://schemas.microsoft.com/office/powerpoint/2010/main" val="33951336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S_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969379B-8033-C4C5-8C1D-ADAC0BAA7BA6}"/>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Screenshot, Text, Software, Betriebssystem enthält.&#10;&#10;KI-generierte Inhalte können fehlerhaft sein.">
            <a:extLst>
              <a:ext uri="{FF2B5EF4-FFF2-40B4-BE49-F238E27FC236}">
                <a16:creationId xmlns:a16="http://schemas.microsoft.com/office/drawing/2014/main" id="{D4A46FE5-6327-8A8F-3BC4-FC1116BFAC91}"/>
              </a:ext>
            </a:extLst>
          </p:cNvPr>
          <p:cNvPicPr>
            <a:picLocks noChangeAspect="1"/>
          </p:cNvPicPr>
          <p:nvPr userDrawn="1"/>
        </p:nvPicPr>
        <p:blipFill>
          <a:blip r:embed="rId3">
            <a:extLst>
              <a:ext uri="{28A0092B-C50C-407E-A947-70E740481C1C}">
                <a14:useLocalDpi xmlns:a14="http://schemas.microsoft.com/office/drawing/2010/main" val="0"/>
              </a:ext>
            </a:extLst>
          </a:blip>
          <a:srcRect l="51182" t="-1" r="4182" b="90028"/>
          <a:stretch>
            <a:fillRect/>
          </a:stretch>
        </p:blipFill>
        <p:spPr>
          <a:xfrm>
            <a:off x="6660981" y="-12490"/>
            <a:ext cx="5493488" cy="690351"/>
          </a:xfrm>
          <a:prstGeom prst="rect">
            <a:avLst/>
          </a:prstGeom>
        </p:spPr>
      </p:pic>
    </p:spTree>
    <p:extLst>
      <p:ext uri="{BB962C8B-B14F-4D97-AF65-F5344CB8AC3E}">
        <p14:creationId xmlns:p14="http://schemas.microsoft.com/office/powerpoint/2010/main" val="41175184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anks">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8FDDA4EA-B9B8-EE7B-C004-D565A5216F85}"/>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descr="Ein Bild, das Screenshot, Text, Software, Betriebssystem enthält.&#10;&#10;KI-generierte Inhalte können fehlerhaft sein.">
            <a:extLst>
              <a:ext uri="{FF2B5EF4-FFF2-40B4-BE49-F238E27FC236}">
                <a16:creationId xmlns:a16="http://schemas.microsoft.com/office/drawing/2014/main" id="{DB261F60-79C7-A249-1744-51B62E90B35C}"/>
              </a:ext>
            </a:extLst>
          </p:cNvPr>
          <p:cNvPicPr>
            <a:picLocks noChangeAspect="1"/>
          </p:cNvPicPr>
          <p:nvPr userDrawn="1"/>
        </p:nvPicPr>
        <p:blipFill>
          <a:blip r:embed="rId2">
            <a:extLst>
              <a:ext uri="{28A0092B-C50C-407E-A947-70E740481C1C}">
                <a14:useLocalDpi xmlns:a14="http://schemas.microsoft.com/office/drawing/2010/main" val="0"/>
              </a:ext>
            </a:extLst>
          </a:blip>
          <a:srcRect t="174" r="933" b="90034"/>
          <a:stretch>
            <a:fillRect/>
          </a:stretch>
        </p:blipFill>
        <p:spPr>
          <a:xfrm>
            <a:off x="0" y="0"/>
            <a:ext cx="12192001" cy="677862"/>
          </a:xfrm>
          <a:prstGeom prst="rect">
            <a:avLst/>
          </a:prstGeom>
        </p:spPr>
      </p:pic>
      <p:sp>
        <p:nvSpPr>
          <p:cNvPr id="2" name="Google Shape;104;p11">
            <a:extLst>
              <a:ext uri="{FF2B5EF4-FFF2-40B4-BE49-F238E27FC236}">
                <a16:creationId xmlns:a16="http://schemas.microsoft.com/office/drawing/2014/main" id="{F465557D-4C9B-B280-F35B-5EE1352DDF3E}"/>
              </a:ext>
            </a:extLst>
          </p:cNvPr>
          <p:cNvSpPr txBox="1"/>
          <p:nvPr userDrawn="1"/>
        </p:nvSpPr>
        <p:spPr>
          <a:xfrm>
            <a:off x="821598" y="4676304"/>
            <a:ext cx="3331451" cy="1107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a:spAutoFit/>
          </a:bodyPr>
          <a:lstStyle/>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Helen Dutzi</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Projektleitung</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Duisburg Business &amp; Innovation GmbH</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Tel.: +49 171 21 13 567</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Mail: </a:t>
            </a:r>
            <a:r>
              <a:rPr lang="de-DE" sz="1200" dirty="0" err="1">
                <a:latin typeface="Roboto" panose="02000000000000000000" pitchFamily="2" charset="0"/>
                <a:ea typeface="Roboto" panose="02000000000000000000" pitchFamily="2" charset="0"/>
                <a:cs typeface="Roboto" panose="02000000000000000000" pitchFamily="2" charset="0"/>
              </a:rPr>
              <a:t>dutzi@duisburg.business</a:t>
            </a:r>
            <a:endParaRPr sz="1200" dirty="0">
              <a:latin typeface="Roboto" panose="02000000000000000000" pitchFamily="2" charset="0"/>
              <a:ea typeface="Roboto" panose="02000000000000000000" pitchFamily="2" charset="0"/>
              <a:cs typeface="Roboto" panose="02000000000000000000" pitchFamily="2" charset="0"/>
            </a:endParaRPr>
          </a:p>
        </p:txBody>
      </p:sp>
      <p:sp>
        <p:nvSpPr>
          <p:cNvPr id="3" name="Google Shape;103;p11">
            <a:extLst>
              <a:ext uri="{FF2B5EF4-FFF2-40B4-BE49-F238E27FC236}">
                <a16:creationId xmlns:a16="http://schemas.microsoft.com/office/drawing/2014/main" id="{A6DD31AA-EA14-3C53-E8BA-47F184B071D2}"/>
              </a:ext>
            </a:extLst>
          </p:cNvPr>
          <p:cNvSpPr txBox="1"/>
          <p:nvPr userDrawn="1"/>
        </p:nvSpPr>
        <p:spPr>
          <a:xfrm>
            <a:off x="846999" y="1397599"/>
            <a:ext cx="4004401" cy="16251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lnSpc>
                <a:spcPct val="70000"/>
              </a:lnSpc>
              <a:defRPr sz="6500">
                <a:solidFill>
                  <a:srgbClr val="FFFFFF"/>
                </a:solidFill>
                <a:latin typeface="Open Sans Regular Bold"/>
                <a:ea typeface="Open Sans Regular Bold"/>
                <a:cs typeface="Open Sans Regular Bold"/>
                <a:sym typeface="Open Sans Regular Bold"/>
              </a:defRPr>
            </a:pPr>
            <a:r>
              <a:rPr lang="de-DE" dirty="0">
                <a:latin typeface="Roboto" panose="02000000000000000000" pitchFamily="2" charset="0"/>
                <a:ea typeface="Roboto" panose="02000000000000000000" pitchFamily="2" charset="0"/>
                <a:cs typeface="Roboto" panose="02000000000000000000" pitchFamily="2" charset="0"/>
              </a:rPr>
              <a:t>Vielen Dank</a:t>
            </a:r>
            <a:r>
              <a:rPr dirty="0">
                <a:latin typeface="Roboto" panose="02000000000000000000" pitchFamily="2" charset="0"/>
                <a:ea typeface="Roboto" panose="02000000000000000000" pitchFamily="2" charset="0"/>
                <a:cs typeface="Roboto" panose="02000000000000000000" pitchFamily="2" charset="0"/>
              </a:rPr>
              <a:t>!</a:t>
            </a:r>
          </a:p>
        </p:txBody>
      </p:sp>
      <p:sp>
        <p:nvSpPr>
          <p:cNvPr id="4" name="Google Shape;104;p11">
            <a:extLst>
              <a:ext uri="{FF2B5EF4-FFF2-40B4-BE49-F238E27FC236}">
                <a16:creationId xmlns:a16="http://schemas.microsoft.com/office/drawing/2014/main" id="{8E826662-C620-DD4A-B030-9DFE4A072686}"/>
              </a:ext>
            </a:extLst>
          </p:cNvPr>
          <p:cNvSpPr txBox="1"/>
          <p:nvPr userDrawn="1"/>
        </p:nvSpPr>
        <p:spPr>
          <a:xfrm>
            <a:off x="796198" y="4038600"/>
            <a:ext cx="4055202" cy="4308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a:spAutoFit/>
          </a:bodyPr>
          <a:lstStyle/>
          <a:p>
            <a:pPr>
              <a:defRPr sz="1600">
                <a:solidFill>
                  <a:srgbClr val="FFFFFF"/>
                </a:solidFill>
                <a:latin typeface="Roboto"/>
                <a:ea typeface="Roboto"/>
                <a:cs typeface="Roboto"/>
                <a:sym typeface="Roboto"/>
              </a:defRPr>
            </a:pPr>
            <a:r>
              <a:rPr lang="de-DE" dirty="0">
                <a:latin typeface="Roboto" panose="02000000000000000000" pitchFamily="2" charset="0"/>
                <a:ea typeface="Roboto" panose="02000000000000000000" pitchFamily="2" charset="0"/>
                <a:cs typeface="Roboto" panose="02000000000000000000" pitchFamily="2" charset="0"/>
              </a:rPr>
              <a:t>Fragen? Sprechen Sie uns an!</a:t>
            </a:r>
            <a:endParaRPr dirty="0">
              <a:latin typeface="Roboto" panose="02000000000000000000" pitchFamily="2" charset="0"/>
              <a:ea typeface="Roboto" panose="02000000000000000000" pitchFamily="2" charset="0"/>
              <a:cs typeface="Roboto" panose="02000000000000000000" pitchFamily="2" charset="0"/>
            </a:endParaRPr>
          </a:p>
        </p:txBody>
      </p:sp>
      <p:pic>
        <p:nvPicPr>
          <p:cNvPr id="5" name="Förderlogos EU Landesregierung_white.png" descr="Förderlogos EU Landesregierung_white.png">
            <a:extLst>
              <a:ext uri="{FF2B5EF4-FFF2-40B4-BE49-F238E27FC236}">
                <a16:creationId xmlns:a16="http://schemas.microsoft.com/office/drawing/2014/main" id="{98A65A3A-C8C9-0667-F1EC-1A29403A290C}"/>
              </a:ext>
            </a:extLst>
          </p:cNvPr>
          <p:cNvPicPr>
            <a:picLocks noChangeAspect="1"/>
          </p:cNvPicPr>
          <p:nvPr userDrawn="1"/>
        </p:nvPicPr>
        <p:blipFill>
          <a:blip r:embed="rId3"/>
          <a:stretch>
            <a:fillRect/>
          </a:stretch>
        </p:blipFill>
        <p:spPr>
          <a:xfrm>
            <a:off x="692072" y="6098941"/>
            <a:ext cx="4513493" cy="681421"/>
          </a:xfrm>
          <a:prstGeom prst="rect">
            <a:avLst/>
          </a:prstGeom>
          <a:ln w="12700">
            <a:miter lim="400000"/>
          </a:ln>
        </p:spPr>
      </p:pic>
      <p:pic>
        <p:nvPicPr>
          <p:cNvPr id="8" name="Grafik 7">
            <a:extLst>
              <a:ext uri="{FF2B5EF4-FFF2-40B4-BE49-F238E27FC236}">
                <a16:creationId xmlns:a16="http://schemas.microsoft.com/office/drawing/2014/main" id="{7BBA8F97-2053-1DBF-2BE4-43A7B3CCDEB7}"/>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3700064" y="719093"/>
            <a:ext cx="4791871" cy="5419814"/>
          </a:xfrm>
          <a:prstGeom prst="rect">
            <a:avLst/>
          </a:prstGeom>
        </p:spPr>
      </p:pic>
      <p:sp>
        <p:nvSpPr>
          <p:cNvPr id="11" name="Google Shape;104;p11">
            <a:extLst>
              <a:ext uri="{FF2B5EF4-FFF2-40B4-BE49-F238E27FC236}">
                <a16:creationId xmlns:a16="http://schemas.microsoft.com/office/drawing/2014/main" id="{E9284B26-9B0F-897B-F5A6-3970EEEA9516}"/>
              </a:ext>
            </a:extLst>
          </p:cNvPr>
          <p:cNvSpPr txBox="1"/>
          <p:nvPr userDrawn="1"/>
        </p:nvSpPr>
        <p:spPr>
          <a:xfrm>
            <a:off x="8305800" y="4675552"/>
            <a:ext cx="3331451" cy="1107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a:spAutoFit/>
          </a:bodyPr>
          <a:lstStyle/>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Julian Hüsken</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Projektmanagement</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Kreis Wesel </a:t>
            </a:r>
            <a:r>
              <a:rPr lang="de-DE" sz="1200" dirty="0" err="1">
                <a:latin typeface="Roboto" panose="02000000000000000000" pitchFamily="2" charset="0"/>
                <a:ea typeface="Roboto" panose="02000000000000000000" pitchFamily="2" charset="0"/>
                <a:cs typeface="Roboto" panose="02000000000000000000" pitchFamily="2" charset="0"/>
              </a:rPr>
              <a:t>EntwicklungsAgentur</a:t>
            </a:r>
            <a:r>
              <a:rPr lang="de-DE" sz="1200" dirty="0">
                <a:latin typeface="Roboto" panose="02000000000000000000" pitchFamily="2" charset="0"/>
                <a:ea typeface="Roboto" panose="02000000000000000000" pitchFamily="2" charset="0"/>
                <a:cs typeface="Roboto" panose="02000000000000000000" pitchFamily="2" charset="0"/>
              </a:rPr>
              <a:t> Wirtschaft</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Tel.: +49 281 / 207 3022</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Mail: julian.huesken@kreis-wesel.de</a:t>
            </a:r>
            <a:endParaRPr sz="1200" dirty="0">
              <a:latin typeface="Roboto" panose="02000000000000000000" pitchFamily="2" charset="0"/>
              <a:ea typeface="Roboto" panose="02000000000000000000" pitchFamily="2" charset="0"/>
              <a:cs typeface="Roboto" panose="02000000000000000000" pitchFamily="2" charset="0"/>
            </a:endParaRPr>
          </a:p>
        </p:txBody>
      </p:sp>
      <p:sp>
        <p:nvSpPr>
          <p:cNvPr id="12" name="Google Shape;104;p11">
            <a:extLst>
              <a:ext uri="{FF2B5EF4-FFF2-40B4-BE49-F238E27FC236}">
                <a16:creationId xmlns:a16="http://schemas.microsoft.com/office/drawing/2014/main" id="{FCB945A6-AAC1-08F6-F3C6-DF1170B9AD43}"/>
              </a:ext>
            </a:extLst>
          </p:cNvPr>
          <p:cNvSpPr txBox="1"/>
          <p:nvPr userDrawn="1"/>
        </p:nvSpPr>
        <p:spPr>
          <a:xfrm>
            <a:off x="4575006" y="4675552"/>
            <a:ext cx="3041985" cy="1107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a:spAutoFit/>
          </a:bodyPr>
          <a:lstStyle/>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Paul Langfahl</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Projektmanagement</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Wirtschaftsförderung Kreis Kleve GmbH</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Tel.: +49 2821 / 72 8120</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Mail: p.langfahl@wfg-kreis-kleve.de</a:t>
            </a:r>
            <a:endParaRPr sz="12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951481739"/>
      </p:ext>
    </p:extLst>
  </p:cSld>
  <p:clrMapOvr>
    <a:masterClrMapping/>
  </p:clrMapOvr>
  <p:extLst>
    <p:ext uri="{DCECCB84-F9BA-43D5-87BE-67443E8EF086}">
      <p15:sldGuideLst xmlns:p15="http://schemas.microsoft.com/office/powerpoint/2012/main">
        <p15:guide id="1" orient="horz" pos="3984"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 Id="rId2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Google Shape;60;p6" descr="Google Shape;60;p6">
            <a:extLst>
              <a:ext uri="{FF2B5EF4-FFF2-40B4-BE49-F238E27FC236}">
                <a16:creationId xmlns:a16="http://schemas.microsoft.com/office/drawing/2014/main" id="{D3BCFF5B-C91C-34DE-8115-CCA088D2B522}"/>
              </a:ext>
            </a:extLst>
          </p:cNvPr>
          <p:cNvPicPr>
            <a:picLocks noChangeAspect="1"/>
          </p:cNvPicPr>
          <p:nvPr userDrawn="1"/>
        </p:nvPicPr>
        <p:blipFill>
          <a:blip r:embed="rId24">
            <a:alphaModFix amt="10000"/>
          </a:blip>
          <a:stretch>
            <a:fillRect/>
          </a:stretch>
        </p:blipFill>
        <p:spPr>
          <a:xfrm>
            <a:off x="3699619" y="820625"/>
            <a:ext cx="4792762" cy="5424143"/>
          </a:xfrm>
          <a:prstGeom prst="rect">
            <a:avLst/>
          </a:prstGeom>
          <a:ln w="12700">
            <a:miter lim="400000"/>
          </a:ln>
        </p:spPr>
      </p:pic>
      <p:sp>
        <p:nvSpPr>
          <p:cNvPr id="2" name="Titelplatzhalter 1">
            <a:extLst>
              <a:ext uri="{FF2B5EF4-FFF2-40B4-BE49-F238E27FC236}">
                <a16:creationId xmlns:a16="http://schemas.microsoft.com/office/drawing/2014/main" id="{DE57A77C-DD24-FACC-1D5F-C496318D1E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79EAA1CF-CB17-AD9B-2591-12CF806E36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F4FF2D70-DBE9-3161-4185-C5EF328AA8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F3E3BC-98DD-41EE-9C48-48F535956578}" type="datetimeFigureOut">
              <a:rPr lang="de-DE" smtClean="0"/>
              <a:t>14.10.2026</a:t>
            </a:fld>
            <a:endParaRPr lang="de-DE"/>
          </a:p>
        </p:txBody>
      </p:sp>
      <p:sp>
        <p:nvSpPr>
          <p:cNvPr id="5" name="Fußzeilenplatzhalter 4">
            <a:extLst>
              <a:ext uri="{FF2B5EF4-FFF2-40B4-BE49-F238E27FC236}">
                <a16:creationId xmlns:a16="http://schemas.microsoft.com/office/drawing/2014/main" id="{6BB0BA34-3C8E-CBD1-EB79-D1E2CFCC45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2C2A35D8-CF22-6C75-1B38-E47BE13B90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E70882-9F88-48A5-AAB8-90B40D16CB51}" type="slidenum">
              <a:rPr lang="de-DE" smtClean="0"/>
              <a:t>‹#›</a:t>
            </a:fld>
            <a:endParaRPr lang="de-DE"/>
          </a:p>
        </p:txBody>
      </p:sp>
    </p:spTree>
    <p:extLst>
      <p:ext uri="{BB962C8B-B14F-4D97-AF65-F5344CB8AC3E}">
        <p14:creationId xmlns:p14="http://schemas.microsoft.com/office/powerpoint/2010/main" val="3355087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2" r:id="rId12"/>
    <p:sldLayoutId id="2147483683" r:id="rId13"/>
    <p:sldLayoutId id="2147483681"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Lst>
  <p:txStyles>
    <p:titleStyle>
      <a:lvl1pPr algn="l" defTabSz="914400" rtl="0" eaLnBrk="1" latinLnBrk="0" hangingPunct="1">
        <a:lnSpc>
          <a:spcPct val="150000"/>
        </a:lnSpc>
        <a:spcBef>
          <a:spcPct val="0"/>
        </a:spcBef>
        <a:buNone/>
        <a:defRPr sz="1800" kern="1200">
          <a:solidFill>
            <a:srgbClr val="002060"/>
          </a:solidFill>
          <a:latin typeface="Roboto" panose="02000000000000000000" pitchFamily="2" charset="0"/>
          <a:ea typeface="Roboto" panose="02000000000000000000" pitchFamily="2" charset="0"/>
          <a:cs typeface="Roboto" panose="02000000000000000000" pitchFamily="2" charset="0"/>
        </a:defRPr>
      </a:lvl1pPr>
    </p:titleStyle>
    <p:bodyStyle>
      <a:lvl1pPr marL="0" indent="0" algn="l" defTabSz="914400" rtl="0" eaLnBrk="1" latinLnBrk="0" hangingPunct="1">
        <a:lnSpc>
          <a:spcPct val="90000"/>
        </a:lnSpc>
        <a:spcBef>
          <a:spcPts val="1000"/>
        </a:spcBef>
        <a:buFontTx/>
        <a:buNone/>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68" userDrawn="1">
          <p15:clr>
            <a:srgbClr val="F26B43"/>
          </p15:clr>
        </p15:guide>
        <p15:guide id="2" pos="52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21.png"/><Relationship Id="rId7"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23.png"/><Relationship Id="rId5" Type="http://schemas.openxmlformats.org/officeDocument/2006/relationships/image" Target="../media/image14.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24.png"/><Relationship Id="rId5" Type="http://schemas.openxmlformats.org/officeDocument/2006/relationships/image" Target="../media/image26.png"/><Relationship Id="rId6" Type="http://schemas.openxmlformats.org/officeDocument/2006/relationships/image" Target="../media/image25.png"/><Relationship Id="rId7"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34.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36.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38.png"/><Relationship Id="rId4" Type="http://schemas.openxmlformats.org/officeDocument/2006/relationships/image" Target="../media/image29.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41.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42.png"/><Relationship Id="rId5" Type="http://schemas.openxmlformats.org/officeDocument/2006/relationships/image" Target="../media/image11.png"/><Relationship Id="rId6"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29.png"/><Relationship Id="rId5" Type="http://schemas.openxmlformats.org/officeDocument/2006/relationships/image" Target="../media/image20.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44.png"/><Relationship Id="rId5" Type="http://schemas.openxmlformats.org/officeDocument/2006/relationships/image" Target="../media/image31.png"/><Relationship Id="rId6" Type="http://schemas.openxmlformats.org/officeDocument/2006/relationships/image" Target="../media/image4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14.png"/><Relationship Id="rId5" Type="http://schemas.openxmlformats.org/officeDocument/2006/relationships/image" Target="../media/image26.png"/><Relationship Id="rId6"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4.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5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 Id="rId3" Type="http://schemas.openxmlformats.org/officeDocument/2006/relationships/image" Target="../media/image29.png"/><Relationship Id="rId4" Type="http://schemas.openxmlformats.org/officeDocument/2006/relationships/image" Target="../media/image5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 Id="rId3" Type="http://schemas.openxmlformats.org/officeDocument/2006/relationships/image" Target="../media/image32.png"/><Relationship Id="rId4" Type="http://schemas.openxmlformats.org/officeDocument/2006/relationships/image" Target="../media/image45.png"/><Relationship Id="rId5" Type="http://schemas.openxmlformats.org/officeDocument/2006/relationships/image" Target="../media/image4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7.xml"/><Relationship Id="rId3" Type="http://schemas.openxmlformats.org/officeDocument/2006/relationships/image" Target="../media/image5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 Id="rId3" Type="http://schemas.openxmlformats.org/officeDocument/2006/relationships/image" Target="../media/image54.png"/><Relationship Id="rId4" Type="http://schemas.openxmlformats.org/officeDocument/2006/relationships/image" Target="../media/image20.png"/><Relationship Id="rId5" Type="http://schemas.openxmlformats.org/officeDocument/2006/relationships/image" Target="../media/image39.png"/><Relationship Id="rId6"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 Id="rId3" Type="http://schemas.openxmlformats.org/officeDocument/2006/relationships/image" Target="../media/image14.png"/><Relationship Id="rId4" Type="http://schemas.openxmlformats.org/officeDocument/2006/relationships/image" Target="../media/image54.png"/><Relationship Id="rId5" Type="http://schemas.openxmlformats.org/officeDocument/2006/relationships/image" Target="../media/image43.png"/><Relationship Id="rId6"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 Id="rId3" Type="http://schemas.openxmlformats.org/officeDocument/2006/relationships/image" Target="../media/image46.png"/><Relationship Id="rId4" Type="http://schemas.openxmlformats.org/officeDocument/2006/relationships/image" Target="../media/image3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 Id="rId3" Type="http://schemas.openxmlformats.org/officeDocument/2006/relationships/image" Target="../media/image20.png"/><Relationship Id="rId4" Type="http://schemas.openxmlformats.org/officeDocument/2006/relationships/image" Target="../media/image5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3.xml"/><Relationship Id="rId3" Type="http://schemas.openxmlformats.org/officeDocument/2006/relationships/image" Target="../media/image5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4.xml"/><Relationship Id="rId3" Type="http://schemas.openxmlformats.org/officeDocument/2006/relationships/image" Target="../media/image58.png"/><Relationship Id="rId4" Type="http://schemas.openxmlformats.org/officeDocument/2006/relationships/image" Target="../media/image39.png"/><Relationship Id="rId5" Type="http://schemas.openxmlformats.org/officeDocument/2006/relationships/image" Target="../media/image59.png"/><Relationship Id="rId6"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5.xml"/><Relationship Id="rId3" Type="http://schemas.openxmlformats.org/officeDocument/2006/relationships/image" Target="../media/image14.png"/><Relationship Id="rId4" Type="http://schemas.openxmlformats.org/officeDocument/2006/relationships/image" Target="../media/image39.png"/><Relationship Id="rId5" Type="http://schemas.openxmlformats.org/officeDocument/2006/relationships/image" Target="../media/image59.png"/><Relationship Id="rId6" Type="http://schemas.openxmlformats.org/officeDocument/2006/relationships/image" Target="../media/image6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6.xml"/><Relationship Id="rId3" Type="http://schemas.openxmlformats.org/officeDocument/2006/relationships/image" Target="../media/image46.png"/><Relationship Id="rId4" Type="http://schemas.openxmlformats.org/officeDocument/2006/relationships/image" Target="../media/image49.png"/><Relationship Id="rId5" Type="http://schemas.openxmlformats.org/officeDocument/2006/relationships/image" Target="../media/image55.png"/><Relationship Id="rId6" Type="http://schemas.openxmlformats.org/officeDocument/2006/relationships/image" Target="../media/image61.png"/><Relationship Id="rId7" Type="http://schemas.openxmlformats.org/officeDocument/2006/relationships/image" Target="../media/image50.png"/><Relationship Id="rId8" Type="http://schemas.openxmlformats.org/officeDocument/2006/relationships/image" Target="../media/image5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7.xml"/><Relationship Id="rId3" Type="http://schemas.openxmlformats.org/officeDocument/2006/relationships/image" Target="../media/image15.png"/><Relationship Id="rId4" Type="http://schemas.openxmlformats.org/officeDocument/2006/relationships/image" Target="../media/image5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8.xml"/><Relationship Id="rId3" Type="http://schemas.openxmlformats.org/officeDocument/2006/relationships/image" Target="../media/image3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9.xml"/><Relationship Id="rId3" Type="http://schemas.openxmlformats.org/officeDocument/2006/relationships/image" Target="../media/image5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0.xml"/><Relationship Id="rId3" Type="http://schemas.openxmlformats.org/officeDocument/2006/relationships/image" Target="../media/image21.png"/><Relationship Id="rId4" Type="http://schemas.openxmlformats.org/officeDocument/2006/relationships/image" Target="../media/image53.png"/><Relationship Id="rId5" Type="http://schemas.openxmlformats.org/officeDocument/2006/relationships/image" Target="../media/image43.png"/><Relationship Id="rId6" Type="http://schemas.openxmlformats.org/officeDocument/2006/relationships/image" Target="../media/image3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1.xml"/><Relationship Id="rId3" Type="http://schemas.openxmlformats.org/officeDocument/2006/relationships/image" Target="../media/image14.png"/><Relationship Id="rId4" Type="http://schemas.openxmlformats.org/officeDocument/2006/relationships/image" Target="../media/image43.png"/><Relationship Id="rId5" Type="http://schemas.openxmlformats.org/officeDocument/2006/relationships/image" Target="../media/image27.png"/><Relationship Id="rId6" Type="http://schemas.openxmlformats.org/officeDocument/2006/relationships/image" Target="../media/image6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2.xml"/><Relationship Id="rId3" Type="http://schemas.openxmlformats.org/officeDocument/2006/relationships/image" Target="../media/image46.png"/><Relationship Id="rId4" Type="http://schemas.openxmlformats.org/officeDocument/2006/relationships/image" Target="../media/image63.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0.png"/><Relationship Id="rId8" Type="http://schemas.openxmlformats.org/officeDocument/2006/relationships/image" Target="../media/image5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3.xml"/><Relationship Id="rId3" Type="http://schemas.openxmlformats.org/officeDocument/2006/relationships/image" Target="../media/image16.png"/><Relationship Id="rId4" Type="http://schemas.openxmlformats.org/officeDocument/2006/relationships/image" Target="../media/image5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5.xml"/><Relationship Id="rId3" Type="http://schemas.openxmlformats.org/officeDocument/2006/relationships/image" Target="../media/image5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6.xml"/><Relationship Id="rId3" Type="http://schemas.openxmlformats.org/officeDocument/2006/relationships/image" Target="../media/image54.png"/><Relationship Id="rId4" Type="http://schemas.openxmlformats.org/officeDocument/2006/relationships/image" Target="../media/image58.png"/><Relationship Id="rId5" Type="http://schemas.openxmlformats.org/officeDocument/2006/relationships/image" Target="../media/image16.png"/><Relationship Id="rId6" Type="http://schemas.openxmlformats.org/officeDocument/2006/relationships/image" Target="../media/image2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8.xml"/><Relationship Id="rId3" Type="http://schemas.openxmlformats.org/officeDocument/2006/relationships/image" Target="../media/image20.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21.png"/><Relationship Id="rId7" Type="http://schemas.openxmlformats.org/officeDocument/2006/relationships/image" Target="../media/image2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03.11.2026</a:t>
            </a:r>
          </a:p>
        </p:txBody>
      </p:sp>
      <p:sp>
        <p:nvSpPr>
          <p:cNvPr id="3" name="Text Placeholder 2"/>
          <p:cNvSpPr>
            <a:spLocks noGrp="1"/>
          </p:cNvSpPr>
          <p:nvPr>
            <p:ph type="body" idx="12" sz="quarter"/>
          </p:nvPr>
        </p:nvSpPr>
        <p:spPr/>
        <p:txBody>
          <a:bodyPr/>
          <a:lstStyle/>
          <a:p>
            <a:r>
              <a:rPr b="1" sz="2000"/>
              <a:t>KI.INNOVATION</a:t>
            </a:r>
          </a:p>
          <a:p>
            <a:r>
              <a:rPr b="1" sz="2000"/>
              <a:t>Von der Idee zum Prototyp</a:t>
            </a:r>
          </a:p>
        </p:txBody>
      </p:sp>
      <p:sp>
        <p:nvSpPr>
          <p:cNvPr id="4" name="Text Placeholder 3"/>
          <p:cNvSpPr>
            <a:spLocks noGrp="1"/>
          </p:cNvSpPr>
          <p:nvPr>
            <p:ph type="body" idx="13" sz="quarter"/>
          </p:nvPr>
        </p:nvSpPr>
        <p:spPr/>
        <p:txBody>
          <a:bodyPr/>
          <a:lstStyle/>
          <a:p>
            <a:r>
              <a:rPr b="0" sz="2800"/>
              <a:t>Workshop Teil 1</a:t>
            </a:r>
          </a:p>
        </p:txBody>
      </p:sp>
      <p:sp>
        <p:nvSpPr>
          <p:cNvPr id="5" name="Text Placeholder 4"/>
          <p:cNvSpPr>
            <a:spLocks noGrp="1"/>
          </p:cNvSpPr>
          <p:nvPr>
            <p:ph type="body" idx="14" sz="quarter"/>
          </p:nvPr>
        </p:nvSpPr>
        <p:spPr/>
        <p:txBody>
          <a:bodyPr/>
          <a:lstStyle/>
          <a:p>
            <a:r>
              <a:rPr b="0" sz="1600"/>
              <a:t>Prof. Dr. Kathrin Weidner</a:t>
            </a:r>
          </a:p>
          <a:p>
            <a:r>
              <a:rPr b="0" sz="1600"/>
              <a:t>Nina Nüchter</a:t>
            </a:r>
          </a:p>
          <a:p>
            <a:r>
              <a:rPr b="0" sz="1600"/>
              <a:t>- Hochschule Rhein-Waal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2000"/>
              <a:t>01</a:t>
            </a:r>
          </a:p>
        </p:txBody>
      </p:sp>
      <p:sp>
        <p:nvSpPr>
          <p:cNvPr id="3" name="Text Placeholder 2"/>
          <p:cNvSpPr>
            <a:spLocks noGrp="1"/>
          </p:cNvSpPr>
          <p:nvPr>
            <p:ph type="body" idx="11" sz="quarter"/>
          </p:nvPr>
        </p:nvSpPr>
        <p:spPr/>
        <p:txBody>
          <a:bodyPr/>
          <a:lstStyle/>
          <a:p>
            <a:r>
              <a:rPr b="0" sz="1900"/>
              <a:t>Begrüßung und die Workshop-Reihe</a:t>
            </a:r>
          </a:p>
        </p:txBody>
      </p:sp>
      <p:sp>
        <p:nvSpPr>
          <p:cNvPr id="4" name="Text Placeholder 3"/>
          <p:cNvSpPr>
            <a:spLocks noGrp="1"/>
          </p:cNvSpPr>
          <p:nvPr>
            <p:ph type="body" idx="12" sz="quarter"/>
          </p:nvPr>
        </p:nvSpPr>
        <p:spPr/>
        <p:txBody>
          <a:bodyPr/>
          <a:lstStyle/>
          <a:p>
            <a:r>
              <a:rPr b="1" sz="2000"/>
              <a:t>02</a:t>
            </a:r>
          </a:p>
        </p:txBody>
      </p:sp>
      <p:sp>
        <p:nvSpPr>
          <p:cNvPr id="5" name="Text Placeholder 4"/>
          <p:cNvSpPr>
            <a:spLocks noGrp="1"/>
          </p:cNvSpPr>
          <p:nvPr>
            <p:ph type="body" idx="13" sz="quarter"/>
          </p:nvPr>
        </p:nvSpPr>
        <p:spPr/>
        <p:txBody>
          <a:bodyPr/>
          <a:lstStyle/>
          <a:p>
            <a:r>
              <a:rPr b="0" sz="1900"/>
              <a:t>Innovation: Warum sie für KMU entscheidend ist</a:t>
            </a:r>
          </a:p>
        </p:txBody>
      </p:sp>
      <p:sp>
        <p:nvSpPr>
          <p:cNvPr id="6" name="Text Placeholder 5"/>
          <p:cNvSpPr>
            <a:spLocks noGrp="1"/>
          </p:cNvSpPr>
          <p:nvPr>
            <p:ph type="body" idx="14" sz="quarter"/>
          </p:nvPr>
        </p:nvSpPr>
        <p:spPr/>
        <p:txBody>
          <a:bodyPr/>
          <a:lstStyle/>
          <a:p>
            <a:r>
              <a:rPr b="1" sz="2000"/>
              <a:t>03</a:t>
            </a:r>
          </a:p>
        </p:txBody>
      </p:sp>
      <p:sp>
        <p:nvSpPr>
          <p:cNvPr id="7" name="Text Placeholder 6"/>
          <p:cNvSpPr>
            <a:spLocks noGrp="1"/>
          </p:cNvSpPr>
          <p:nvPr>
            <p:ph type="body" idx="15" sz="quarter"/>
          </p:nvPr>
        </p:nvSpPr>
        <p:spPr/>
        <p:txBody>
          <a:bodyPr/>
          <a:lstStyle/>
          <a:p>
            <a:r>
              <a:rPr b="0" sz="1900"/>
              <a:t>Unser Prozess: Design Thinking in 5 Phasen</a:t>
            </a:r>
          </a:p>
        </p:txBody>
      </p:sp>
      <p:sp>
        <p:nvSpPr>
          <p:cNvPr id="8" name="Text Placeholder 7"/>
          <p:cNvSpPr>
            <a:spLocks noGrp="1"/>
          </p:cNvSpPr>
          <p:nvPr>
            <p:ph type="body" idx="16" sz="quarter"/>
          </p:nvPr>
        </p:nvSpPr>
        <p:spPr/>
        <p:txBody>
          <a:bodyPr/>
          <a:lstStyle/>
          <a:p>
            <a:r>
              <a:rPr b="1" sz="2000"/>
              <a:t>04</a:t>
            </a:r>
          </a:p>
        </p:txBody>
      </p:sp>
      <p:sp>
        <p:nvSpPr>
          <p:cNvPr id="9" name="Text Placeholder 8"/>
          <p:cNvSpPr>
            <a:spLocks noGrp="1"/>
          </p:cNvSpPr>
          <p:nvPr>
            <p:ph type="body" idx="17" sz="quarter"/>
          </p:nvPr>
        </p:nvSpPr>
        <p:spPr/>
        <p:txBody>
          <a:bodyPr/>
          <a:lstStyle/>
          <a:p>
            <a:r>
              <a:rPr b="0" sz="1900"/>
              <a:t>KI-Werkzeugkasten: Prompts, Agenten, Skills</a:t>
            </a:r>
          </a:p>
        </p:txBody>
      </p:sp>
      <p:sp>
        <p:nvSpPr>
          <p:cNvPr id="10" name="Text Placeholder 9"/>
          <p:cNvSpPr>
            <a:spLocks noGrp="1"/>
          </p:cNvSpPr>
          <p:nvPr>
            <p:ph type="body" idx="18" sz="quarter"/>
          </p:nvPr>
        </p:nvSpPr>
        <p:spPr/>
        <p:txBody>
          <a:bodyPr/>
          <a:lstStyle/>
          <a:p>
            <a:r>
              <a:rPr b="1" sz="2000"/>
              <a:t>05</a:t>
            </a:r>
          </a:p>
        </p:txBody>
      </p:sp>
      <p:sp>
        <p:nvSpPr>
          <p:cNvPr id="11" name="Text Placeholder 10"/>
          <p:cNvSpPr>
            <a:spLocks noGrp="1"/>
          </p:cNvSpPr>
          <p:nvPr>
            <p:ph type="body" idx="19" sz="quarter"/>
          </p:nvPr>
        </p:nvSpPr>
        <p:spPr/>
        <p:txBody>
          <a:bodyPr/>
          <a:lstStyle/>
          <a:p>
            <a:r>
              <a:rPr b="0" sz="1900"/>
              <a:t>Praxisfall HSRW und Ihre eigene Challenge</a:t>
            </a:r>
          </a:p>
        </p:txBody>
      </p:sp>
      <p:sp>
        <p:nvSpPr>
          <p:cNvPr id="12" name="Text Placeholder 11"/>
          <p:cNvSpPr>
            <a:spLocks noGrp="1"/>
          </p:cNvSpPr>
          <p:nvPr>
            <p:ph type="body" idx="20" sz="quarter"/>
          </p:nvPr>
        </p:nvSpPr>
        <p:spPr/>
        <p:txBody>
          <a:bodyPr/>
          <a:lstStyle/>
          <a:p>
            <a:r>
              <a:rPr b="1" sz="2000"/>
              <a:t>06</a:t>
            </a:r>
          </a:p>
        </p:txBody>
      </p:sp>
      <p:sp>
        <p:nvSpPr>
          <p:cNvPr id="13" name="Text Placeholder 12"/>
          <p:cNvSpPr>
            <a:spLocks noGrp="1"/>
          </p:cNvSpPr>
          <p:nvPr>
            <p:ph type="body" idx="21" sz="quarter"/>
          </p:nvPr>
        </p:nvSpPr>
        <p:spPr/>
        <p:txBody>
          <a:bodyPr/>
          <a:lstStyle/>
          <a:p>
            <a:r>
              <a:rPr b="0" sz="1900"/>
              <a:t>Phase 1 Empathie: Verstehen und Beobachten</a:t>
            </a:r>
          </a:p>
        </p:txBody>
      </p:sp>
      <p:sp>
        <p:nvSpPr>
          <p:cNvPr id="14" name="Text Placeholder 13"/>
          <p:cNvSpPr>
            <a:spLocks noGrp="1"/>
          </p:cNvSpPr>
          <p:nvPr>
            <p:ph type="body" idx="22" sz="quarter"/>
          </p:nvPr>
        </p:nvSpPr>
        <p:spPr/>
        <p:txBody>
          <a:bodyPr/>
          <a:lstStyle/>
          <a:p>
            <a:r>
              <a:rPr b="1" sz="2000"/>
              <a:t>07</a:t>
            </a:r>
          </a:p>
        </p:txBody>
      </p:sp>
      <p:sp>
        <p:nvSpPr>
          <p:cNvPr id="15" name="Text Placeholder 14"/>
          <p:cNvSpPr>
            <a:spLocks noGrp="1"/>
          </p:cNvSpPr>
          <p:nvPr>
            <p:ph type="body" idx="23" sz="quarter"/>
          </p:nvPr>
        </p:nvSpPr>
        <p:spPr/>
        <p:txBody>
          <a:bodyPr/>
          <a:lstStyle/>
          <a:p>
            <a:r>
              <a:rPr b="0" sz="1900"/>
              <a:t>Phase 2 und 3: Definieren und Ideen finden</a:t>
            </a:r>
          </a:p>
        </p:txBody>
      </p:sp>
      <p:sp>
        <p:nvSpPr>
          <p:cNvPr id="16" name="Text Placeholder 15"/>
          <p:cNvSpPr>
            <a:spLocks noGrp="1"/>
          </p:cNvSpPr>
          <p:nvPr>
            <p:ph type="body" idx="24" sz="quarter"/>
          </p:nvPr>
        </p:nvSpPr>
        <p:spPr/>
        <p:txBody>
          <a:bodyPr/>
          <a:lstStyle/>
          <a:p>
            <a:r>
              <a:rPr b="1" sz="2000"/>
              <a:t>08</a:t>
            </a:r>
          </a:p>
        </p:txBody>
      </p:sp>
      <p:sp>
        <p:nvSpPr>
          <p:cNvPr id="17" name="Text Placeholder 16"/>
          <p:cNvSpPr>
            <a:spLocks noGrp="1"/>
          </p:cNvSpPr>
          <p:nvPr>
            <p:ph type="body" idx="25" sz="quarter"/>
          </p:nvPr>
        </p:nvSpPr>
        <p:spPr/>
        <p:txBody>
          <a:bodyPr/>
          <a:lstStyle/>
          <a:p>
            <a:r>
              <a:rPr b="0" sz="1900"/>
              <a:t>Ihr Auftrag für die Remote-Phase</a:t>
            </a:r>
          </a:p>
        </p:txBody>
      </p:sp>
      <p:sp>
        <p:nvSpPr>
          <p:cNvPr id="18" name="TextBox 17"/>
          <p:cNvSpPr txBox="1"/>
          <p:nvPr/>
        </p:nvSpPr>
        <p:spPr>
          <a:xfrm>
            <a:off x="9326880" y="1371600"/>
            <a:ext cx="2103120" cy="384048"/>
          </a:xfrm>
          <a:prstGeom prst="rect">
            <a:avLst/>
          </a:prstGeom>
          <a:noFill/>
        </p:spPr>
        <p:txBody>
          <a:bodyPr wrap="square" lIns="0" rIns="0" tIns="0" bIns="0" anchor="t"/>
          <a:lstStyle/>
          <a:p>
            <a:pPr algn="r">
              <a:spcAft>
                <a:spcPts val="400"/>
              </a:spcAft>
              <a:buNone/>
            </a:pPr>
            <a:r>
              <a:rPr sz="2800" b="1" i="0">
                <a:solidFill>
                  <a:srgbClr val="0E1F53"/>
                </a:solidFill>
                <a:latin typeface="Roboto"/>
              </a:rPr>
              <a:t>Agenda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Begrüßung</a:t>
            </a:r>
          </a:p>
        </p:txBody>
      </p:sp>
      <p:sp>
        <p:nvSpPr>
          <p:cNvPr id="3" name="TextBox 2"/>
          <p:cNvSpPr txBox="1"/>
          <p:nvPr/>
        </p:nvSpPr>
        <p:spPr>
          <a:xfrm>
            <a:off x="841248" y="2103120"/>
            <a:ext cx="10506456" cy="914400"/>
          </a:xfrm>
          <a:prstGeom prst="rect">
            <a:avLst/>
          </a:prstGeom>
          <a:noFill/>
        </p:spPr>
        <p:txBody>
          <a:bodyPr wrap="square" lIns="0" rIns="0" tIns="0" bIns="0" anchor="t"/>
          <a:lstStyle/>
          <a:p>
            <a:pPr algn="l">
              <a:spcAft>
                <a:spcPts val="400"/>
              </a:spcAft>
              <a:buNone/>
            </a:pPr>
            <a:r>
              <a:rPr sz="3000" b="1" i="0">
                <a:solidFill>
                  <a:srgbClr val="9FD0FF"/>
                </a:solidFill>
                <a:latin typeface="Roboto"/>
              </a:rPr>
              <a:t>Herzlich willkommen zu KI.INNOVATION</a:t>
            </a:r>
          </a:p>
        </p:txBody>
      </p:sp>
      <p:sp>
        <p:nvSpPr>
          <p:cNvPr id="4" name="Rounded Rectangle 3"/>
          <p:cNvSpPr/>
          <p:nvPr/>
        </p:nvSpPr>
        <p:spPr>
          <a:xfrm>
            <a:off x="841248" y="3291840"/>
            <a:ext cx="5852160" cy="137160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15568" y="3566160"/>
            <a:ext cx="777240" cy="7772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Handshake_w.png"/>
          <p:cNvPicPr>
            <a:picLocks noChangeAspect="1"/>
          </p:cNvPicPr>
          <p:nvPr/>
        </p:nvPicPr>
        <p:blipFill>
          <a:blip r:embed="rId3"/>
          <a:stretch>
            <a:fillRect/>
          </a:stretch>
        </p:blipFill>
        <p:spPr>
          <a:xfrm>
            <a:off x="1302105" y="3752697"/>
            <a:ext cx="404164" cy="404164"/>
          </a:xfrm>
          <a:prstGeom prst="rect">
            <a:avLst/>
          </a:prstGeom>
        </p:spPr>
      </p:pic>
      <p:sp>
        <p:nvSpPr>
          <p:cNvPr id="7" name="TextBox 6"/>
          <p:cNvSpPr txBox="1"/>
          <p:nvPr/>
        </p:nvSpPr>
        <p:spPr>
          <a:xfrm>
            <a:off x="2121408" y="3291840"/>
            <a:ext cx="4480560" cy="1371600"/>
          </a:xfrm>
          <a:prstGeom prst="rect">
            <a:avLst/>
          </a:prstGeom>
          <a:noFill/>
        </p:spPr>
        <p:txBody>
          <a:bodyPr wrap="square" lIns="0" rIns="0" tIns="0" bIns="0" anchor="ctr"/>
          <a:lstStyle/>
          <a:p>
            <a:pPr algn="l">
              <a:spcAft>
                <a:spcPts val="200"/>
              </a:spcAft>
              <a:buNone/>
            </a:pPr>
            <a:r>
              <a:rPr sz="1700" b="1" i="0">
                <a:solidFill>
                  <a:srgbClr val="FFFFFF"/>
                </a:solidFill>
                <a:latin typeface="Roboto"/>
              </a:rPr>
              <a:t>Julian Hüsken</a:t>
            </a:r>
          </a:p>
          <a:p>
            <a:pPr algn="l">
              <a:spcAft>
                <a:spcPts val="200"/>
              </a:spcAft>
              <a:buNone/>
            </a:pPr>
            <a:r>
              <a:rPr sz="1300" b="0" i="0">
                <a:solidFill>
                  <a:srgbClr val="FFFFFF"/>
                </a:solidFill>
                <a:latin typeface="Roboto"/>
              </a:rPr>
              <a:t>Projektmanagement „KI für KMU NiederRhein“</a:t>
            </a:r>
          </a:p>
          <a:p>
            <a:pPr algn="l">
              <a:spcAft>
                <a:spcPts val="200"/>
              </a:spcAft>
              <a:buNone/>
            </a:pPr>
            <a:r>
              <a:rPr sz="1300" b="0" i="0">
                <a:solidFill>
                  <a:srgbClr val="FFFFFF"/>
                </a:solidFill>
                <a:latin typeface="Roboto"/>
              </a:rPr>
              <a:t>Kreis Wesel EntwicklungsAgentur Wirtschaft</a:t>
            </a:r>
          </a:p>
        </p:txBody>
      </p:sp>
      <p:sp>
        <p:nvSpPr>
          <p:cNvPr id="8" name="TextBox 7"/>
          <p:cNvSpPr txBox="1"/>
          <p:nvPr/>
        </p:nvSpPr>
        <p:spPr>
          <a:xfrm>
            <a:off x="841248" y="5029200"/>
            <a:ext cx="10506456" cy="822960"/>
          </a:xfrm>
          <a:prstGeom prst="rect">
            <a:avLst/>
          </a:prstGeom>
          <a:noFill/>
        </p:spPr>
        <p:txBody>
          <a:bodyPr wrap="square" lIns="0" rIns="0" tIns="0" bIns="0" anchor="t"/>
          <a:lstStyle/>
          <a:p>
            <a:pPr algn="l">
              <a:spcAft>
                <a:spcPts val="400"/>
              </a:spcAft>
              <a:buNone/>
            </a:pPr>
            <a:r>
              <a:rPr sz="1800" b="0" i="1">
                <a:solidFill>
                  <a:srgbClr val="FFFFFF"/>
                </a:solidFill>
                <a:latin typeface="Roboto"/>
              </a:rPr>
              <a:t>KI verstehen. KI ausprobieren. KI erfolgreich im Unternehmen einsetzen.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Die Workshop-Reihe KI.INNOVATION</a:t>
            </a:r>
          </a:p>
        </p:txBody>
      </p:sp>
      <p:sp>
        <p:nvSpPr>
          <p:cNvPr id="3" name="Rounded Rectangle 2"/>
          <p:cNvSpPr/>
          <p:nvPr/>
        </p:nvSpPr>
        <p:spPr>
          <a:xfrm>
            <a:off x="841248" y="850392"/>
            <a:ext cx="145206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WORKSHOP-REIHE</a:t>
            </a:r>
          </a:p>
        </p:txBody>
      </p:sp>
      <p:cxnSp>
        <p:nvCxnSpPr>
          <p:cNvPr id="4" name="Connector 3"/>
          <p:cNvCxnSpPr/>
          <p:nvPr/>
        </p:nvCxnSpPr>
        <p:spPr>
          <a:xfrm>
            <a:off x="1115568" y="2395728"/>
            <a:ext cx="9957816" cy="0"/>
          </a:xfrm>
          <a:prstGeom prst="line">
            <a:avLst/>
          </a:prstGeom>
          <a:ln w="25400">
            <a:solidFill>
              <a:srgbClr val="8FA3C8"/>
            </a:solidFill>
            <a:prstDash val="dash"/>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668780" y="2029968"/>
            <a:ext cx="731520" cy="7315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Users_w.png"/>
          <p:cNvPicPr>
            <a:picLocks noChangeAspect="1"/>
          </p:cNvPicPr>
          <p:nvPr/>
        </p:nvPicPr>
        <p:blipFill>
          <a:blip r:embed="rId3"/>
          <a:stretch>
            <a:fillRect/>
          </a:stretch>
        </p:blipFill>
        <p:spPr>
          <a:xfrm>
            <a:off x="1844344" y="2205532"/>
            <a:ext cx="380390" cy="380390"/>
          </a:xfrm>
          <a:prstGeom prst="rect">
            <a:avLst/>
          </a:prstGeom>
        </p:spPr>
      </p:pic>
      <p:sp>
        <p:nvSpPr>
          <p:cNvPr id="7" name="Rounded Rectangle 6"/>
          <p:cNvSpPr/>
          <p:nvPr/>
        </p:nvSpPr>
        <p:spPr>
          <a:xfrm>
            <a:off x="841248" y="2926080"/>
            <a:ext cx="2386584" cy="301752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42416" y="3063240"/>
            <a:ext cx="1984248" cy="2834640"/>
          </a:xfrm>
          <a:prstGeom prst="rect">
            <a:avLst/>
          </a:prstGeom>
          <a:noFill/>
        </p:spPr>
        <p:txBody>
          <a:bodyPr wrap="square" lIns="0" rIns="0" tIns="0" bIns="0" anchor="t"/>
          <a:lstStyle/>
          <a:p>
            <a:pPr algn="l">
              <a:spcAft>
                <a:spcPts val="800"/>
              </a:spcAft>
              <a:buNone/>
            </a:pPr>
            <a:r>
              <a:rPr sz="1500" b="1" i="0">
                <a:solidFill>
                  <a:srgbClr val="FFFFFF"/>
                </a:solidFill>
                <a:latin typeface="Roboto"/>
              </a:rPr>
              <a:t>Teil 1 · Workshop</a:t>
            </a:r>
          </a:p>
          <a:p>
            <a:pPr algn="l">
              <a:spcAft>
                <a:spcPts val="200"/>
              </a:spcAft>
              <a:buNone/>
            </a:pPr>
            <a:r>
              <a:rPr sz="1700" b="1" i="0">
                <a:solidFill>
                  <a:srgbClr val="9FD0FF"/>
                </a:solidFill>
                <a:latin typeface="Roboto"/>
              </a:rPr>
              <a:t>Di, 03.11.2026</a:t>
            </a:r>
          </a:p>
          <a:p>
            <a:pPr algn="l">
              <a:spcAft>
                <a:spcPts val="200"/>
              </a:spcAft>
              <a:buNone/>
            </a:pPr>
            <a:r>
              <a:rPr sz="1350" b="0" i="0">
                <a:solidFill>
                  <a:srgbClr val="FFFFFF"/>
                </a:solidFill>
                <a:latin typeface="Roboto"/>
              </a:rPr>
              <a:t>16:00–19:00 Uhr</a:t>
            </a:r>
          </a:p>
          <a:p>
            <a:pPr algn="l">
              <a:spcAft>
                <a:spcPts val="1200"/>
              </a:spcAft>
              <a:buNone/>
            </a:pPr>
            <a:r>
              <a:rPr sz="1250" b="0" i="0">
                <a:solidFill>
                  <a:srgbClr val="C9D6EE"/>
                </a:solidFill>
                <a:latin typeface="Roboto"/>
              </a:rPr>
              <a:t>Präsenz, HSRW Kamp-Lintfort</a:t>
            </a:r>
          </a:p>
          <a:p>
            <a:pPr algn="l">
              <a:spcAft>
                <a:spcPts val="400"/>
              </a:spcAft>
              <a:buNone/>
            </a:pPr>
            <a:r>
              <a:rPr sz="1350" b="0" i="0">
                <a:solidFill>
                  <a:srgbClr val="FFFFFF"/>
                </a:solidFill>
                <a:latin typeface="Roboto"/>
              </a:rPr>
              <a:t>Empathie, Definieren, erste Ideen</a:t>
            </a:r>
          </a:p>
        </p:txBody>
      </p:sp>
      <p:sp>
        <p:nvSpPr>
          <p:cNvPr id="9" name="Rounded Rectangle 8"/>
          <p:cNvSpPr/>
          <p:nvPr/>
        </p:nvSpPr>
        <p:spPr>
          <a:xfrm>
            <a:off x="2359152" y="2542032"/>
            <a:ext cx="640080" cy="292608"/>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HEUTE</a:t>
            </a:r>
          </a:p>
        </p:txBody>
      </p:sp>
      <p:sp>
        <p:nvSpPr>
          <p:cNvPr id="10" name="Oval 9"/>
          <p:cNvSpPr/>
          <p:nvPr/>
        </p:nvSpPr>
        <p:spPr>
          <a:xfrm>
            <a:off x="4375404" y="2029968"/>
            <a:ext cx="731520" cy="7315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MessagesSquare_w.png"/>
          <p:cNvPicPr>
            <a:picLocks noChangeAspect="1"/>
          </p:cNvPicPr>
          <p:nvPr/>
        </p:nvPicPr>
        <p:blipFill>
          <a:blip r:embed="rId4"/>
          <a:stretch>
            <a:fillRect/>
          </a:stretch>
        </p:blipFill>
        <p:spPr>
          <a:xfrm>
            <a:off x="4550968" y="2205532"/>
            <a:ext cx="380390" cy="380390"/>
          </a:xfrm>
          <a:prstGeom prst="rect">
            <a:avLst/>
          </a:prstGeom>
        </p:spPr>
      </p:pic>
      <p:sp>
        <p:nvSpPr>
          <p:cNvPr id="12" name="Rounded Rectangle 11"/>
          <p:cNvSpPr/>
          <p:nvPr/>
        </p:nvSpPr>
        <p:spPr>
          <a:xfrm>
            <a:off x="3547872" y="2926080"/>
            <a:ext cx="2386584"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749040" y="3063240"/>
            <a:ext cx="1984248" cy="2834640"/>
          </a:xfrm>
          <a:prstGeom prst="rect">
            <a:avLst/>
          </a:prstGeom>
          <a:noFill/>
        </p:spPr>
        <p:txBody>
          <a:bodyPr wrap="square" lIns="0" rIns="0" tIns="0" bIns="0" anchor="t"/>
          <a:lstStyle/>
          <a:p>
            <a:pPr algn="l">
              <a:spcAft>
                <a:spcPts val="800"/>
              </a:spcAft>
              <a:buNone/>
            </a:pPr>
            <a:r>
              <a:rPr sz="1500" b="1" i="0">
                <a:solidFill>
                  <a:srgbClr val="0E1F53"/>
                </a:solidFill>
                <a:latin typeface="Roboto"/>
              </a:rPr>
              <a:t>Teil 2 · Remote-Beratung</a:t>
            </a:r>
          </a:p>
          <a:p>
            <a:pPr algn="l">
              <a:spcAft>
                <a:spcPts val="200"/>
              </a:spcAft>
              <a:buNone/>
            </a:pPr>
            <a:r>
              <a:rPr sz="1700" b="1" i="0">
                <a:solidFill>
                  <a:srgbClr val="FB2762"/>
                </a:solidFill>
                <a:latin typeface="Roboto"/>
              </a:rPr>
              <a:t>Di, 10.11.2026</a:t>
            </a:r>
          </a:p>
          <a:p>
            <a:pPr algn="l">
              <a:spcAft>
                <a:spcPts val="200"/>
              </a:spcAft>
              <a:buNone/>
            </a:pPr>
            <a:r>
              <a:rPr sz="1350" b="0" i="0">
                <a:solidFill>
                  <a:srgbClr val="0E1F53"/>
                </a:solidFill>
                <a:latin typeface="Roboto"/>
              </a:rPr>
              <a:t>17:00–19:00 Uhr</a:t>
            </a:r>
          </a:p>
          <a:p>
            <a:pPr algn="l">
              <a:spcAft>
                <a:spcPts val="1200"/>
              </a:spcAft>
              <a:buNone/>
            </a:pPr>
            <a:r>
              <a:rPr sz="1250" b="0" i="0">
                <a:solidFill>
                  <a:srgbClr val="5A6684"/>
                </a:solidFill>
                <a:latin typeface="Roboto"/>
              </a:rPr>
              <a:t>online</a:t>
            </a:r>
          </a:p>
          <a:p>
            <a:pPr algn="l">
              <a:spcAft>
                <a:spcPts val="400"/>
              </a:spcAft>
              <a:buNone/>
            </a:pPr>
            <a:r>
              <a:rPr sz="1350" b="0" i="0">
                <a:solidFill>
                  <a:srgbClr val="0E1F53"/>
                </a:solidFill>
                <a:latin typeface="Roboto"/>
              </a:rPr>
              <a:t>Interviews, Methoden, Fragen klären</a:t>
            </a:r>
          </a:p>
        </p:txBody>
      </p:sp>
      <p:sp>
        <p:nvSpPr>
          <p:cNvPr id="14" name="Oval 13"/>
          <p:cNvSpPr/>
          <p:nvPr/>
        </p:nvSpPr>
        <p:spPr>
          <a:xfrm>
            <a:off x="7082028" y="2029968"/>
            <a:ext cx="731520" cy="7315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LuCalendarClock_w.png"/>
          <p:cNvPicPr>
            <a:picLocks noChangeAspect="1"/>
          </p:cNvPicPr>
          <p:nvPr/>
        </p:nvPicPr>
        <p:blipFill>
          <a:blip r:embed="rId5"/>
          <a:stretch>
            <a:fillRect/>
          </a:stretch>
        </p:blipFill>
        <p:spPr>
          <a:xfrm>
            <a:off x="7257592" y="2205532"/>
            <a:ext cx="380390" cy="380390"/>
          </a:xfrm>
          <a:prstGeom prst="rect">
            <a:avLst/>
          </a:prstGeom>
        </p:spPr>
      </p:pic>
      <p:sp>
        <p:nvSpPr>
          <p:cNvPr id="16" name="Rounded Rectangle 15"/>
          <p:cNvSpPr/>
          <p:nvPr/>
        </p:nvSpPr>
        <p:spPr>
          <a:xfrm>
            <a:off x="6254496" y="2926080"/>
            <a:ext cx="2386584"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55664" y="3063240"/>
            <a:ext cx="1984248" cy="2834640"/>
          </a:xfrm>
          <a:prstGeom prst="rect">
            <a:avLst/>
          </a:prstGeom>
          <a:noFill/>
        </p:spPr>
        <p:txBody>
          <a:bodyPr wrap="square" lIns="0" rIns="0" tIns="0" bIns="0" anchor="t"/>
          <a:lstStyle/>
          <a:p>
            <a:pPr algn="l">
              <a:spcAft>
                <a:spcPts val="800"/>
              </a:spcAft>
              <a:buNone/>
            </a:pPr>
            <a:r>
              <a:rPr sz="1500" b="1" i="0">
                <a:solidFill>
                  <a:srgbClr val="0E1F53"/>
                </a:solidFill>
                <a:latin typeface="Roboto"/>
              </a:rPr>
              <a:t>Optionale Beratung</a:t>
            </a:r>
          </a:p>
          <a:p>
            <a:pPr algn="l">
              <a:spcAft>
                <a:spcPts val="200"/>
              </a:spcAft>
              <a:buNone/>
            </a:pPr>
            <a:r>
              <a:rPr sz="1700" b="1" i="0">
                <a:solidFill>
                  <a:srgbClr val="FB2762"/>
                </a:solidFill>
                <a:latin typeface="Roboto"/>
              </a:rPr>
              <a:t>13. und 16.11.2026</a:t>
            </a:r>
          </a:p>
          <a:p>
            <a:pPr algn="l">
              <a:spcAft>
                <a:spcPts val="200"/>
              </a:spcAft>
              <a:buNone/>
            </a:pPr>
            <a:r>
              <a:rPr sz="1350" b="0" i="0">
                <a:solidFill>
                  <a:srgbClr val="0E1F53"/>
                </a:solidFill>
                <a:latin typeface="Roboto"/>
              </a:rPr>
              <a:t>je 17:00–19:00 Uhr</a:t>
            </a:r>
          </a:p>
          <a:p>
            <a:pPr algn="l">
              <a:spcAft>
                <a:spcPts val="1200"/>
              </a:spcAft>
              <a:buNone/>
            </a:pPr>
            <a:r>
              <a:rPr sz="1250" b="0" i="0">
                <a:solidFill>
                  <a:srgbClr val="5A6684"/>
                </a:solidFill>
                <a:latin typeface="Roboto"/>
              </a:rPr>
              <a:t>online, nach Bedarf</a:t>
            </a:r>
          </a:p>
          <a:p>
            <a:pPr algn="l">
              <a:spcAft>
                <a:spcPts val="400"/>
              </a:spcAft>
              <a:buNone/>
            </a:pPr>
            <a:r>
              <a:rPr sz="1350" b="0" i="0">
                <a:solidFill>
                  <a:srgbClr val="0E1F53"/>
                </a:solidFill>
                <a:latin typeface="Roboto"/>
              </a:rPr>
              <a:t>Individuelle Unterstützung</a:t>
            </a:r>
          </a:p>
        </p:txBody>
      </p:sp>
      <p:sp>
        <p:nvSpPr>
          <p:cNvPr id="18" name="Oval 17"/>
          <p:cNvSpPr/>
          <p:nvPr/>
        </p:nvSpPr>
        <p:spPr>
          <a:xfrm>
            <a:off x="9788652" y="2029968"/>
            <a:ext cx="731520" cy="7315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uRocket_w.png"/>
          <p:cNvPicPr>
            <a:picLocks noChangeAspect="1"/>
          </p:cNvPicPr>
          <p:nvPr/>
        </p:nvPicPr>
        <p:blipFill>
          <a:blip r:embed="rId6"/>
          <a:stretch>
            <a:fillRect/>
          </a:stretch>
        </p:blipFill>
        <p:spPr>
          <a:xfrm>
            <a:off x="9964216" y="2205532"/>
            <a:ext cx="380390" cy="380390"/>
          </a:xfrm>
          <a:prstGeom prst="rect">
            <a:avLst/>
          </a:prstGeom>
        </p:spPr>
      </p:pic>
      <p:sp>
        <p:nvSpPr>
          <p:cNvPr id="20" name="Rounded Rectangle 19"/>
          <p:cNvSpPr/>
          <p:nvPr/>
        </p:nvSpPr>
        <p:spPr>
          <a:xfrm>
            <a:off x="8961120" y="2926080"/>
            <a:ext cx="2386584"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62288" y="3063240"/>
            <a:ext cx="1984248" cy="2834640"/>
          </a:xfrm>
          <a:prstGeom prst="rect">
            <a:avLst/>
          </a:prstGeom>
          <a:noFill/>
        </p:spPr>
        <p:txBody>
          <a:bodyPr wrap="square" lIns="0" rIns="0" tIns="0" bIns="0" anchor="t"/>
          <a:lstStyle/>
          <a:p>
            <a:pPr algn="l">
              <a:spcAft>
                <a:spcPts val="800"/>
              </a:spcAft>
              <a:buNone/>
            </a:pPr>
            <a:r>
              <a:rPr sz="1500" b="1" i="0">
                <a:solidFill>
                  <a:srgbClr val="0E1F53"/>
                </a:solidFill>
                <a:latin typeface="Roboto"/>
              </a:rPr>
              <a:t>Teil 3 · Workshop</a:t>
            </a:r>
          </a:p>
          <a:p>
            <a:pPr algn="l">
              <a:spcAft>
                <a:spcPts val="200"/>
              </a:spcAft>
              <a:buNone/>
            </a:pPr>
            <a:r>
              <a:rPr sz="1700" b="1" i="0">
                <a:solidFill>
                  <a:srgbClr val="FB2762"/>
                </a:solidFill>
                <a:latin typeface="Roboto"/>
              </a:rPr>
              <a:t>Fr, 20.11.2026</a:t>
            </a:r>
          </a:p>
          <a:p>
            <a:pPr algn="l">
              <a:spcAft>
                <a:spcPts val="200"/>
              </a:spcAft>
              <a:buNone/>
            </a:pPr>
            <a:r>
              <a:rPr sz="1350" b="0" i="0">
                <a:solidFill>
                  <a:srgbClr val="0E1F53"/>
                </a:solidFill>
                <a:latin typeface="Roboto"/>
              </a:rPr>
              <a:t>12:00–18:00 Uhr</a:t>
            </a:r>
          </a:p>
          <a:p>
            <a:pPr algn="l">
              <a:spcAft>
                <a:spcPts val="1200"/>
              </a:spcAft>
              <a:buNone/>
            </a:pPr>
            <a:r>
              <a:rPr sz="1250" b="0" i="0">
                <a:solidFill>
                  <a:srgbClr val="5A6684"/>
                </a:solidFill>
                <a:latin typeface="Roboto"/>
              </a:rPr>
              <a:t>Präsenz, HSRW Kamp-Lintfort</a:t>
            </a:r>
          </a:p>
          <a:p>
            <a:pPr algn="l">
              <a:spcAft>
                <a:spcPts val="400"/>
              </a:spcAft>
              <a:buNone/>
            </a:pPr>
            <a:r>
              <a:rPr sz="1350" b="0" i="0">
                <a:solidFill>
                  <a:srgbClr val="0E1F53"/>
                </a:solidFill>
                <a:latin typeface="Roboto"/>
              </a:rPr>
              <a:t>Prototyp, Bewertung, Pitch, Canvas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Ablauf heute: 16:00 bis 19:00 Uhr</a:t>
            </a:r>
          </a:p>
        </p:txBody>
      </p:sp>
      <p:sp>
        <p:nvSpPr>
          <p:cNvPr id="3" name="Rounded Rectangle 2"/>
          <p:cNvSpPr/>
          <p:nvPr/>
        </p:nvSpPr>
        <p:spPr>
          <a:xfrm>
            <a:off x="841248" y="850392"/>
            <a:ext cx="779068"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ABLAUF</a:t>
            </a:r>
          </a:p>
        </p:txBody>
      </p:sp>
      <p:cxnSp>
        <p:nvCxnSpPr>
          <p:cNvPr id="4" name="Connector 3"/>
          <p:cNvCxnSpPr/>
          <p:nvPr/>
        </p:nvCxnSpPr>
        <p:spPr>
          <a:xfrm>
            <a:off x="1298448" y="3611880"/>
            <a:ext cx="9592056" cy="0"/>
          </a:xfrm>
          <a:prstGeom prst="line">
            <a:avLst/>
          </a:prstGeom>
          <a:ln w="25400">
            <a:solidFill>
              <a:srgbClr val="0E1F53"/>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179576" y="3493008"/>
            <a:ext cx="237744" cy="2377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9808" y="306324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16:00</a:t>
            </a:r>
          </a:p>
        </p:txBody>
      </p:sp>
      <p:sp>
        <p:nvSpPr>
          <p:cNvPr id="7" name="TextBox 6"/>
          <p:cNvSpPr txBox="1"/>
          <p:nvPr/>
        </p:nvSpPr>
        <p:spPr>
          <a:xfrm>
            <a:off x="658368" y="2148840"/>
            <a:ext cx="1280160" cy="868680"/>
          </a:xfrm>
          <a:prstGeom prst="rect">
            <a:avLst/>
          </a:prstGeom>
          <a:noFill/>
        </p:spPr>
        <p:txBody>
          <a:bodyPr wrap="square" lIns="0" rIns="0" tIns="0" bIns="0" anchor="b"/>
          <a:lstStyle/>
          <a:p>
            <a:pPr algn="ctr">
              <a:spcAft>
                <a:spcPts val="400"/>
              </a:spcAft>
              <a:buNone/>
            </a:pPr>
            <a:r>
              <a:rPr sz="1200" b="0" i="0">
                <a:solidFill>
                  <a:srgbClr val="0E1F53"/>
                </a:solidFill>
                <a:latin typeface="Roboto"/>
              </a:rPr>
              <a:t>Begrüßung &amp; Workshop-Reihe</a:t>
            </a:r>
          </a:p>
        </p:txBody>
      </p:sp>
      <p:sp>
        <p:nvSpPr>
          <p:cNvPr id="8" name="Oval 7"/>
          <p:cNvSpPr/>
          <p:nvPr/>
        </p:nvSpPr>
        <p:spPr>
          <a:xfrm>
            <a:off x="2245360" y="3493008"/>
            <a:ext cx="237744" cy="2377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815592" y="384048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16:10</a:t>
            </a:r>
          </a:p>
        </p:txBody>
      </p:sp>
      <p:sp>
        <p:nvSpPr>
          <p:cNvPr id="10" name="TextBox 9"/>
          <p:cNvSpPr txBox="1"/>
          <p:nvPr/>
        </p:nvSpPr>
        <p:spPr>
          <a:xfrm>
            <a:off x="1724152" y="4206240"/>
            <a:ext cx="1280160" cy="868680"/>
          </a:xfrm>
          <a:prstGeom prst="rect">
            <a:avLst/>
          </a:prstGeom>
          <a:noFill/>
        </p:spPr>
        <p:txBody>
          <a:bodyPr wrap="square" lIns="0" rIns="0" tIns="0" bIns="0" anchor="t"/>
          <a:lstStyle/>
          <a:p>
            <a:pPr algn="ctr">
              <a:spcAft>
                <a:spcPts val="400"/>
              </a:spcAft>
              <a:buNone/>
            </a:pPr>
            <a:r>
              <a:rPr sz="1200" b="0" i="0">
                <a:solidFill>
                  <a:srgbClr val="0E1F53"/>
                </a:solidFill>
                <a:latin typeface="Roboto"/>
              </a:rPr>
              <a:t>Innovation &amp; Prozess</a:t>
            </a:r>
          </a:p>
        </p:txBody>
      </p:sp>
      <p:sp>
        <p:nvSpPr>
          <p:cNvPr id="11" name="Oval 10"/>
          <p:cNvSpPr/>
          <p:nvPr/>
        </p:nvSpPr>
        <p:spPr>
          <a:xfrm>
            <a:off x="3311144" y="3493008"/>
            <a:ext cx="237744" cy="2377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881376" y="306324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16:30</a:t>
            </a:r>
          </a:p>
        </p:txBody>
      </p:sp>
      <p:sp>
        <p:nvSpPr>
          <p:cNvPr id="13" name="TextBox 12"/>
          <p:cNvSpPr txBox="1"/>
          <p:nvPr/>
        </p:nvSpPr>
        <p:spPr>
          <a:xfrm>
            <a:off x="2789936" y="2148840"/>
            <a:ext cx="1280160" cy="868680"/>
          </a:xfrm>
          <a:prstGeom prst="rect">
            <a:avLst/>
          </a:prstGeom>
          <a:noFill/>
        </p:spPr>
        <p:txBody>
          <a:bodyPr wrap="square" lIns="0" rIns="0" tIns="0" bIns="0" anchor="b"/>
          <a:lstStyle/>
          <a:p>
            <a:pPr algn="ctr">
              <a:spcAft>
                <a:spcPts val="400"/>
              </a:spcAft>
              <a:buNone/>
            </a:pPr>
            <a:r>
              <a:rPr sz="1200" b="0" i="0">
                <a:solidFill>
                  <a:srgbClr val="0E1F53"/>
                </a:solidFill>
                <a:latin typeface="Roboto"/>
              </a:rPr>
              <a:t>KI-Werkzeug-kasten</a:t>
            </a:r>
          </a:p>
        </p:txBody>
      </p:sp>
      <p:sp>
        <p:nvSpPr>
          <p:cNvPr id="14" name="Oval 13"/>
          <p:cNvSpPr/>
          <p:nvPr/>
        </p:nvSpPr>
        <p:spPr>
          <a:xfrm>
            <a:off x="4376928" y="3493008"/>
            <a:ext cx="237744" cy="23774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947160" y="384048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16:55</a:t>
            </a:r>
          </a:p>
        </p:txBody>
      </p:sp>
      <p:sp>
        <p:nvSpPr>
          <p:cNvPr id="16" name="TextBox 15"/>
          <p:cNvSpPr txBox="1"/>
          <p:nvPr/>
        </p:nvSpPr>
        <p:spPr>
          <a:xfrm>
            <a:off x="3855720" y="4206240"/>
            <a:ext cx="1280160" cy="868680"/>
          </a:xfrm>
          <a:prstGeom prst="rect">
            <a:avLst/>
          </a:prstGeom>
          <a:noFill/>
        </p:spPr>
        <p:txBody>
          <a:bodyPr wrap="square" lIns="0" rIns="0" tIns="0" bIns="0" anchor="t"/>
          <a:lstStyle/>
          <a:p>
            <a:pPr algn="ctr">
              <a:spcAft>
                <a:spcPts val="400"/>
              </a:spcAft>
              <a:buNone/>
            </a:pPr>
            <a:r>
              <a:rPr sz="1200" b="0" i="0">
                <a:solidFill>
                  <a:srgbClr val="0E1F53"/>
                </a:solidFill>
                <a:latin typeface="Roboto"/>
              </a:rPr>
              <a:t>Praxisfall HSRW · Verstehen</a:t>
            </a:r>
          </a:p>
        </p:txBody>
      </p:sp>
      <p:sp>
        <p:nvSpPr>
          <p:cNvPr id="17" name="Oval 16"/>
          <p:cNvSpPr/>
          <p:nvPr/>
        </p:nvSpPr>
        <p:spPr>
          <a:xfrm>
            <a:off x="5442712" y="3493008"/>
            <a:ext cx="237744" cy="23774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12944" y="306324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17:20</a:t>
            </a:r>
          </a:p>
        </p:txBody>
      </p:sp>
      <p:sp>
        <p:nvSpPr>
          <p:cNvPr id="19" name="TextBox 18"/>
          <p:cNvSpPr txBox="1"/>
          <p:nvPr/>
        </p:nvSpPr>
        <p:spPr>
          <a:xfrm>
            <a:off x="4921504" y="2148840"/>
            <a:ext cx="1280160" cy="868680"/>
          </a:xfrm>
          <a:prstGeom prst="rect">
            <a:avLst/>
          </a:prstGeom>
          <a:noFill/>
        </p:spPr>
        <p:txBody>
          <a:bodyPr wrap="square" lIns="0" rIns="0" tIns="0" bIns="0" anchor="b"/>
          <a:lstStyle/>
          <a:p>
            <a:pPr algn="ctr">
              <a:spcAft>
                <a:spcPts val="400"/>
              </a:spcAft>
              <a:buNone/>
            </a:pPr>
            <a:r>
              <a:rPr sz="1200" b="0" i="0">
                <a:solidFill>
                  <a:srgbClr val="0E1F53"/>
                </a:solidFill>
                <a:latin typeface="Roboto"/>
              </a:rPr>
              <a:t>Beobachten</a:t>
            </a:r>
          </a:p>
        </p:txBody>
      </p:sp>
      <p:sp>
        <p:nvSpPr>
          <p:cNvPr id="20" name="Oval 19"/>
          <p:cNvSpPr/>
          <p:nvPr/>
        </p:nvSpPr>
        <p:spPr>
          <a:xfrm>
            <a:off x="6508496" y="3493008"/>
            <a:ext cx="237744" cy="237744"/>
          </a:xfrm>
          <a:prstGeom prst="ellipse">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078728" y="384048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17:40</a:t>
            </a:r>
          </a:p>
        </p:txBody>
      </p:sp>
      <p:sp>
        <p:nvSpPr>
          <p:cNvPr id="22" name="TextBox 21"/>
          <p:cNvSpPr txBox="1"/>
          <p:nvPr/>
        </p:nvSpPr>
        <p:spPr>
          <a:xfrm>
            <a:off x="5987288" y="4206240"/>
            <a:ext cx="1280160" cy="868680"/>
          </a:xfrm>
          <a:prstGeom prst="rect">
            <a:avLst/>
          </a:prstGeom>
          <a:noFill/>
        </p:spPr>
        <p:txBody>
          <a:bodyPr wrap="square" lIns="0" rIns="0" tIns="0" bIns="0" anchor="t"/>
          <a:lstStyle/>
          <a:p>
            <a:pPr algn="ctr">
              <a:spcAft>
                <a:spcPts val="400"/>
              </a:spcAft>
              <a:buNone/>
            </a:pPr>
            <a:r>
              <a:rPr sz="1200" b="0" i="0">
                <a:solidFill>
                  <a:srgbClr val="0E1F53"/>
                </a:solidFill>
                <a:latin typeface="Roboto"/>
              </a:rPr>
              <a:t>Pause</a:t>
            </a:r>
          </a:p>
        </p:txBody>
      </p:sp>
      <p:sp>
        <p:nvSpPr>
          <p:cNvPr id="23" name="Oval 22"/>
          <p:cNvSpPr/>
          <p:nvPr/>
        </p:nvSpPr>
        <p:spPr>
          <a:xfrm>
            <a:off x="7574280" y="3493008"/>
            <a:ext cx="237744" cy="23774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144512" y="306324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17:50</a:t>
            </a:r>
          </a:p>
        </p:txBody>
      </p:sp>
      <p:sp>
        <p:nvSpPr>
          <p:cNvPr id="25" name="TextBox 24"/>
          <p:cNvSpPr txBox="1"/>
          <p:nvPr/>
        </p:nvSpPr>
        <p:spPr>
          <a:xfrm>
            <a:off x="7053072" y="2148840"/>
            <a:ext cx="1280160" cy="868680"/>
          </a:xfrm>
          <a:prstGeom prst="rect">
            <a:avLst/>
          </a:prstGeom>
          <a:noFill/>
        </p:spPr>
        <p:txBody>
          <a:bodyPr wrap="square" lIns="0" rIns="0" tIns="0" bIns="0" anchor="b"/>
          <a:lstStyle/>
          <a:p>
            <a:pPr algn="ctr">
              <a:spcAft>
                <a:spcPts val="400"/>
              </a:spcAft>
              <a:buNone/>
            </a:pPr>
            <a:r>
              <a:rPr sz="1200" b="0" i="0">
                <a:solidFill>
                  <a:srgbClr val="0E1F53"/>
                </a:solidFill>
                <a:latin typeface="Roboto"/>
              </a:rPr>
              <a:t>Definieren</a:t>
            </a:r>
          </a:p>
        </p:txBody>
      </p:sp>
      <p:sp>
        <p:nvSpPr>
          <p:cNvPr id="26" name="Oval 25"/>
          <p:cNvSpPr/>
          <p:nvPr/>
        </p:nvSpPr>
        <p:spPr>
          <a:xfrm>
            <a:off x="8640064" y="3493008"/>
            <a:ext cx="237744" cy="23774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10296" y="384048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18:10</a:t>
            </a:r>
          </a:p>
        </p:txBody>
      </p:sp>
      <p:sp>
        <p:nvSpPr>
          <p:cNvPr id="28" name="TextBox 27"/>
          <p:cNvSpPr txBox="1"/>
          <p:nvPr/>
        </p:nvSpPr>
        <p:spPr>
          <a:xfrm>
            <a:off x="8118856" y="4206240"/>
            <a:ext cx="1280160" cy="868680"/>
          </a:xfrm>
          <a:prstGeom prst="rect">
            <a:avLst/>
          </a:prstGeom>
          <a:noFill/>
        </p:spPr>
        <p:txBody>
          <a:bodyPr wrap="square" lIns="0" rIns="0" tIns="0" bIns="0" anchor="t"/>
          <a:lstStyle/>
          <a:p>
            <a:pPr algn="ctr">
              <a:spcAft>
                <a:spcPts val="400"/>
              </a:spcAft>
              <a:buNone/>
            </a:pPr>
            <a:r>
              <a:rPr sz="1200" b="0" i="0">
                <a:solidFill>
                  <a:srgbClr val="0E1F53"/>
                </a:solidFill>
                <a:latin typeface="Roboto"/>
              </a:rPr>
              <a:t>Ideen finden</a:t>
            </a:r>
          </a:p>
        </p:txBody>
      </p:sp>
      <p:sp>
        <p:nvSpPr>
          <p:cNvPr id="29" name="Oval 28"/>
          <p:cNvSpPr/>
          <p:nvPr/>
        </p:nvSpPr>
        <p:spPr>
          <a:xfrm>
            <a:off x="9705848" y="3493008"/>
            <a:ext cx="237744" cy="2377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276080" y="306324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18:40</a:t>
            </a:r>
          </a:p>
        </p:txBody>
      </p:sp>
      <p:sp>
        <p:nvSpPr>
          <p:cNvPr id="31" name="TextBox 30"/>
          <p:cNvSpPr txBox="1"/>
          <p:nvPr/>
        </p:nvSpPr>
        <p:spPr>
          <a:xfrm>
            <a:off x="9184640" y="2148840"/>
            <a:ext cx="1280160" cy="868680"/>
          </a:xfrm>
          <a:prstGeom prst="rect">
            <a:avLst/>
          </a:prstGeom>
          <a:noFill/>
        </p:spPr>
        <p:txBody>
          <a:bodyPr wrap="square" lIns="0" rIns="0" tIns="0" bIns="0" anchor="b"/>
          <a:lstStyle/>
          <a:p>
            <a:pPr algn="ctr">
              <a:spcAft>
                <a:spcPts val="400"/>
              </a:spcAft>
              <a:buNone/>
            </a:pPr>
            <a:r>
              <a:rPr sz="1200" b="0" i="0">
                <a:solidFill>
                  <a:srgbClr val="0E1F53"/>
                </a:solidFill>
                <a:latin typeface="Roboto"/>
              </a:rPr>
              <a:t>Remote-Phase &amp; Ausblick</a:t>
            </a:r>
          </a:p>
        </p:txBody>
      </p:sp>
      <p:sp>
        <p:nvSpPr>
          <p:cNvPr id="32" name="Oval 31"/>
          <p:cNvSpPr/>
          <p:nvPr/>
        </p:nvSpPr>
        <p:spPr>
          <a:xfrm>
            <a:off x="10771632" y="3493008"/>
            <a:ext cx="237744" cy="2377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341864" y="384048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19:00</a:t>
            </a:r>
          </a:p>
        </p:txBody>
      </p:sp>
      <p:sp>
        <p:nvSpPr>
          <p:cNvPr id="34" name="TextBox 33"/>
          <p:cNvSpPr txBox="1"/>
          <p:nvPr/>
        </p:nvSpPr>
        <p:spPr>
          <a:xfrm>
            <a:off x="10250424" y="4206240"/>
            <a:ext cx="1280160" cy="868680"/>
          </a:xfrm>
          <a:prstGeom prst="rect">
            <a:avLst/>
          </a:prstGeom>
          <a:noFill/>
        </p:spPr>
        <p:txBody>
          <a:bodyPr wrap="square" lIns="0" rIns="0" tIns="0" bIns="0" anchor="t"/>
          <a:lstStyle/>
          <a:p>
            <a:pPr algn="ctr">
              <a:spcAft>
                <a:spcPts val="400"/>
              </a:spcAft>
              <a:buNone/>
            </a:pPr>
            <a:r>
              <a:rPr sz="1200" b="0" i="0">
                <a:solidFill>
                  <a:srgbClr val="0E1F53"/>
                </a:solidFill>
                <a:latin typeface="Roboto"/>
              </a:rPr>
              <a:t>Ende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Was Sie mitnehmen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ZIELE</a:t>
            </a:r>
          </a:p>
        </p:txBody>
      </p:sp>
      <p:sp>
        <p:nvSpPr>
          <p:cNvPr id="4" name="Rounded Rectangle 3"/>
          <p:cNvSpPr/>
          <p:nvPr/>
        </p:nvSpPr>
        <p:spPr>
          <a:xfrm>
            <a:off x="841248" y="2011680"/>
            <a:ext cx="3319272"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9848" y="221284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Compass_w.png"/>
          <p:cNvPicPr>
            <a:picLocks noChangeAspect="1"/>
          </p:cNvPicPr>
          <p:nvPr/>
        </p:nvPicPr>
        <p:blipFill>
          <a:blip r:embed="rId3"/>
          <a:stretch>
            <a:fillRect/>
          </a:stretch>
        </p:blipFill>
        <p:spPr>
          <a:xfrm>
            <a:off x="1201521" y="2344521"/>
            <a:ext cx="285292" cy="285292"/>
          </a:xfrm>
          <a:prstGeom prst="rect">
            <a:avLst/>
          </a:prstGeom>
        </p:spPr>
      </p:pic>
      <p:sp>
        <p:nvSpPr>
          <p:cNvPr id="7" name="TextBox 6"/>
          <p:cNvSpPr txBox="1"/>
          <p:nvPr/>
        </p:nvSpPr>
        <p:spPr>
          <a:xfrm>
            <a:off x="1755648" y="2212848"/>
            <a:ext cx="2221992" cy="548640"/>
          </a:xfrm>
          <a:prstGeom prst="rect">
            <a:avLst/>
          </a:prstGeom>
          <a:noFill/>
        </p:spPr>
        <p:txBody>
          <a:bodyPr wrap="square" lIns="0" rIns="0" tIns="0" bIns="0" anchor="ctr"/>
          <a:lstStyle/>
          <a:p>
            <a:pPr algn="l">
              <a:spcAft>
                <a:spcPts val="400"/>
              </a:spcAft>
              <a:buNone/>
            </a:pPr>
            <a:r>
              <a:rPr sz="1600" b="1" i="0">
                <a:solidFill>
                  <a:srgbClr val="0E1F53"/>
                </a:solidFill>
                <a:latin typeface="Roboto"/>
              </a:rPr>
              <a:t>Prozess erleben</a:t>
            </a:r>
          </a:p>
        </p:txBody>
      </p:sp>
      <p:sp>
        <p:nvSpPr>
          <p:cNvPr id="8" name="TextBox 7"/>
          <p:cNvSpPr txBox="1"/>
          <p:nvPr/>
        </p:nvSpPr>
        <p:spPr>
          <a:xfrm>
            <a:off x="1069848" y="2880360"/>
            <a:ext cx="2862072" cy="1508760"/>
          </a:xfrm>
          <a:prstGeom prst="rect">
            <a:avLst/>
          </a:prstGeom>
          <a:noFill/>
        </p:spPr>
        <p:txBody>
          <a:bodyPr wrap="square" lIns="0" rIns="0" tIns="0" bIns="0" anchor="t"/>
          <a:lstStyle/>
          <a:p>
            <a:pPr algn="l">
              <a:spcAft>
                <a:spcPts val="400"/>
              </a:spcAft>
              <a:buNone/>
            </a:pPr>
            <a:r>
              <a:rPr sz="1350" b="0" i="0">
                <a:solidFill>
                  <a:srgbClr val="0E1F53"/>
                </a:solidFill>
                <a:latin typeface="Roboto"/>
              </a:rPr>
              <a:t>Den Design-Thinking-Prozess an einer eigenen Innovations-Challenge anwenden.</a:t>
            </a:r>
          </a:p>
        </p:txBody>
      </p:sp>
      <p:sp>
        <p:nvSpPr>
          <p:cNvPr id="9" name="Rounded Rectangle 8"/>
          <p:cNvSpPr/>
          <p:nvPr/>
        </p:nvSpPr>
        <p:spPr>
          <a:xfrm>
            <a:off x="4434840" y="2011680"/>
            <a:ext cx="3319272"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663440" y="2212848"/>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Bot_w.png"/>
          <p:cNvPicPr>
            <a:picLocks noChangeAspect="1"/>
          </p:cNvPicPr>
          <p:nvPr/>
        </p:nvPicPr>
        <p:blipFill>
          <a:blip r:embed="rId4"/>
          <a:stretch>
            <a:fillRect/>
          </a:stretch>
        </p:blipFill>
        <p:spPr>
          <a:xfrm>
            <a:off x="4795113" y="2344521"/>
            <a:ext cx="285292" cy="285292"/>
          </a:xfrm>
          <a:prstGeom prst="rect">
            <a:avLst/>
          </a:prstGeom>
        </p:spPr>
      </p:pic>
      <p:sp>
        <p:nvSpPr>
          <p:cNvPr id="12" name="TextBox 11"/>
          <p:cNvSpPr txBox="1"/>
          <p:nvPr/>
        </p:nvSpPr>
        <p:spPr>
          <a:xfrm>
            <a:off x="5349240" y="2212848"/>
            <a:ext cx="2221992" cy="548640"/>
          </a:xfrm>
          <a:prstGeom prst="rect">
            <a:avLst/>
          </a:prstGeom>
          <a:noFill/>
        </p:spPr>
        <p:txBody>
          <a:bodyPr wrap="square" lIns="0" rIns="0" tIns="0" bIns="0" anchor="ctr"/>
          <a:lstStyle/>
          <a:p>
            <a:pPr algn="l">
              <a:spcAft>
                <a:spcPts val="400"/>
              </a:spcAft>
              <a:buNone/>
            </a:pPr>
            <a:r>
              <a:rPr sz="1600" b="1" i="0">
                <a:solidFill>
                  <a:srgbClr val="0E1F53"/>
                </a:solidFill>
                <a:latin typeface="Roboto"/>
              </a:rPr>
              <a:t>KI als Sparringspartner</a:t>
            </a:r>
          </a:p>
        </p:txBody>
      </p:sp>
      <p:sp>
        <p:nvSpPr>
          <p:cNvPr id="13" name="TextBox 12"/>
          <p:cNvSpPr txBox="1"/>
          <p:nvPr/>
        </p:nvSpPr>
        <p:spPr>
          <a:xfrm>
            <a:off x="4663440" y="2880360"/>
            <a:ext cx="2862072" cy="1508760"/>
          </a:xfrm>
          <a:prstGeom prst="rect">
            <a:avLst/>
          </a:prstGeom>
          <a:noFill/>
        </p:spPr>
        <p:txBody>
          <a:bodyPr wrap="square" lIns="0" rIns="0" tIns="0" bIns="0" anchor="t"/>
          <a:lstStyle/>
          <a:p>
            <a:pPr algn="l">
              <a:spcAft>
                <a:spcPts val="400"/>
              </a:spcAft>
              <a:buNone/>
            </a:pPr>
            <a:r>
              <a:rPr sz="1350" b="0" i="0">
                <a:solidFill>
                  <a:srgbClr val="0E1F53"/>
                </a:solidFill>
                <a:latin typeface="Roboto"/>
              </a:rPr>
              <a:t>Erleben, wie KI-Agenten jede Phase unterstützen, mit fertigen Systemprompts.</a:t>
            </a:r>
          </a:p>
        </p:txBody>
      </p:sp>
      <p:sp>
        <p:nvSpPr>
          <p:cNvPr id="14" name="Rounded Rectangle 13"/>
          <p:cNvSpPr/>
          <p:nvPr/>
        </p:nvSpPr>
        <p:spPr>
          <a:xfrm>
            <a:off x="8028432" y="2011680"/>
            <a:ext cx="3319272"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57032" y="221284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Rocket_w.png"/>
          <p:cNvPicPr>
            <a:picLocks noChangeAspect="1"/>
          </p:cNvPicPr>
          <p:nvPr/>
        </p:nvPicPr>
        <p:blipFill>
          <a:blip r:embed="rId5"/>
          <a:stretch>
            <a:fillRect/>
          </a:stretch>
        </p:blipFill>
        <p:spPr>
          <a:xfrm>
            <a:off x="8388705" y="2344521"/>
            <a:ext cx="285292" cy="285292"/>
          </a:xfrm>
          <a:prstGeom prst="rect">
            <a:avLst/>
          </a:prstGeom>
        </p:spPr>
      </p:pic>
      <p:sp>
        <p:nvSpPr>
          <p:cNvPr id="17" name="TextBox 16"/>
          <p:cNvSpPr txBox="1"/>
          <p:nvPr/>
        </p:nvSpPr>
        <p:spPr>
          <a:xfrm>
            <a:off x="8942832" y="2212848"/>
            <a:ext cx="2221992" cy="548640"/>
          </a:xfrm>
          <a:prstGeom prst="rect">
            <a:avLst/>
          </a:prstGeom>
          <a:noFill/>
        </p:spPr>
        <p:txBody>
          <a:bodyPr wrap="square" lIns="0" rIns="0" tIns="0" bIns="0" anchor="ctr"/>
          <a:lstStyle/>
          <a:p>
            <a:pPr algn="l">
              <a:spcAft>
                <a:spcPts val="400"/>
              </a:spcAft>
              <a:buNone/>
            </a:pPr>
            <a:r>
              <a:rPr sz="1600" b="1" i="0">
                <a:solidFill>
                  <a:srgbClr val="0E1F53"/>
                </a:solidFill>
                <a:latin typeface="Roboto"/>
              </a:rPr>
              <a:t>Startklar für die Praxis</a:t>
            </a:r>
          </a:p>
        </p:txBody>
      </p:sp>
      <p:sp>
        <p:nvSpPr>
          <p:cNvPr id="18" name="TextBox 17"/>
          <p:cNvSpPr txBox="1"/>
          <p:nvPr/>
        </p:nvSpPr>
        <p:spPr>
          <a:xfrm>
            <a:off x="8257032" y="2880360"/>
            <a:ext cx="2862072" cy="1508760"/>
          </a:xfrm>
          <a:prstGeom prst="rect">
            <a:avLst/>
          </a:prstGeom>
          <a:noFill/>
        </p:spPr>
        <p:txBody>
          <a:bodyPr wrap="square" lIns="0" rIns="0" tIns="0" bIns="0" anchor="t"/>
          <a:lstStyle/>
          <a:p>
            <a:pPr algn="l">
              <a:spcAft>
                <a:spcPts val="400"/>
              </a:spcAft>
              <a:buNone/>
            </a:pPr>
            <a:r>
              <a:rPr sz="1350" b="0" i="0">
                <a:solidFill>
                  <a:srgbClr val="0E1F53"/>
                </a:solidFill>
                <a:latin typeface="Roboto"/>
              </a:rPr>
              <a:t>Mit Leitfaden, Persona-Entwurf und Ideen in die Remote-Phase gehen.</a:t>
            </a:r>
          </a:p>
        </p:txBody>
      </p:sp>
      <p:sp>
        <p:nvSpPr>
          <p:cNvPr id="19" name="Rounded Rectangle 18"/>
          <p:cNvSpPr/>
          <p:nvPr/>
        </p:nvSpPr>
        <p:spPr>
          <a:xfrm>
            <a:off x="841248" y="4800600"/>
            <a:ext cx="10506456" cy="118872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Target_w.png"/>
          <p:cNvPicPr>
            <a:picLocks noChangeAspect="1"/>
          </p:cNvPicPr>
          <p:nvPr/>
        </p:nvPicPr>
        <p:blipFill>
          <a:blip r:embed="rId6"/>
          <a:stretch>
            <a:fillRect/>
          </a:stretch>
        </p:blipFill>
        <p:spPr>
          <a:xfrm>
            <a:off x="1115568" y="5120640"/>
            <a:ext cx="548640" cy="548640"/>
          </a:xfrm>
          <a:prstGeom prst="rect">
            <a:avLst/>
          </a:prstGeom>
        </p:spPr>
      </p:pic>
      <p:sp>
        <p:nvSpPr>
          <p:cNvPr id="21" name="TextBox 20"/>
          <p:cNvSpPr txBox="1"/>
          <p:nvPr/>
        </p:nvSpPr>
        <p:spPr>
          <a:xfrm>
            <a:off x="1892807" y="4800600"/>
            <a:ext cx="9180576" cy="1188720"/>
          </a:xfrm>
          <a:prstGeom prst="rect">
            <a:avLst/>
          </a:prstGeom>
          <a:noFill/>
        </p:spPr>
        <p:txBody>
          <a:bodyPr wrap="square" lIns="0" rIns="0" tIns="0" bIns="0" anchor="ctr"/>
          <a:lstStyle/>
          <a:p>
            <a:pPr algn="l">
              <a:spcAft>
                <a:spcPts val="400"/>
              </a:spcAft>
              <a:buNone/>
            </a:pPr>
            <a:r>
              <a:rPr sz="1600" b="1" i="0">
                <a:solidFill>
                  <a:srgbClr val="FFFFFF"/>
                </a:solidFill>
                <a:latin typeface="Roboto"/>
              </a:rPr>
              <a:t>Am Ende der Reihe: Ihr erster Prototyp, Feedback aus dem Pitch und Ihr Innovation Canvas.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Innovation</a:t>
            </a:r>
          </a:p>
        </p:txBody>
      </p:sp>
      <p:sp>
        <p:nvSpPr>
          <p:cNvPr id="3" name="Text Placeholder 2"/>
          <p:cNvSpPr>
            <a:spLocks noGrp="1"/>
          </p:cNvSpPr>
          <p:nvPr>
            <p:ph type="body" idx="11" sz="quarter"/>
          </p:nvPr>
        </p:nvSpPr>
        <p:spPr/>
        <p:txBody>
          <a:bodyPr/>
          <a:lstStyle/>
          <a:p>
            <a:r>
              <a:rPr b="0" sz="2000"/>
              <a:t>Warum Innovation für KMU über die Zukunft entscheidet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Innovation = Idee × Umsetzung × Nutzen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Rounded Rectangle 3"/>
          <p:cNvSpPr/>
          <p:nvPr/>
        </p:nvSpPr>
        <p:spPr>
          <a:xfrm>
            <a:off x="841248" y="2103120"/>
            <a:ext cx="2926080"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920240" y="2331720"/>
            <a:ext cx="768096" cy="7680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Lightbulb_w.png"/>
          <p:cNvPicPr>
            <a:picLocks noChangeAspect="1"/>
          </p:cNvPicPr>
          <p:nvPr/>
        </p:nvPicPr>
        <p:blipFill>
          <a:blip r:embed="rId3"/>
          <a:stretch>
            <a:fillRect/>
          </a:stretch>
        </p:blipFill>
        <p:spPr>
          <a:xfrm>
            <a:off x="2104583" y="2516063"/>
            <a:ext cx="399409" cy="399409"/>
          </a:xfrm>
          <a:prstGeom prst="rect">
            <a:avLst/>
          </a:prstGeom>
        </p:spPr>
      </p:pic>
      <p:sp>
        <p:nvSpPr>
          <p:cNvPr id="7" name="TextBox 6"/>
          <p:cNvSpPr txBox="1"/>
          <p:nvPr/>
        </p:nvSpPr>
        <p:spPr>
          <a:xfrm>
            <a:off x="1024128" y="3200400"/>
            <a:ext cx="2560320" cy="411480"/>
          </a:xfrm>
          <a:prstGeom prst="rect">
            <a:avLst/>
          </a:prstGeom>
          <a:noFill/>
        </p:spPr>
        <p:txBody>
          <a:bodyPr wrap="square" lIns="0" rIns="0" tIns="0" bIns="0" anchor="t"/>
          <a:lstStyle/>
          <a:p>
            <a:pPr algn="ctr">
              <a:spcAft>
                <a:spcPts val="400"/>
              </a:spcAft>
              <a:buNone/>
            </a:pPr>
            <a:r>
              <a:rPr sz="2000" b="1" i="0">
                <a:solidFill>
                  <a:srgbClr val="0E1F53"/>
                </a:solidFill>
                <a:latin typeface="Roboto"/>
              </a:rPr>
              <a:t>Idee</a:t>
            </a:r>
          </a:p>
        </p:txBody>
      </p:sp>
      <p:sp>
        <p:nvSpPr>
          <p:cNvPr id="8" name="TextBox 7"/>
          <p:cNvSpPr txBox="1"/>
          <p:nvPr/>
        </p:nvSpPr>
        <p:spPr>
          <a:xfrm>
            <a:off x="1069848" y="3657600"/>
            <a:ext cx="2468880" cy="914400"/>
          </a:xfrm>
          <a:prstGeom prst="rect">
            <a:avLst/>
          </a:prstGeom>
          <a:noFill/>
        </p:spPr>
        <p:txBody>
          <a:bodyPr wrap="square" lIns="0" rIns="0" tIns="0" bIns="0" anchor="t"/>
          <a:lstStyle/>
          <a:p>
            <a:pPr algn="ctr">
              <a:spcAft>
                <a:spcPts val="400"/>
              </a:spcAft>
              <a:buNone/>
            </a:pPr>
            <a:r>
              <a:rPr sz="1350" b="0" i="0">
                <a:solidFill>
                  <a:srgbClr val="0E1F53"/>
                </a:solidFill>
                <a:latin typeface="Roboto"/>
              </a:rPr>
              <a:t>Etwas Neues oder deutlich Verbessertes: Produkt, Service, Prozess oder Geschäftsmodell</a:t>
            </a:r>
          </a:p>
        </p:txBody>
      </p:sp>
      <p:sp>
        <p:nvSpPr>
          <p:cNvPr id="9" name="TextBox 8"/>
          <p:cNvSpPr txBox="1"/>
          <p:nvPr/>
        </p:nvSpPr>
        <p:spPr>
          <a:xfrm>
            <a:off x="3767328" y="3017520"/>
            <a:ext cx="868680" cy="640080"/>
          </a:xfrm>
          <a:prstGeom prst="rect">
            <a:avLst/>
          </a:prstGeom>
          <a:noFill/>
        </p:spPr>
        <p:txBody>
          <a:bodyPr wrap="square" lIns="0" rIns="0" tIns="0" bIns="0" anchor="ctr"/>
          <a:lstStyle/>
          <a:p>
            <a:pPr algn="ctr">
              <a:spcAft>
                <a:spcPts val="400"/>
              </a:spcAft>
              <a:buNone/>
            </a:pPr>
            <a:r>
              <a:rPr sz="4000" b="1" i="0">
                <a:solidFill>
                  <a:srgbClr val="FB2762"/>
                </a:solidFill>
                <a:latin typeface="Roboto"/>
              </a:rPr>
              <a:t>×</a:t>
            </a:r>
          </a:p>
        </p:txBody>
      </p:sp>
      <p:sp>
        <p:nvSpPr>
          <p:cNvPr id="10" name="Rounded Rectangle 9"/>
          <p:cNvSpPr/>
          <p:nvPr/>
        </p:nvSpPr>
        <p:spPr>
          <a:xfrm>
            <a:off x="4636008" y="2103120"/>
            <a:ext cx="2926080"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715000" y="2331720"/>
            <a:ext cx="768096" cy="7680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Settings_w.png"/>
          <p:cNvPicPr>
            <a:picLocks noChangeAspect="1"/>
          </p:cNvPicPr>
          <p:nvPr/>
        </p:nvPicPr>
        <p:blipFill>
          <a:blip r:embed="rId4"/>
          <a:stretch>
            <a:fillRect/>
          </a:stretch>
        </p:blipFill>
        <p:spPr>
          <a:xfrm>
            <a:off x="5899343" y="2516063"/>
            <a:ext cx="399409" cy="399409"/>
          </a:xfrm>
          <a:prstGeom prst="rect">
            <a:avLst/>
          </a:prstGeom>
        </p:spPr>
      </p:pic>
      <p:sp>
        <p:nvSpPr>
          <p:cNvPr id="13" name="TextBox 12"/>
          <p:cNvSpPr txBox="1"/>
          <p:nvPr/>
        </p:nvSpPr>
        <p:spPr>
          <a:xfrm>
            <a:off x="4818888" y="3200400"/>
            <a:ext cx="2560320" cy="411480"/>
          </a:xfrm>
          <a:prstGeom prst="rect">
            <a:avLst/>
          </a:prstGeom>
          <a:noFill/>
        </p:spPr>
        <p:txBody>
          <a:bodyPr wrap="square" lIns="0" rIns="0" tIns="0" bIns="0" anchor="t"/>
          <a:lstStyle/>
          <a:p>
            <a:pPr algn="ctr">
              <a:spcAft>
                <a:spcPts val="400"/>
              </a:spcAft>
              <a:buNone/>
            </a:pPr>
            <a:r>
              <a:rPr sz="2000" b="1" i="0">
                <a:solidFill>
                  <a:srgbClr val="0E1F53"/>
                </a:solidFill>
                <a:latin typeface="Roboto"/>
              </a:rPr>
              <a:t>Umsetzung</a:t>
            </a:r>
          </a:p>
        </p:txBody>
      </p:sp>
      <p:sp>
        <p:nvSpPr>
          <p:cNvPr id="14" name="TextBox 13"/>
          <p:cNvSpPr txBox="1"/>
          <p:nvPr/>
        </p:nvSpPr>
        <p:spPr>
          <a:xfrm>
            <a:off x="4864608" y="3657600"/>
            <a:ext cx="2468880" cy="914400"/>
          </a:xfrm>
          <a:prstGeom prst="rect">
            <a:avLst/>
          </a:prstGeom>
          <a:noFill/>
        </p:spPr>
        <p:txBody>
          <a:bodyPr wrap="square" lIns="0" rIns="0" tIns="0" bIns="0" anchor="t"/>
          <a:lstStyle/>
          <a:p>
            <a:pPr algn="ctr">
              <a:spcAft>
                <a:spcPts val="400"/>
              </a:spcAft>
              <a:buNone/>
            </a:pPr>
            <a:r>
              <a:rPr sz="1350" b="0" i="0">
                <a:solidFill>
                  <a:srgbClr val="0E1F53"/>
                </a:solidFill>
                <a:latin typeface="Roboto"/>
              </a:rPr>
              <a:t>Die Idee wird eingeführt: am Markt oder im eigenen Betrieb</a:t>
            </a:r>
          </a:p>
        </p:txBody>
      </p:sp>
      <p:sp>
        <p:nvSpPr>
          <p:cNvPr id="15" name="TextBox 14"/>
          <p:cNvSpPr txBox="1"/>
          <p:nvPr/>
        </p:nvSpPr>
        <p:spPr>
          <a:xfrm>
            <a:off x="7562088" y="3017520"/>
            <a:ext cx="868680" cy="640080"/>
          </a:xfrm>
          <a:prstGeom prst="rect">
            <a:avLst/>
          </a:prstGeom>
          <a:noFill/>
        </p:spPr>
        <p:txBody>
          <a:bodyPr wrap="square" lIns="0" rIns="0" tIns="0" bIns="0" anchor="ctr"/>
          <a:lstStyle/>
          <a:p>
            <a:pPr algn="ctr">
              <a:spcAft>
                <a:spcPts val="400"/>
              </a:spcAft>
              <a:buNone/>
            </a:pPr>
            <a:r>
              <a:rPr sz="4000" b="1" i="0">
                <a:solidFill>
                  <a:srgbClr val="FB2762"/>
                </a:solidFill>
                <a:latin typeface="Roboto"/>
              </a:rPr>
              <a:t>×</a:t>
            </a:r>
          </a:p>
        </p:txBody>
      </p:sp>
      <p:sp>
        <p:nvSpPr>
          <p:cNvPr id="16" name="Rounded Rectangle 15"/>
          <p:cNvSpPr/>
          <p:nvPr/>
        </p:nvSpPr>
        <p:spPr>
          <a:xfrm>
            <a:off x="8430768" y="2103120"/>
            <a:ext cx="2926080"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509760" y="2331720"/>
            <a:ext cx="768096" cy="7680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TrendingUp_w.png"/>
          <p:cNvPicPr>
            <a:picLocks noChangeAspect="1"/>
          </p:cNvPicPr>
          <p:nvPr/>
        </p:nvPicPr>
        <p:blipFill>
          <a:blip r:embed="rId5"/>
          <a:stretch>
            <a:fillRect/>
          </a:stretch>
        </p:blipFill>
        <p:spPr>
          <a:xfrm>
            <a:off x="9694103" y="2516063"/>
            <a:ext cx="399409" cy="399409"/>
          </a:xfrm>
          <a:prstGeom prst="rect">
            <a:avLst/>
          </a:prstGeom>
        </p:spPr>
      </p:pic>
      <p:sp>
        <p:nvSpPr>
          <p:cNvPr id="19" name="TextBox 18"/>
          <p:cNvSpPr txBox="1"/>
          <p:nvPr/>
        </p:nvSpPr>
        <p:spPr>
          <a:xfrm>
            <a:off x="8613648" y="3200400"/>
            <a:ext cx="2560320" cy="411480"/>
          </a:xfrm>
          <a:prstGeom prst="rect">
            <a:avLst/>
          </a:prstGeom>
          <a:noFill/>
        </p:spPr>
        <p:txBody>
          <a:bodyPr wrap="square" lIns="0" rIns="0" tIns="0" bIns="0" anchor="t"/>
          <a:lstStyle/>
          <a:p>
            <a:pPr algn="ctr">
              <a:spcAft>
                <a:spcPts val="400"/>
              </a:spcAft>
              <a:buNone/>
            </a:pPr>
            <a:r>
              <a:rPr sz="2000" b="1" i="0">
                <a:solidFill>
                  <a:srgbClr val="0E1F53"/>
                </a:solidFill>
                <a:latin typeface="Roboto"/>
              </a:rPr>
              <a:t>Nutzen</a:t>
            </a:r>
          </a:p>
        </p:txBody>
      </p:sp>
      <p:sp>
        <p:nvSpPr>
          <p:cNvPr id="20" name="TextBox 19"/>
          <p:cNvSpPr txBox="1"/>
          <p:nvPr/>
        </p:nvSpPr>
        <p:spPr>
          <a:xfrm>
            <a:off x="8659368" y="3657600"/>
            <a:ext cx="2468880" cy="914400"/>
          </a:xfrm>
          <a:prstGeom prst="rect">
            <a:avLst/>
          </a:prstGeom>
          <a:noFill/>
        </p:spPr>
        <p:txBody>
          <a:bodyPr wrap="square" lIns="0" rIns="0" tIns="0" bIns="0" anchor="t"/>
          <a:lstStyle/>
          <a:p>
            <a:pPr algn="ctr">
              <a:spcAft>
                <a:spcPts val="400"/>
              </a:spcAft>
              <a:buNone/>
            </a:pPr>
            <a:r>
              <a:rPr sz="1350" b="0" i="0">
                <a:solidFill>
                  <a:srgbClr val="0E1F53"/>
                </a:solidFill>
                <a:latin typeface="Roboto"/>
              </a:rPr>
              <a:t>Kundschaft oder Unternehmen haben einen spürbaren Mehrwert</a:t>
            </a:r>
          </a:p>
        </p:txBody>
      </p:sp>
      <p:sp>
        <p:nvSpPr>
          <p:cNvPr id="21" name="Rounded Rectangle 20"/>
          <p:cNvSpPr/>
          <p:nvPr/>
        </p:nvSpPr>
        <p:spPr>
          <a:xfrm>
            <a:off x="841248" y="4937760"/>
            <a:ext cx="10506456" cy="100584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161288" y="4937760"/>
            <a:ext cx="9866376" cy="1005840"/>
          </a:xfrm>
          <a:prstGeom prst="rect">
            <a:avLst/>
          </a:prstGeom>
          <a:noFill/>
        </p:spPr>
        <p:txBody>
          <a:bodyPr wrap="square" lIns="0" rIns="0" tIns="0" bIns="0" anchor="ctr"/>
          <a:lstStyle/>
          <a:p>
            <a:pPr algn="l">
              <a:spcAft>
                <a:spcPts val="400"/>
              </a:spcAft>
              <a:buNone/>
            </a:pPr>
            <a:r>
              <a:rPr sz="1500" b="1" i="0">
                <a:solidFill>
                  <a:srgbClr val="9FD0FF"/>
                </a:solidFill>
                <a:latin typeface="Roboto"/>
              </a:rPr>
              <a:t>Merksatz: </a:t>
            </a:r>
            <a:r>
              <a:rPr sz="1500" b="0" i="0">
                <a:solidFill>
                  <a:srgbClr val="FFFFFF"/>
                </a:solidFill>
                <a:latin typeface="Roboto"/>
              </a:rPr>
              <a:t>Ist einer der drei Faktoren null, ist das Ergebnis null. Eine geniale Idee ohne Umsetzung ist keine Innovation, eine perfekte Umsetzung ohne Nutzen auch nicht.</a:t>
            </a:r>
          </a:p>
        </p:txBody>
      </p:sp>
      <p:sp>
        <p:nvSpPr>
          <p:cNvPr id="23" name="TextBox 22"/>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Definition angelehnt an OECD/Eurostat (2018): Oslo Manual, 4. Auflage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Der Mittelstand innoviert, aber zu wenige und zu ungleich</a:t>
            </a:r>
          </a:p>
        </p:txBody>
      </p:sp>
      <p:sp>
        <p:nvSpPr>
          <p:cNvPr id="3" name="Rounded Rectangle 2"/>
          <p:cNvSpPr/>
          <p:nvPr/>
        </p:nvSpPr>
        <p:spPr>
          <a:xfrm>
            <a:off x="841248" y="850392"/>
            <a:ext cx="1536192"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ZAHLEN &amp; FAKTEN</a:t>
            </a:r>
          </a:p>
        </p:txBody>
      </p:sp>
      <p:sp>
        <p:nvSpPr>
          <p:cNvPr id="4" name="Rounded Rectangle 3"/>
          <p:cNvSpPr/>
          <p:nvPr/>
        </p:nvSpPr>
        <p:spPr>
          <a:xfrm>
            <a:off x="841248" y="2057400"/>
            <a:ext cx="5116068"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61288" y="2240280"/>
            <a:ext cx="4475988" cy="777240"/>
          </a:xfrm>
          <a:prstGeom prst="rect">
            <a:avLst/>
          </a:prstGeom>
          <a:noFill/>
        </p:spPr>
        <p:txBody>
          <a:bodyPr wrap="square" lIns="0" rIns="0" tIns="0" bIns="0" anchor="t"/>
          <a:lstStyle/>
          <a:p>
            <a:pPr algn="l">
              <a:spcAft>
                <a:spcPts val="400"/>
              </a:spcAft>
              <a:buNone/>
            </a:pPr>
            <a:r>
              <a:rPr sz="3600" b="1" i="0">
                <a:solidFill>
                  <a:srgbClr val="0E1F53"/>
                </a:solidFill>
                <a:latin typeface="Roboto"/>
              </a:rPr>
              <a:t>41 %</a:t>
            </a:r>
          </a:p>
        </p:txBody>
      </p:sp>
      <p:sp>
        <p:nvSpPr>
          <p:cNvPr id="6" name="TextBox 5"/>
          <p:cNvSpPr txBox="1"/>
          <p:nvPr/>
        </p:nvSpPr>
        <p:spPr>
          <a:xfrm>
            <a:off x="1161288" y="2990088"/>
            <a:ext cx="4475988" cy="594360"/>
          </a:xfrm>
          <a:prstGeom prst="rect">
            <a:avLst/>
          </a:prstGeom>
          <a:noFill/>
        </p:spPr>
        <p:txBody>
          <a:bodyPr wrap="square" lIns="0" rIns="0" tIns="0" bIns="0" anchor="t"/>
          <a:lstStyle/>
          <a:p>
            <a:pPr algn="l">
              <a:spcAft>
                <a:spcPts val="400"/>
              </a:spcAft>
              <a:buNone/>
            </a:pPr>
            <a:r>
              <a:rPr sz="1400" b="0" i="0">
                <a:solidFill>
                  <a:srgbClr val="0E1F53"/>
                </a:solidFill>
                <a:latin typeface="Roboto"/>
              </a:rPr>
              <a:t>der mittelständischen Unternehmen haben 2022–2024 mindestens eine Innovation eingeführt</a:t>
            </a:r>
          </a:p>
        </p:txBody>
      </p:sp>
      <p:sp>
        <p:nvSpPr>
          <p:cNvPr id="7" name="TextBox 6"/>
          <p:cNvSpPr txBox="1"/>
          <p:nvPr/>
        </p:nvSpPr>
        <p:spPr>
          <a:xfrm>
            <a:off x="4311396" y="2286000"/>
            <a:ext cx="1371600" cy="274320"/>
          </a:xfrm>
          <a:prstGeom prst="rect">
            <a:avLst/>
          </a:prstGeom>
          <a:noFill/>
        </p:spPr>
        <p:txBody>
          <a:bodyPr wrap="square" lIns="0" rIns="0" tIns="0" bIns="0" anchor="t"/>
          <a:lstStyle/>
          <a:p>
            <a:pPr algn="r">
              <a:spcAft>
                <a:spcPts val="400"/>
              </a:spcAft>
              <a:buNone/>
            </a:pPr>
            <a:r>
              <a:rPr sz="1000" b="0" i="0">
                <a:solidFill>
                  <a:srgbClr val="5A6684"/>
                </a:solidFill>
                <a:latin typeface="Roboto"/>
              </a:rPr>
              <a:t>KfW 2025</a:t>
            </a:r>
          </a:p>
        </p:txBody>
      </p:sp>
      <p:sp>
        <p:nvSpPr>
          <p:cNvPr id="8" name="Rounded Rectangle 7"/>
          <p:cNvSpPr/>
          <p:nvPr/>
        </p:nvSpPr>
        <p:spPr>
          <a:xfrm>
            <a:off x="6231636" y="2057400"/>
            <a:ext cx="5116068"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51675" y="2240280"/>
            <a:ext cx="4475988" cy="777240"/>
          </a:xfrm>
          <a:prstGeom prst="rect">
            <a:avLst/>
          </a:prstGeom>
          <a:noFill/>
        </p:spPr>
        <p:txBody>
          <a:bodyPr wrap="square" lIns="0" rIns="0" tIns="0" bIns="0" anchor="t"/>
          <a:lstStyle/>
          <a:p>
            <a:pPr algn="l">
              <a:spcAft>
                <a:spcPts val="400"/>
              </a:spcAft>
              <a:buNone/>
            </a:pPr>
            <a:r>
              <a:rPr sz="3600" b="1" i="0">
                <a:solidFill>
                  <a:srgbClr val="FB2762"/>
                </a:solidFill>
                <a:latin typeface="Roboto"/>
              </a:rPr>
              <a:t>73 % vs. 37 %</a:t>
            </a:r>
          </a:p>
        </p:txBody>
      </p:sp>
      <p:sp>
        <p:nvSpPr>
          <p:cNvPr id="10" name="TextBox 9"/>
          <p:cNvSpPr txBox="1"/>
          <p:nvPr/>
        </p:nvSpPr>
        <p:spPr>
          <a:xfrm>
            <a:off x="6551675" y="2990088"/>
            <a:ext cx="4475988" cy="594360"/>
          </a:xfrm>
          <a:prstGeom prst="rect">
            <a:avLst/>
          </a:prstGeom>
          <a:noFill/>
        </p:spPr>
        <p:txBody>
          <a:bodyPr wrap="square" lIns="0" rIns="0" tIns="0" bIns="0" anchor="t"/>
          <a:lstStyle/>
          <a:p>
            <a:pPr algn="l">
              <a:spcAft>
                <a:spcPts val="400"/>
              </a:spcAft>
              <a:buNone/>
            </a:pPr>
            <a:r>
              <a:rPr sz="1400" b="0" i="0">
                <a:solidFill>
                  <a:srgbClr val="0E1F53"/>
                </a:solidFill>
                <a:latin typeface="Roboto"/>
              </a:rPr>
              <a:t>Innovationserfolg: größere Mittelständler gegenüber kleinen Unternehmen</a:t>
            </a:r>
          </a:p>
        </p:txBody>
      </p:sp>
      <p:sp>
        <p:nvSpPr>
          <p:cNvPr id="11" name="TextBox 10"/>
          <p:cNvSpPr txBox="1"/>
          <p:nvPr/>
        </p:nvSpPr>
        <p:spPr>
          <a:xfrm>
            <a:off x="9701784" y="2286000"/>
            <a:ext cx="1371600" cy="274320"/>
          </a:xfrm>
          <a:prstGeom prst="rect">
            <a:avLst/>
          </a:prstGeom>
          <a:noFill/>
        </p:spPr>
        <p:txBody>
          <a:bodyPr wrap="square" lIns="0" rIns="0" tIns="0" bIns="0" anchor="t"/>
          <a:lstStyle/>
          <a:p>
            <a:pPr algn="r">
              <a:spcAft>
                <a:spcPts val="400"/>
              </a:spcAft>
              <a:buNone/>
            </a:pPr>
            <a:r>
              <a:rPr sz="1000" b="0" i="0">
                <a:solidFill>
                  <a:srgbClr val="5A6684"/>
                </a:solidFill>
                <a:latin typeface="Roboto"/>
              </a:rPr>
              <a:t>KfW 2025</a:t>
            </a:r>
          </a:p>
        </p:txBody>
      </p:sp>
      <p:sp>
        <p:nvSpPr>
          <p:cNvPr id="12" name="Rounded Rectangle 11"/>
          <p:cNvSpPr/>
          <p:nvPr/>
        </p:nvSpPr>
        <p:spPr>
          <a:xfrm>
            <a:off x="841248" y="4069080"/>
            <a:ext cx="5116068"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61288" y="4251960"/>
            <a:ext cx="4475988" cy="777240"/>
          </a:xfrm>
          <a:prstGeom prst="rect">
            <a:avLst/>
          </a:prstGeom>
          <a:noFill/>
        </p:spPr>
        <p:txBody>
          <a:bodyPr wrap="square" lIns="0" rIns="0" tIns="0" bIns="0" anchor="t"/>
          <a:lstStyle/>
          <a:p>
            <a:pPr algn="l">
              <a:spcAft>
                <a:spcPts val="400"/>
              </a:spcAft>
              <a:buNone/>
            </a:pPr>
            <a:r>
              <a:rPr sz="3600" b="1" i="0">
                <a:solidFill>
                  <a:srgbClr val="FB2762"/>
                </a:solidFill>
                <a:latin typeface="Roboto"/>
              </a:rPr>
              <a:t>48 % vs. 17 %</a:t>
            </a:r>
          </a:p>
        </p:txBody>
      </p:sp>
      <p:sp>
        <p:nvSpPr>
          <p:cNvPr id="14" name="TextBox 13"/>
          <p:cNvSpPr txBox="1"/>
          <p:nvPr/>
        </p:nvSpPr>
        <p:spPr>
          <a:xfrm>
            <a:off x="1161288" y="5001768"/>
            <a:ext cx="4475988" cy="594360"/>
          </a:xfrm>
          <a:prstGeom prst="rect">
            <a:avLst/>
          </a:prstGeom>
          <a:noFill/>
        </p:spPr>
        <p:txBody>
          <a:bodyPr wrap="square" lIns="0" rIns="0" tIns="0" bIns="0" anchor="t"/>
          <a:lstStyle/>
          <a:p>
            <a:pPr algn="l">
              <a:spcAft>
                <a:spcPts val="400"/>
              </a:spcAft>
              <a:buNone/>
            </a:pPr>
            <a:r>
              <a:rPr sz="1400" b="0" i="0">
                <a:solidFill>
                  <a:srgbClr val="0E1F53"/>
                </a:solidFill>
                <a:latin typeface="Roboto"/>
              </a:rPr>
              <a:t>KI-Nutzung 2024: große Unternehmen gegenüber kleinen (10–49 Beschäftigte)</a:t>
            </a:r>
          </a:p>
        </p:txBody>
      </p:sp>
      <p:sp>
        <p:nvSpPr>
          <p:cNvPr id="15" name="TextBox 14"/>
          <p:cNvSpPr txBox="1"/>
          <p:nvPr/>
        </p:nvSpPr>
        <p:spPr>
          <a:xfrm>
            <a:off x="4311396" y="4297680"/>
            <a:ext cx="1371600" cy="274320"/>
          </a:xfrm>
          <a:prstGeom prst="rect">
            <a:avLst/>
          </a:prstGeom>
          <a:noFill/>
        </p:spPr>
        <p:txBody>
          <a:bodyPr wrap="square" lIns="0" rIns="0" tIns="0" bIns="0" anchor="t"/>
          <a:lstStyle/>
          <a:p>
            <a:pPr algn="r">
              <a:spcAft>
                <a:spcPts val="400"/>
              </a:spcAft>
              <a:buNone/>
            </a:pPr>
            <a:r>
              <a:rPr sz="1000" b="0" i="0">
                <a:solidFill>
                  <a:srgbClr val="5A6684"/>
                </a:solidFill>
                <a:latin typeface="Roboto"/>
              </a:rPr>
              <a:t>Destatis 2024</a:t>
            </a:r>
          </a:p>
        </p:txBody>
      </p:sp>
      <p:sp>
        <p:nvSpPr>
          <p:cNvPr id="16" name="Rounded Rectangle 15"/>
          <p:cNvSpPr/>
          <p:nvPr/>
        </p:nvSpPr>
        <p:spPr>
          <a:xfrm>
            <a:off x="6231636" y="4069080"/>
            <a:ext cx="5116068"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51675" y="4251960"/>
            <a:ext cx="4475988" cy="777240"/>
          </a:xfrm>
          <a:prstGeom prst="rect">
            <a:avLst/>
          </a:prstGeom>
          <a:noFill/>
        </p:spPr>
        <p:txBody>
          <a:bodyPr wrap="square" lIns="0" rIns="0" tIns="0" bIns="0" anchor="t"/>
          <a:lstStyle/>
          <a:p>
            <a:pPr algn="l">
              <a:spcAft>
                <a:spcPts val="400"/>
              </a:spcAft>
              <a:buNone/>
            </a:pPr>
            <a:r>
              <a:rPr sz="3600" b="1" i="0">
                <a:solidFill>
                  <a:srgbClr val="0E1F53"/>
                </a:solidFill>
                <a:latin typeface="Roboto"/>
              </a:rPr>
              <a:t>36 %</a:t>
            </a:r>
          </a:p>
        </p:txBody>
      </p:sp>
      <p:sp>
        <p:nvSpPr>
          <p:cNvPr id="18" name="TextBox 17"/>
          <p:cNvSpPr txBox="1"/>
          <p:nvPr/>
        </p:nvSpPr>
        <p:spPr>
          <a:xfrm>
            <a:off x="6551675" y="5001768"/>
            <a:ext cx="4475988" cy="594360"/>
          </a:xfrm>
          <a:prstGeom prst="rect">
            <a:avLst/>
          </a:prstGeom>
          <a:noFill/>
        </p:spPr>
        <p:txBody>
          <a:bodyPr wrap="square" lIns="0" rIns="0" tIns="0" bIns="0" anchor="t"/>
          <a:lstStyle/>
          <a:p>
            <a:pPr algn="l">
              <a:spcAft>
                <a:spcPts val="400"/>
              </a:spcAft>
              <a:buNone/>
            </a:pPr>
            <a:r>
              <a:rPr sz="1400" b="0" i="0">
                <a:solidFill>
                  <a:srgbClr val="0E1F53"/>
                </a:solidFill>
                <a:latin typeface="Roboto"/>
              </a:rPr>
              <a:t>der Unternehmen ab 20 Beschäftigten nutzen KI – fast doppelt so viele wie im Vorjahr</a:t>
            </a:r>
          </a:p>
        </p:txBody>
      </p:sp>
      <p:sp>
        <p:nvSpPr>
          <p:cNvPr id="19" name="TextBox 18"/>
          <p:cNvSpPr txBox="1"/>
          <p:nvPr/>
        </p:nvSpPr>
        <p:spPr>
          <a:xfrm>
            <a:off x="9701784" y="4297680"/>
            <a:ext cx="1371600" cy="274320"/>
          </a:xfrm>
          <a:prstGeom prst="rect">
            <a:avLst/>
          </a:prstGeom>
          <a:noFill/>
        </p:spPr>
        <p:txBody>
          <a:bodyPr wrap="square" lIns="0" rIns="0" tIns="0" bIns="0" anchor="t"/>
          <a:lstStyle/>
          <a:p>
            <a:pPr algn="r">
              <a:spcAft>
                <a:spcPts val="400"/>
              </a:spcAft>
              <a:buNone/>
            </a:pPr>
            <a:r>
              <a:rPr sz="1000" b="0" i="0">
                <a:solidFill>
                  <a:srgbClr val="5A6684"/>
                </a:solidFill>
                <a:latin typeface="Roboto"/>
              </a:rPr>
              <a:t>Bitkom 2025</a:t>
            </a:r>
          </a:p>
        </p:txBody>
      </p:sp>
      <p:sp>
        <p:nvSpPr>
          <p:cNvPr id="20" name="TextBox 19"/>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Quellen: KfW-Innovationsbericht Mittelstand 2025; Destatis, Pressemitteilung Nr. 444 vom 25.11.2024; Bitkom-Befragung, Sept. 2025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KMU haben Innovations-Vorteile, die Konzerne nicht haben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Rounded Rectangle 3"/>
          <p:cNvSpPr/>
          <p:nvPr/>
        </p:nvSpPr>
        <p:spPr>
          <a:xfrm>
            <a:off x="841248" y="2057400"/>
            <a:ext cx="5116068" cy="3931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15568" y="2286000"/>
            <a:ext cx="548640" cy="54864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Rocket_w.png"/>
          <p:cNvPicPr>
            <a:picLocks noChangeAspect="1"/>
          </p:cNvPicPr>
          <p:nvPr/>
        </p:nvPicPr>
        <p:blipFill>
          <a:blip r:embed="rId3"/>
          <a:stretch>
            <a:fillRect/>
          </a:stretch>
        </p:blipFill>
        <p:spPr>
          <a:xfrm>
            <a:off x="1247241" y="2417673"/>
            <a:ext cx="285292" cy="285292"/>
          </a:xfrm>
          <a:prstGeom prst="rect">
            <a:avLst/>
          </a:prstGeom>
        </p:spPr>
      </p:pic>
      <p:sp>
        <p:nvSpPr>
          <p:cNvPr id="7" name="TextBox 6"/>
          <p:cNvSpPr txBox="1"/>
          <p:nvPr/>
        </p:nvSpPr>
        <p:spPr>
          <a:xfrm>
            <a:off x="1801368" y="2286000"/>
            <a:ext cx="3927348" cy="548640"/>
          </a:xfrm>
          <a:prstGeom prst="rect">
            <a:avLst/>
          </a:prstGeom>
          <a:noFill/>
        </p:spPr>
        <p:txBody>
          <a:bodyPr wrap="square" lIns="0" rIns="0" tIns="0" bIns="0" anchor="ctr"/>
          <a:lstStyle/>
          <a:p>
            <a:pPr algn="l">
              <a:spcAft>
                <a:spcPts val="400"/>
              </a:spcAft>
              <a:buNone/>
            </a:pPr>
            <a:r>
              <a:rPr sz="2000" b="1" i="0">
                <a:solidFill>
                  <a:srgbClr val="0E1F53"/>
                </a:solidFill>
                <a:latin typeface="Roboto"/>
              </a:rPr>
              <a:t>Stärken</a:t>
            </a:r>
          </a:p>
        </p:txBody>
      </p:sp>
      <p:sp>
        <p:nvSpPr>
          <p:cNvPr id="8" name="TextBox 7"/>
          <p:cNvSpPr txBox="1"/>
          <p:nvPr/>
        </p:nvSpPr>
        <p:spPr>
          <a:xfrm>
            <a:off x="1115568" y="3017520"/>
            <a:ext cx="4567428" cy="2834640"/>
          </a:xfrm>
          <a:prstGeom prst="rect">
            <a:avLst/>
          </a:prstGeom>
          <a:noFill/>
        </p:spPr>
        <p:txBody>
          <a:bodyPr wrap="square" lIns="0" rIns="0" tIns="0" bIns="0" anchor="t"/>
          <a:lstStyle/>
          <a:p>
            <a:pPr algn="l" marL="164592" indent="-164592">
              <a:spcAft>
                <a:spcPts val="800"/>
              </a:spcAft>
              <a:buClr>
                <a:srgbClr val="1E8E4E"/>
              </a:buClr>
              <a:buFont typeface="Arial"/>
              <a:buChar char="•"/>
            </a:pPr>
            <a:r>
              <a:rPr sz="1500" b="0" i="0">
                <a:solidFill>
                  <a:srgbClr val="0E1F53"/>
                </a:solidFill>
                <a:latin typeface="Roboto"/>
              </a:rPr>
              <a:t>Nähe zur Kundschaft: Probleme werden direkt sichtbar</a:t>
            </a:r>
          </a:p>
          <a:p>
            <a:pPr algn="l" marL="164592" indent="-164592">
              <a:spcAft>
                <a:spcPts val="800"/>
              </a:spcAft>
              <a:buClr>
                <a:srgbClr val="1E8E4E"/>
              </a:buClr>
              <a:buFont typeface="Arial"/>
              <a:buChar char="•"/>
            </a:pPr>
            <a:r>
              <a:rPr sz="1500" b="0" i="0">
                <a:solidFill>
                  <a:srgbClr val="0E1F53"/>
                </a:solidFill>
                <a:latin typeface="Roboto"/>
              </a:rPr>
              <a:t>Kurze Wege: Entscheidungen in Tagen statt Monaten</a:t>
            </a:r>
          </a:p>
          <a:p>
            <a:pPr algn="l" marL="164592" indent="-164592">
              <a:spcAft>
                <a:spcPts val="800"/>
              </a:spcAft>
              <a:buClr>
                <a:srgbClr val="1E8E4E"/>
              </a:buClr>
              <a:buFont typeface="Arial"/>
              <a:buChar char="•"/>
            </a:pPr>
            <a:r>
              <a:rPr sz="1500" b="0" i="0">
                <a:solidFill>
                  <a:srgbClr val="0E1F53"/>
                </a:solidFill>
                <a:latin typeface="Roboto"/>
              </a:rPr>
              <a:t>Flexibilität: Pilotprojekte ohne großen Apparat</a:t>
            </a:r>
          </a:p>
          <a:p>
            <a:pPr algn="l" marL="164592" indent="-164592">
              <a:spcAft>
                <a:spcPts val="800"/>
              </a:spcAft>
              <a:buClr>
                <a:srgbClr val="1E8E4E"/>
              </a:buClr>
              <a:buFont typeface="Arial"/>
              <a:buChar char="•"/>
            </a:pPr>
            <a:r>
              <a:rPr sz="1500" b="0" i="0">
                <a:solidFill>
                  <a:srgbClr val="0E1F53"/>
                </a:solidFill>
                <a:latin typeface="Roboto"/>
              </a:rPr>
              <a:t>Hohe Identifikation: Mitarbeitende kennen das Ganze</a:t>
            </a:r>
          </a:p>
        </p:txBody>
      </p:sp>
      <p:sp>
        <p:nvSpPr>
          <p:cNvPr id="9" name="Rounded Rectangle 8"/>
          <p:cNvSpPr/>
          <p:nvPr/>
        </p:nvSpPr>
        <p:spPr>
          <a:xfrm>
            <a:off x="6231636" y="2057400"/>
            <a:ext cx="5116068" cy="3931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505955" y="228600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TriangleAlert_w.png"/>
          <p:cNvPicPr>
            <a:picLocks noChangeAspect="1"/>
          </p:cNvPicPr>
          <p:nvPr/>
        </p:nvPicPr>
        <p:blipFill>
          <a:blip r:embed="rId4"/>
          <a:stretch>
            <a:fillRect/>
          </a:stretch>
        </p:blipFill>
        <p:spPr>
          <a:xfrm>
            <a:off x="6637629" y="2417673"/>
            <a:ext cx="285292" cy="285292"/>
          </a:xfrm>
          <a:prstGeom prst="rect">
            <a:avLst/>
          </a:prstGeom>
        </p:spPr>
      </p:pic>
      <p:sp>
        <p:nvSpPr>
          <p:cNvPr id="12" name="TextBox 11"/>
          <p:cNvSpPr txBox="1"/>
          <p:nvPr/>
        </p:nvSpPr>
        <p:spPr>
          <a:xfrm>
            <a:off x="7191755" y="2286000"/>
            <a:ext cx="3927348" cy="548640"/>
          </a:xfrm>
          <a:prstGeom prst="rect">
            <a:avLst/>
          </a:prstGeom>
          <a:noFill/>
        </p:spPr>
        <p:txBody>
          <a:bodyPr wrap="square" lIns="0" rIns="0" tIns="0" bIns="0" anchor="ctr"/>
          <a:lstStyle/>
          <a:p>
            <a:pPr algn="l">
              <a:spcAft>
                <a:spcPts val="400"/>
              </a:spcAft>
              <a:buNone/>
            </a:pPr>
            <a:r>
              <a:rPr sz="2000" b="1" i="0">
                <a:solidFill>
                  <a:srgbClr val="0E1F53"/>
                </a:solidFill>
                <a:latin typeface="Roboto"/>
              </a:rPr>
              <a:t>Hürden</a:t>
            </a:r>
          </a:p>
        </p:txBody>
      </p:sp>
      <p:sp>
        <p:nvSpPr>
          <p:cNvPr id="13" name="TextBox 12"/>
          <p:cNvSpPr txBox="1"/>
          <p:nvPr/>
        </p:nvSpPr>
        <p:spPr>
          <a:xfrm>
            <a:off x="6505955" y="3017520"/>
            <a:ext cx="4567428" cy="2011680"/>
          </a:xfrm>
          <a:prstGeom prst="rect">
            <a:avLst/>
          </a:prstGeom>
          <a:noFill/>
        </p:spPr>
        <p:txBody>
          <a:bodyPr wrap="square" lIns="0" rIns="0" tIns="0" bIns="0" anchor="t"/>
          <a:lstStyle/>
          <a:p>
            <a:pPr algn="l" marL="164592" indent="-164592">
              <a:spcAft>
                <a:spcPts val="800"/>
              </a:spcAft>
              <a:buClr>
                <a:srgbClr val="FB2762"/>
              </a:buClr>
              <a:buFont typeface="Arial"/>
              <a:buChar char="•"/>
            </a:pPr>
            <a:r>
              <a:rPr sz="1500" b="0" i="0">
                <a:solidFill>
                  <a:srgbClr val="0E1F53"/>
                </a:solidFill>
                <a:latin typeface="Roboto"/>
              </a:rPr>
              <a:t>Das Tagesgeschäft frisst die Zeit</a:t>
            </a:r>
          </a:p>
          <a:p>
            <a:pPr algn="l" marL="164592" indent="-164592">
              <a:spcAft>
                <a:spcPts val="800"/>
              </a:spcAft>
              <a:buClr>
                <a:srgbClr val="FB2762"/>
              </a:buClr>
              <a:buFont typeface="Arial"/>
              <a:buChar char="•"/>
            </a:pPr>
            <a:r>
              <a:rPr sz="1500" b="0" i="0">
                <a:solidFill>
                  <a:srgbClr val="0E1F53"/>
                </a:solidFill>
                <a:latin typeface="Roboto"/>
              </a:rPr>
              <a:t>Kein eigenes Innovations- oder Marktforschungsteam</a:t>
            </a:r>
          </a:p>
          <a:p>
            <a:pPr algn="l" marL="164592" indent="-164592">
              <a:spcAft>
                <a:spcPts val="800"/>
              </a:spcAft>
              <a:buClr>
                <a:srgbClr val="FB2762"/>
              </a:buClr>
              <a:buFont typeface="Arial"/>
              <a:buChar char="•"/>
            </a:pPr>
            <a:r>
              <a:rPr sz="1500" b="0" i="0">
                <a:solidFill>
                  <a:srgbClr val="0E1F53"/>
                </a:solidFill>
                <a:latin typeface="Roboto"/>
              </a:rPr>
              <a:t>Begrenztes Budget, hohes Risiko pro Projekt</a:t>
            </a:r>
          </a:p>
          <a:p>
            <a:pPr algn="l" marL="164592" indent="-164592">
              <a:spcAft>
                <a:spcPts val="800"/>
              </a:spcAft>
              <a:buClr>
                <a:srgbClr val="FB2762"/>
              </a:buClr>
              <a:buFont typeface="Arial"/>
              <a:buChar char="•"/>
            </a:pPr>
            <a:r>
              <a:rPr sz="1500" b="0" i="0">
                <a:solidFill>
                  <a:srgbClr val="0E1F53"/>
                </a:solidFill>
                <a:latin typeface="Roboto"/>
              </a:rPr>
              <a:t>Unsicherheit beim Thema KI und Datenschutz</a:t>
            </a:r>
          </a:p>
        </p:txBody>
      </p:sp>
      <p:sp>
        <p:nvSpPr>
          <p:cNvPr id="14" name="Rounded Rectangle 13"/>
          <p:cNvSpPr/>
          <p:nvPr/>
        </p:nvSpPr>
        <p:spPr>
          <a:xfrm>
            <a:off x="6505955" y="5029200"/>
            <a:ext cx="4567428" cy="77724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643116" y="5029200"/>
            <a:ext cx="4293107" cy="777240"/>
          </a:xfrm>
          <a:prstGeom prst="rect">
            <a:avLst/>
          </a:prstGeom>
          <a:noFill/>
        </p:spPr>
        <p:txBody>
          <a:bodyPr wrap="square" lIns="0" rIns="0" tIns="0" bIns="0" anchor="ctr"/>
          <a:lstStyle/>
          <a:p>
            <a:pPr algn="l">
              <a:spcAft>
                <a:spcPts val="400"/>
              </a:spcAft>
              <a:buNone/>
            </a:pPr>
            <a:r>
              <a:rPr sz="1350" b="1" i="0">
                <a:solidFill>
                  <a:srgbClr val="0E1F53"/>
                </a:solidFill>
                <a:latin typeface="Roboto"/>
              </a:rPr>
              <a:t>Lösungsansatz: </a:t>
            </a:r>
            <a:r>
              <a:rPr sz="1350" b="0" i="0">
                <a:solidFill>
                  <a:srgbClr val="0E1F53"/>
                </a:solidFill>
                <a:latin typeface="Roboto"/>
              </a:rPr>
              <a:t>Design Thinking gibt Struktur, KI-Agenten liefern Zeit und Know-how.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Unser Prozess</a:t>
            </a:r>
          </a:p>
        </p:txBody>
      </p:sp>
      <p:sp>
        <p:nvSpPr>
          <p:cNvPr id="3" name="Text Placeholder 2"/>
          <p:cNvSpPr>
            <a:spLocks noGrp="1"/>
          </p:cNvSpPr>
          <p:nvPr>
            <p:ph type="body" idx="11" sz="quarter"/>
          </p:nvPr>
        </p:nvSpPr>
        <p:spPr/>
        <p:txBody>
          <a:bodyPr/>
          <a:lstStyle/>
          <a:p>
            <a:r>
              <a:rPr b="0" sz="2000"/>
              <a:t>Design Thinking in fünf Phasen: erst das Problem, dann die Lösung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Unser Prozess: Design Thinking in fünf Phasen</a:t>
            </a:r>
          </a:p>
        </p:txBody>
      </p:sp>
      <p:sp>
        <p:nvSpPr>
          <p:cNvPr id="3" name="Rounded Rectangle 2"/>
          <p:cNvSpPr/>
          <p:nvPr/>
        </p:nvSpPr>
        <p:spPr>
          <a:xfrm>
            <a:off x="841248" y="850392"/>
            <a:ext cx="1031443"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SCHAUBILD</a:t>
            </a:r>
          </a:p>
        </p:txBody>
      </p:sp>
      <p:sp>
        <p:nvSpPr>
          <p:cNvPr id="4" name="Rounded Rectangle 3"/>
          <p:cNvSpPr/>
          <p:nvPr/>
        </p:nvSpPr>
        <p:spPr>
          <a:xfrm>
            <a:off x="841248" y="1938528"/>
            <a:ext cx="4092854" cy="329184"/>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41248" y="1938528"/>
            <a:ext cx="4092854" cy="329184"/>
          </a:xfrm>
          <a:prstGeom prst="rect">
            <a:avLst/>
          </a:prstGeom>
          <a:noFill/>
        </p:spPr>
        <p:txBody>
          <a:bodyPr wrap="square" lIns="0" rIns="0" tIns="0" bIns="0" anchor="ctr"/>
          <a:lstStyle/>
          <a:p>
            <a:pPr algn="ctr">
              <a:spcAft>
                <a:spcPts val="400"/>
              </a:spcAft>
              <a:buNone/>
            </a:pPr>
            <a:r>
              <a:rPr sz="1100" b="1" i="0">
                <a:solidFill>
                  <a:srgbClr val="FFFFFF"/>
                </a:solidFill>
                <a:latin typeface="Roboto"/>
              </a:rPr>
              <a:t>PROBLEMRAUM</a:t>
            </a:r>
          </a:p>
        </p:txBody>
      </p:sp>
      <p:sp>
        <p:nvSpPr>
          <p:cNvPr id="6" name="Rounded Rectangle 5"/>
          <p:cNvSpPr/>
          <p:nvPr/>
        </p:nvSpPr>
        <p:spPr>
          <a:xfrm>
            <a:off x="5116982" y="1938528"/>
            <a:ext cx="6230721" cy="329184"/>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16982" y="1938528"/>
            <a:ext cx="6230721" cy="329184"/>
          </a:xfrm>
          <a:prstGeom prst="rect">
            <a:avLst/>
          </a:prstGeom>
          <a:noFill/>
        </p:spPr>
        <p:txBody>
          <a:bodyPr wrap="square" lIns="0" rIns="0" tIns="0" bIns="0" anchor="ctr"/>
          <a:lstStyle/>
          <a:p>
            <a:pPr algn="ctr">
              <a:spcAft>
                <a:spcPts val="400"/>
              </a:spcAft>
              <a:buNone/>
            </a:pPr>
            <a:r>
              <a:rPr sz="1100" b="1" i="0">
                <a:solidFill>
                  <a:srgbClr val="FFFFFF"/>
                </a:solidFill>
                <a:latin typeface="Roboto"/>
              </a:rPr>
              <a:t>LÖSUNGSRAUM</a:t>
            </a:r>
          </a:p>
        </p:txBody>
      </p:sp>
      <p:sp>
        <p:nvSpPr>
          <p:cNvPr id="8" name="Rounded Rectangle 7"/>
          <p:cNvSpPr/>
          <p:nvPr/>
        </p:nvSpPr>
        <p:spPr>
          <a:xfrm>
            <a:off x="841248" y="2395728"/>
            <a:ext cx="1954987"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542032"/>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uEye_w.png"/>
          <p:cNvPicPr>
            <a:picLocks noChangeAspect="1"/>
          </p:cNvPicPr>
          <p:nvPr/>
        </p:nvPicPr>
        <p:blipFill>
          <a:blip r:embed="rId3"/>
          <a:stretch>
            <a:fillRect/>
          </a:stretch>
        </p:blipFill>
        <p:spPr>
          <a:xfrm>
            <a:off x="1160190" y="2678094"/>
            <a:ext cx="294802" cy="294802"/>
          </a:xfrm>
          <a:prstGeom prst="rect">
            <a:avLst/>
          </a:prstGeom>
        </p:spPr>
      </p:pic>
      <p:sp>
        <p:nvSpPr>
          <p:cNvPr id="11" name="TextBox 10"/>
          <p:cNvSpPr txBox="1"/>
          <p:nvPr/>
        </p:nvSpPr>
        <p:spPr>
          <a:xfrm>
            <a:off x="1709928" y="2542032"/>
            <a:ext cx="994867" cy="566928"/>
          </a:xfrm>
          <a:prstGeom prst="rect">
            <a:avLst/>
          </a:prstGeom>
          <a:noFill/>
        </p:spPr>
        <p:txBody>
          <a:bodyPr wrap="square" lIns="0" rIns="0" tIns="0" bIns="0" anchor="ctr"/>
          <a:lstStyle/>
          <a:p>
            <a:pPr algn="l">
              <a:spcAft>
                <a:spcPts val="400"/>
              </a:spcAft>
              <a:buNone/>
            </a:pPr>
            <a:r>
              <a:rPr sz="2200" b="1" i="0">
                <a:solidFill>
                  <a:srgbClr val="0E1F53"/>
                </a:solidFill>
                <a:latin typeface="Roboto"/>
              </a:rPr>
              <a:t>1</a:t>
            </a:r>
          </a:p>
        </p:txBody>
      </p:sp>
      <p:sp>
        <p:nvSpPr>
          <p:cNvPr id="12" name="TextBox 11"/>
          <p:cNvSpPr txBox="1"/>
          <p:nvPr/>
        </p:nvSpPr>
        <p:spPr>
          <a:xfrm>
            <a:off x="1024128" y="3200400"/>
            <a:ext cx="1589227" cy="868680"/>
          </a:xfrm>
          <a:prstGeom prst="rect">
            <a:avLst/>
          </a:prstGeom>
          <a:noFill/>
        </p:spPr>
        <p:txBody>
          <a:bodyPr wrap="square" lIns="0" rIns="0" tIns="0" bIns="0" anchor="t"/>
          <a:lstStyle/>
          <a:p>
            <a:pPr algn="l">
              <a:spcAft>
                <a:spcPts val="200"/>
              </a:spcAft>
              <a:buNone/>
            </a:pPr>
            <a:r>
              <a:rPr sz="1550" b="1" i="0">
                <a:solidFill>
                  <a:srgbClr val="0E1F53"/>
                </a:solidFill>
                <a:latin typeface="Roboto"/>
              </a:rPr>
              <a:t>Empathie</a:t>
            </a:r>
          </a:p>
          <a:p>
            <a:pPr algn="l">
              <a:spcAft>
                <a:spcPts val="0"/>
              </a:spcAft>
              <a:buNone/>
            </a:pPr>
            <a:r>
              <a:rPr sz="1150" b="0" i="0">
                <a:solidFill>
                  <a:srgbClr val="5A6684"/>
                </a:solidFill>
                <a:latin typeface="Roboto"/>
              </a:rPr>
              <a:t>Verstehen · Beobachten</a:t>
            </a:r>
          </a:p>
        </p:txBody>
      </p:sp>
      <p:sp>
        <p:nvSpPr>
          <p:cNvPr id="13" name="Right Arrow 12"/>
          <p:cNvSpPr/>
          <p:nvPr/>
        </p:nvSpPr>
        <p:spPr>
          <a:xfrm>
            <a:off x="2787091" y="2743200"/>
            <a:ext cx="201168" cy="201168"/>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2979115" y="2395728"/>
            <a:ext cx="1954987"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161995" y="2542032"/>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Target_w.png"/>
          <p:cNvPicPr>
            <a:picLocks noChangeAspect="1"/>
          </p:cNvPicPr>
          <p:nvPr/>
        </p:nvPicPr>
        <p:blipFill>
          <a:blip r:embed="rId4"/>
          <a:stretch>
            <a:fillRect/>
          </a:stretch>
        </p:blipFill>
        <p:spPr>
          <a:xfrm>
            <a:off x="3298057" y="2678094"/>
            <a:ext cx="294802" cy="294802"/>
          </a:xfrm>
          <a:prstGeom prst="rect">
            <a:avLst/>
          </a:prstGeom>
        </p:spPr>
      </p:pic>
      <p:sp>
        <p:nvSpPr>
          <p:cNvPr id="17" name="TextBox 16"/>
          <p:cNvSpPr txBox="1"/>
          <p:nvPr/>
        </p:nvSpPr>
        <p:spPr>
          <a:xfrm>
            <a:off x="3847795" y="2542032"/>
            <a:ext cx="994867" cy="566928"/>
          </a:xfrm>
          <a:prstGeom prst="rect">
            <a:avLst/>
          </a:prstGeom>
          <a:noFill/>
        </p:spPr>
        <p:txBody>
          <a:bodyPr wrap="square" lIns="0" rIns="0" tIns="0" bIns="0" anchor="ctr"/>
          <a:lstStyle/>
          <a:p>
            <a:pPr algn="l">
              <a:spcAft>
                <a:spcPts val="400"/>
              </a:spcAft>
              <a:buNone/>
            </a:pPr>
            <a:r>
              <a:rPr sz="2200" b="1" i="0">
                <a:solidFill>
                  <a:srgbClr val="0E1F53"/>
                </a:solidFill>
                <a:latin typeface="Roboto"/>
              </a:rPr>
              <a:t>2</a:t>
            </a:r>
          </a:p>
        </p:txBody>
      </p:sp>
      <p:sp>
        <p:nvSpPr>
          <p:cNvPr id="18" name="TextBox 17"/>
          <p:cNvSpPr txBox="1"/>
          <p:nvPr/>
        </p:nvSpPr>
        <p:spPr>
          <a:xfrm>
            <a:off x="3161995" y="3200400"/>
            <a:ext cx="1589227" cy="868680"/>
          </a:xfrm>
          <a:prstGeom prst="rect">
            <a:avLst/>
          </a:prstGeom>
          <a:noFill/>
        </p:spPr>
        <p:txBody>
          <a:bodyPr wrap="square" lIns="0" rIns="0" tIns="0" bIns="0" anchor="t"/>
          <a:lstStyle/>
          <a:p>
            <a:pPr algn="l">
              <a:spcAft>
                <a:spcPts val="200"/>
              </a:spcAft>
              <a:buNone/>
            </a:pPr>
            <a:r>
              <a:rPr sz="1550" b="1" i="0">
                <a:solidFill>
                  <a:srgbClr val="0E1F53"/>
                </a:solidFill>
                <a:latin typeface="Roboto"/>
              </a:rPr>
              <a:t>Definieren</a:t>
            </a:r>
          </a:p>
          <a:p>
            <a:pPr algn="l">
              <a:spcAft>
                <a:spcPts val="0"/>
              </a:spcAft>
              <a:buNone/>
            </a:pPr>
            <a:r>
              <a:rPr sz="1150" b="0" i="0">
                <a:solidFill>
                  <a:srgbClr val="5A6684"/>
                </a:solidFill>
                <a:latin typeface="Roboto"/>
              </a:rPr>
              <a:t>Erkenntnisse zu einer Sichtweise verdichten</a:t>
            </a:r>
          </a:p>
        </p:txBody>
      </p:sp>
      <p:sp>
        <p:nvSpPr>
          <p:cNvPr id="19" name="Right Arrow 18"/>
          <p:cNvSpPr/>
          <p:nvPr/>
        </p:nvSpPr>
        <p:spPr>
          <a:xfrm>
            <a:off x="4924958" y="2743200"/>
            <a:ext cx="201168" cy="201168"/>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5116982" y="2395728"/>
            <a:ext cx="1954987"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5299862" y="2542032"/>
            <a:ext cx="566928" cy="56692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uLightbulb_w.png"/>
          <p:cNvPicPr>
            <a:picLocks noChangeAspect="1"/>
          </p:cNvPicPr>
          <p:nvPr/>
        </p:nvPicPr>
        <p:blipFill>
          <a:blip r:embed="rId5"/>
          <a:stretch>
            <a:fillRect/>
          </a:stretch>
        </p:blipFill>
        <p:spPr>
          <a:xfrm>
            <a:off x="5435925" y="2678094"/>
            <a:ext cx="294802" cy="294802"/>
          </a:xfrm>
          <a:prstGeom prst="rect">
            <a:avLst/>
          </a:prstGeom>
        </p:spPr>
      </p:pic>
      <p:sp>
        <p:nvSpPr>
          <p:cNvPr id="23" name="TextBox 22"/>
          <p:cNvSpPr txBox="1"/>
          <p:nvPr/>
        </p:nvSpPr>
        <p:spPr>
          <a:xfrm>
            <a:off x="5985662" y="2542032"/>
            <a:ext cx="994867" cy="566928"/>
          </a:xfrm>
          <a:prstGeom prst="rect">
            <a:avLst/>
          </a:prstGeom>
          <a:noFill/>
        </p:spPr>
        <p:txBody>
          <a:bodyPr wrap="square" lIns="0" rIns="0" tIns="0" bIns="0" anchor="ctr"/>
          <a:lstStyle/>
          <a:p>
            <a:pPr algn="l">
              <a:spcAft>
                <a:spcPts val="400"/>
              </a:spcAft>
              <a:buNone/>
            </a:pPr>
            <a:r>
              <a:rPr sz="2200" b="1" i="0">
                <a:solidFill>
                  <a:srgbClr val="FB2762"/>
                </a:solidFill>
                <a:latin typeface="Roboto"/>
              </a:rPr>
              <a:t>3</a:t>
            </a:r>
          </a:p>
        </p:txBody>
      </p:sp>
      <p:sp>
        <p:nvSpPr>
          <p:cNvPr id="24" name="TextBox 23"/>
          <p:cNvSpPr txBox="1"/>
          <p:nvPr/>
        </p:nvSpPr>
        <p:spPr>
          <a:xfrm>
            <a:off x="5299862" y="3200400"/>
            <a:ext cx="1589227" cy="868680"/>
          </a:xfrm>
          <a:prstGeom prst="rect">
            <a:avLst/>
          </a:prstGeom>
          <a:noFill/>
        </p:spPr>
        <p:txBody>
          <a:bodyPr wrap="square" lIns="0" rIns="0" tIns="0" bIns="0" anchor="t"/>
          <a:lstStyle/>
          <a:p>
            <a:pPr algn="l">
              <a:spcAft>
                <a:spcPts val="200"/>
              </a:spcAft>
              <a:buNone/>
            </a:pPr>
            <a:r>
              <a:rPr sz="1550" b="1" i="0">
                <a:solidFill>
                  <a:srgbClr val="0E1F53"/>
                </a:solidFill>
                <a:latin typeface="Roboto"/>
              </a:rPr>
              <a:t>Ideen finden</a:t>
            </a:r>
          </a:p>
          <a:p>
            <a:pPr algn="l">
              <a:spcAft>
                <a:spcPts val="0"/>
              </a:spcAft>
              <a:buNone/>
            </a:pPr>
            <a:r>
              <a:rPr sz="1150" b="0" i="0">
                <a:solidFill>
                  <a:srgbClr val="5A6684"/>
                </a:solidFill>
                <a:latin typeface="Roboto"/>
              </a:rPr>
              <a:t>Viele Lösungsideen entwickeln</a:t>
            </a:r>
          </a:p>
        </p:txBody>
      </p:sp>
      <p:sp>
        <p:nvSpPr>
          <p:cNvPr id="25" name="Right Arrow 24"/>
          <p:cNvSpPr/>
          <p:nvPr/>
        </p:nvSpPr>
        <p:spPr>
          <a:xfrm>
            <a:off x="7062825" y="2743200"/>
            <a:ext cx="201168" cy="201168"/>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7254849" y="2395728"/>
            <a:ext cx="1954987"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37729" y="2542032"/>
            <a:ext cx="566928" cy="56692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uPencilRuler_w.png"/>
          <p:cNvPicPr>
            <a:picLocks noChangeAspect="1"/>
          </p:cNvPicPr>
          <p:nvPr/>
        </p:nvPicPr>
        <p:blipFill>
          <a:blip r:embed="rId6"/>
          <a:stretch>
            <a:fillRect/>
          </a:stretch>
        </p:blipFill>
        <p:spPr>
          <a:xfrm>
            <a:off x="7573792" y="2678094"/>
            <a:ext cx="294802" cy="294802"/>
          </a:xfrm>
          <a:prstGeom prst="rect">
            <a:avLst/>
          </a:prstGeom>
        </p:spPr>
      </p:pic>
      <p:sp>
        <p:nvSpPr>
          <p:cNvPr id="29" name="TextBox 28"/>
          <p:cNvSpPr txBox="1"/>
          <p:nvPr/>
        </p:nvSpPr>
        <p:spPr>
          <a:xfrm>
            <a:off x="8123529" y="2542032"/>
            <a:ext cx="994867" cy="566928"/>
          </a:xfrm>
          <a:prstGeom prst="rect">
            <a:avLst/>
          </a:prstGeom>
          <a:noFill/>
        </p:spPr>
        <p:txBody>
          <a:bodyPr wrap="square" lIns="0" rIns="0" tIns="0" bIns="0" anchor="ctr"/>
          <a:lstStyle/>
          <a:p>
            <a:pPr algn="l">
              <a:spcAft>
                <a:spcPts val="400"/>
              </a:spcAft>
              <a:buNone/>
            </a:pPr>
            <a:r>
              <a:rPr sz="2200" b="1" i="0">
                <a:solidFill>
                  <a:srgbClr val="FB2762"/>
                </a:solidFill>
                <a:latin typeface="Roboto"/>
              </a:rPr>
              <a:t>4</a:t>
            </a:r>
          </a:p>
        </p:txBody>
      </p:sp>
      <p:sp>
        <p:nvSpPr>
          <p:cNvPr id="30" name="TextBox 29"/>
          <p:cNvSpPr txBox="1"/>
          <p:nvPr/>
        </p:nvSpPr>
        <p:spPr>
          <a:xfrm>
            <a:off x="7437729" y="3200400"/>
            <a:ext cx="1589227" cy="868680"/>
          </a:xfrm>
          <a:prstGeom prst="rect">
            <a:avLst/>
          </a:prstGeom>
          <a:noFill/>
        </p:spPr>
        <p:txBody>
          <a:bodyPr wrap="square" lIns="0" rIns="0" tIns="0" bIns="0" anchor="t"/>
          <a:lstStyle/>
          <a:p>
            <a:pPr algn="l">
              <a:spcAft>
                <a:spcPts val="200"/>
              </a:spcAft>
              <a:buNone/>
            </a:pPr>
            <a:r>
              <a:rPr sz="1550" b="1" i="0">
                <a:solidFill>
                  <a:srgbClr val="0E1F53"/>
                </a:solidFill>
                <a:latin typeface="Roboto"/>
              </a:rPr>
              <a:t>Prototypen</a:t>
            </a:r>
          </a:p>
          <a:p>
            <a:pPr algn="l">
              <a:spcAft>
                <a:spcPts val="0"/>
              </a:spcAft>
              <a:buNone/>
            </a:pPr>
            <a:r>
              <a:rPr sz="1150" b="0" i="0">
                <a:solidFill>
                  <a:srgbClr val="5A6684"/>
                </a:solidFill>
                <a:latin typeface="Roboto"/>
              </a:rPr>
              <a:t>Ideen schnell greifbar machen</a:t>
            </a:r>
          </a:p>
        </p:txBody>
      </p:sp>
      <p:sp>
        <p:nvSpPr>
          <p:cNvPr id="31" name="Right Arrow 30"/>
          <p:cNvSpPr/>
          <p:nvPr/>
        </p:nvSpPr>
        <p:spPr>
          <a:xfrm>
            <a:off x="9200692" y="2743200"/>
            <a:ext cx="201168" cy="201168"/>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9392716" y="2395728"/>
            <a:ext cx="1954987"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575596" y="2542032"/>
            <a:ext cx="566928" cy="56692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FlaskConical_w.png"/>
          <p:cNvPicPr>
            <a:picLocks noChangeAspect="1"/>
          </p:cNvPicPr>
          <p:nvPr/>
        </p:nvPicPr>
        <p:blipFill>
          <a:blip r:embed="rId7"/>
          <a:stretch>
            <a:fillRect/>
          </a:stretch>
        </p:blipFill>
        <p:spPr>
          <a:xfrm>
            <a:off x="9711659" y="2678094"/>
            <a:ext cx="294802" cy="294802"/>
          </a:xfrm>
          <a:prstGeom prst="rect">
            <a:avLst/>
          </a:prstGeom>
        </p:spPr>
      </p:pic>
      <p:sp>
        <p:nvSpPr>
          <p:cNvPr id="35" name="TextBox 34"/>
          <p:cNvSpPr txBox="1"/>
          <p:nvPr/>
        </p:nvSpPr>
        <p:spPr>
          <a:xfrm>
            <a:off x="10261396" y="2542032"/>
            <a:ext cx="994867" cy="566928"/>
          </a:xfrm>
          <a:prstGeom prst="rect">
            <a:avLst/>
          </a:prstGeom>
          <a:noFill/>
        </p:spPr>
        <p:txBody>
          <a:bodyPr wrap="square" lIns="0" rIns="0" tIns="0" bIns="0" anchor="ctr"/>
          <a:lstStyle/>
          <a:p>
            <a:pPr algn="l">
              <a:spcAft>
                <a:spcPts val="400"/>
              </a:spcAft>
              <a:buNone/>
            </a:pPr>
            <a:r>
              <a:rPr sz="2200" b="1" i="0">
                <a:solidFill>
                  <a:srgbClr val="FB2762"/>
                </a:solidFill>
                <a:latin typeface="Roboto"/>
              </a:rPr>
              <a:t>5</a:t>
            </a:r>
          </a:p>
        </p:txBody>
      </p:sp>
      <p:sp>
        <p:nvSpPr>
          <p:cNvPr id="36" name="TextBox 35"/>
          <p:cNvSpPr txBox="1"/>
          <p:nvPr/>
        </p:nvSpPr>
        <p:spPr>
          <a:xfrm>
            <a:off x="9575596" y="3200400"/>
            <a:ext cx="1589227" cy="868680"/>
          </a:xfrm>
          <a:prstGeom prst="rect">
            <a:avLst/>
          </a:prstGeom>
          <a:noFill/>
        </p:spPr>
        <p:txBody>
          <a:bodyPr wrap="square" lIns="0" rIns="0" tIns="0" bIns="0" anchor="t"/>
          <a:lstStyle/>
          <a:p>
            <a:pPr algn="l">
              <a:spcAft>
                <a:spcPts val="200"/>
              </a:spcAft>
              <a:buNone/>
            </a:pPr>
            <a:r>
              <a:rPr sz="1550" b="1" i="0">
                <a:solidFill>
                  <a:srgbClr val="0E1F53"/>
                </a:solidFill>
                <a:latin typeface="Roboto"/>
              </a:rPr>
              <a:t>Testen</a:t>
            </a:r>
          </a:p>
          <a:p>
            <a:pPr algn="l">
              <a:spcAft>
                <a:spcPts val="0"/>
              </a:spcAft>
              <a:buNone/>
            </a:pPr>
            <a:r>
              <a:rPr sz="1150" b="0" i="0">
                <a:solidFill>
                  <a:srgbClr val="5A6684"/>
                </a:solidFill>
                <a:latin typeface="Roboto"/>
              </a:rPr>
              <a:t>Mit echten Nutzer:innen prüfen</a:t>
            </a:r>
          </a:p>
        </p:txBody>
      </p:sp>
      <p:cxnSp>
        <p:nvCxnSpPr>
          <p:cNvPr id="37" name="Connector 36"/>
          <p:cNvCxnSpPr/>
          <p:nvPr/>
        </p:nvCxnSpPr>
        <p:spPr>
          <a:xfrm>
            <a:off x="10370210" y="4133087"/>
            <a:ext cx="0" cy="237745"/>
          </a:xfrm>
          <a:prstGeom prst="line">
            <a:avLst/>
          </a:prstGeom>
          <a:ln w="22225">
            <a:solidFill>
              <a:srgbClr val="FB2762"/>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1818741" y="4370832"/>
            <a:ext cx="8551469" cy="0"/>
          </a:xfrm>
          <a:prstGeom prst="line">
            <a:avLst/>
          </a:prstGeom>
          <a:ln w="22225">
            <a:solidFill>
              <a:srgbClr val="FB276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818741" y="4151376"/>
            <a:ext cx="0" cy="219456"/>
          </a:xfrm>
          <a:prstGeom prst="line">
            <a:avLst/>
          </a:prstGeom>
          <a:ln w="15875">
            <a:solidFill>
              <a:srgbClr val="FB2762"/>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956608" y="4151376"/>
            <a:ext cx="0" cy="219456"/>
          </a:xfrm>
          <a:prstGeom prst="line">
            <a:avLst/>
          </a:prstGeom>
          <a:ln w="15875">
            <a:solidFill>
              <a:srgbClr val="FB2762"/>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6094476" y="4151376"/>
            <a:ext cx="0" cy="219456"/>
          </a:xfrm>
          <a:prstGeom prst="line">
            <a:avLst/>
          </a:prstGeom>
          <a:ln w="15875">
            <a:solidFill>
              <a:srgbClr val="FB2762"/>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8232343" y="4151376"/>
            <a:ext cx="0" cy="219456"/>
          </a:xfrm>
          <a:prstGeom prst="line">
            <a:avLst/>
          </a:prstGeom>
          <a:ln w="15875">
            <a:solidFill>
              <a:srgbClr val="FB2762"/>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157569" y="4242816"/>
            <a:ext cx="2011680" cy="25603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B2762"/>
                </a:solidFill>
                <a:latin typeface="Roboto"/>
              </a:rPr>
              <a:t>Iterieren: zurück in jede Phase</a:t>
            </a:r>
          </a:p>
        </p:txBody>
      </p:sp>
      <p:sp>
        <p:nvSpPr>
          <p:cNvPr id="44" name="Rounded Rectangle 43"/>
          <p:cNvSpPr/>
          <p:nvPr/>
        </p:nvSpPr>
        <p:spPr>
          <a:xfrm>
            <a:off x="841248" y="4736592"/>
            <a:ext cx="6303873" cy="246888"/>
          </a:xfrm>
          <a:prstGeom prst="roundRect">
            <a:avLst>
              <a:gd name="adj" fmla="val 50000"/>
            </a:avLst>
          </a:prstGeom>
          <a:solidFill>
            <a:srgbClr val="0E1F53"/>
          </a:solidFill>
          <a:ln w="25400">
            <a:solidFill>
              <a:srgbClr val="FB27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50976" y="4736592"/>
            <a:ext cx="6120993" cy="246888"/>
          </a:xfrm>
          <a:prstGeom prst="rect">
            <a:avLst/>
          </a:prstGeom>
          <a:noFill/>
        </p:spPr>
        <p:txBody>
          <a:bodyPr wrap="square" lIns="0" rIns="0" tIns="0" bIns="0" anchor="ctr"/>
          <a:lstStyle/>
          <a:p>
            <a:pPr algn="l">
              <a:spcAft>
                <a:spcPts val="400"/>
              </a:spcAft>
              <a:buNone/>
            </a:pPr>
            <a:r>
              <a:rPr sz="1050" b="1" i="0">
                <a:solidFill>
                  <a:srgbClr val="FFFFFF"/>
                </a:solidFill>
                <a:latin typeface="Roboto"/>
              </a:rPr>
              <a:t>03.11.  </a:t>
            </a:r>
            <a:r>
              <a:rPr sz="1050" b="0" i="0">
                <a:solidFill>
                  <a:srgbClr val="FFFFFF"/>
                </a:solidFill>
                <a:latin typeface="Roboto"/>
              </a:rPr>
              <a:t>Workshop Teil 1: Phasen 1–3</a:t>
            </a:r>
          </a:p>
        </p:txBody>
      </p:sp>
      <p:sp>
        <p:nvSpPr>
          <p:cNvPr id="46" name="Rounded Rectangle 45"/>
          <p:cNvSpPr/>
          <p:nvPr/>
        </p:nvSpPr>
        <p:spPr>
          <a:xfrm>
            <a:off x="841248" y="5047488"/>
            <a:ext cx="8405164" cy="246888"/>
          </a:xfrm>
          <a:prstGeom prst="roundRect">
            <a:avLst>
              <a:gd name="adj" fmla="val 50000"/>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50976" y="5047488"/>
            <a:ext cx="8222284" cy="246888"/>
          </a:xfrm>
          <a:prstGeom prst="rect">
            <a:avLst/>
          </a:prstGeom>
          <a:noFill/>
        </p:spPr>
        <p:txBody>
          <a:bodyPr wrap="square" lIns="0" rIns="0" tIns="0" bIns="0" anchor="ctr"/>
          <a:lstStyle/>
          <a:p>
            <a:pPr algn="l">
              <a:spcAft>
                <a:spcPts val="400"/>
              </a:spcAft>
              <a:buNone/>
            </a:pPr>
            <a:r>
              <a:rPr sz="1050" b="1" i="0">
                <a:solidFill>
                  <a:srgbClr val="FFFFFF"/>
                </a:solidFill>
                <a:latin typeface="Roboto"/>
              </a:rPr>
              <a:t>bis 20.11.  </a:t>
            </a:r>
            <a:r>
              <a:rPr sz="1050" b="0" i="0">
                <a:solidFill>
                  <a:srgbClr val="FFFFFF"/>
                </a:solidFill>
                <a:latin typeface="Roboto"/>
              </a:rPr>
              <a:t>Remote: Interviews, Methoden, Prototyp ausprobieren</a:t>
            </a:r>
          </a:p>
        </p:txBody>
      </p:sp>
      <p:sp>
        <p:nvSpPr>
          <p:cNvPr id="48" name="Rounded Rectangle 47"/>
          <p:cNvSpPr/>
          <p:nvPr/>
        </p:nvSpPr>
        <p:spPr>
          <a:xfrm>
            <a:off x="7145121" y="5358383"/>
            <a:ext cx="4202582" cy="246888"/>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7254849" y="5358383"/>
            <a:ext cx="4019702" cy="246888"/>
          </a:xfrm>
          <a:prstGeom prst="rect">
            <a:avLst/>
          </a:prstGeom>
          <a:noFill/>
        </p:spPr>
        <p:txBody>
          <a:bodyPr wrap="square" lIns="0" rIns="0" tIns="0" bIns="0" anchor="ctr"/>
          <a:lstStyle/>
          <a:p>
            <a:pPr algn="l">
              <a:spcAft>
                <a:spcPts val="400"/>
              </a:spcAft>
              <a:buNone/>
            </a:pPr>
            <a:r>
              <a:rPr sz="1050" b="1" i="0">
                <a:solidFill>
                  <a:srgbClr val="FFFFFF"/>
                </a:solidFill>
                <a:latin typeface="Roboto"/>
              </a:rPr>
              <a:t>20.11.  </a:t>
            </a:r>
            <a:r>
              <a:rPr sz="1050" b="0" i="0">
                <a:solidFill>
                  <a:srgbClr val="FFFFFF"/>
                </a:solidFill>
                <a:latin typeface="Roboto"/>
              </a:rPr>
              <a:t>Workshop Teil 3: Phasen 4–5</a:t>
            </a:r>
          </a:p>
        </p:txBody>
      </p:sp>
      <p:sp>
        <p:nvSpPr>
          <p:cNvPr id="50" name="Rounded Rectangle 49"/>
          <p:cNvSpPr/>
          <p:nvPr/>
        </p:nvSpPr>
        <p:spPr>
          <a:xfrm>
            <a:off x="9246412" y="5669279"/>
            <a:ext cx="2101291" cy="246888"/>
          </a:xfrm>
          <a:prstGeom prst="roundRect">
            <a:avLst>
              <a:gd name="adj" fmla="val 50000"/>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356140" y="5669279"/>
            <a:ext cx="1918411" cy="246888"/>
          </a:xfrm>
          <a:prstGeom prst="rect">
            <a:avLst/>
          </a:prstGeom>
          <a:noFill/>
        </p:spPr>
        <p:txBody>
          <a:bodyPr wrap="square" lIns="0" rIns="0" tIns="0" bIns="0" anchor="ctr"/>
          <a:lstStyle/>
          <a:p>
            <a:pPr algn="l">
              <a:spcAft>
                <a:spcPts val="400"/>
              </a:spcAft>
              <a:buNone/>
            </a:pPr>
            <a:r>
              <a:rPr sz="1050" b="1" i="0">
                <a:solidFill>
                  <a:srgbClr val="FFFFFF"/>
                </a:solidFill>
                <a:latin typeface="Roboto"/>
              </a:rPr>
              <a:t>danach  </a:t>
            </a:r>
            <a:r>
              <a:rPr sz="1050" b="0" i="0">
                <a:solidFill>
                  <a:srgbClr val="FFFFFF"/>
                </a:solidFill>
                <a:latin typeface="Roboto"/>
              </a:rPr>
              <a:t>testen &amp; iterieren</a:t>
            </a:r>
          </a:p>
        </p:txBody>
      </p:sp>
      <p:sp>
        <p:nvSpPr>
          <p:cNvPr id="52" name="TextBox 51"/>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Prozessmodell nach Hasso Plattner Institute of Design at Stanford (d.school)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Wo KI im Prozess hilft und wo der Mensch bleibt</a:t>
            </a:r>
          </a:p>
        </p:txBody>
      </p:sp>
      <p:sp>
        <p:nvSpPr>
          <p:cNvPr id="3" name="Rounded Rectangle 2"/>
          <p:cNvSpPr/>
          <p:nvPr/>
        </p:nvSpPr>
        <p:spPr>
          <a:xfrm>
            <a:off x="841248" y="850392"/>
            <a:ext cx="1031443"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ÜBERBLICK</a:t>
            </a:r>
          </a:p>
        </p:txBody>
      </p:sp>
      <p:sp>
        <p:nvSpPr>
          <p:cNvPr id="4" name="TextBox 3"/>
          <p:cNvSpPr txBox="1"/>
          <p:nvPr/>
        </p:nvSpPr>
        <p:spPr>
          <a:xfrm>
            <a:off x="841248" y="2578608"/>
            <a:ext cx="1645920" cy="1097280"/>
          </a:xfrm>
          <a:prstGeom prst="rect">
            <a:avLst/>
          </a:prstGeom>
          <a:noFill/>
        </p:spPr>
        <p:txBody>
          <a:bodyPr wrap="square" lIns="0" rIns="0" tIns="0" bIns="0" anchor="ctr"/>
          <a:lstStyle/>
          <a:p>
            <a:pPr algn="l">
              <a:spcAft>
                <a:spcPts val="400"/>
              </a:spcAft>
              <a:buNone/>
            </a:pPr>
            <a:r>
              <a:rPr sz="1400" b="1" i="0">
                <a:solidFill>
                  <a:srgbClr val="1F6FD1"/>
                </a:solidFill>
                <a:latin typeface="Roboto"/>
              </a:rPr>
              <a:t>KI unterstützt</a:t>
            </a:r>
          </a:p>
        </p:txBody>
      </p:sp>
      <p:sp>
        <p:nvSpPr>
          <p:cNvPr id="5" name="TextBox 4"/>
          <p:cNvSpPr txBox="1"/>
          <p:nvPr/>
        </p:nvSpPr>
        <p:spPr>
          <a:xfrm>
            <a:off x="841248" y="3904487"/>
            <a:ext cx="1645920" cy="1097280"/>
          </a:xfrm>
          <a:prstGeom prst="rect">
            <a:avLst/>
          </a:prstGeom>
          <a:noFill/>
        </p:spPr>
        <p:txBody>
          <a:bodyPr wrap="square" lIns="0" rIns="0" tIns="0" bIns="0" anchor="ctr"/>
          <a:lstStyle/>
          <a:p>
            <a:pPr algn="l">
              <a:spcAft>
                <a:spcPts val="400"/>
              </a:spcAft>
              <a:buNone/>
            </a:pPr>
            <a:r>
              <a:rPr sz="1400" b="1" i="0">
                <a:solidFill>
                  <a:srgbClr val="1E8E4E"/>
                </a:solidFill>
                <a:latin typeface="Roboto"/>
              </a:rPr>
              <a:t>Mensch bleibt</a:t>
            </a:r>
          </a:p>
        </p:txBody>
      </p:sp>
      <p:sp>
        <p:nvSpPr>
          <p:cNvPr id="6" name="Rounded Rectangle 5"/>
          <p:cNvSpPr/>
          <p:nvPr/>
        </p:nvSpPr>
        <p:spPr>
          <a:xfrm>
            <a:off x="2578608" y="2011680"/>
            <a:ext cx="1666036" cy="457200"/>
          </a:xfrm>
          <a:prstGeom prst="roundRect">
            <a:avLst>
              <a:gd name="adj" fmla="val 2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2578608" y="2011680"/>
            <a:ext cx="1666036" cy="457200"/>
          </a:xfrm>
          <a:prstGeom prst="rect">
            <a:avLst/>
          </a:prstGeom>
          <a:noFill/>
        </p:spPr>
        <p:txBody>
          <a:bodyPr wrap="square" lIns="0" rIns="0" tIns="0" bIns="0" anchor="ctr"/>
          <a:lstStyle/>
          <a:p>
            <a:pPr algn="ctr">
              <a:spcAft>
                <a:spcPts val="400"/>
              </a:spcAft>
              <a:buNone/>
            </a:pPr>
            <a:r>
              <a:rPr sz="1300" b="1" i="0">
                <a:solidFill>
                  <a:srgbClr val="FFFFFF"/>
                </a:solidFill>
                <a:latin typeface="Roboto"/>
              </a:rPr>
              <a:t>1 Empathie</a:t>
            </a:r>
          </a:p>
        </p:txBody>
      </p:sp>
      <p:sp>
        <p:nvSpPr>
          <p:cNvPr id="8" name="Rounded Rectangle 7"/>
          <p:cNvSpPr/>
          <p:nvPr/>
        </p:nvSpPr>
        <p:spPr>
          <a:xfrm>
            <a:off x="2578608" y="2578608"/>
            <a:ext cx="1666036" cy="1188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688336" y="2578608"/>
            <a:ext cx="1446580" cy="1188720"/>
          </a:xfrm>
          <a:prstGeom prst="rect">
            <a:avLst/>
          </a:prstGeom>
          <a:noFill/>
        </p:spPr>
        <p:txBody>
          <a:bodyPr wrap="square" lIns="0" rIns="0" tIns="0" bIns="0" anchor="ctr"/>
          <a:lstStyle/>
          <a:p>
            <a:pPr algn="ctr">
              <a:spcAft>
                <a:spcPts val="0"/>
              </a:spcAft>
              <a:buNone/>
            </a:pPr>
            <a:r>
              <a:rPr sz="1250" b="0" i="0">
                <a:solidFill>
                  <a:srgbClr val="0E1F53"/>
                </a:solidFill>
                <a:latin typeface="Roboto"/>
              </a:rPr>
              <a:t>Deep Research, Interview-</a:t>
            </a:r>
          </a:p>
          <a:p>
            <a:pPr algn="ctr">
              <a:spcAft>
                <a:spcPts val="0"/>
              </a:spcAft>
              <a:buNone/>
            </a:pPr>
            <a:r>
              <a:rPr sz="1250" b="0" i="0">
                <a:solidFill>
                  <a:srgbClr val="0E1F53"/>
                </a:solidFill>
                <a:latin typeface="Roboto"/>
              </a:rPr>
              <a:t>leitfaden, Transkription</a:t>
            </a:r>
          </a:p>
        </p:txBody>
      </p:sp>
      <p:sp>
        <p:nvSpPr>
          <p:cNvPr id="10" name="Rounded Rectangle 9"/>
          <p:cNvSpPr/>
          <p:nvPr/>
        </p:nvSpPr>
        <p:spPr>
          <a:xfrm>
            <a:off x="2578608" y="3904487"/>
            <a:ext cx="1666036" cy="109728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688336" y="3904487"/>
            <a:ext cx="1446580" cy="1097280"/>
          </a:xfrm>
          <a:prstGeom prst="rect">
            <a:avLst/>
          </a:prstGeom>
          <a:noFill/>
        </p:spPr>
        <p:txBody>
          <a:bodyPr wrap="square" lIns="0" rIns="0" tIns="0" bIns="0" anchor="ctr"/>
          <a:lstStyle/>
          <a:p>
            <a:pPr algn="ctr">
              <a:spcAft>
                <a:spcPts val="400"/>
              </a:spcAft>
              <a:buNone/>
            </a:pPr>
            <a:r>
              <a:rPr sz="1250" b="0" i="0">
                <a:solidFill>
                  <a:srgbClr val="0E1F53"/>
                </a:solidFill>
                <a:latin typeface="Roboto"/>
              </a:rPr>
              <a:t>Echte Gespräche führen</a:t>
            </a:r>
          </a:p>
        </p:txBody>
      </p:sp>
      <p:sp>
        <p:nvSpPr>
          <p:cNvPr id="12" name="Rounded Rectangle 11"/>
          <p:cNvSpPr/>
          <p:nvPr/>
        </p:nvSpPr>
        <p:spPr>
          <a:xfrm>
            <a:off x="4354372" y="2011680"/>
            <a:ext cx="1666036" cy="457200"/>
          </a:xfrm>
          <a:prstGeom prst="roundRect">
            <a:avLst>
              <a:gd name="adj" fmla="val 2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354372" y="2011680"/>
            <a:ext cx="1666036" cy="457200"/>
          </a:xfrm>
          <a:prstGeom prst="rect">
            <a:avLst/>
          </a:prstGeom>
          <a:noFill/>
        </p:spPr>
        <p:txBody>
          <a:bodyPr wrap="square" lIns="0" rIns="0" tIns="0" bIns="0" anchor="ctr"/>
          <a:lstStyle/>
          <a:p>
            <a:pPr algn="ctr">
              <a:spcAft>
                <a:spcPts val="400"/>
              </a:spcAft>
              <a:buNone/>
            </a:pPr>
            <a:r>
              <a:rPr sz="1300" b="1" i="0">
                <a:solidFill>
                  <a:srgbClr val="FFFFFF"/>
                </a:solidFill>
                <a:latin typeface="Roboto"/>
              </a:rPr>
              <a:t>2 Definieren</a:t>
            </a:r>
          </a:p>
        </p:txBody>
      </p:sp>
      <p:sp>
        <p:nvSpPr>
          <p:cNvPr id="14" name="Rounded Rectangle 13"/>
          <p:cNvSpPr/>
          <p:nvPr/>
        </p:nvSpPr>
        <p:spPr>
          <a:xfrm>
            <a:off x="4354372" y="2578608"/>
            <a:ext cx="1666036" cy="1188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64100" y="2578608"/>
            <a:ext cx="1446580" cy="1188720"/>
          </a:xfrm>
          <a:prstGeom prst="rect">
            <a:avLst/>
          </a:prstGeom>
          <a:noFill/>
        </p:spPr>
        <p:txBody>
          <a:bodyPr wrap="square" lIns="0" rIns="0" tIns="0" bIns="0" anchor="ctr"/>
          <a:lstStyle/>
          <a:p>
            <a:pPr algn="ctr">
              <a:spcAft>
                <a:spcPts val="0"/>
              </a:spcAft>
              <a:buNone/>
            </a:pPr>
            <a:r>
              <a:rPr sz="1250" b="0" i="0">
                <a:solidFill>
                  <a:srgbClr val="0E1F53"/>
                </a:solidFill>
                <a:latin typeface="Roboto"/>
              </a:rPr>
              <a:t>Cluster, Persona- und POV-Entwürfe</a:t>
            </a:r>
          </a:p>
        </p:txBody>
      </p:sp>
      <p:sp>
        <p:nvSpPr>
          <p:cNvPr id="16" name="Rounded Rectangle 15"/>
          <p:cNvSpPr/>
          <p:nvPr/>
        </p:nvSpPr>
        <p:spPr>
          <a:xfrm>
            <a:off x="4354372" y="3904487"/>
            <a:ext cx="1666036" cy="109728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64100" y="3904487"/>
            <a:ext cx="1446580" cy="1097280"/>
          </a:xfrm>
          <a:prstGeom prst="rect">
            <a:avLst/>
          </a:prstGeom>
          <a:noFill/>
        </p:spPr>
        <p:txBody>
          <a:bodyPr wrap="square" lIns="0" rIns="0" tIns="0" bIns="0" anchor="ctr"/>
          <a:lstStyle/>
          <a:p>
            <a:pPr algn="ctr">
              <a:spcAft>
                <a:spcPts val="400"/>
              </a:spcAft>
              <a:buNone/>
            </a:pPr>
            <a:r>
              <a:rPr sz="1250" b="0" i="0">
                <a:solidFill>
                  <a:srgbClr val="0E1F53"/>
                </a:solidFill>
                <a:latin typeface="Roboto"/>
              </a:rPr>
              <a:t>Mit Empathie interpretieren</a:t>
            </a:r>
          </a:p>
        </p:txBody>
      </p:sp>
      <p:sp>
        <p:nvSpPr>
          <p:cNvPr id="18" name="Rounded Rectangle 17"/>
          <p:cNvSpPr/>
          <p:nvPr/>
        </p:nvSpPr>
        <p:spPr>
          <a:xfrm>
            <a:off x="6130137" y="2011680"/>
            <a:ext cx="1666036" cy="457200"/>
          </a:xfrm>
          <a:prstGeom prst="roundRect">
            <a:avLst>
              <a:gd name="adj" fmla="val 2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130137" y="2011680"/>
            <a:ext cx="1666036" cy="457200"/>
          </a:xfrm>
          <a:prstGeom prst="rect">
            <a:avLst/>
          </a:prstGeom>
          <a:noFill/>
        </p:spPr>
        <p:txBody>
          <a:bodyPr wrap="square" lIns="0" rIns="0" tIns="0" bIns="0" anchor="ctr"/>
          <a:lstStyle/>
          <a:p>
            <a:pPr algn="ctr">
              <a:spcAft>
                <a:spcPts val="400"/>
              </a:spcAft>
              <a:buNone/>
            </a:pPr>
            <a:r>
              <a:rPr sz="1300" b="1" i="0">
                <a:solidFill>
                  <a:srgbClr val="FFFFFF"/>
                </a:solidFill>
                <a:latin typeface="Roboto"/>
              </a:rPr>
              <a:t>3 Ideen finden</a:t>
            </a:r>
          </a:p>
        </p:txBody>
      </p:sp>
      <p:sp>
        <p:nvSpPr>
          <p:cNvPr id="20" name="Rounded Rectangle 19"/>
          <p:cNvSpPr/>
          <p:nvPr/>
        </p:nvSpPr>
        <p:spPr>
          <a:xfrm>
            <a:off x="6130137" y="2578608"/>
            <a:ext cx="1666036" cy="1188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239865" y="2578608"/>
            <a:ext cx="1446580" cy="1188720"/>
          </a:xfrm>
          <a:prstGeom prst="rect">
            <a:avLst/>
          </a:prstGeom>
          <a:noFill/>
        </p:spPr>
        <p:txBody>
          <a:bodyPr wrap="square" lIns="0" rIns="0" tIns="0" bIns="0" anchor="ctr"/>
          <a:lstStyle/>
          <a:p>
            <a:pPr algn="ctr">
              <a:spcAft>
                <a:spcPts val="0"/>
              </a:spcAft>
              <a:buNone/>
            </a:pPr>
            <a:r>
              <a:rPr sz="1250" b="0" i="0">
                <a:solidFill>
                  <a:srgbClr val="0E1F53"/>
                </a:solidFill>
                <a:latin typeface="Roboto"/>
              </a:rPr>
              <a:t>Sparring, Perspektiv-</a:t>
            </a:r>
          </a:p>
          <a:p>
            <a:pPr algn="ctr">
              <a:spcAft>
                <a:spcPts val="0"/>
              </a:spcAft>
              <a:buNone/>
            </a:pPr>
            <a:r>
              <a:rPr sz="1250" b="0" i="0">
                <a:solidFill>
                  <a:srgbClr val="0E1F53"/>
                </a:solidFill>
                <a:latin typeface="Roboto"/>
              </a:rPr>
              <a:t>wechsel, Bewertung</a:t>
            </a:r>
          </a:p>
        </p:txBody>
      </p:sp>
      <p:sp>
        <p:nvSpPr>
          <p:cNvPr id="22" name="Rounded Rectangle 21"/>
          <p:cNvSpPr/>
          <p:nvPr/>
        </p:nvSpPr>
        <p:spPr>
          <a:xfrm>
            <a:off x="6130137" y="3904487"/>
            <a:ext cx="1666036" cy="109728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39865" y="3904487"/>
            <a:ext cx="1446580" cy="1097280"/>
          </a:xfrm>
          <a:prstGeom prst="rect">
            <a:avLst/>
          </a:prstGeom>
          <a:noFill/>
        </p:spPr>
        <p:txBody>
          <a:bodyPr wrap="square" lIns="0" rIns="0" tIns="0" bIns="0" anchor="ctr"/>
          <a:lstStyle/>
          <a:p>
            <a:pPr algn="ctr">
              <a:spcAft>
                <a:spcPts val="400"/>
              </a:spcAft>
              <a:buNone/>
            </a:pPr>
            <a:r>
              <a:rPr sz="1250" b="0" i="0">
                <a:solidFill>
                  <a:srgbClr val="0E1F53"/>
                </a:solidFill>
                <a:latin typeface="Roboto"/>
              </a:rPr>
              <a:t>Ideen auswählen</a:t>
            </a:r>
          </a:p>
        </p:txBody>
      </p:sp>
      <p:sp>
        <p:nvSpPr>
          <p:cNvPr id="24" name="Rounded Rectangle 23"/>
          <p:cNvSpPr/>
          <p:nvPr/>
        </p:nvSpPr>
        <p:spPr>
          <a:xfrm>
            <a:off x="7905902" y="2011680"/>
            <a:ext cx="1666036" cy="457200"/>
          </a:xfrm>
          <a:prstGeom prst="roundRect">
            <a:avLst>
              <a:gd name="adj" fmla="val 2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905902" y="2011680"/>
            <a:ext cx="1666036" cy="457200"/>
          </a:xfrm>
          <a:prstGeom prst="rect">
            <a:avLst/>
          </a:prstGeom>
          <a:noFill/>
        </p:spPr>
        <p:txBody>
          <a:bodyPr wrap="square" lIns="0" rIns="0" tIns="0" bIns="0" anchor="ctr"/>
          <a:lstStyle/>
          <a:p>
            <a:pPr algn="ctr">
              <a:spcAft>
                <a:spcPts val="400"/>
              </a:spcAft>
              <a:buNone/>
            </a:pPr>
            <a:r>
              <a:rPr sz="1300" b="1" i="0">
                <a:solidFill>
                  <a:srgbClr val="FFFFFF"/>
                </a:solidFill>
                <a:latin typeface="Roboto"/>
              </a:rPr>
              <a:t>4 Prototypen</a:t>
            </a:r>
          </a:p>
        </p:txBody>
      </p:sp>
      <p:sp>
        <p:nvSpPr>
          <p:cNvPr id="26" name="Rounded Rectangle 25"/>
          <p:cNvSpPr/>
          <p:nvPr/>
        </p:nvSpPr>
        <p:spPr>
          <a:xfrm>
            <a:off x="7905902" y="2578608"/>
            <a:ext cx="1666036" cy="1188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015630" y="2578608"/>
            <a:ext cx="1446580" cy="1188720"/>
          </a:xfrm>
          <a:prstGeom prst="rect">
            <a:avLst/>
          </a:prstGeom>
          <a:noFill/>
        </p:spPr>
        <p:txBody>
          <a:bodyPr wrap="square" lIns="0" rIns="0" tIns="0" bIns="0" anchor="ctr"/>
          <a:lstStyle/>
          <a:p>
            <a:pPr algn="ctr">
              <a:spcAft>
                <a:spcPts val="0"/>
              </a:spcAft>
              <a:buNone/>
            </a:pPr>
            <a:r>
              <a:rPr sz="1250" b="0" i="0">
                <a:solidFill>
                  <a:srgbClr val="0E1F53"/>
                </a:solidFill>
                <a:latin typeface="Roboto"/>
              </a:rPr>
              <a:t>Texte, Bilder, Klick-Prototypen in Minuten</a:t>
            </a:r>
          </a:p>
        </p:txBody>
      </p:sp>
      <p:sp>
        <p:nvSpPr>
          <p:cNvPr id="28" name="Rounded Rectangle 27"/>
          <p:cNvSpPr/>
          <p:nvPr/>
        </p:nvSpPr>
        <p:spPr>
          <a:xfrm>
            <a:off x="7905902" y="3904487"/>
            <a:ext cx="1666036" cy="109728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015630" y="3904487"/>
            <a:ext cx="1446580" cy="1097280"/>
          </a:xfrm>
          <a:prstGeom prst="rect">
            <a:avLst/>
          </a:prstGeom>
          <a:noFill/>
        </p:spPr>
        <p:txBody>
          <a:bodyPr wrap="square" lIns="0" rIns="0" tIns="0" bIns="0" anchor="ctr"/>
          <a:lstStyle/>
          <a:p>
            <a:pPr algn="ctr">
              <a:spcAft>
                <a:spcPts val="400"/>
              </a:spcAft>
              <a:buNone/>
            </a:pPr>
            <a:r>
              <a:rPr sz="1250" b="0" i="0">
                <a:solidFill>
                  <a:srgbClr val="0E1F53"/>
                </a:solidFill>
                <a:latin typeface="Roboto"/>
              </a:rPr>
              <a:t>Bauen, zeigen, ausprobieren</a:t>
            </a:r>
          </a:p>
        </p:txBody>
      </p:sp>
      <p:sp>
        <p:nvSpPr>
          <p:cNvPr id="30" name="Rounded Rectangle 29"/>
          <p:cNvSpPr/>
          <p:nvPr/>
        </p:nvSpPr>
        <p:spPr>
          <a:xfrm>
            <a:off x="9681667" y="2011680"/>
            <a:ext cx="1666036" cy="457200"/>
          </a:xfrm>
          <a:prstGeom prst="roundRect">
            <a:avLst>
              <a:gd name="adj" fmla="val 2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681667" y="2011680"/>
            <a:ext cx="1666036" cy="457200"/>
          </a:xfrm>
          <a:prstGeom prst="rect">
            <a:avLst/>
          </a:prstGeom>
          <a:noFill/>
        </p:spPr>
        <p:txBody>
          <a:bodyPr wrap="square" lIns="0" rIns="0" tIns="0" bIns="0" anchor="ctr"/>
          <a:lstStyle/>
          <a:p>
            <a:pPr algn="ctr">
              <a:spcAft>
                <a:spcPts val="400"/>
              </a:spcAft>
              <a:buNone/>
            </a:pPr>
            <a:r>
              <a:rPr sz="1300" b="1" i="0">
                <a:solidFill>
                  <a:srgbClr val="FFFFFF"/>
                </a:solidFill>
                <a:latin typeface="Roboto"/>
              </a:rPr>
              <a:t>5 Testen</a:t>
            </a:r>
          </a:p>
        </p:txBody>
      </p:sp>
      <p:sp>
        <p:nvSpPr>
          <p:cNvPr id="32" name="Rounded Rectangle 31"/>
          <p:cNvSpPr/>
          <p:nvPr/>
        </p:nvSpPr>
        <p:spPr>
          <a:xfrm>
            <a:off x="9681667" y="2578608"/>
            <a:ext cx="1666036" cy="1188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791395" y="2578608"/>
            <a:ext cx="1446580" cy="1188720"/>
          </a:xfrm>
          <a:prstGeom prst="rect">
            <a:avLst/>
          </a:prstGeom>
          <a:noFill/>
        </p:spPr>
        <p:txBody>
          <a:bodyPr wrap="square" lIns="0" rIns="0" tIns="0" bIns="0" anchor="ctr"/>
          <a:lstStyle/>
          <a:p>
            <a:pPr algn="ctr">
              <a:spcAft>
                <a:spcPts val="0"/>
              </a:spcAft>
              <a:buNone/>
            </a:pPr>
            <a:r>
              <a:rPr sz="1250" b="0" i="0">
                <a:solidFill>
                  <a:srgbClr val="0E1F53"/>
                </a:solidFill>
                <a:latin typeface="Roboto"/>
              </a:rPr>
              <a:t>Testplan, Fragebogen, Feedback-Analyse</a:t>
            </a:r>
          </a:p>
        </p:txBody>
      </p:sp>
      <p:sp>
        <p:nvSpPr>
          <p:cNvPr id="34" name="Rounded Rectangle 33"/>
          <p:cNvSpPr/>
          <p:nvPr/>
        </p:nvSpPr>
        <p:spPr>
          <a:xfrm>
            <a:off x="9681667" y="3904487"/>
            <a:ext cx="1666036" cy="109728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791395" y="3904487"/>
            <a:ext cx="1446580" cy="1097280"/>
          </a:xfrm>
          <a:prstGeom prst="rect">
            <a:avLst/>
          </a:prstGeom>
          <a:noFill/>
        </p:spPr>
        <p:txBody>
          <a:bodyPr wrap="square" lIns="0" rIns="0" tIns="0" bIns="0" anchor="ctr"/>
          <a:lstStyle/>
          <a:p>
            <a:pPr algn="ctr">
              <a:spcAft>
                <a:spcPts val="400"/>
              </a:spcAft>
              <a:buNone/>
            </a:pPr>
            <a:r>
              <a:rPr sz="1250" b="0" i="0">
                <a:solidFill>
                  <a:srgbClr val="0E1F53"/>
                </a:solidFill>
                <a:latin typeface="Roboto"/>
              </a:rPr>
              <a:t>Entscheiden: weiter, ändern, stoppen</a:t>
            </a:r>
          </a:p>
        </p:txBody>
      </p:sp>
      <p:sp>
        <p:nvSpPr>
          <p:cNvPr id="36" name="Rounded Rectangle 35"/>
          <p:cNvSpPr/>
          <p:nvPr/>
        </p:nvSpPr>
        <p:spPr>
          <a:xfrm>
            <a:off x="841248" y="5303520"/>
            <a:ext cx="10506456" cy="64008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115568" y="5303520"/>
            <a:ext cx="9957816" cy="640080"/>
          </a:xfrm>
          <a:prstGeom prst="rect">
            <a:avLst/>
          </a:prstGeom>
          <a:noFill/>
        </p:spPr>
        <p:txBody>
          <a:bodyPr wrap="square" lIns="0" rIns="0" tIns="0" bIns="0" anchor="ctr"/>
          <a:lstStyle/>
          <a:p>
            <a:pPr algn="l">
              <a:spcAft>
                <a:spcPts val="400"/>
              </a:spcAft>
              <a:buNone/>
            </a:pPr>
            <a:r>
              <a:rPr sz="1500" b="1" i="0">
                <a:solidFill>
                  <a:srgbClr val="FFFFFF"/>
                </a:solidFill>
                <a:latin typeface="Roboto"/>
              </a:rPr>
              <a:t>Faustregel: KI liefert Material und Tempo. Empathie und Entscheidungen bleiben im Team.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KI-Werkzeugkasten</a:t>
            </a:r>
          </a:p>
        </p:txBody>
      </p:sp>
      <p:sp>
        <p:nvSpPr>
          <p:cNvPr id="3" name="Text Placeholder 2"/>
          <p:cNvSpPr>
            <a:spLocks noGrp="1"/>
          </p:cNvSpPr>
          <p:nvPr>
            <p:ph type="body" idx="11" sz="quarter"/>
          </p:nvPr>
        </p:nvSpPr>
        <p:spPr/>
        <p:txBody>
          <a:bodyPr/>
          <a:lstStyle/>
          <a:p>
            <a:r>
              <a:rPr b="0" sz="2000"/>
              <a:t>Prompts, Agenten, Skills und Automatisierung, werkzeugneutral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Sechs Werkzeuge, ein Baukasten</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Rounded Rectangle 3"/>
          <p:cNvSpPr/>
          <p:nvPr/>
        </p:nvSpPr>
        <p:spPr>
          <a:xfrm>
            <a:off x="841248" y="2011680"/>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9848" y="221284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MessagesSquare_w.png"/>
          <p:cNvPicPr>
            <a:picLocks noChangeAspect="1"/>
          </p:cNvPicPr>
          <p:nvPr/>
        </p:nvPicPr>
        <p:blipFill>
          <a:blip r:embed="rId3"/>
          <a:stretch>
            <a:fillRect/>
          </a:stretch>
        </p:blipFill>
        <p:spPr>
          <a:xfrm>
            <a:off x="1201521" y="2344521"/>
            <a:ext cx="285292" cy="285292"/>
          </a:xfrm>
          <a:prstGeom prst="rect">
            <a:avLst/>
          </a:prstGeom>
        </p:spPr>
      </p:pic>
      <p:sp>
        <p:nvSpPr>
          <p:cNvPr id="7" name="TextBox 6"/>
          <p:cNvSpPr txBox="1"/>
          <p:nvPr/>
        </p:nvSpPr>
        <p:spPr>
          <a:xfrm>
            <a:off x="1755648" y="2212848"/>
            <a:ext cx="2221992" cy="548640"/>
          </a:xfrm>
          <a:prstGeom prst="rect">
            <a:avLst/>
          </a:prstGeom>
          <a:noFill/>
        </p:spPr>
        <p:txBody>
          <a:bodyPr wrap="square" lIns="0" rIns="0" tIns="0" bIns="0" anchor="ctr"/>
          <a:lstStyle/>
          <a:p>
            <a:pPr algn="l">
              <a:spcAft>
                <a:spcPts val="400"/>
              </a:spcAft>
              <a:buNone/>
            </a:pPr>
            <a:r>
              <a:rPr sz="1700" b="1" i="0">
                <a:solidFill>
                  <a:srgbClr val="0E1F53"/>
                </a:solidFill>
                <a:latin typeface="Roboto"/>
              </a:rPr>
              <a:t>Chat-Assistent</a:t>
            </a:r>
          </a:p>
        </p:txBody>
      </p:sp>
      <p:sp>
        <p:nvSpPr>
          <p:cNvPr id="8" name="TextBox 7"/>
          <p:cNvSpPr txBox="1"/>
          <p:nvPr/>
        </p:nvSpPr>
        <p:spPr>
          <a:xfrm>
            <a:off x="1069848" y="2852928"/>
            <a:ext cx="2862072" cy="640080"/>
          </a:xfrm>
          <a:prstGeom prst="rect">
            <a:avLst/>
          </a:prstGeom>
          <a:noFill/>
        </p:spPr>
        <p:txBody>
          <a:bodyPr wrap="square" lIns="0" rIns="0" tIns="0" bIns="0" anchor="t"/>
          <a:lstStyle/>
          <a:p>
            <a:pPr algn="l">
              <a:spcAft>
                <a:spcPts val="400"/>
              </a:spcAft>
              <a:buNone/>
            </a:pPr>
            <a:r>
              <a:rPr sz="1300" b="0" i="0">
                <a:solidFill>
                  <a:srgbClr val="0E1F53"/>
                </a:solidFill>
                <a:latin typeface="Roboto"/>
              </a:rPr>
              <a:t>Fragen, Texte, Zusammenfassungen. Der Einstieg für alles.</a:t>
            </a:r>
          </a:p>
        </p:txBody>
      </p:sp>
      <p:sp>
        <p:nvSpPr>
          <p:cNvPr id="9" name="TextBox 8"/>
          <p:cNvSpPr txBox="1"/>
          <p:nvPr/>
        </p:nvSpPr>
        <p:spPr>
          <a:xfrm>
            <a:off x="1069848" y="3474720"/>
            <a:ext cx="2862072" cy="292608"/>
          </a:xfrm>
          <a:prstGeom prst="rect">
            <a:avLst/>
          </a:prstGeom>
          <a:noFill/>
        </p:spPr>
        <p:txBody>
          <a:bodyPr wrap="square" lIns="0" rIns="0" tIns="0" bIns="0" anchor="t"/>
          <a:lstStyle/>
          <a:p>
            <a:pPr algn="l">
              <a:spcAft>
                <a:spcPts val="400"/>
              </a:spcAft>
              <a:buNone/>
            </a:pPr>
            <a:r>
              <a:rPr sz="1100" b="1" i="0">
                <a:solidFill>
                  <a:srgbClr val="FB2762"/>
                </a:solidFill>
                <a:latin typeface="Roboto"/>
              </a:rPr>
              <a:t>ChatGPT · Claude · Copilot · Gemini</a:t>
            </a:r>
          </a:p>
        </p:txBody>
      </p:sp>
      <p:sp>
        <p:nvSpPr>
          <p:cNvPr id="10" name="Rounded Rectangle 9"/>
          <p:cNvSpPr/>
          <p:nvPr/>
        </p:nvSpPr>
        <p:spPr>
          <a:xfrm>
            <a:off x="4434840" y="2011680"/>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663440" y="221284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ScanSearch_w.png"/>
          <p:cNvPicPr>
            <a:picLocks noChangeAspect="1"/>
          </p:cNvPicPr>
          <p:nvPr/>
        </p:nvPicPr>
        <p:blipFill>
          <a:blip r:embed="rId4"/>
          <a:stretch>
            <a:fillRect/>
          </a:stretch>
        </p:blipFill>
        <p:spPr>
          <a:xfrm>
            <a:off x="4795113" y="2344521"/>
            <a:ext cx="285292" cy="285292"/>
          </a:xfrm>
          <a:prstGeom prst="rect">
            <a:avLst/>
          </a:prstGeom>
        </p:spPr>
      </p:pic>
      <p:sp>
        <p:nvSpPr>
          <p:cNvPr id="13" name="TextBox 12"/>
          <p:cNvSpPr txBox="1"/>
          <p:nvPr/>
        </p:nvSpPr>
        <p:spPr>
          <a:xfrm>
            <a:off x="5349240" y="2212848"/>
            <a:ext cx="2221992" cy="548640"/>
          </a:xfrm>
          <a:prstGeom prst="rect">
            <a:avLst/>
          </a:prstGeom>
          <a:noFill/>
        </p:spPr>
        <p:txBody>
          <a:bodyPr wrap="square" lIns="0" rIns="0" tIns="0" bIns="0" anchor="ctr"/>
          <a:lstStyle/>
          <a:p>
            <a:pPr algn="l">
              <a:spcAft>
                <a:spcPts val="400"/>
              </a:spcAft>
              <a:buNone/>
            </a:pPr>
            <a:r>
              <a:rPr sz="1700" b="1" i="0">
                <a:solidFill>
                  <a:srgbClr val="0E1F53"/>
                </a:solidFill>
                <a:latin typeface="Roboto"/>
              </a:rPr>
              <a:t>Deep Research</a:t>
            </a:r>
          </a:p>
        </p:txBody>
      </p:sp>
      <p:sp>
        <p:nvSpPr>
          <p:cNvPr id="14" name="TextBox 13"/>
          <p:cNvSpPr txBox="1"/>
          <p:nvPr/>
        </p:nvSpPr>
        <p:spPr>
          <a:xfrm>
            <a:off x="4663440" y="2852928"/>
            <a:ext cx="2862072" cy="640080"/>
          </a:xfrm>
          <a:prstGeom prst="rect">
            <a:avLst/>
          </a:prstGeom>
          <a:noFill/>
        </p:spPr>
        <p:txBody>
          <a:bodyPr wrap="square" lIns="0" rIns="0" tIns="0" bIns="0" anchor="t"/>
          <a:lstStyle/>
          <a:p>
            <a:pPr algn="l">
              <a:spcAft>
                <a:spcPts val="400"/>
              </a:spcAft>
              <a:buNone/>
            </a:pPr>
            <a:r>
              <a:rPr sz="1300" b="0" i="0">
                <a:solidFill>
                  <a:srgbClr val="0E1F53"/>
                </a:solidFill>
                <a:latin typeface="Roboto"/>
              </a:rPr>
              <a:t>Agent recherchiert selbstständig in vielen Quellen und schreibt einen Bericht mit Belegen.</a:t>
            </a:r>
          </a:p>
        </p:txBody>
      </p:sp>
      <p:sp>
        <p:nvSpPr>
          <p:cNvPr id="15" name="TextBox 14"/>
          <p:cNvSpPr txBox="1"/>
          <p:nvPr/>
        </p:nvSpPr>
        <p:spPr>
          <a:xfrm>
            <a:off x="4663440" y="3474720"/>
            <a:ext cx="2862072" cy="292608"/>
          </a:xfrm>
          <a:prstGeom prst="rect">
            <a:avLst/>
          </a:prstGeom>
          <a:noFill/>
        </p:spPr>
        <p:txBody>
          <a:bodyPr wrap="square" lIns="0" rIns="0" tIns="0" bIns="0" anchor="t"/>
          <a:lstStyle/>
          <a:p>
            <a:pPr algn="l">
              <a:spcAft>
                <a:spcPts val="400"/>
              </a:spcAft>
              <a:buNone/>
            </a:pPr>
            <a:r>
              <a:rPr sz="1100" b="1" i="0">
                <a:solidFill>
                  <a:srgbClr val="FB2762"/>
                </a:solidFill>
                <a:latin typeface="Roboto"/>
              </a:rPr>
              <a:t>in allen großen Assistenten und Perplexity</a:t>
            </a:r>
          </a:p>
        </p:txBody>
      </p:sp>
      <p:sp>
        <p:nvSpPr>
          <p:cNvPr id="16" name="Rounded Rectangle 15"/>
          <p:cNvSpPr/>
          <p:nvPr/>
        </p:nvSpPr>
        <p:spPr>
          <a:xfrm>
            <a:off x="8028432" y="2011680"/>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257032" y="221284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Bot_w.png"/>
          <p:cNvPicPr>
            <a:picLocks noChangeAspect="1"/>
          </p:cNvPicPr>
          <p:nvPr/>
        </p:nvPicPr>
        <p:blipFill>
          <a:blip r:embed="rId5"/>
          <a:stretch>
            <a:fillRect/>
          </a:stretch>
        </p:blipFill>
        <p:spPr>
          <a:xfrm>
            <a:off x="8388705" y="2344521"/>
            <a:ext cx="285292" cy="285292"/>
          </a:xfrm>
          <a:prstGeom prst="rect">
            <a:avLst/>
          </a:prstGeom>
        </p:spPr>
      </p:pic>
      <p:sp>
        <p:nvSpPr>
          <p:cNvPr id="19" name="TextBox 18"/>
          <p:cNvSpPr txBox="1"/>
          <p:nvPr/>
        </p:nvSpPr>
        <p:spPr>
          <a:xfrm>
            <a:off x="8942832" y="2212848"/>
            <a:ext cx="2221992" cy="548640"/>
          </a:xfrm>
          <a:prstGeom prst="rect">
            <a:avLst/>
          </a:prstGeom>
          <a:noFill/>
        </p:spPr>
        <p:txBody>
          <a:bodyPr wrap="square" lIns="0" rIns="0" tIns="0" bIns="0" anchor="ctr"/>
          <a:lstStyle/>
          <a:p>
            <a:pPr algn="l">
              <a:spcAft>
                <a:spcPts val="400"/>
              </a:spcAft>
              <a:buNone/>
            </a:pPr>
            <a:r>
              <a:rPr sz="1700" b="1" i="0">
                <a:solidFill>
                  <a:srgbClr val="0E1F53"/>
                </a:solidFill>
                <a:latin typeface="Roboto"/>
              </a:rPr>
              <a:t>Eigener Agent</a:t>
            </a:r>
          </a:p>
        </p:txBody>
      </p:sp>
      <p:sp>
        <p:nvSpPr>
          <p:cNvPr id="20" name="TextBox 19"/>
          <p:cNvSpPr txBox="1"/>
          <p:nvPr/>
        </p:nvSpPr>
        <p:spPr>
          <a:xfrm>
            <a:off x="8257032" y="2852928"/>
            <a:ext cx="2862072" cy="640080"/>
          </a:xfrm>
          <a:prstGeom prst="rect">
            <a:avLst/>
          </a:prstGeom>
          <a:noFill/>
        </p:spPr>
        <p:txBody>
          <a:bodyPr wrap="square" lIns="0" rIns="0" tIns="0" bIns="0" anchor="t"/>
          <a:lstStyle/>
          <a:p>
            <a:pPr algn="l">
              <a:spcAft>
                <a:spcPts val="400"/>
              </a:spcAft>
              <a:buNone/>
            </a:pPr>
            <a:r>
              <a:rPr sz="1300" b="0" i="0">
                <a:solidFill>
                  <a:srgbClr val="0E1F53"/>
                </a:solidFill>
                <a:latin typeface="Roboto"/>
              </a:rPr>
              <a:t>Assistent mit festem Systemprompt, eigenem Wissen und Werkzeugen für eine Aufgabe.</a:t>
            </a:r>
          </a:p>
        </p:txBody>
      </p:sp>
      <p:sp>
        <p:nvSpPr>
          <p:cNvPr id="21" name="TextBox 20"/>
          <p:cNvSpPr txBox="1"/>
          <p:nvPr/>
        </p:nvSpPr>
        <p:spPr>
          <a:xfrm>
            <a:off x="8257032" y="3474720"/>
            <a:ext cx="2862072" cy="292608"/>
          </a:xfrm>
          <a:prstGeom prst="rect">
            <a:avLst/>
          </a:prstGeom>
          <a:noFill/>
        </p:spPr>
        <p:txBody>
          <a:bodyPr wrap="square" lIns="0" rIns="0" tIns="0" bIns="0" anchor="t"/>
          <a:lstStyle/>
          <a:p>
            <a:pPr algn="l">
              <a:spcAft>
                <a:spcPts val="400"/>
              </a:spcAft>
              <a:buNone/>
            </a:pPr>
            <a:r>
              <a:rPr sz="1100" b="1" i="0">
                <a:solidFill>
                  <a:srgbClr val="FB2762"/>
                </a:solidFill>
                <a:latin typeface="Roboto"/>
              </a:rPr>
              <a:t>GPTs · Projekte · Gems · Copilot-Agenten</a:t>
            </a:r>
          </a:p>
        </p:txBody>
      </p:sp>
      <p:sp>
        <p:nvSpPr>
          <p:cNvPr id="22" name="Rounded Rectangle 21"/>
          <p:cNvSpPr/>
          <p:nvPr/>
        </p:nvSpPr>
        <p:spPr>
          <a:xfrm>
            <a:off x="841248" y="4041648"/>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69848" y="4242816"/>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uFileCode_w.png"/>
          <p:cNvPicPr>
            <a:picLocks noChangeAspect="1"/>
          </p:cNvPicPr>
          <p:nvPr/>
        </p:nvPicPr>
        <p:blipFill>
          <a:blip r:embed="rId6"/>
          <a:stretch>
            <a:fillRect/>
          </a:stretch>
        </p:blipFill>
        <p:spPr>
          <a:xfrm>
            <a:off x="1201521" y="4374489"/>
            <a:ext cx="285292" cy="285292"/>
          </a:xfrm>
          <a:prstGeom prst="rect">
            <a:avLst/>
          </a:prstGeom>
        </p:spPr>
      </p:pic>
      <p:sp>
        <p:nvSpPr>
          <p:cNvPr id="25" name="TextBox 24"/>
          <p:cNvSpPr txBox="1"/>
          <p:nvPr/>
        </p:nvSpPr>
        <p:spPr>
          <a:xfrm>
            <a:off x="1755648" y="4242816"/>
            <a:ext cx="2221992" cy="548640"/>
          </a:xfrm>
          <a:prstGeom prst="rect">
            <a:avLst/>
          </a:prstGeom>
          <a:noFill/>
        </p:spPr>
        <p:txBody>
          <a:bodyPr wrap="square" lIns="0" rIns="0" tIns="0" bIns="0" anchor="ctr"/>
          <a:lstStyle/>
          <a:p>
            <a:pPr algn="l">
              <a:spcAft>
                <a:spcPts val="400"/>
              </a:spcAft>
              <a:buNone/>
            </a:pPr>
            <a:r>
              <a:rPr sz="1700" b="1" i="0">
                <a:solidFill>
                  <a:srgbClr val="0E1F53"/>
                </a:solidFill>
                <a:latin typeface="Roboto"/>
              </a:rPr>
              <a:t>Skills</a:t>
            </a:r>
          </a:p>
        </p:txBody>
      </p:sp>
      <p:sp>
        <p:nvSpPr>
          <p:cNvPr id="26" name="TextBox 25"/>
          <p:cNvSpPr txBox="1"/>
          <p:nvPr/>
        </p:nvSpPr>
        <p:spPr>
          <a:xfrm>
            <a:off x="1069848" y="4882896"/>
            <a:ext cx="2862072" cy="640080"/>
          </a:xfrm>
          <a:prstGeom prst="rect">
            <a:avLst/>
          </a:prstGeom>
          <a:noFill/>
        </p:spPr>
        <p:txBody>
          <a:bodyPr wrap="square" lIns="0" rIns="0" tIns="0" bIns="0" anchor="t"/>
          <a:lstStyle/>
          <a:p>
            <a:pPr algn="l">
              <a:spcAft>
                <a:spcPts val="400"/>
              </a:spcAft>
              <a:buNone/>
            </a:pPr>
            <a:r>
              <a:rPr sz="1300" b="0" i="0">
                <a:solidFill>
                  <a:srgbClr val="0E1F53"/>
                </a:solidFill>
                <a:latin typeface="Roboto"/>
              </a:rPr>
              <a:t>Wiederverwendbares Know-how als Datei: Anleitungen, Vorlagen, Skripte.</a:t>
            </a:r>
          </a:p>
        </p:txBody>
      </p:sp>
      <p:sp>
        <p:nvSpPr>
          <p:cNvPr id="27" name="TextBox 26"/>
          <p:cNvSpPr txBox="1"/>
          <p:nvPr/>
        </p:nvSpPr>
        <p:spPr>
          <a:xfrm>
            <a:off x="1069848" y="5504688"/>
            <a:ext cx="2862072" cy="292608"/>
          </a:xfrm>
          <a:prstGeom prst="rect">
            <a:avLst/>
          </a:prstGeom>
          <a:noFill/>
        </p:spPr>
        <p:txBody>
          <a:bodyPr wrap="square" lIns="0" rIns="0" tIns="0" bIns="0" anchor="t"/>
          <a:lstStyle/>
          <a:p>
            <a:pPr algn="l">
              <a:spcAft>
                <a:spcPts val="400"/>
              </a:spcAft>
              <a:buNone/>
            </a:pPr>
            <a:r>
              <a:rPr sz="1100" b="1" i="0">
                <a:solidFill>
                  <a:srgbClr val="FB2762"/>
                </a:solidFill>
                <a:latin typeface="Roboto"/>
              </a:rPr>
              <a:t>offener Standard SKILL.md</a:t>
            </a:r>
          </a:p>
        </p:txBody>
      </p:sp>
      <p:sp>
        <p:nvSpPr>
          <p:cNvPr id="28" name="Rounded Rectangle 27"/>
          <p:cNvSpPr/>
          <p:nvPr/>
        </p:nvSpPr>
        <p:spPr>
          <a:xfrm>
            <a:off x="4434840" y="4041648"/>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663440" y="4242816"/>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Plug_w.png"/>
          <p:cNvPicPr>
            <a:picLocks noChangeAspect="1"/>
          </p:cNvPicPr>
          <p:nvPr/>
        </p:nvPicPr>
        <p:blipFill>
          <a:blip r:embed="rId7"/>
          <a:stretch>
            <a:fillRect/>
          </a:stretch>
        </p:blipFill>
        <p:spPr>
          <a:xfrm>
            <a:off x="4795113" y="4374489"/>
            <a:ext cx="285292" cy="285292"/>
          </a:xfrm>
          <a:prstGeom prst="rect">
            <a:avLst/>
          </a:prstGeom>
        </p:spPr>
      </p:pic>
      <p:sp>
        <p:nvSpPr>
          <p:cNvPr id="31" name="TextBox 30"/>
          <p:cNvSpPr txBox="1"/>
          <p:nvPr/>
        </p:nvSpPr>
        <p:spPr>
          <a:xfrm>
            <a:off x="5349240" y="4242816"/>
            <a:ext cx="2221992" cy="548640"/>
          </a:xfrm>
          <a:prstGeom prst="rect">
            <a:avLst/>
          </a:prstGeom>
          <a:noFill/>
        </p:spPr>
        <p:txBody>
          <a:bodyPr wrap="square" lIns="0" rIns="0" tIns="0" bIns="0" anchor="ctr"/>
          <a:lstStyle/>
          <a:p>
            <a:pPr algn="l">
              <a:spcAft>
                <a:spcPts val="400"/>
              </a:spcAft>
              <a:buNone/>
            </a:pPr>
            <a:r>
              <a:rPr sz="1700" b="1" i="0">
                <a:solidFill>
                  <a:srgbClr val="0E1F53"/>
                </a:solidFill>
                <a:latin typeface="Roboto"/>
              </a:rPr>
              <a:t>Konnektoren</a:t>
            </a:r>
          </a:p>
        </p:txBody>
      </p:sp>
      <p:sp>
        <p:nvSpPr>
          <p:cNvPr id="32" name="TextBox 31"/>
          <p:cNvSpPr txBox="1"/>
          <p:nvPr/>
        </p:nvSpPr>
        <p:spPr>
          <a:xfrm>
            <a:off x="4663440" y="4882896"/>
            <a:ext cx="2862072" cy="640080"/>
          </a:xfrm>
          <a:prstGeom prst="rect">
            <a:avLst/>
          </a:prstGeom>
          <a:noFill/>
        </p:spPr>
        <p:txBody>
          <a:bodyPr wrap="square" lIns="0" rIns="0" tIns="0" bIns="0" anchor="t"/>
          <a:lstStyle/>
          <a:p>
            <a:pPr algn="l">
              <a:spcAft>
                <a:spcPts val="400"/>
              </a:spcAft>
              <a:buNone/>
            </a:pPr>
            <a:r>
              <a:rPr sz="1300" b="0" i="0">
                <a:solidFill>
                  <a:srgbClr val="0E1F53"/>
                </a:solidFill>
                <a:latin typeface="Roboto"/>
              </a:rPr>
              <a:t>Zugriff auf Mail, Kalender, Ablage, CRM: der Agent arbeitet mit Ihren Daten.</a:t>
            </a:r>
          </a:p>
        </p:txBody>
      </p:sp>
      <p:sp>
        <p:nvSpPr>
          <p:cNvPr id="33" name="TextBox 32"/>
          <p:cNvSpPr txBox="1"/>
          <p:nvPr/>
        </p:nvSpPr>
        <p:spPr>
          <a:xfrm>
            <a:off x="4663440" y="5504688"/>
            <a:ext cx="2862072" cy="292608"/>
          </a:xfrm>
          <a:prstGeom prst="rect">
            <a:avLst/>
          </a:prstGeom>
          <a:noFill/>
        </p:spPr>
        <p:txBody>
          <a:bodyPr wrap="square" lIns="0" rIns="0" tIns="0" bIns="0" anchor="t"/>
          <a:lstStyle/>
          <a:p>
            <a:pPr algn="l">
              <a:spcAft>
                <a:spcPts val="400"/>
              </a:spcAft>
              <a:buNone/>
            </a:pPr>
            <a:r>
              <a:rPr sz="1100" b="1" i="0">
                <a:solidFill>
                  <a:srgbClr val="FB2762"/>
                </a:solidFill>
                <a:latin typeface="Roboto"/>
              </a:rPr>
              <a:t>z. B. über MCP-Schnittstellen</a:t>
            </a:r>
          </a:p>
        </p:txBody>
      </p:sp>
      <p:sp>
        <p:nvSpPr>
          <p:cNvPr id="34" name="Rounded Rectangle 33"/>
          <p:cNvSpPr/>
          <p:nvPr/>
        </p:nvSpPr>
        <p:spPr>
          <a:xfrm>
            <a:off x="8028432" y="4041648"/>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257032" y="4242816"/>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LuCalendarClock_w.png"/>
          <p:cNvPicPr>
            <a:picLocks noChangeAspect="1"/>
          </p:cNvPicPr>
          <p:nvPr/>
        </p:nvPicPr>
        <p:blipFill>
          <a:blip r:embed="rId8"/>
          <a:stretch>
            <a:fillRect/>
          </a:stretch>
        </p:blipFill>
        <p:spPr>
          <a:xfrm>
            <a:off x="8388705" y="4374489"/>
            <a:ext cx="285292" cy="285292"/>
          </a:xfrm>
          <a:prstGeom prst="rect">
            <a:avLst/>
          </a:prstGeom>
        </p:spPr>
      </p:pic>
      <p:sp>
        <p:nvSpPr>
          <p:cNvPr id="37" name="TextBox 36"/>
          <p:cNvSpPr txBox="1"/>
          <p:nvPr/>
        </p:nvSpPr>
        <p:spPr>
          <a:xfrm>
            <a:off x="8942832" y="4242816"/>
            <a:ext cx="2221992" cy="548640"/>
          </a:xfrm>
          <a:prstGeom prst="rect">
            <a:avLst/>
          </a:prstGeom>
          <a:noFill/>
        </p:spPr>
        <p:txBody>
          <a:bodyPr wrap="square" lIns="0" rIns="0" tIns="0" bIns="0" anchor="ctr"/>
          <a:lstStyle/>
          <a:p>
            <a:pPr algn="l">
              <a:spcAft>
                <a:spcPts val="400"/>
              </a:spcAft>
              <a:buNone/>
            </a:pPr>
            <a:r>
              <a:rPr sz="1700" b="1" i="0">
                <a:solidFill>
                  <a:srgbClr val="0E1F53"/>
                </a:solidFill>
                <a:latin typeface="Roboto"/>
              </a:rPr>
              <a:t>Automatisierung</a:t>
            </a:r>
          </a:p>
        </p:txBody>
      </p:sp>
      <p:sp>
        <p:nvSpPr>
          <p:cNvPr id="38" name="TextBox 37"/>
          <p:cNvSpPr txBox="1"/>
          <p:nvPr/>
        </p:nvSpPr>
        <p:spPr>
          <a:xfrm>
            <a:off x="8257032" y="4882896"/>
            <a:ext cx="2862072" cy="640080"/>
          </a:xfrm>
          <a:prstGeom prst="rect">
            <a:avLst/>
          </a:prstGeom>
          <a:noFill/>
        </p:spPr>
        <p:txBody>
          <a:bodyPr wrap="square" lIns="0" rIns="0" tIns="0" bIns="0" anchor="t"/>
          <a:lstStyle/>
          <a:p>
            <a:pPr algn="l">
              <a:spcAft>
                <a:spcPts val="400"/>
              </a:spcAft>
              <a:buNone/>
            </a:pPr>
            <a:r>
              <a:rPr sz="1300" b="0" i="0">
                <a:solidFill>
                  <a:srgbClr val="0E1F53"/>
                </a:solidFill>
                <a:latin typeface="Roboto"/>
              </a:rPr>
              <a:t>Agenten laufen zeitgesteuert oder bei Ereignissen, ohne dass jemand klickt.</a:t>
            </a:r>
          </a:p>
        </p:txBody>
      </p:sp>
      <p:sp>
        <p:nvSpPr>
          <p:cNvPr id="39" name="TextBox 38"/>
          <p:cNvSpPr txBox="1"/>
          <p:nvPr/>
        </p:nvSpPr>
        <p:spPr>
          <a:xfrm>
            <a:off x="8257032" y="5504688"/>
            <a:ext cx="2862072" cy="292608"/>
          </a:xfrm>
          <a:prstGeom prst="rect">
            <a:avLst/>
          </a:prstGeom>
          <a:noFill/>
        </p:spPr>
        <p:txBody>
          <a:bodyPr wrap="square" lIns="0" rIns="0" tIns="0" bIns="0" anchor="t"/>
          <a:lstStyle/>
          <a:p>
            <a:pPr algn="l">
              <a:spcAft>
                <a:spcPts val="400"/>
              </a:spcAft>
              <a:buNone/>
            </a:pPr>
            <a:r>
              <a:rPr sz="1100" b="1" i="0">
                <a:solidFill>
                  <a:srgbClr val="FB2762"/>
                </a:solidFill>
                <a:latin typeface="Roboto"/>
              </a:rPr>
              <a:t>geplante Aufgaben · n8n · Make · Power Automate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Anatomie eines Systemprompts: sechs Bausteine, sechs Farben</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SYSTEMPROMPT</a:t>
            </a:r>
          </a:p>
        </p:txBody>
      </p:sp>
      <p:sp>
        <p:nvSpPr>
          <p:cNvPr id="4" name="Oval 3"/>
          <p:cNvSpPr/>
          <p:nvPr/>
        </p:nvSpPr>
        <p:spPr>
          <a:xfrm>
            <a:off x="841248" y="2157984"/>
            <a:ext cx="182880" cy="18288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3856" y="2103120"/>
            <a:ext cx="3913631" cy="310896"/>
          </a:xfrm>
          <a:prstGeom prst="rect">
            <a:avLst/>
          </a:prstGeom>
          <a:noFill/>
        </p:spPr>
        <p:txBody>
          <a:bodyPr wrap="square" lIns="0" rIns="0" tIns="0" bIns="0" anchor="ctr"/>
          <a:lstStyle/>
          <a:p>
            <a:pPr algn="l">
              <a:spcAft>
                <a:spcPts val="400"/>
              </a:spcAft>
              <a:buNone/>
            </a:pPr>
            <a:r>
              <a:rPr sz="1400" b="1" i="0">
                <a:solidFill>
                  <a:srgbClr val="1E8E4E"/>
                </a:solidFill>
                <a:latin typeface="Roboto"/>
              </a:rPr>
              <a:t>Rolle  </a:t>
            </a:r>
            <a:r>
              <a:rPr sz="1400" b="0" i="0">
                <a:solidFill>
                  <a:srgbClr val="0E1F53"/>
                </a:solidFill>
                <a:latin typeface="Roboto"/>
              </a:rPr>
              <a:t>Wer ist der Agent?</a:t>
            </a:r>
          </a:p>
        </p:txBody>
      </p:sp>
      <p:sp>
        <p:nvSpPr>
          <p:cNvPr id="6" name="Oval 5"/>
          <p:cNvSpPr/>
          <p:nvPr/>
        </p:nvSpPr>
        <p:spPr>
          <a:xfrm>
            <a:off x="841248" y="2724912"/>
            <a:ext cx="182880" cy="182880"/>
          </a:xfrm>
          <a:prstGeom prst="ellipse">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33856" y="2670048"/>
            <a:ext cx="3913631" cy="310896"/>
          </a:xfrm>
          <a:prstGeom prst="rect">
            <a:avLst/>
          </a:prstGeom>
          <a:noFill/>
        </p:spPr>
        <p:txBody>
          <a:bodyPr wrap="square" lIns="0" rIns="0" tIns="0" bIns="0" anchor="ctr"/>
          <a:lstStyle/>
          <a:p>
            <a:pPr algn="l">
              <a:spcAft>
                <a:spcPts val="400"/>
              </a:spcAft>
              <a:buNone/>
            </a:pPr>
            <a:r>
              <a:rPr sz="1400" b="1" i="0">
                <a:solidFill>
                  <a:srgbClr val="1F6FD1"/>
                </a:solidFill>
                <a:latin typeface="Roboto"/>
              </a:rPr>
              <a:t>Kontext  </a:t>
            </a:r>
            <a:r>
              <a:rPr sz="1400" b="0" i="0">
                <a:solidFill>
                  <a:srgbClr val="0E1F53"/>
                </a:solidFill>
                <a:latin typeface="Roboto"/>
              </a:rPr>
              <a:t>Was muss er wissen?</a:t>
            </a:r>
          </a:p>
        </p:txBody>
      </p:sp>
      <p:sp>
        <p:nvSpPr>
          <p:cNvPr id="8" name="Oval 7"/>
          <p:cNvSpPr/>
          <p:nvPr/>
        </p:nvSpPr>
        <p:spPr>
          <a:xfrm>
            <a:off x="841248" y="3291840"/>
            <a:ext cx="182880" cy="182880"/>
          </a:xfrm>
          <a:prstGeom prst="ellipse">
            <a:avLst/>
          </a:prstGeom>
          <a:solidFill>
            <a:srgbClr val="D973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33856" y="3236976"/>
            <a:ext cx="3913631" cy="310896"/>
          </a:xfrm>
          <a:prstGeom prst="rect">
            <a:avLst/>
          </a:prstGeom>
          <a:noFill/>
        </p:spPr>
        <p:txBody>
          <a:bodyPr wrap="square" lIns="0" rIns="0" tIns="0" bIns="0" anchor="ctr"/>
          <a:lstStyle/>
          <a:p>
            <a:pPr algn="l">
              <a:spcAft>
                <a:spcPts val="400"/>
              </a:spcAft>
              <a:buNone/>
            </a:pPr>
            <a:r>
              <a:rPr sz="1400" b="1" i="0">
                <a:solidFill>
                  <a:srgbClr val="D9730D"/>
                </a:solidFill>
                <a:latin typeface="Roboto"/>
              </a:rPr>
              <a:t>Aufgabe  </a:t>
            </a:r>
            <a:r>
              <a:rPr sz="1400" b="0" i="0">
                <a:solidFill>
                  <a:srgbClr val="0E1F53"/>
                </a:solidFill>
                <a:latin typeface="Roboto"/>
              </a:rPr>
              <a:t>Was soll er tun?</a:t>
            </a:r>
          </a:p>
        </p:txBody>
      </p:sp>
      <p:sp>
        <p:nvSpPr>
          <p:cNvPr id="10" name="Oval 9"/>
          <p:cNvSpPr/>
          <p:nvPr/>
        </p:nvSpPr>
        <p:spPr>
          <a:xfrm>
            <a:off x="841248" y="3858768"/>
            <a:ext cx="182880" cy="182880"/>
          </a:xfrm>
          <a:prstGeom prst="ellipse">
            <a:avLst/>
          </a:prstGeom>
          <a:solidFill>
            <a:srgbClr val="7A4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33856" y="3803904"/>
            <a:ext cx="3913631" cy="310896"/>
          </a:xfrm>
          <a:prstGeom prst="rect">
            <a:avLst/>
          </a:prstGeom>
          <a:noFill/>
        </p:spPr>
        <p:txBody>
          <a:bodyPr wrap="square" lIns="0" rIns="0" tIns="0" bIns="0" anchor="ctr"/>
          <a:lstStyle/>
          <a:p>
            <a:pPr algn="l">
              <a:spcAft>
                <a:spcPts val="400"/>
              </a:spcAft>
              <a:buNone/>
            </a:pPr>
            <a:r>
              <a:rPr sz="1400" b="1" i="0">
                <a:solidFill>
                  <a:srgbClr val="7A4CC2"/>
                </a:solidFill>
                <a:latin typeface="Roboto"/>
              </a:rPr>
              <a:t>Vorgehen  </a:t>
            </a:r>
            <a:r>
              <a:rPr sz="1400" b="0" i="0">
                <a:solidFill>
                  <a:srgbClr val="0E1F53"/>
                </a:solidFill>
                <a:latin typeface="Roboto"/>
              </a:rPr>
              <a:t>In welchen Schritten?</a:t>
            </a:r>
          </a:p>
        </p:txBody>
      </p:sp>
      <p:sp>
        <p:nvSpPr>
          <p:cNvPr id="12" name="Oval 11"/>
          <p:cNvSpPr/>
          <p:nvPr/>
        </p:nvSpPr>
        <p:spPr>
          <a:xfrm>
            <a:off x="841248" y="4425695"/>
            <a:ext cx="182880" cy="182880"/>
          </a:xfrm>
          <a:prstGeom prst="ellipse">
            <a:avLst/>
          </a:prstGeom>
          <a:solidFill>
            <a:srgbClr val="0F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33856" y="4370831"/>
            <a:ext cx="3913631" cy="310896"/>
          </a:xfrm>
          <a:prstGeom prst="rect">
            <a:avLst/>
          </a:prstGeom>
          <a:noFill/>
        </p:spPr>
        <p:txBody>
          <a:bodyPr wrap="square" lIns="0" rIns="0" tIns="0" bIns="0" anchor="ctr"/>
          <a:lstStyle/>
          <a:p>
            <a:pPr algn="l">
              <a:spcAft>
                <a:spcPts val="400"/>
              </a:spcAft>
              <a:buNone/>
            </a:pPr>
            <a:r>
              <a:rPr sz="1400" b="1" i="0">
                <a:solidFill>
                  <a:srgbClr val="0F8C8C"/>
                </a:solidFill>
                <a:latin typeface="Roboto"/>
              </a:rPr>
              <a:t>Format  </a:t>
            </a:r>
            <a:r>
              <a:rPr sz="1400" b="0" i="0">
                <a:solidFill>
                  <a:srgbClr val="0E1F53"/>
                </a:solidFill>
                <a:latin typeface="Roboto"/>
              </a:rPr>
              <a:t>Wie sieht das Ergebnis aus?</a:t>
            </a:r>
          </a:p>
        </p:txBody>
      </p:sp>
      <p:sp>
        <p:nvSpPr>
          <p:cNvPr id="14" name="Oval 13"/>
          <p:cNvSpPr/>
          <p:nvPr/>
        </p:nvSpPr>
        <p:spPr>
          <a:xfrm>
            <a:off x="841248" y="4992624"/>
            <a:ext cx="182880" cy="182880"/>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33856" y="4937760"/>
            <a:ext cx="3913631" cy="310896"/>
          </a:xfrm>
          <a:prstGeom prst="rect">
            <a:avLst/>
          </a:prstGeom>
          <a:noFill/>
        </p:spPr>
        <p:txBody>
          <a:bodyPr wrap="square" lIns="0" rIns="0" tIns="0" bIns="0" anchor="ctr"/>
          <a:lstStyle/>
          <a:p>
            <a:pPr algn="l">
              <a:spcAft>
                <a:spcPts val="400"/>
              </a:spcAft>
              <a:buNone/>
            </a:pPr>
            <a:r>
              <a:rPr sz="1400" b="1" i="0">
                <a:solidFill>
                  <a:srgbClr val="C8323C"/>
                </a:solidFill>
                <a:latin typeface="Roboto"/>
              </a:rPr>
              <a:t>Regeln  </a:t>
            </a:r>
            <a:r>
              <a:rPr sz="1400" b="0" i="0">
                <a:solidFill>
                  <a:srgbClr val="0E1F53"/>
                </a:solidFill>
                <a:latin typeface="Roboto"/>
              </a:rPr>
              <a:t>Was darf er nicht?</a:t>
            </a:r>
          </a:p>
        </p:txBody>
      </p:sp>
      <p:sp>
        <p:nvSpPr>
          <p:cNvPr id="16" name="TextBox 15"/>
          <p:cNvSpPr txBox="1"/>
          <p:nvPr/>
        </p:nvSpPr>
        <p:spPr>
          <a:xfrm>
            <a:off x="841248" y="5577840"/>
            <a:ext cx="4206240" cy="457200"/>
          </a:xfrm>
          <a:prstGeom prst="rect">
            <a:avLst/>
          </a:prstGeom>
          <a:noFill/>
        </p:spPr>
        <p:txBody>
          <a:bodyPr wrap="square" lIns="0" rIns="0" tIns="0" bIns="0" anchor="t"/>
          <a:lstStyle/>
          <a:p>
            <a:pPr algn="l">
              <a:spcAft>
                <a:spcPts val="400"/>
              </a:spcAft>
              <a:buNone/>
            </a:pPr>
            <a:r>
              <a:rPr sz="1200" b="0" i="1">
                <a:solidFill>
                  <a:srgbClr val="5A6684"/>
                </a:solidFill>
                <a:latin typeface="Roboto"/>
              </a:rPr>
              <a:t>Diese Farben gelten auf allen Prompt-Folien.</a:t>
            </a:r>
          </a:p>
        </p:txBody>
      </p:sp>
      <p:sp>
        <p:nvSpPr>
          <p:cNvPr id="17" name="Rounded Rectangle 16"/>
          <p:cNvSpPr/>
          <p:nvPr/>
        </p:nvSpPr>
        <p:spPr>
          <a:xfrm>
            <a:off x="5257800" y="2011680"/>
            <a:ext cx="6089904"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276088" y="2029968"/>
            <a:ext cx="6053328"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5394960"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577840"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5760720"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035040" y="2048256"/>
            <a:ext cx="5175504"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Vorlage · Systemprompt</a:t>
            </a:r>
          </a:p>
        </p:txBody>
      </p:sp>
      <p:sp>
        <p:nvSpPr>
          <p:cNvPr id="23" name="Rounded Rectangle 22"/>
          <p:cNvSpPr/>
          <p:nvPr/>
        </p:nvSpPr>
        <p:spPr>
          <a:xfrm>
            <a:off x="5385816" y="2487168"/>
            <a:ext cx="5833872" cy="519684"/>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477256"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25" name="TextBox 24"/>
          <p:cNvSpPr txBox="1"/>
          <p:nvPr/>
        </p:nvSpPr>
        <p:spPr>
          <a:xfrm>
            <a:off x="6437376" y="2523744"/>
            <a:ext cx="4672584" cy="446532"/>
          </a:xfrm>
          <a:prstGeom prst="rect">
            <a:avLst/>
          </a:prstGeom>
          <a:noFill/>
        </p:spPr>
        <p:txBody>
          <a:bodyPr wrap="square" lIns="0" rIns="0" tIns="0" bIns="0" anchor="ctr"/>
          <a:lstStyle/>
          <a:p>
            <a:pPr algn="l">
              <a:spcAft>
                <a:spcPts val="0"/>
              </a:spcAft>
              <a:buNone/>
            </a:pPr>
            <a:r>
              <a:rPr sz="1200" b="0" i="0">
                <a:solidFill>
                  <a:srgbClr val="1B2440"/>
                </a:solidFill>
                <a:latin typeface="Roboto"/>
              </a:rPr>
              <a:t>Du bist [Funktion] mit Erfahrung in [Fachgebiet]. Du arbeitest für [Unternehmen].</a:t>
            </a:r>
          </a:p>
        </p:txBody>
      </p:sp>
      <p:sp>
        <p:nvSpPr>
          <p:cNvPr id="26" name="Rounded Rectangle 25"/>
          <p:cNvSpPr/>
          <p:nvPr/>
        </p:nvSpPr>
        <p:spPr>
          <a:xfrm>
            <a:off x="5385816" y="3070860"/>
            <a:ext cx="5833872" cy="519684"/>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77256" y="3125724"/>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8" name="TextBox 27"/>
          <p:cNvSpPr txBox="1"/>
          <p:nvPr/>
        </p:nvSpPr>
        <p:spPr>
          <a:xfrm>
            <a:off x="6437376" y="3107436"/>
            <a:ext cx="4672584" cy="446532"/>
          </a:xfrm>
          <a:prstGeom prst="rect">
            <a:avLst/>
          </a:prstGeom>
          <a:noFill/>
        </p:spPr>
        <p:txBody>
          <a:bodyPr wrap="square" lIns="0" rIns="0" tIns="0" bIns="0" anchor="ctr"/>
          <a:lstStyle/>
          <a:p>
            <a:pPr algn="l">
              <a:spcAft>
                <a:spcPts val="0"/>
              </a:spcAft>
              <a:buNone/>
            </a:pPr>
            <a:r>
              <a:rPr sz="1200" b="0" i="0">
                <a:solidFill>
                  <a:srgbClr val="1B2440"/>
                </a:solidFill>
                <a:latin typeface="Roboto"/>
              </a:rPr>
              <a:t>Unser Unternehmen: [Branche, Größe, Region, Kundschaft]. Ausgangslage: [Problem, Ziel, Rahmen].</a:t>
            </a:r>
          </a:p>
        </p:txBody>
      </p:sp>
      <p:sp>
        <p:nvSpPr>
          <p:cNvPr id="29" name="Rounded Rectangle 28"/>
          <p:cNvSpPr/>
          <p:nvPr/>
        </p:nvSpPr>
        <p:spPr>
          <a:xfrm>
            <a:off x="5385816" y="3654552"/>
            <a:ext cx="5833872" cy="519684"/>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477256" y="3709416"/>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31" name="TextBox 30"/>
          <p:cNvSpPr txBox="1"/>
          <p:nvPr/>
        </p:nvSpPr>
        <p:spPr>
          <a:xfrm>
            <a:off x="6437376" y="3691128"/>
            <a:ext cx="4672584" cy="446532"/>
          </a:xfrm>
          <a:prstGeom prst="rect">
            <a:avLst/>
          </a:prstGeom>
          <a:noFill/>
        </p:spPr>
        <p:txBody>
          <a:bodyPr wrap="square" lIns="0" rIns="0" tIns="0" bIns="0" anchor="ctr"/>
          <a:lstStyle/>
          <a:p>
            <a:pPr algn="l">
              <a:spcAft>
                <a:spcPts val="0"/>
              </a:spcAft>
              <a:buNone/>
            </a:pPr>
            <a:r>
              <a:rPr sz="1200" b="0" i="0">
                <a:solidFill>
                  <a:srgbClr val="1B2440"/>
                </a:solidFill>
                <a:latin typeface="Roboto"/>
              </a:rPr>
              <a:t>Deine Aufgabe ist es, [konkretes Ergebnis] zu erstellen.</a:t>
            </a:r>
          </a:p>
        </p:txBody>
      </p:sp>
      <p:sp>
        <p:nvSpPr>
          <p:cNvPr id="32" name="Rounded Rectangle 31"/>
          <p:cNvSpPr/>
          <p:nvPr/>
        </p:nvSpPr>
        <p:spPr>
          <a:xfrm>
            <a:off x="5385816" y="4238244"/>
            <a:ext cx="5833872" cy="519684"/>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77256" y="4293108"/>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34" name="TextBox 33"/>
          <p:cNvSpPr txBox="1"/>
          <p:nvPr/>
        </p:nvSpPr>
        <p:spPr>
          <a:xfrm>
            <a:off x="6437376" y="4274820"/>
            <a:ext cx="4672584" cy="446532"/>
          </a:xfrm>
          <a:prstGeom prst="rect">
            <a:avLst/>
          </a:prstGeom>
          <a:noFill/>
        </p:spPr>
        <p:txBody>
          <a:bodyPr wrap="square" lIns="0" rIns="0" tIns="0" bIns="0" anchor="ctr"/>
          <a:lstStyle/>
          <a:p>
            <a:pPr algn="l">
              <a:spcAft>
                <a:spcPts val="0"/>
              </a:spcAft>
              <a:buNone/>
            </a:pPr>
            <a:r>
              <a:rPr sz="1200" b="0" i="0">
                <a:solidFill>
                  <a:srgbClr val="1B2440"/>
                </a:solidFill>
                <a:latin typeface="Roboto"/>
              </a:rPr>
              <a:t>1. [Schritt]  2. [Schritt]  3. Prüfe dein Ergebnis gegen [Kriterium].</a:t>
            </a:r>
          </a:p>
        </p:txBody>
      </p:sp>
      <p:sp>
        <p:nvSpPr>
          <p:cNvPr id="35" name="Rounded Rectangle 34"/>
          <p:cNvSpPr/>
          <p:nvPr/>
        </p:nvSpPr>
        <p:spPr>
          <a:xfrm>
            <a:off x="5385816" y="4821936"/>
            <a:ext cx="5833872" cy="519684"/>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477256" y="4876800"/>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7" name="TextBox 36"/>
          <p:cNvSpPr txBox="1"/>
          <p:nvPr/>
        </p:nvSpPr>
        <p:spPr>
          <a:xfrm>
            <a:off x="6437376" y="4858512"/>
            <a:ext cx="4672584" cy="446532"/>
          </a:xfrm>
          <a:prstGeom prst="rect">
            <a:avLst/>
          </a:prstGeom>
          <a:noFill/>
        </p:spPr>
        <p:txBody>
          <a:bodyPr wrap="square" lIns="0" rIns="0" tIns="0" bIns="0" anchor="ctr"/>
          <a:lstStyle/>
          <a:p>
            <a:pPr algn="l">
              <a:spcAft>
                <a:spcPts val="0"/>
              </a:spcAft>
              <a:buNone/>
            </a:pPr>
            <a:r>
              <a:rPr sz="1200" b="0" i="0">
                <a:solidFill>
                  <a:srgbClr val="1B2440"/>
                </a:solidFill>
                <a:latin typeface="Roboto"/>
              </a:rPr>
              <a:t>Antworte als [Tabelle / Liste / Mail] mit [Länge], Sprache: Deutsch.</a:t>
            </a:r>
          </a:p>
        </p:txBody>
      </p:sp>
      <p:sp>
        <p:nvSpPr>
          <p:cNvPr id="38" name="Rounded Rectangle 37"/>
          <p:cNvSpPr/>
          <p:nvPr/>
        </p:nvSpPr>
        <p:spPr>
          <a:xfrm>
            <a:off x="5385816" y="5405628"/>
            <a:ext cx="5833872" cy="519684"/>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477256" y="5460492"/>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40" name="TextBox 39"/>
          <p:cNvSpPr txBox="1"/>
          <p:nvPr/>
        </p:nvSpPr>
        <p:spPr>
          <a:xfrm>
            <a:off x="6437376" y="5442204"/>
            <a:ext cx="4672584" cy="446532"/>
          </a:xfrm>
          <a:prstGeom prst="rect">
            <a:avLst/>
          </a:prstGeom>
          <a:noFill/>
        </p:spPr>
        <p:txBody>
          <a:bodyPr wrap="square" lIns="0" rIns="0" tIns="0" bIns="0" anchor="ctr"/>
          <a:lstStyle/>
          <a:p>
            <a:pPr algn="l">
              <a:spcAft>
                <a:spcPts val="0"/>
              </a:spcAft>
              <a:buNone/>
            </a:pPr>
            <a:r>
              <a:rPr sz="1200" b="0" i="0">
                <a:solidFill>
                  <a:srgbClr val="1B2440"/>
                </a:solidFill>
                <a:latin typeface="Roboto"/>
              </a:rPr>
              <a:t>Erfinde keine Fakten. Nenne Quellen. Frage nach, wenn Informationen fehlen.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Der Unterschied in der Praxis: Vorher und Nachher</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SYSTEMPROMPT</a:t>
            </a:r>
          </a:p>
        </p:txBody>
      </p:sp>
      <p:sp>
        <p:nvSpPr>
          <p:cNvPr id="4" name="Rounded Rectangle 3"/>
          <p:cNvSpPr/>
          <p:nvPr/>
        </p:nvSpPr>
        <p:spPr>
          <a:xfrm>
            <a:off x="841248" y="2011680"/>
            <a:ext cx="3657600"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9848" y="2194560"/>
            <a:ext cx="502920" cy="5029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TriangleAlert_w.png"/>
          <p:cNvPicPr>
            <a:picLocks noChangeAspect="1"/>
          </p:cNvPicPr>
          <p:nvPr/>
        </p:nvPicPr>
        <p:blipFill>
          <a:blip r:embed="rId3"/>
          <a:stretch>
            <a:fillRect/>
          </a:stretch>
        </p:blipFill>
        <p:spPr>
          <a:xfrm>
            <a:off x="1190548" y="2315260"/>
            <a:ext cx="261518" cy="261518"/>
          </a:xfrm>
          <a:prstGeom prst="rect">
            <a:avLst/>
          </a:prstGeom>
        </p:spPr>
      </p:pic>
      <p:sp>
        <p:nvSpPr>
          <p:cNvPr id="7" name="TextBox 6"/>
          <p:cNvSpPr txBox="1"/>
          <p:nvPr/>
        </p:nvSpPr>
        <p:spPr>
          <a:xfrm>
            <a:off x="1709928" y="2194560"/>
            <a:ext cx="2651760" cy="502920"/>
          </a:xfrm>
          <a:prstGeom prst="rect">
            <a:avLst/>
          </a:prstGeom>
          <a:noFill/>
        </p:spPr>
        <p:txBody>
          <a:bodyPr wrap="square" lIns="0" rIns="0" tIns="0" bIns="0" anchor="ctr"/>
          <a:lstStyle/>
          <a:p>
            <a:pPr algn="l">
              <a:spcAft>
                <a:spcPts val="400"/>
              </a:spcAft>
              <a:buNone/>
            </a:pPr>
            <a:r>
              <a:rPr sz="1800" b="1" i="0">
                <a:solidFill>
                  <a:srgbClr val="0E1F53"/>
                </a:solidFill>
                <a:latin typeface="Roboto"/>
              </a:rPr>
              <a:t>Vorher</a:t>
            </a:r>
          </a:p>
        </p:txBody>
      </p:sp>
      <p:sp>
        <p:nvSpPr>
          <p:cNvPr id="8" name="Rounded Rectangle 7"/>
          <p:cNvSpPr/>
          <p:nvPr/>
        </p:nvSpPr>
        <p:spPr>
          <a:xfrm>
            <a:off x="1069848" y="2880360"/>
            <a:ext cx="3200400" cy="1097280"/>
          </a:xfrm>
          <a:prstGeom prst="roundRect">
            <a:avLst>
              <a:gd name="adj" fmla="val 6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07008" y="2880360"/>
            <a:ext cx="2926080" cy="1097280"/>
          </a:xfrm>
          <a:prstGeom prst="rect">
            <a:avLst/>
          </a:prstGeom>
          <a:noFill/>
        </p:spPr>
        <p:txBody>
          <a:bodyPr wrap="square" lIns="0" rIns="0" tIns="0" bIns="0" anchor="ctr"/>
          <a:lstStyle/>
          <a:p>
            <a:pPr algn="l">
              <a:spcAft>
                <a:spcPts val="400"/>
              </a:spcAft>
              <a:buNone/>
            </a:pPr>
            <a:r>
              <a:rPr sz="1400" b="0" i="1">
                <a:solidFill>
                  <a:srgbClr val="0E1F53"/>
                </a:solidFill>
                <a:latin typeface="Roboto"/>
              </a:rPr>
              <a:t>„Mach mir eine Marktanalyse für unser Unternehmen.“</a:t>
            </a:r>
          </a:p>
        </p:txBody>
      </p:sp>
      <p:sp>
        <p:nvSpPr>
          <p:cNvPr id="10" name="TextBox 9"/>
          <p:cNvSpPr txBox="1"/>
          <p:nvPr/>
        </p:nvSpPr>
        <p:spPr>
          <a:xfrm>
            <a:off x="1069848" y="4160520"/>
            <a:ext cx="3200400" cy="1737360"/>
          </a:xfrm>
          <a:prstGeom prst="rect">
            <a:avLst/>
          </a:prstGeom>
          <a:noFill/>
        </p:spPr>
        <p:txBody>
          <a:bodyPr wrap="square" lIns="0" rIns="0" tIns="0" bIns="0" anchor="t"/>
          <a:lstStyle/>
          <a:p>
            <a:pPr algn="l" marL="164592" indent="-164592">
              <a:spcAft>
                <a:spcPts val="400"/>
              </a:spcAft>
              <a:buClr>
                <a:srgbClr val="FB2762"/>
              </a:buClr>
              <a:buFont typeface="Arial"/>
              <a:buChar char="•"/>
            </a:pPr>
            <a:r>
              <a:rPr sz="1300" b="0" i="0">
                <a:solidFill>
                  <a:srgbClr val="0E1F53"/>
                </a:solidFill>
                <a:latin typeface="Roboto"/>
              </a:rPr>
              <a:t>Keine Rolle: Wer analysiert?</a:t>
            </a:r>
          </a:p>
          <a:p>
            <a:pPr algn="l" marL="164592" indent="-164592">
              <a:spcAft>
                <a:spcPts val="400"/>
              </a:spcAft>
              <a:buClr>
                <a:srgbClr val="FB2762"/>
              </a:buClr>
              <a:buFont typeface="Arial"/>
              <a:buChar char="•"/>
            </a:pPr>
            <a:r>
              <a:rPr sz="1300" b="0" i="0">
                <a:solidFill>
                  <a:srgbClr val="0E1F53"/>
                </a:solidFill>
                <a:latin typeface="Roboto"/>
              </a:rPr>
              <a:t>Kein Kontext: Welcher Markt, welche Region?</a:t>
            </a:r>
          </a:p>
          <a:p>
            <a:pPr algn="l" marL="164592" indent="-164592">
              <a:spcAft>
                <a:spcPts val="400"/>
              </a:spcAft>
              <a:buClr>
                <a:srgbClr val="FB2762"/>
              </a:buClr>
              <a:buFont typeface="Arial"/>
              <a:buChar char="•"/>
            </a:pPr>
            <a:r>
              <a:rPr sz="1300" b="0" i="0">
                <a:solidFill>
                  <a:srgbClr val="0E1F53"/>
                </a:solidFill>
                <a:latin typeface="Roboto"/>
              </a:rPr>
              <a:t>Kein Format: Ergebnis unbrauchbar</a:t>
            </a:r>
          </a:p>
          <a:p>
            <a:pPr algn="l" marL="164592" indent="-164592">
              <a:spcAft>
                <a:spcPts val="400"/>
              </a:spcAft>
              <a:buClr>
                <a:srgbClr val="FB2762"/>
              </a:buClr>
              <a:buFont typeface="Arial"/>
              <a:buChar char="•"/>
            </a:pPr>
            <a:r>
              <a:rPr sz="1300" b="0" i="0">
                <a:solidFill>
                  <a:srgbClr val="0E1F53"/>
                </a:solidFill>
                <a:latin typeface="Roboto"/>
              </a:rPr>
              <a:t>Keine Regeln: erfundene Zahlen möglich</a:t>
            </a:r>
          </a:p>
        </p:txBody>
      </p:sp>
      <p:sp>
        <p:nvSpPr>
          <p:cNvPr id="11" name="Rounded Rectangle 10"/>
          <p:cNvSpPr/>
          <p:nvPr/>
        </p:nvSpPr>
        <p:spPr>
          <a:xfrm>
            <a:off x="4773168" y="2011680"/>
            <a:ext cx="6574536" cy="3977639"/>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791455" y="2029968"/>
            <a:ext cx="6537960"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91032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09320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27608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550407" y="2048256"/>
            <a:ext cx="5660136"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Nachher · gleiche Aufgabe, klar gebaut</a:t>
            </a:r>
          </a:p>
        </p:txBody>
      </p:sp>
      <p:sp>
        <p:nvSpPr>
          <p:cNvPr id="17" name="Rounded Rectangle 16"/>
          <p:cNvSpPr/>
          <p:nvPr/>
        </p:nvSpPr>
        <p:spPr>
          <a:xfrm>
            <a:off x="4901183" y="2487168"/>
            <a:ext cx="6318504" cy="495545"/>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99262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9" name="TextBox 18"/>
          <p:cNvSpPr txBox="1"/>
          <p:nvPr/>
        </p:nvSpPr>
        <p:spPr>
          <a:xfrm>
            <a:off x="5952744" y="2523744"/>
            <a:ext cx="5157216" cy="422393"/>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Marktanalyst für Handwerksbetriebe am Niederrhein.</a:t>
            </a:r>
          </a:p>
        </p:txBody>
      </p:sp>
      <p:sp>
        <p:nvSpPr>
          <p:cNvPr id="20" name="Rounded Rectangle 19"/>
          <p:cNvSpPr/>
          <p:nvPr/>
        </p:nvSpPr>
        <p:spPr>
          <a:xfrm>
            <a:off x="4901183" y="3046721"/>
            <a:ext cx="6318504" cy="594654"/>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992624" y="3101585"/>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2" name="TextBox 21"/>
          <p:cNvSpPr txBox="1"/>
          <p:nvPr/>
        </p:nvSpPr>
        <p:spPr>
          <a:xfrm>
            <a:off x="5952744" y="3083297"/>
            <a:ext cx="5157216" cy="521502"/>
          </a:xfrm>
          <a:prstGeom prst="rect">
            <a:avLst/>
          </a:prstGeom>
          <a:noFill/>
        </p:spPr>
        <p:txBody>
          <a:bodyPr wrap="square" lIns="0" rIns="0" tIns="0" bIns="0" anchor="ctr"/>
          <a:lstStyle/>
          <a:p>
            <a:pPr algn="l">
              <a:spcAft>
                <a:spcPts val="0"/>
              </a:spcAft>
              <a:buNone/>
            </a:pPr>
            <a:r>
              <a:rPr sz="1150" b="0" i="0">
                <a:solidFill>
                  <a:srgbClr val="1B2440"/>
                </a:solidFill>
                <a:latin typeface="Roboto"/>
              </a:rPr>
              <a:t>Wir sind ein Sanitärbetrieb mit 25 Mitarbeitenden in Kleve. Wir überlegen, Wärmepumpen-Wartung als Abo anzubieten.</a:t>
            </a:r>
          </a:p>
        </p:txBody>
      </p:sp>
      <p:sp>
        <p:nvSpPr>
          <p:cNvPr id="23" name="Rounded Rectangle 22"/>
          <p:cNvSpPr/>
          <p:nvPr/>
        </p:nvSpPr>
        <p:spPr>
          <a:xfrm>
            <a:off x="4901183" y="3705384"/>
            <a:ext cx="6318504" cy="495545"/>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992624" y="3760248"/>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5" name="TextBox 24"/>
          <p:cNvSpPr txBox="1"/>
          <p:nvPr/>
        </p:nvSpPr>
        <p:spPr>
          <a:xfrm>
            <a:off x="5952744" y="3741960"/>
            <a:ext cx="5157216" cy="422393"/>
          </a:xfrm>
          <a:prstGeom prst="rect">
            <a:avLst/>
          </a:prstGeom>
          <a:noFill/>
        </p:spPr>
        <p:txBody>
          <a:bodyPr wrap="square" lIns="0" rIns="0" tIns="0" bIns="0" anchor="ctr"/>
          <a:lstStyle/>
          <a:p>
            <a:pPr algn="l">
              <a:spcAft>
                <a:spcPts val="0"/>
              </a:spcAft>
              <a:buNone/>
            </a:pPr>
            <a:r>
              <a:rPr sz="1150" b="0" i="0">
                <a:solidFill>
                  <a:srgbClr val="1B2440"/>
                </a:solidFill>
                <a:latin typeface="Roboto"/>
              </a:rPr>
              <a:t>Analysiere Nachfrage, Wettbewerb und Preise für Wartungsabos im Kreis Kleve und Wesel.</a:t>
            </a:r>
          </a:p>
        </p:txBody>
      </p:sp>
      <p:sp>
        <p:nvSpPr>
          <p:cNvPr id="26" name="Rounded Rectangle 25"/>
          <p:cNvSpPr/>
          <p:nvPr/>
        </p:nvSpPr>
        <p:spPr>
          <a:xfrm>
            <a:off x="4901183" y="4264938"/>
            <a:ext cx="6318504" cy="495545"/>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92624" y="4319802"/>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8" name="TextBox 27"/>
          <p:cNvSpPr txBox="1"/>
          <p:nvPr/>
        </p:nvSpPr>
        <p:spPr>
          <a:xfrm>
            <a:off x="5952744" y="4301514"/>
            <a:ext cx="5157216" cy="422393"/>
          </a:xfrm>
          <a:prstGeom prst="rect">
            <a:avLst/>
          </a:prstGeom>
          <a:noFill/>
        </p:spPr>
        <p:txBody>
          <a:bodyPr wrap="square" lIns="0" rIns="0" tIns="0" bIns="0" anchor="ctr"/>
          <a:lstStyle/>
          <a:p>
            <a:pPr algn="l">
              <a:spcAft>
                <a:spcPts val="0"/>
              </a:spcAft>
              <a:buNone/>
            </a:pPr>
            <a:r>
              <a:rPr sz="1150" b="0" i="0">
                <a:solidFill>
                  <a:srgbClr val="1B2440"/>
                </a:solidFill>
                <a:latin typeface="Roboto"/>
              </a:rPr>
              <a:t>Recherchiere zuerst Marktdaten, dann 5 Wettbewerber, dann leite 3 Empfehlungen ab.</a:t>
            </a:r>
          </a:p>
        </p:txBody>
      </p:sp>
      <p:sp>
        <p:nvSpPr>
          <p:cNvPr id="29" name="Rounded Rectangle 28"/>
          <p:cNvSpPr/>
          <p:nvPr/>
        </p:nvSpPr>
        <p:spPr>
          <a:xfrm>
            <a:off x="4901183" y="4824492"/>
            <a:ext cx="6318504" cy="495545"/>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992624" y="4879356"/>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1" name="TextBox 30"/>
          <p:cNvSpPr txBox="1"/>
          <p:nvPr/>
        </p:nvSpPr>
        <p:spPr>
          <a:xfrm>
            <a:off x="5952744" y="4861068"/>
            <a:ext cx="5157216" cy="422393"/>
          </a:xfrm>
          <a:prstGeom prst="rect">
            <a:avLst/>
          </a:prstGeom>
          <a:noFill/>
        </p:spPr>
        <p:txBody>
          <a:bodyPr wrap="square" lIns="0" rIns="0" tIns="0" bIns="0" anchor="ctr"/>
          <a:lstStyle/>
          <a:p>
            <a:pPr algn="l">
              <a:spcAft>
                <a:spcPts val="0"/>
              </a:spcAft>
              <a:buNone/>
            </a:pPr>
            <a:r>
              <a:rPr sz="1150" b="0" i="0">
                <a:solidFill>
                  <a:srgbClr val="1B2440"/>
                </a:solidFill>
                <a:latin typeface="Roboto"/>
              </a:rPr>
              <a:t>Tabelle Wettbewerber (Name, Angebot, Preis, Quelle), danach max. 1 Seite Fazit.</a:t>
            </a:r>
          </a:p>
        </p:txBody>
      </p:sp>
      <p:sp>
        <p:nvSpPr>
          <p:cNvPr id="32" name="Rounded Rectangle 31"/>
          <p:cNvSpPr/>
          <p:nvPr/>
        </p:nvSpPr>
        <p:spPr>
          <a:xfrm>
            <a:off x="4901183" y="5384046"/>
            <a:ext cx="6318504" cy="495545"/>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992624" y="5438910"/>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4" name="TextBox 33"/>
          <p:cNvSpPr txBox="1"/>
          <p:nvPr/>
        </p:nvSpPr>
        <p:spPr>
          <a:xfrm>
            <a:off x="5952744" y="5420622"/>
            <a:ext cx="5157216" cy="422393"/>
          </a:xfrm>
          <a:prstGeom prst="rect">
            <a:avLst/>
          </a:prstGeom>
          <a:noFill/>
        </p:spPr>
        <p:txBody>
          <a:bodyPr wrap="square" lIns="0" rIns="0" tIns="0" bIns="0" anchor="ctr"/>
          <a:lstStyle/>
          <a:p>
            <a:pPr algn="l">
              <a:spcAft>
                <a:spcPts val="0"/>
              </a:spcAft>
              <a:buNone/>
            </a:pPr>
            <a:r>
              <a:rPr sz="1150" b="0" i="0">
                <a:solidFill>
                  <a:srgbClr val="1B2440"/>
                </a:solidFill>
                <a:latin typeface="Roboto"/>
              </a:rPr>
              <a:t>Nur belegbare Angaben mit Link. Kennzeichne Schätzungen deutlich.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Einen eigenen Agenten aufsetzen in fünf Schritten</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Rounded Rectangle 3"/>
          <p:cNvSpPr/>
          <p:nvPr/>
        </p:nvSpPr>
        <p:spPr>
          <a:xfrm>
            <a:off x="841248" y="2011680"/>
            <a:ext cx="1845259"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24128" y="2121408"/>
            <a:ext cx="548640" cy="365760"/>
          </a:xfrm>
          <a:prstGeom prst="rect">
            <a:avLst/>
          </a:prstGeom>
          <a:noFill/>
        </p:spPr>
        <p:txBody>
          <a:bodyPr wrap="square" lIns="0" rIns="0" tIns="0" bIns="0" anchor="t"/>
          <a:lstStyle/>
          <a:p>
            <a:pPr algn="l">
              <a:spcAft>
                <a:spcPts val="400"/>
              </a:spcAft>
              <a:buNone/>
            </a:pPr>
            <a:r>
              <a:rPr sz="2000" b="1" i="0">
                <a:solidFill>
                  <a:srgbClr val="FB2762"/>
                </a:solidFill>
                <a:latin typeface="Roboto"/>
              </a:rPr>
              <a:t>1</a:t>
            </a:r>
          </a:p>
        </p:txBody>
      </p:sp>
      <p:sp>
        <p:nvSpPr>
          <p:cNvPr id="6" name="Oval 5"/>
          <p:cNvSpPr/>
          <p:nvPr/>
        </p:nvSpPr>
        <p:spPr>
          <a:xfrm>
            <a:off x="1909267" y="2148840"/>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LuTarget_w.png"/>
          <p:cNvPicPr>
            <a:picLocks noChangeAspect="1"/>
          </p:cNvPicPr>
          <p:nvPr/>
        </p:nvPicPr>
        <p:blipFill>
          <a:blip r:embed="rId3"/>
          <a:stretch>
            <a:fillRect/>
          </a:stretch>
        </p:blipFill>
        <p:spPr>
          <a:xfrm>
            <a:off x="2045329" y="2284902"/>
            <a:ext cx="294802" cy="294802"/>
          </a:xfrm>
          <a:prstGeom prst="rect">
            <a:avLst/>
          </a:prstGeom>
        </p:spPr>
      </p:pic>
      <p:sp>
        <p:nvSpPr>
          <p:cNvPr id="8" name="TextBox 7"/>
          <p:cNvSpPr txBox="1"/>
          <p:nvPr/>
        </p:nvSpPr>
        <p:spPr>
          <a:xfrm>
            <a:off x="1024128" y="2880360"/>
            <a:ext cx="1479499" cy="594360"/>
          </a:xfrm>
          <a:prstGeom prst="rect">
            <a:avLst/>
          </a:prstGeom>
          <a:noFill/>
        </p:spPr>
        <p:txBody>
          <a:bodyPr wrap="square" lIns="0" rIns="0" tIns="0" bIns="0" anchor="t"/>
          <a:lstStyle/>
          <a:p>
            <a:pPr algn="l">
              <a:spcAft>
                <a:spcPts val="400"/>
              </a:spcAft>
              <a:buNone/>
            </a:pPr>
            <a:r>
              <a:rPr sz="1500" b="1" i="0">
                <a:solidFill>
                  <a:srgbClr val="0E1F53"/>
                </a:solidFill>
                <a:latin typeface="Roboto"/>
              </a:rPr>
              <a:t>Zweck festlegen</a:t>
            </a:r>
          </a:p>
        </p:txBody>
      </p:sp>
      <p:sp>
        <p:nvSpPr>
          <p:cNvPr id="9" name="TextBox 8"/>
          <p:cNvSpPr txBox="1"/>
          <p:nvPr/>
        </p:nvSpPr>
        <p:spPr>
          <a:xfrm>
            <a:off x="1024128" y="3474720"/>
            <a:ext cx="1479499" cy="1005840"/>
          </a:xfrm>
          <a:prstGeom prst="rect">
            <a:avLst/>
          </a:prstGeom>
          <a:noFill/>
        </p:spPr>
        <p:txBody>
          <a:bodyPr wrap="square" lIns="0" rIns="0" tIns="0" bIns="0" anchor="t"/>
          <a:lstStyle/>
          <a:p>
            <a:pPr algn="l">
              <a:spcAft>
                <a:spcPts val="400"/>
              </a:spcAft>
              <a:buNone/>
            </a:pPr>
            <a:r>
              <a:rPr sz="1250" b="0" i="0">
                <a:solidFill>
                  <a:srgbClr val="0E1F53"/>
                </a:solidFill>
                <a:latin typeface="Roboto"/>
              </a:rPr>
              <a:t>Eine Aufgabe, ein Agent. Name und Ziel in einem Satz.</a:t>
            </a:r>
          </a:p>
        </p:txBody>
      </p:sp>
      <p:sp>
        <p:nvSpPr>
          <p:cNvPr id="10" name="Right Arrow 9"/>
          <p:cNvSpPr/>
          <p:nvPr/>
        </p:nvSpPr>
        <p:spPr>
          <a:xfrm>
            <a:off x="2741371" y="3154680"/>
            <a:ext cx="210312" cy="228600"/>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3006547" y="2011680"/>
            <a:ext cx="1845259"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89427" y="2121408"/>
            <a:ext cx="548640" cy="365760"/>
          </a:xfrm>
          <a:prstGeom prst="rect">
            <a:avLst/>
          </a:prstGeom>
          <a:noFill/>
        </p:spPr>
        <p:txBody>
          <a:bodyPr wrap="square" lIns="0" rIns="0" tIns="0" bIns="0" anchor="t"/>
          <a:lstStyle/>
          <a:p>
            <a:pPr algn="l">
              <a:spcAft>
                <a:spcPts val="400"/>
              </a:spcAft>
              <a:buNone/>
            </a:pPr>
            <a:r>
              <a:rPr sz="2000" b="1" i="0">
                <a:solidFill>
                  <a:srgbClr val="FB2762"/>
                </a:solidFill>
                <a:latin typeface="Roboto"/>
              </a:rPr>
              <a:t>2</a:t>
            </a:r>
          </a:p>
        </p:txBody>
      </p:sp>
      <p:sp>
        <p:nvSpPr>
          <p:cNvPr id="13" name="Oval 12"/>
          <p:cNvSpPr/>
          <p:nvPr/>
        </p:nvSpPr>
        <p:spPr>
          <a:xfrm>
            <a:off x="4074566" y="2148840"/>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LuFileCode_w.png"/>
          <p:cNvPicPr>
            <a:picLocks noChangeAspect="1"/>
          </p:cNvPicPr>
          <p:nvPr/>
        </p:nvPicPr>
        <p:blipFill>
          <a:blip r:embed="rId4"/>
          <a:stretch>
            <a:fillRect/>
          </a:stretch>
        </p:blipFill>
        <p:spPr>
          <a:xfrm>
            <a:off x="4210629" y="2284902"/>
            <a:ext cx="294802" cy="294802"/>
          </a:xfrm>
          <a:prstGeom prst="rect">
            <a:avLst/>
          </a:prstGeom>
        </p:spPr>
      </p:pic>
      <p:sp>
        <p:nvSpPr>
          <p:cNvPr id="15" name="TextBox 14"/>
          <p:cNvSpPr txBox="1"/>
          <p:nvPr/>
        </p:nvSpPr>
        <p:spPr>
          <a:xfrm>
            <a:off x="3189427" y="2880360"/>
            <a:ext cx="1479499" cy="594360"/>
          </a:xfrm>
          <a:prstGeom prst="rect">
            <a:avLst/>
          </a:prstGeom>
          <a:noFill/>
        </p:spPr>
        <p:txBody>
          <a:bodyPr wrap="square" lIns="0" rIns="0" tIns="0" bIns="0" anchor="t"/>
          <a:lstStyle/>
          <a:p>
            <a:pPr algn="l">
              <a:spcAft>
                <a:spcPts val="400"/>
              </a:spcAft>
              <a:buNone/>
            </a:pPr>
            <a:r>
              <a:rPr sz="1500" b="1" i="0">
                <a:solidFill>
                  <a:srgbClr val="0E1F53"/>
                </a:solidFill>
                <a:latin typeface="Roboto"/>
              </a:rPr>
              <a:t>Systemprompt schreiben</a:t>
            </a:r>
          </a:p>
        </p:txBody>
      </p:sp>
      <p:sp>
        <p:nvSpPr>
          <p:cNvPr id="16" name="TextBox 15"/>
          <p:cNvSpPr txBox="1"/>
          <p:nvPr/>
        </p:nvSpPr>
        <p:spPr>
          <a:xfrm>
            <a:off x="3189427" y="3474720"/>
            <a:ext cx="1479499" cy="1005840"/>
          </a:xfrm>
          <a:prstGeom prst="rect">
            <a:avLst/>
          </a:prstGeom>
          <a:noFill/>
        </p:spPr>
        <p:txBody>
          <a:bodyPr wrap="square" lIns="0" rIns="0" tIns="0" bIns="0" anchor="t"/>
          <a:lstStyle/>
          <a:p>
            <a:pPr algn="l">
              <a:spcAft>
                <a:spcPts val="400"/>
              </a:spcAft>
              <a:buNone/>
            </a:pPr>
            <a:r>
              <a:rPr sz="1250" b="0" i="0">
                <a:solidFill>
                  <a:srgbClr val="0E1F53"/>
                </a:solidFill>
                <a:latin typeface="Roboto"/>
              </a:rPr>
              <a:t>Die sechs Bausteine: Rolle bis Regeln.</a:t>
            </a:r>
          </a:p>
        </p:txBody>
      </p:sp>
      <p:sp>
        <p:nvSpPr>
          <p:cNvPr id="17" name="Right Arrow 16"/>
          <p:cNvSpPr/>
          <p:nvPr/>
        </p:nvSpPr>
        <p:spPr>
          <a:xfrm>
            <a:off x="4906670" y="3154680"/>
            <a:ext cx="210312" cy="228600"/>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5171846" y="2011680"/>
            <a:ext cx="1845259"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354726" y="2121408"/>
            <a:ext cx="548640" cy="365760"/>
          </a:xfrm>
          <a:prstGeom prst="rect">
            <a:avLst/>
          </a:prstGeom>
          <a:noFill/>
        </p:spPr>
        <p:txBody>
          <a:bodyPr wrap="square" lIns="0" rIns="0" tIns="0" bIns="0" anchor="t"/>
          <a:lstStyle/>
          <a:p>
            <a:pPr algn="l">
              <a:spcAft>
                <a:spcPts val="400"/>
              </a:spcAft>
              <a:buNone/>
            </a:pPr>
            <a:r>
              <a:rPr sz="2000" b="1" i="0">
                <a:solidFill>
                  <a:srgbClr val="FB2762"/>
                </a:solidFill>
                <a:latin typeface="Roboto"/>
              </a:rPr>
              <a:t>3</a:t>
            </a:r>
          </a:p>
        </p:txBody>
      </p:sp>
      <p:sp>
        <p:nvSpPr>
          <p:cNvPr id="20" name="Oval 19"/>
          <p:cNvSpPr/>
          <p:nvPr/>
        </p:nvSpPr>
        <p:spPr>
          <a:xfrm>
            <a:off x="6239865" y="2148840"/>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Folder_w.png"/>
          <p:cNvPicPr>
            <a:picLocks noChangeAspect="1"/>
          </p:cNvPicPr>
          <p:nvPr/>
        </p:nvPicPr>
        <p:blipFill>
          <a:blip r:embed="rId5"/>
          <a:stretch>
            <a:fillRect/>
          </a:stretch>
        </p:blipFill>
        <p:spPr>
          <a:xfrm>
            <a:off x="6375928" y="2284902"/>
            <a:ext cx="294802" cy="294802"/>
          </a:xfrm>
          <a:prstGeom prst="rect">
            <a:avLst/>
          </a:prstGeom>
        </p:spPr>
      </p:pic>
      <p:sp>
        <p:nvSpPr>
          <p:cNvPr id="22" name="TextBox 21"/>
          <p:cNvSpPr txBox="1"/>
          <p:nvPr/>
        </p:nvSpPr>
        <p:spPr>
          <a:xfrm>
            <a:off x="5354726" y="2880360"/>
            <a:ext cx="1479499" cy="594360"/>
          </a:xfrm>
          <a:prstGeom prst="rect">
            <a:avLst/>
          </a:prstGeom>
          <a:noFill/>
        </p:spPr>
        <p:txBody>
          <a:bodyPr wrap="square" lIns="0" rIns="0" tIns="0" bIns="0" anchor="t"/>
          <a:lstStyle/>
          <a:p>
            <a:pPr algn="l">
              <a:spcAft>
                <a:spcPts val="400"/>
              </a:spcAft>
              <a:buNone/>
            </a:pPr>
            <a:r>
              <a:rPr sz="1500" b="1" i="0">
                <a:solidFill>
                  <a:srgbClr val="0E1F53"/>
                </a:solidFill>
                <a:latin typeface="Roboto"/>
              </a:rPr>
              <a:t>Wissen hinterlegen</a:t>
            </a:r>
          </a:p>
        </p:txBody>
      </p:sp>
      <p:sp>
        <p:nvSpPr>
          <p:cNvPr id="23" name="TextBox 22"/>
          <p:cNvSpPr txBox="1"/>
          <p:nvPr/>
        </p:nvSpPr>
        <p:spPr>
          <a:xfrm>
            <a:off x="5354726" y="3474720"/>
            <a:ext cx="1479499" cy="1005840"/>
          </a:xfrm>
          <a:prstGeom prst="rect">
            <a:avLst/>
          </a:prstGeom>
          <a:noFill/>
        </p:spPr>
        <p:txBody>
          <a:bodyPr wrap="square" lIns="0" rIns="0" tIns="0" bIns="0" anchor="t"/>
          <a:lstStyle/>
          <a:p>
            <a:pPr algn="l">
              <a:spcAft>
                <a:spcPts val="400"/>
              </a:spcAft>
              <a:buNone/>
            </a:pPr>
            <a:r>
              <a:rPr sz="1250" b="0" i="0">
                <a:solidFill>
                  <a:srgbClr val="0E1F53"/>
                </a:solidFill>
                <a:latin typeface="Roboto"/>
              </a:rPr>
              <a:t>Dateien hochladen: Produktinfos, Vorlagen, Beispiele.</a:t>
            </a:r>
          </a:p>
        </p:txBody>
      </p:sp>
      <p:sp>
        <p:nvSpPr>
          <p:cNvPr id="24" name="Right Arrow 23"/>
          <p:cNvSpPr/>
          <p:nvPr/>
        </p:nvSpPr>
        <p:spPr>
          <a:xfrm>
            <a:off x="7071969" y="3154680"/>
            <a:ext cx="210312" cy="228600"/>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7337145" y="2011680"/>
            <a:ext cx="1845259"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20025" y="2121408"/>
            <a:ext cx="548640" cy="365760"/>
          </a:xfrm>
          <a:prstGeom prst="rect">
            <a:avLst/>
          </a:prstGeom>
          <a:noFill/>
        </p:spPr>
        <p:txBody>
          <a:bodyPr wrap="square" lIns="0" rIns="0" tIns="0" bIns="0" anchor="t"/>
          <a:lstStyle/>
          <a:p>
            <a:pPr algn="l">
              <a:spcAft>
                <a:spcPts val="400"/>
              </a:spcAft>
              <a:buNone/>
            </a:pPr>
            <a:r>
              <a:rPr sz="2000" b="1" i="0">
                <a:solidFill>
                  <a:srgbClr val="FB2762"/>
                </a:solidFill>
                <a:latin typeface="Roboto"/>
              </a:rPr>
              <a:t>4</a:t>
            </a:r>
          </a:p>
        </p:txBody>
      </p:sp>
      <p:sp>
        <p:nvSpPr>
          <p:cNvPr id="27" name="Oval 26"/>
          <p:cNvSpPr/>
          <p:nvPr/>
        </p:nvSpPr>
        <p:spPr>
          <a:xfrm>
            <a:off x="8405164" y="2148840"/>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uPlug_w.png"/>
          <p:cNvPicPr>
            <a:picLocks noChangeAspect="1"/>
          </p:cNvPicPr>
          <p:nvPr/>
        </p:nvPicPr>
        <p:blipFill>
          <a:blip r:embed="rId6"/>
          <a:stretch>
            <a:fillRect/>
          </a:stretch>
        </p:blipFill>
        <p:spPr>
          <a:xfrm>
            <a:off x="8541227" y="2284902"/>
            <a:ext cx="294802" cy="294802"/>
          </a:xfrm>
          <a:prstGeom prst="rect">
            <a:avLst/>
          </a:prstGeom>
        </p:spPr>
      </p:pic>
      <p:sp>
        <p:nvSpPr>
          <p:cNvPr id="29" name="TextBox 28"/>
          <p:cNvSpPr txBox="1"/>
          <p:nvPr/>
        </p:nvSpPr>
        <p:spPr>
          <a:xfrm>
            <a:off x="7520025" y="2880360"/>
            <a:ext cx="1479499" cy="594360"/>
          </a:xfrm>
          <a:prstGeom prst="rect">
            <a:avLst/>
          </a:prstGeom>
          <a:noFill/>
        </p:spPr>
        <p:txBody>
          <a:bodyPr wrap="square" lIns="0" rIns="0" tIns="0" bIns="0" anchor="t"/>
          <a:lstStyle/>
          <a:p>
            <a:pPr algn="l">
              <a:spcAft>
                <a:spcPts val="400"/>
              </a:spcAft>
              <a:buNone/>
            </a:pPr>
            <a:r>
              <a:rPr sz="1500" b="1" i="0">
                <a:solidFill>
                  <a:srgbClr val="0E1F53"/>
                </a:solidFill>
                <a:latin typeface="Roboto"/>
              </a:rPr>
              <a:t>Werkzeuge aktivieren</a:t>
            </a:r>
          </a:p>
        </p:txBody>
      </p:sp>
      <p:sp>
        <p:nvSpPr>
          <p:cNvPr id="30" name="TextBox 29"/>
          <p:cNvSpPr txBox="1"/>
          <p:nvPr/>
        </p:nvSpPr>
        <p:spPr>
          <a:xfrm>
            <a:off x="7520025" y="3474720"/>
            <a:ext cx="1479499" cy="1005840"/>
          </a:xfrm>
          <a:prstGeom prst="rect">
            <a:avLst/>
          </a:prstGeom>
          <a:noFill/>
        </p:spPr>
        <p:txBody>
          <a:bodyPr wrap="square" lIns="0" rIns="0" tIns="0" bIns="0" anchor="t"/>
          <a:lstStyle/>
          <a:p>
            <a:pPr algn="l">
              <a:spcAft>
                <a:spcPts val="400"/>
              </a:spcAft>
              <a:buNone/>
            </a:pPr>
            <a:r>
              <a:rPr sz="1250" b="0" i="0">
                <a:solidFill>
                  <a:srgbClr val="0E1F53"/>
                </a:solidFill>
                <a:latin typeface="Roboto"/>
              </a:rPr>
              <a:t>Websuche, Deep Research, Code, Mail, Ablage.</a:t>
            </a:r>
          </a:p>
        </p:txBody>
      </p:sp>
      <p:sp>
        <p:nvSpPr>
          <p:cNvPr id="31" name="Right Arrow 30"/>
          <p:cNvSpPr/>
          <p:nvPr/>
        </p:nvSpPr>
        <p:spPr>
          <a:xfrm>
            <a:off x="9237268" y="3154680"/>
            <a:ext cx="210312" cy="228600"/>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9502444" y="2011680"/>
            <a:ext cx="1845259"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685324" y="2121408"/>
            <a:ext cx="548640" cy="365760"/>
          </a:xfrm>
          <a:prstGeom prst="rect">
            <a:avLst/>
          </a:prstGeom>
          <a:noFill/>
        </p:spPr>
        <p:txBody>
          <a:bodyPr wrap="square" lIns="0" rIns="0" tIns="0" bIns="0" anchor="t"/>
          <a:lstStyle/>
          <a:p>
            <a:pPr algn="l">
              <a:spcAft>
                <a:spcPts val="400"/>
              </a:spcAft>
              <a:buNone/>
            </a:pPr>
            <a:r>
              <a:rPr sz="2000" b="1" i="0">
                <a:solidFill>
                  <a:srgbClr val="FB2762"/>
                </a:solidFill>
                <a:latin typeface="Roboto"/>
              </a:rPr>
              <a:t>5</a:t>
            </a:r>
          </a:p>
        </p:txBody>
      </p:sp>
      <p:sp>
        <p:nvSpPr>
          <p:cNvPr id="34" name="Oval 33"/>
          <p:cNvSpPr/>
          <p:nvPr/>
        </p:nvSpPr>
        <p:spPr>
          <a:xfrm>
            <a:off x="10570464" y="2148840"/>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LuRefreshCw_w.png"/>
          <p:cNvPicPr>
            <a:picLocks noChangeAspect="1"/>
          </p:cNvPicPr>
          <p:nvPr/>
        </p:nvPicPr>
        <p:blipFill>
          <a:blip r:embed="rId7"/>
          <a:stretch>
            <a:fillRect/>
          </a:stretch>
        </p:blipFill>
        <p:spPr>
          <a:xfrm>
            <a:off x="10706526" y="2284902"/>
            <a:ext cx="294802" cy="294802"/>
          </a:xfrm>
          <a:prstGeom prst="rect">
            <a:avLst/>
          </a:prstGeom>
        </p:spPr>
      </p:pic>
      <p:sp>
        <p:nvSpPr>
          <p:cNvPr id="36" name="TextBox 35"/>
          <p:cNvSpPr txBox="1"/>
          <p:nvPr/>
        </p:nvSpPr>
        <p:spPr>
          <a:xfrm>
            <a:off x="9685324" y="2880360"/>
            <a:ext cx="1479499" cy="594360"/>
          </a:xfrm>
          <a:prstGeom prst="rect">
            <a:avLst/>
          </a:prstGeom>
          <a:noFill/>
        </p:spPr>
        <p:txBody>
          <a:bodyPr wrap="square" lIns="0" rIns="0" tIns="0" bIns="0" anchor="t"/>
          <a:lstStyle/>
          <a:p>
            <a:pPr algn="l">
              <a:spcAft>
                <a:spcPts val="400"/>
              </a:spcAft>
              <a:buNone/>
            </a:pPr>
            <a:r>
              <a:rPr sz="1500" b="1" i="0">
                <a:solidFill>
                  <a:srgbClr val="0E1F53"/>
                </a:solidFill>
                <a:latin typeface="Roboto"/>
              </a:rPr>
              <a:t>Testen &amp; schärfen</a:t>
            </a:r>
          </a:p>
        </p:txBody>
      </p:sp>
      <p:sp>
        <p:nvSpPr>
          <p:cNvPr id="37" name="TextBox 36"/>
          <p:cNvSpPr txBox="1"/>
          <p:nvPr/>
        </p:nvSpPr>
        <p:spPr>
          <a:xfrm>
            <a:off x="9685324" y="3474720"/>
            <a:ext cx="1479499" cy="1005840"/>
          </a:xfrm>
          <a:prstGeom prst="rect">
            <a:avLst/>
          </a:prstGeom>
          <a:noFill/>
        </p:spPr>
        <p:txBody>
          <a:bodyPr wrap="square" lIns="0" rIns="0" tIns="0" bIns="0" anchor="t"/>
          <a:lstStyle/>
          <a:p>
            <a:pPr algn="l">
              <a:spcAft>
                <a:spcPts val="400"/>
              </a:spcAft>
              <a:buNone/>
            </a:pPr>
            <a:r>
              <a:rPr sz="1250" b="0" i="0">
                <a:solidFill>
                  <a:srgbClr val="0E1F53"/>
                </a:solidFill>
                <a:latin typeface="Roboto"/>
              </a:rPr>
              <a:t>5 echte Fälle durchspielen, Prompt nachbessern.</a:t>
            </a:r>
          </a:p>
        </p:txBody>
      </p:sp>
      <p:sp>
        <p:nvSpPr>
          <p:cNvPr id="38" name="TextBox 37"/>
          <p:cNvSpPr txBox="1"/>
          <p:nvPr/>
        </p:nvSpPr>
        <p:spPr>
          <a:xfrm>
            <a:off x="841248" y="4709160"/>
            <a:ext cx="3657600" cy="320040"/>
          </a:xfrm>
          <a:prstGeom prst="rect">
            <a:avLst/>
          </a:prstGeom>
          <a:noFill/>
        </p:spPr>
        <p:txBody>
          <a:bodyPr wrap="square" lIns="0" rIns="0" tIns="0" bIns="0" anchor="t"/>
          <a:lstStyle/>
          <a:p>
            <a:pPr algn="l">
              <a:spcAft>
                <a:spcPts val="400"/>
              </a:spcAft>
              <a:buNone/>
            </a:pPr>
            <a:r>
              <a:rPr sz="1400" b="1" i="0">
                <a:solidFill>
                  <a:srgbClr val="0E1F53"/>
                </a:solidFill>
                <a:latin typeface="Roboto"/>
              </a:rPr>
              <a:t>So heißt das in den Tools</a:t>
            </a:r>
          </a:p>
        </p:txBody>
      </p:sp>
      <p:sp>
        <p:nvSpPr>
          <p:cNvPr id="39" name="Rounded Rectangle 38"/>
          <p:cNvSpPr/>
          <p:nvPr/>
        </p:nvSpPr>
        <p:spPr>
          <a:xfrm>
            <a:off x="841248" y="5074920"/>
            <a:ext cx="2455164" cy="822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024128" y="5120640"/>
            <a:ext cx="2089404" cy="731520"/>
          </a:xfrm>
          <a:prstGeom prst="rect">
            <a:avLst/>
          </a:prstGeom>
          <a:noFill/>
        </p:spPr>
        <p:txBody>
          <a:bodyPr wrap="square" lIns="0" rIns="0" tIns="0" bIns="0" anchor="ctr"/>
          <a:lstStyle/>
          <a:p>
            <a:pPr algn="l">
              <a:spcAft>
                <a:spcPts val="100"/>
              </a:spcAft>
              <a:buNone/>
            </a:pPr>
            <a:r>
              <a:rPr sz="1400" b="1" i="0">
                <a:solidFill>
                  <a:srgbClr val="0E1F53"/>
                </a:solidFill>
                <a:latin typeface="Roboto"/>
              </a:rPr>
              <a:t>ChatGPT</a:t>
            </a:r>
          </a:p>
          <a:p>
            <a:pPr algn="l">
              <a:spcAft>
                <a:spcPts val="100"/>
              </a:spcAft>
              <a:buNone/>
            </a:pPr>
            <a:r>
              <a:rPr sz="1250" b="0" i="0">
                <a:solidFill>
                  <a:srgbClr val="5A6684"/>
                </a:solidFill>
                <a:latin typeface="Roboto"/>
              </a:rPr>
              <a:t>GPTs &amp; Projekte</a:t>
            </a:r>
          </a:p>
        </p:txBody>
      </p:sp>
      <p:sp>
        <p:nvSpPr>
          <p:cNvPr id="41" name="Rounded Rectangle 40"/>
          <p:cNvSpPr/>
          <p:nvPr/>
        </p:nvSpPr>
        <p:spPr>
          <a:xfrm>
            <a:off x="3525012" y="5074920"/>
            <a:ext cx="2455164" cy="822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3707891" y="5120640"/>
            <a:ext cx="2089404" cy="731520"/>
          </a:xfrm>
          <a:prstGeom prst="rect">
            <a:avLst/>
          </a:prstGeom>
          <a:noFill/>
        </p:spPr>
        <p:txBody>
          <a:bodyPr wrap="square" lIns="0" rIns="0" tIns="0" bIns="0" anchor="ctr"/>
          <a:lstStyle/>
          <a:p>
            <a:pPr algn="l">
              <a:spcAft>
                <a:spcPts val="100"/>
              </a:spcAft>
              <a:buNone/>
            </a:pPr>
            <a:r>
              <a:rPr sz="1400" b="1" i="0">
                <a:solidFill>
                  <a:srgbClr val="0E1F53"/>
                </a:solidFill>
                <a:latin typeface="Roboto"/>
              </a:rPr>
              <a:t>Claude</a:t>
            </a:r>
          </a:p>
          <a:p>
            <a:pPr algn="l">
              <a:spcAft>
                <a:spcPts val="100"/>
              </a:spcAft>
              <a:buNone/>
            </a:pPr>
            <a:r>
              <a:rPr sz="1250" b="0" i="0">
                <a:solidFill>
                  <a:srgbClr val="5A6684"/>
                </a:solidFill>
                <a:latin typeface="Roboto"/>
              </a:rPr>
              <a:t>Projekte</a:t>
            </a:r>
          </a:p>
        </p:txBody>
      </p:sp>
      <p:sp>
        <p:nvSpPr>
          <p:cNvPr id="43" name="Rounded Rectangle 42"/>
          <p:cNvSpPr/>
          <p:nvPr/>
        </p:nvSpPr>
        <p:spPr>
          <a:xfrm>
            <a:off x="6208776" y="5074920"/>
            <a:ext cx="2455164" cy="822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391656" y="5120640"/>
            <a:ext cx="2089404" cy="731520"/>
          </a:xfrm>
          <a:prstGeom prst="rect">
            <a:avLst/>
          </a:prstGeom>
          <a:noFill/>
        </p:spPr>
        <p:txBody>
          <a:bodyPr wrap="square" lIns="0" rIns="0" tIns="0" bIns="0" anchor="ctr"/>
          <a:lstStyle/>
          <a:p>
            <a:pPr algn="l">
              <a:spcAft>
                <a:spcPts val="100"/>
              </a:spcAft>
              <a:buNone/>
            </a:pPr>
            <a:r>
              <a:rPr sz="1400" b="1" i="0">
                <a:solidFill>
                  <a:srgbClr val="0E1F53"/>
                </a:solidFill>
                <a:latin typeface="Roboto"/>
              </a:rPr>
              <a:t>Gemini</a:t>
            </a:r>
          </a:p>
          <a:p>
            <a:pPr algn="l">
              <a:spcAft>
                <a:spcPts val="100"/>
              </a:spcAft>
              <a:buNone/>
            </a:pPr>
            <a:r>
              <a:rPr sz="1250" b="0" i="0">
                <a:solidFill>
                  <a:srgbClr val="5A6684"/>
                </a:solidFill>
                <a:latin typeface="Roboto"/>
              </a:rPr>
              <a:t>Gems</a:t>
            </a:r>
          </a:p>
        </p:txBody>
      </p:sp>
      <p:sp>
        <p:nvSpPr>
          <p:cNvPr id="45" name="Rounded Rectangle 44"/>
          <p:cNvSpPr/>
          <p:nvPr/>
        </p:nvSpPr>
        <p:spPr>
          <a:xfrm>
            <a:off x="8892540" y="5074920"/>
            <a:ext cx="2455164" cy="822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075419" y="5120640"/>
            <a:ext cx="2089404" cy="731520"/>
          </a:xfrm>
          <a:prstGeom prst="rect">
            <a:avLst/>
          </a:prstGeom>
          <a:noFill/>
        </p:spPr>
        <p:txBody>
          <a:bodyPr wrap="square" lIns="0" rIns="0" tIns="0" bIns="0" anchor="ctr"/>
          <a:lstStyle/>
          <a:p>
            <a:pPr algn="l">
              <a:spcAft>
                <a:spcPts val="100"/>
              </a:spcAft>
              <a:buNone/>
            </a:pPr>
            <a:r>
              <a:rPr sz="1400" b="1" i="0">
                <a:solidFill>
                  <a:srgbClr val="0E1F53"/>
                </a:solidFill>
                <a:latin typeface="Roboto"/>
              </a:rPr>
              <a:t>Microsoft 365 Copilot</a:t>
            </a:r>
          </a:p>
          <a:p>
            <a:pPr algn="l">
              <a:spcAft>
                <a:spcPts val="100"/>
              </a:spcAft>
              <a:buNone/>
            </a:pPr>
            <a:r>
              <a:rPr sz="1250" b="0" i="0">
                <a:solidFill>
                  <a:srgbClr val="5A6684"/>
                </a:solidFill>
                <a:latin typeface="Roboto"/>
              </a:rPr>
              <a:t>Agents / Copilot Studio</a:t>
            </a:r>
          </a:p>
        </p:txBody>
      </p:sp>
      <p:sp>
        <p:nvSpPr>
          <p:cNvPr id="47" name="TextBox 46"/>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Bezeichnungen Stand Oktober 2026; Funktionsumfang je nach Lizenz unterschiedlich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Deep Research: die Recherche-Abteilung auf Knopfdruck</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Rounded Rectangle 3"/>
          <p:cNvSpPr/>
          <p:nvPr/>
        </p:nvSpPr>
        <p:spPr>
          <a:xfrm>
            <a:off x="841248" y="2011680"/>
            <a:ext cx="1881835"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05840" y="225856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MessagesSquare_w.png"/>
          <p:cNvPicPr>
            <a:picLocks noChangeAspect="1"/>
          </p:cNvPicPr>
          <p:nvPr/>
        </p:nvPicPr>
        <p:blipFill>
          <a:blip r:embed="rId3"/>
          <a:stretch>
            <a:fillRect/>
          </a:stretch>
        </p:blipFill>
        <p:spPr>
          <a:xfrm>
            <a:off x="1137513" y="2390241"/>
            <a:ext cx="285292" cy="285292"/>
          </a:xfrm>
          <a:prstGeom prst="rect">
            <a:avLst/>
          </a:prstGeom>
        </p:spPr>
      </p:pic>
      <p:sp>
        <p:nvSpPr>
          <p:cNvPr id="7" name="TextBox 6"/>
          <p:cNvSpPr txBox="1"/>
          <p:nvPr/>
        </p:nvSpPr>
        <p:spPr>
          <a:xfrm>
            <a:off x="1664208" y="2011680"/>
            <a:ext cx="1013155" cy="1051560"/>
          </a:xfrm>
          <a:prstGeom prst="rect">
            <a:avLst/>
          </a:prstGeom>
          <a:noFill/>
        </p:spPr>
        <p:txBody>
          <a:bodyPr wrap="square" lIns="0" rIns="0" tIns="0" bIns="0" anchor="ctr"/>
          <a:lstStyle/>
          <a:p>
            <a:pPr algn="l">
              <a:spcAft>
                <a:spcPts val="0"/>
              </a:spcAft>
              <a:buNone/>
            </a:pPr>
            <a:r>
              <a:rPr sz="1300" b="1" i="0">
                <a:solidFill>
                  <a:srgbClr val="0E1F53"/>
                </a:solidFill>
                <a:latin typeface="Roboto"/>
              </a:rPr>
              <a:t>Forschungs-</a:t>
            </a:r>
          </a:p>
          <a:p>
            <a:pPr algn="l">
              <a:spcAft>
                <a:spcPts val="0"/>
              </a:spcAft>
              <a:buNone/>
            </a:pPr>
            <a:r>
              <a:rPr sz="1300" b="1" i="0">
                <a:solidFill>
                  <a:srgbClr val="0E1F53"/>
                </a:solidFill>
                <a:latin typeface="Roboto"/>
              </a:rPr>
              <a:t>frage</a:t>
            </a:r>
          </a:p>
        </p:txBody>
      </p:sp>
      <p:sp>
        <p:nvSpPr>
          <p:cNvPr id="8" name="Right Arrow 7"/>
          <p:cNvSpPr/>
          <p:nvPr/>
        </p:nvSpPr>
        <p:spPr>
          <a:xfrm>
            <a:off x="2759659" y="2432304"/>
            <a:ext cx="201168" cy="219456"/>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2997403" y="2011680"/>
            <a:ext cx="1881835"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161995" y="225856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ListChecks_w.png"/>
          <p:cNvPicPr>
            <a:picLocks noChangeAspect="1"/>
          </p:cNvPicPr>
          <p:nvPr/>
        </p:nvPicPr>
        <p:blipFill>
          <a:blip r:embed="rId4"/>
          <a:stretch>
            <a:fillRect/>
          </a:stretch>
        </p:blipFill>
        <p:spPr>
          <a:xfrm>
            <a:off x="3293668" y="2390241"/>
            <a:ext cx="285292" cy="285292"/>
          </a:xfrm>
          <a:prstGeom prst="rect">
            <a:avLst/>
          </a:prstGeom>
        </p:spPr>
      </p:pic>
      <p:sp>
        <p:nvSpPr>
          <p:cNvPr id="12" name="TextBox 11"/>
          <p:cNvSpPr txBox="1"/>
          <p:nvPr/>
        </p:nvSpPr>
        <p:spPr>
          <a:xfrm>
            <a:off x="3820363" y="2011680"/>
            <a:ext cx="1013155" cy="1051560"/>
          </a:xfrm>
          <a:prstGeom prst="rect">
            <a:avLst/>
          </a:prstGeom>
          <a:noFill/>
        </p:spPr>
        <p:txBody>
          <a:bodyPr wrap="square" lIns="0" rIns="0" tIns="0" bIns="0" anchor="ctr"/>
          <a:lstStyle/>
          <a:p>
            <a:pPr algn="l">
              <a:spcAft>
                <a:spcPts val="0"/>
              </a:spcAft>
              <a:buNone/>
            </a:pPr>
            <a:r>
              <a:rPr sz="1300" b="1" i="0">
                <a:solidFill>
                  <a:srgbClr val="0E1F53"/>
                </a:solidFill>
                <a:latin typeface="Roboto"/>
              </a:rPr>
              <a:t>Recherche-</a:t>
            </a:r>
          </a:p>
          <a:p>
            <a:pPr algn="l">
              <a:spcAft>
                <a:spcPts val="0"/>
              </a:spcAft>
              <a:buNone/>
            </a:pPr>
            <a:r>
              <a:rPr sz="1300" b="1" i="0">
                <a:solidFill>
                  <a:srgbClr val="0E1F53"/>
                </a:solidFill>
                <a:latin typeface="Roboto"/>
              </a:rPr>
              <a:t>plan</a:t>
            </a:r>
          </a:p>
        </p:txBody>
      </p:sp>
      <p:sp>
        <p:nvSpPr>
          <p:cNvPr id="13" name="Right Arrow 12"/>
          <p:cNvSpPr/>
          <p:nvPr/>
        </p:nvSpPr>
        <p:spPr>
          <a:xfrm>
            <a:off x="4915814" y="2432304"/>
            <a:ext cx="201168" cy="219456"/>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5153558" y="2011680"/>
            <a:ext cx="1881835"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318150" y="225856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Search_w.png"/>
          <p:cNvPicPr>
            <a:picLocks noChangeAspect="1"/>
          </p:cNvPicPr>
          <p:nvPr/>
        </p:nvPicPr>
        <p:blipFill>
          <a:blip r:embed="rId5"/>
          <a:stretch>
            <a:fillRect/>
          </a:stretch>
        </p:blipFill>
        <p:spPr>
          <a:xfrm>
            <a:off x="5449824" y="2390241"/>
            <a:ext cx="285292" cy="285292"/>
          </a:xfrm>
          <a:prstGeom prst="rect">
            <a:avLst/>
          </a:prstGeom>
        </p:spPr>
      </p:pic>
      <p:sp>
        <p:nvSpPr>
          <p:cNvPr id="17" name="TextBox 16"/>
          <p:cNvSpPr txBox="1"/>
          <p:nvPr/>
        </p:nvSpPr>
        <p:spPr>
          <a:xfrm>
            <a:off x="5976518" y="2011680"/>
            <a:ext cx="1013155" cy="1051560"/>
          </a:xfrm>
          <a:prstGeom prst="rect">
            <a:avLst/>
          </a:prstGeom>
          <a:noFill/>
        </p:spPr>
        <p:txBody>
          <a:bodyPr wrap="square" lIns="0" rIns="0" tIns="0" bIns="0" anchor="ctr"/>
          <a:lstStyle/>
          <a:p>
            <a:pPr algn="l">
              <a:spcAft>
                <a:spcPts val="0"/>
              </a:spcAft>
              <a:buNone/>
            </a:pPr>
            <a:r>
              <a:rPr sz="1300" b="1" i="0">
                <a:solidFill>
                  <a:srgbClr val="0E1F53"/>
                </a:solidFill>
                <a:latin typeface="Roboto"/>
              </a:rPr>
              <a:t>Quellen</a:t>
            </a:r>
          </a:p>
          <a:p>
            <a:pPr algn="l">
              <a:spcAft>
                <a:spcPts val="0"/>
              </a:spcAft>
              <a:buNone/>
            </a:pPr>
            <a:r>
              <a:rPr sz="1300" b="1" i="0">
                <a:solidFill>
                  <a:srgbClr val="0E1F53"/>
                </a:solidFill>
                <a:latin typeface="Roboto"/>
              </a:rPr>
              <a:t>durchsuchen</a:t>
            </a:r>
          </a:p>
        </p:txBody>
      </p:sp>
      <p:sp>
        <p:nvSpPr>
          <p:cNvPr id="18" name="Right Arrow 17"/>
          <p:cNvSpPr/>
          <p:nvPr/>
        </p:nvSpPr>
        <p:spPr>
          <a:xfrm>
            <a:off x="7071969" y="2432304"/>
            <a:ext cx="201168" cy="219456"/>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7309713" y="2011680"/>
            <a:ext cx="1881835"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474305" y="225856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Brain_w.png"/>
          <p:cNvPicPr>
            <a:picLocks noChangeAspect="1"/>
          </p:cNvPicPr>
          <p:nvPr/>
        </p:nvPicPr>
        <p:blipFill>
          <a:blip r:embed="rId6"/>
          <a:stretch>
            <a:fillRect/>
          </a:stretch>
        </p:blipFill>
        <p:spPr>
          <a:xfrm>
            <a:off x="7605979" y="2390241"/>
            <a:ext cx="285292" cy="285292"/>
          </a:xfrm>
          <a:prstGeom prst="rect">
            <a:avLst/>
          </a:prstGeom>
        </p:spPr>
      </p:pic>
      <p:sp>
        <p:nvSpPr>
          <p:cNvPr id="22" name="TextBox 21"/>
          <p:cNvSpPr txBox="1"/>
          <p:nvPr/>
        </p:nvSpPr>
        <p:spPr>
          <a:xfrm>
            <a:off x="8132673" y="2011680"/>
            <a:ext cx="1013155" cy="1051560"/>
          </a:xfrm>
          <a:prstGeom prst="rect">
            <a:avLst/>
          </a:prstGeom>
          <a:noFill/>
        </p:spPr>
        <p:txBody>
          <a:bodyPr wrap="square" lIns="0" rIns="0" tIns="0" bIns="0" anchor="ctr"/>
          <a:lstStyle/>
          <a:p>
            <a:pPr algn="l">
              <a:spcAft>
                <a:spcPts val="0"/>
              </a:spcAft>
              <a:buNone/>
            </a:pPr>
            <a:r>
              <a:rPr sz="1300" b="1" i="0">
                <a:solidFill>
                  <a:srgbClr val="0E1F53"/>
                </a:solidFill>
                <a:latin typeface="Roboto"/>
              </a:rPr>
              <a:t>Abgleichen &amp;</a:t>
            </a:r>
          </a:p>
          <a:p>
            <a:pPr algn="l">
              <a:spcAft>
                <a:spcPts val="0"/>
              </a:spcAft>
              <a:buNone/>
            </a:pPr>
            <a:r>
              <a:rPr sz="1300" b="1" i="0">
                <a:solidFill>
                  <a:srgbClr val="0E1F53"/>
                </a:solidFill>
                <a:latin typeface="Roboto"/>
              </a:rPr>
              <a:t>bewerten</a:t>
            </a:r>
          </a:p>
        </p:txBody>
      </p:sp>
      <p:sp>
        <p:nvSpPr>
          <p:cNvPr id="23" name="Right Arrow 22"/>
          <p:cNvSpPr/>
          <p:nvPr/>
        </p:nvSpPr>
        <p:spPr>
          <a:xfrm>
            <a:off x="9228124" y="2432304"/>
            <a:ext cx="201168" cy="219456"/>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9465868" y="2011680"/>
            <a:ext cx="1881835"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9630460" y="2258568"/>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BookOpen_w.png"/>
          <p:cNvPicPr>
            <a:picLocks noChangeAspect="1"/>
          </p:cNvPicPr>
          <p:nvPr/>
        </p:nvPicPr>
        <p:blipFill>
          <a:blip r:embed="rId7"/>
          <a:stretch>
            <a:fillRect/>
          </a:stretch>
        </p:blipFill>
        <p:spPr>
          <a:xfrm>
            <a:off x="9762134" y="2390241"/>
            <a:ext cx="285292" cy="285292"/>
          </a:xfrm>
          <a:prstGeom prst="rect">
            <a:avLst/>
          </a:prstGeom>
        </p:spPr>
      </p:pic>
      <p:sp>
        <p:nvSpPr>
          <p:cNvPr id="27" name="TextBox 26"/>
          <p:cNvSpPr txBox="1"/>
          <p:nvPr/>
        </p:nvSpPr>
        <p:spPr>
          <a:xfrm>
            <a:off x="10288828" y="2011680"/>
            <a:ext cx="1013155" cy="1051560"/>
          </a:xfrm>
          <a:prstGeom prst="rect">
            <a:avLst/>
          </a:prstGeom>
          <a:noFill/>
        </p:spPr>
        <p:txBody>
          <a:bodyPr wrap="square" lIns="0" rIns="0" tIns="0" bIns="0" anchor="ctr"/>
          <a:lstStyle/>
          <a:p>
            <a:pPr algn="l">
              <a:spcAft>
                <a:spcPts val="0"/>
              </a:spcAft>
              <a:buNone/>
            </a:pPr>
            <a:r>
              <a:rPr sz="1300" b="1" i="0">
                <a:solidFill>
                  <a:srgbClr val="0E1F53"/>
                </a:solidFill>
                <a:latin typeface="Roboto"/>
              </a:rPr>
              <a:t>Bericht mit</a:t>
            </a:r>
          </a:p>
          <a:p>
            <a:pPr algn="l">
              <a:spcAft>
                <a:spcPts val="0"/>
              </a:spcAft>
              <a:buNone/>
            </a:pPr>
            <a:r>
              <a:rPr sz="1300" b="1" i="0">
                <a:solidFill>
                  <a:srgbClr val="0E1F53"/>
                </a:solidFill>
                <a:latin typeface="Roboto"/>
              </a:rPr>
              <a:t>Belegen</a:t>
            </a:r>
          </a:p>
        </p:txBody>
      </p:sp>
      <p:sp>
        <p:nvSpPr>
          <p:cNvPr id="28" name="Rounded Rectangle 27"/>
          <p:cNvSpPr/>
          <p:nvPr/>
        </p:nvSpPr>
        <p:spPr>
          <a:xfrm>
            <a:off x="841248" y="3291840"/>
            <a:ext cx="5116068" cy="2697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3474720"/>
            <a:ext cx="457200" cy="45720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Check_w.png"/>
          <p:cNvPicPr>
            <a:picLocks noChangeAspect="1"/>
          </p:cNvPicPr>
          <p:nvPr/>
        </p:nvPicPr>
        <p:blipFill>
          <a:blip r:embed="rId8"/>
          <a:stretch>
            <a:fillRect/>
          </a:stretch>
        </p:blipFill>
        <p:spPr>
          <a:xfrm>
            <a:off x="1133856" y="3584448"/>
            <a:ext cx="237744" cy="237744"/>
          </a:xfrm>
          <a:prstGeom prst="rect">
            <a:avLst/>
          </a:prstGeom>
        </p:spPr>
      </p:pic>
      <p:sp>
        <p:nvSpPr>
          <p:cNvPr id="31" name="TextBox 30"/>
          <p:cNvSpPr txBox="1"/>
          <p:nvPr/>
        </p:nvSpPr>
        <p:spPr>
          <a:xfrm>
            <a:off x="1591056" y="3474720"/>
            <a:ext cx="4183379"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Gut geeignet für</a:t>
            </a:r>
          </a:p>
        </p:txBody>
      </p:sp>
      <p:sp>
        <p:nvSpPr>
          <p:cNvPr id="32" name="TextBox 31"/>
          <p:cNvSpPr txBox="1"/>
          <p:nvPr/>
        </p:nvSpPr>
        <p:spPr>
          <a:xfrm>
            <a:off x="1024128" y="4041648"/>
            <a:ext cx="4750307" cy="1837944"/>
          </a:xfrm>
          <a:prstGeom prst="rect">
            <a:avLst/>
          </a:prstGeom>
          <a:noFill/>
        </p:spPr>
        <p:txBody>
          <a:bodyPr wrap="square" lIns="0" rIns="0" tIns="0" bIns="0" anchor="t"/>
          <a:lstStyle/>
          <a:p>
            <a:pPr algn="l" marL="164592" indent="-164592">
              <a:spcAft>
                <a:spcPts val="400"/>
              </a:spcAft>
              <a:buClr>
                <a:srgbClr val="FB2762"/>
              </a:buClr>
              <a:buFont typeface="Arial"/>
              <a:buChar char="•"/>
            </a:pPr>
            <a:r>
              <a:rPr sz="1350" b="0" i="0">
                <a:solidFill>
                  <a:srgbClr val="0E1F53"/>
                </a:solidFill>
                <a:latin typeface="Roboto"/>
              </a:rPr>
              <a:t>Markt- und Trendanalysen</a:t>
            </a:r>
          </a:p>
          <a:p>
            <a:pPr algn="l" marL="164592" indent="-164592">
              <a:spcAft>
                <a:spcPts val="400"/>
              </a:spcAft>
              <a:buClr>
                <a:srgbClr val="FB2762"/>
              </a:buClr>
              <a:buFont typeface="Arial"/>
              <a:buChar char="•"/>
            </a:pPr>
            <a:r>
              <a:rPr sz="1350" b="0" i="0">
                <a:solidFill>
                  <a:srgbClr val="0E1F53"/>
                </a:solidFill>
                <a:latin typeface="Roboto"/>
              </a:rPr>
              <a:t>Wettbewerber-Profile und Preisvergleiche</a:t>
            </a:r>
          </a:p>
          <a:p>
            <a:pPr algn="l" marL="164592" indent="-164592">
              <a:spcAft>
                <a:spcPts val="400"/>
              </a:spcAft>
              <a:buClr>
                <a:srgbClr val="FB2762"/>
              </a:buClr>
              <a:buFont typeface="Arial"/>
              <a:buChar char="•"/>
            </a:pPr>
            <a:r>
              <a:rPr sz="1350" b="0" i="0">
                <a:solidFill>
                  <a:srgbClr val="0E1F53"/>
                </a:solidFill>
                <a:latin typeface="Roboto"/>
              </a:rPr>
              <a:t>Förderprogramme, Normen, Studienlage</a:t>
            </a:r>
          </a:p>
          <a:p>
            <a:pPr algn="l" marL="164592" indent="-164592">
              <a:spcAft>
                <a:spcPts val="400"/>
              </a:spcAft>
              <a:buClr>
                <a:srgbClr val="FB2762"/>
              </a:buClr>
              <a:buFont typeface="Arial"/>
              <a:buChar char="•"/>
            </a:pPr>
            <a:r>
              <a:rPr sz="1350" b="0" i="0">
                <a:solidFill>
                  <a:srgbClr val="0E1F53"/>
                </a:solidFill>
                <a:latin typeface="Roboto"/>
              </a:rPr>
              <a:t>Ideen-Recherche: Wie lösen andere Branchen das?</a:t>
            </a:r>
          </a:p>
        </p:txBody>
      </p:sp>
      <p:sp>
        <p:nvSpPr>
          <p:cNvPr id="33" name="Rounded Rectangle 32"/>
          <p:cNvSpPr/>
          <p:nvPr/>
        </p:nvSpPr>
        <p:spPr>
          <a:xfrm>
            <a:off x="6231636" y="3291840"/>
            <a:ext cx="5116068" cy="2697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414516" y="3474720"/>
            <a:ext cx="457200" cy="4572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LuClipboardList_w.png"/>
          <p:cNvPicPr>
            <a:picLocks noChangeAspect="1"/>
          </p:cNvPicPr>
          <p:nvPr/>
        </p:nvPicPr>
        <p:blipFill>
          <a:blip r:embed="rId9"/>
          <a:stretch>
            <a:fillRect/>
          </a:stretch>
        </p:blipFill>
        <p:spPr>
          <a:xfrm>
            <a:off x="6524244" y="3584448"/>
            <a:ext cx="237744" cy="237744"/>
          </a:xfrm>
          <a:prstGeom prst="rect">
            <a:avLst/>
          </a:prstGeom>
        </p:spPr>
      </p:pic>
      <p:sp>
        <p:nvSpPr>
          <p:cNvPr id="36" name="TextBox 35"/>
          <p:cNvSpPr txBox="1"/>
          <p:nvPr/>
        </p:nvSpPr>
        <p:spPr>
          <a:xfrm>
            <a:off x="6981444" y="3474720"/>
            <a:ext cx="4183379"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So schreiben Sie einen guten Rechercheauftrag</a:t>
            </a:r>
          </a:p>
        </p:txBody>
      </p:sp>
      <p:sp>
        <p:nvSpPr>
          <p:cNvPr id="37" name="TextBox 36"/>
          <p:cNvSpPr txBox="1"/>
          <p:nvPr/>
        </p:nvSpPr>
        <p:spPr>
          <a:xfrm>
            <a:off x="6414516" y="4041648"/>
            <a:ext cx="4750307" cy="1837944"/>
          </a:xfrm>
          <a:prstGeom prst="rect">
            <a:avLst/>
          </a:prstGeom>
          <a:noFill/>
        </p:spPr>
        <p:txBody>
          <a:bodyPr wrap="square" lIns="0" rIns="0" tIns="0" bIns="0" anchor="t"/>
          <a:lstStyle/>
          <a:p>
            <a:pPr algn="l" marL="164592" indent="-164592">
              <a:spcAft>
                <a:spcPts val="400"/>
              </a:spcAft>
              <a:buClr>
                <a:srgbClr val="FB2762"/>
              </a:buClr>
              <a:buFont typeface="Arial"/>
              <a:buChar char="•"/>
            </a:pPr>
            <a:r>
              <a:rPr sz="1350" b="0" i="0">
                <a:solidFill>
                  <a:srgbClr val="0E1F53"/>
                </a:solidFill>
                <a:latin typeface="Roboto"/>
              </a:rPr>
              <a:t>Ziel: Wofür brauchen Sie das Ergebnis?</a:t>
            </a:r>
          </a:p>
          <a:p>
            <a:pPr algn="l" marL="164592" indent="-164592">
              <a:spcAft>
                <a:spcPts val="400"/>
              </a:spcAft>
              <a:buClr>
                <a:srgbClr val="FB2762"/>
              </a:buClr>
              <a:buFont typeface="Arial"/>
              <a:buChar char="•"/>
            </a:pPr>
            <a:r>
              <a:rPr sz="1350" b="0" i="0">
                <a:solidFill>
                  <a:srgbClr val="0E1F53"/>
                </a:solidFill>
                <a:latin typeface="Roboto"/>
              </a:rPr>
              <a:t>Umfang: Region, Zeitraum, Zielgruppe</a:t>
            </a:r>
          </a:p>
          <a:p>
            <a:pPr algn="l" marL="164592" indent="-164592">
              <a:spcAft>
                <a:spcPts val="400"/>
              </a:spcAft>
              <a:buClr>
                <a:srgbClr val="FB2762"/>
              </a:buClr>
              <a:buFont typeface="Arial"/>
              <a:buChar char="•"/>
            </a:pPr>
            <a:r>
              <a:rPr sz="1350" b="0" i="0">
                <a:solidFill>
                  <a:srgbClr val="0E1F53"/>
                </a:solidFill>
                <a:latin typeface="Roboto"/>
              </a:rPr>
              <a:t>Quellen: bevorzugte und ausgeschlossene</a:t>
            </a:r>
          </a:p>
          <a:p>
            <a:pPr algn="l" marL="164592" indent="-164592">
              <a:spcAft>
                <a:spcPts val="400"/>
              </a:spcAft>
              <a:buClr>
                <a:srgbClr val="FB2762"/>
              </a:buClr>
              <a:buFont typeface="Arial"/>
              <a:buChar char="•"/>
            </a:pPr>
            <a:r>
              <a:rPr sz="1350" b="0" i="0">
                <a:solidFill>
                  <a:srgbClr val="0E1F53"/>
                </a:solidFill>
                <a:latin typeface="Roboto"/>
              </a:rPr>
              <a:t>Format: Gliederung, Tabelle, Länge</a:t>
            </a:r>
          </a:p>
          <a:p>
            <a:pPr algn="l" marL="164592" indent="-164592">
              <a:spcAft>
                <a:spcPts val="400"/>
              </a:spcAft>
              <a:buClr>
                <a:srgbClr val="FB2762"/>
              </a:buClr>
              <a:buFont typeface="Arial"/>
              <a:buChar char="•"/>
            </a:pPr>
            <a:r>
              <a:rPr sz="1350" b="0" i="0">
                <a:solidFill>
                  <a:srgbClr val="0E1F53"/>
                </a:solidFill>
                <a:latin typeface="Roboto"/>
              </a:rPr>
              <a:t>Prüfen: Quellen stichprobenartig öffnen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Skills: Know-how als Datei, die jeder Agent nutzen kann</a:t>
            </a:r>
          </a:p>
        </p:txBody>
      </p:sp>
      <p:sp>
        <p:nvSpPr>
          <p:cNvPr id="3" name="Rounded Rectangle 2"/>
          <p:cNvSpPr/>
          <p:nvPr/>
        </p:nvSpPr>
        <p:spPr>
          <a:xfrm>
            <a:off x="841248" y="850392"/>
            <a:ext cx="779068"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SKILLS</a:t>
            </a:r>
          </a:p>
        </p:txBody>
      </p:sp>
      <p:sp>
        <p:nvSpPr>
          <p:cNvPr id="4" name="Rounded Rectangle 3"/>
          <p:cNvSpPr/>
          <p:nvPr/>
        </p:nvSpPr>
        <p:spPr>
          <a:xfrm>
            <a:off x="841248" y="2011680"/>
            <a:ext cx="4846320" cy="3977639"/>
          </a:xfrm>
          <a:prstGeom prst="roundRect">
            <a:avLst>
              <a:gd name="adj" fmla="val 3000"/>
            </a:avLst>
          </a:prstGeom>
          <a:solidFill>
            <a:srgbClr val="0B1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78408" y="2130552"/>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1288" y="2130552"/>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344168" y="2130552"/>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618488" y="2039112"/>
            <a:ext cx="3931920" cy="292608"/>
          </a:xfrm>
          <a:prstGeom prst="rect">
            <a:avLst/>
          </a:prstGeom>
          <a:noFill/>
        </p:spPr>
        <p:txBody>
          <a:bodyPr wrap="square" lIns="0" rIns="0" tIns="0" bIns="0" anchor="ctr"/>
          <a:lstStyle/>
          <a:p>
            <a:pPr algn="l">
              <a:spcAft>
                <a:spcPts val="400"/>
              </a:spcAft>
              <a:buNone/>
            </a:pPr>
            <a:r>
              <a:rPr sz="1050" b="1" i="0">
                <a:solidFill>
                  <a:srgbClr val="9FB2D9"/>
                </a:solidFill>
                <a:latin typeface="Roboto"/>
              </a:rPr>
              <a:t>interview-leitfaden/SKILL.md</a:t>
            </a:r>
          </a:p>
        </p:txBody>
      </p:sp>
      <p:sp>
        <p:nvSpPr>
          <p:cNvPr id="9" name="TextBox 8"/>
          <p:cNvSpPr txBox="1"/>
          <p:nvPr/>
        </p:nvSpPr>
        <p:spPr>
          <a:xfrm>
            <a:off x="1069848" y="2468880"/>
            <a:ext cx="4434840" cy="3428999"/>
          </a:xfrm>
          <a:prstGeom prst="rect">
            <a:avLst/>
          </a:prstGeom>
          <a:noFill/>
        </p:spPr>
        <p:txBody>
          <a:bodyPr wrap="square" lIns="0" rIns="0" tIns="0" bIns="0" anchor="t"/>
          <a:lstStyle/>
          <a:p>
            <a:pPr algn="l">
              <a:spcAft>
                <a:spcPts val="150"/>
              </a:spcAft>
              <a:buNone/>
            </a:pPr>
            <a:r>
              <a:rPr sz="1100" b="0" i="0">
                <a:solidFill>
                  <a:srgbClr val="6E7FA8"/>
                </a:solidFill>
                <a:latin typeface="Roboto Mono"/>
              </a:rPr>
              <a:t>---</a:t>
            </a:r>
          </a:p>
          <a:p>
            <a:pPr algn="l">
              <a:spcAft>
                <a:spcPts val="150"/>
              </a:spcAft>
              <a:buNone/>
            </a:pPr>
            <a:r>
              <a:rPr sz="1100" b="0" i="0">
                <a:solidFill>
                  <a:srgbClr val="7FE0A7"/>
                </a:solidFill>
                <a:latin typeface="Roboto Mono"/>
              </a:rPr>
              <a:t>name: interview-leitfaden</a:t>
            </a:r>
          </a:p>
          <a:p>
            <a:pPr algn="l">
              <a:spcAft>
                <a:spcPts val="150"/>
              </a:spcAft>
              <a:buNone/>
            </a:pPr>
            <a:r>
              <a:rPr sz="1100" b="0" i="0">
                <a:solidFill>
                  <a:srgbClr val="7FE0A7"/>
                </a:solidFill>
                <a:latin typeface="Roboto Mono"/>
              </a:rPr>
              <a:t>description: Erstellt Interview-</a:t>
            </a:r>
          </a:p>
          <a:p>
            <a:pPr algn="l">
              <a:spcAft>
                <a:spcPts val="150"/>
              </a:spcAft>
              <a:buNone/>
            </a:pPr>
            <a:r>
              <a:rPr sz="1100" b="0" i="0">
                <a:solidFill>
                  <a:srgbClr val="7FE0A7"/>
                </a:solidFill>
                <a:latin typeface="Roboto Mono"/>
              </a:rPr>
              <a:t>  leitfäden für Kundengespräche.</a:t>
            </a:r>
          </a:p>
          <a:p>
            <a:pPr algn="l">
              <a:spcAft>
                <a:spcPts val="150"/>
              </a:spcAft>
              <a:buNone/>
            </a:pPr>
            <a:r>
              <a:rPr sz="1100" b="0" i="0">
                <a:solidFill>
                  <a:srgbClr val="7FE0A7"/>
                </a:solidFill>
                <a:latin typeface="Roboto Mono"/>
              </a:rPr>
              <a:t>  Nutzen, wenn Interviews geplant</a:t>
            </a:r>
          </a:p>
          <a:p>
            <a:pPr algn="l">
              <a:spcAft>
                <a:spcPts val="150"/>
              </a:spcAft>
              <a:buNone/>
            </a:pPr>
            <a:r>
              <a:rPr sz="1100" b="0" i="0">
                <a:solidFill>
                  <a:srgbClr val="7FE0A7"/>
                </a:solidFill>
                <a:latin typeface="Roboto Mono"/>
              </a:rPr>
              <a:t>  werden.</a:t>
            </a:r>
          </a:p>
          <a:p>
            <a:pPr algn="l">
              <a:spcAft>
                <a:spcPts val="150"/>
              </a:spcAft>
              <a:buNone/>
            </a:pPr>
            <a:r>
              <a:rPr sz="1100" b="0" i="0">
                <a:solidFill>
                  <a:srgbClr val="6E7FA8"/>
                </a:solidFill>
                <a:latin typeface="Roboto Mono"/>
              </a:rPr>
              <a:t>---</a:t>
            </a:r>
          </a:p>
          <a:p>
            <a:pPr algn="l">
              <a:spcAft>
                <a:spcPts val="150"/>
              </a:spcAft>
              <a:buNone/>
            </a:pPr>
            <a:r>
              <a:rPr sz="1100" b="0" i="0">
                <a:solidFill>
                  <a:srgbClr val="FFFFFF"/>
                </a:solidFill>
                <a:latin typeface="Roboto Mono"/>
              </a:rPr>
              <a:t># Interviewleitfaden erstellen</a:t>
            </a:r>
          </a:p>
          <a:p>
            <a:pPr algn="l">
              <a:spcAft>
                <a:spcPts val="150"/>
              </a:spcAft>
              <a:buNone/>
            </a:pPr>
            <a:r>
              <a:rPr sz="1100" b="0" i="0">
                <a:solidFill>
                  <a:srgbClr val="C9D6EE"/>
                </a:solidFill>
                <a:latin typeface="Roboto Mono"/>
              </a:rPr>
              <a:t>1. Ziel des Interviews klären</a:t>
            </a:r>
          </a:p>
          <a:p>
            <a:pPr algn="l">
              <a:spcAft>
                <a:spcPts val="150"/>
              </a:spcAft>
              <a:buNone/>
            </a:pPr>
            <a:r>
              <a:rPr sz="1100" b="0" i="0">
                <a:solidFill>
                  <a:srgbClr val="C9D6EE"/>
                </a:solidFill>
                <a:latin typeface="Roboto Mono"/>
              </a:rPr>
              <a:t>2. Einstieg: offene Warm-up-Frage</a:t>
            </a:r>
          </a:p>
          <a:p>
            <a:pPr algn="l">
              <a:spcAft>
                <a:spcPts val="150"/>
              </a:spcAft>
              <a:buNone/>
            </a:pPr>
            <a:r>
              <a:rPr sz="1100" b="0" i="0">
                <a:solidFill>
                  <a:srgbClr val="C9D6EE"/>
                </a:solidFill>
                <a:latin typeface="Roboto Mono"/>
              </a:rPr>
              <a:t>3. 8–12 offene W-Fragen, keine</a:t>
            </a:r>
          </a:p>
          <a:p>
            <a:pPr algn="l">
              <a:spcAft>
                <a:spcPts val="150"/>
              </a:spcAft>
              <a:buNone/>
            </a:pPr>
            <a:r>
              <a:rPr sz="1100" b="0" i="0">
                <a:solidFill>
                  <a:srgbClr val="C9D6EE"/>
                </a:solidFill>
                <a:latin typeface="Roboto Mono"/>
              </a:rPr>
              <a:t>   Suggestivfragen</a:t>
            </a:r>
          </a:p>
          <a:p>
            <a:pPr algn="l">
              <a:spcAft>
                <a:spcPts val="150"/>
              </a:spcAft>
              <a:buNone/>
            </a:pPr>
            <a:r>
              <a:rPr sz="1100" b="0" i="0">
                <a:solidFill>
                  <a:srgbClr val="C9D6EE"/>
                </a:solidFill>
                <a:latin typeface="Roboto Mono"/>
              </a:rPr>
              <a:t>4. Nachfragen: „Erzählen Sie mehr …“</a:t>
            </a:r>
          </a:p>
          <a:p>
            <a:pPr algn="l">
              <a:spcAft>
                <a:spcPts val="150"/>
              </a:spcAft>
              <a:buNone/>
            </a:pPr>
            <a:r>
              <a:rPr sz="1100" b="0" i="0">
                <a:solidFill>
                  <a:srgbClr val="FFC56B"/>
                </a:solidFill>
                <a:latin typeface="Roboto Mono"/>
              </a:rPr>
              <a:t>Vorlage: references/vorlage.docx</a:t>
            </a:r>
          </a:p>
        </p:txBody>
      </p:sp>
      <p:sp>
        <p:nvSpPr>
          <p:cNvPr id="10" name="TextBox 9"/>
          <p:cNvSpPr txBox="1"/>
          <p:nvPr/>
        </p:nvSpPr>
        <p:spPr>
          <a:xfrm>
            <a:off x="5961888" y="2011680"/>
            <a:ext cx="5385816" cy="365760"/>
          </a:xfrm>
          <a:prstGeom prst="rect">
            <a:avLst/>
          </a:prstGeom>
          <a:noFill/>
        </p:spPr>
        <p:txBody>
          <a:bodyPr wrap="square" lIns="0" rIns="0" tIns="0" bIns="0" anchor="t"/>
          <a:lstStyle/>
          <a:p>
            <a:pPr algn="l">
              <a:spcAft>
                <a:spcPts val="400"/>
              </a:spcAft>
              <a:buNone/>
            </a:pPr>
            <a:r>
              <a:rPr sz="1500" b="1" i="0">
                <a:solidFill>
                  <a:srgbClr val="0E1F53"/>
                </a:solidFill>
                <a:latin typeface="Roboto"/>
              </a:rPr>
              <a:t>Aufbau eines Skill-Ordners</a:t>
            </a:r>
          </a:p>
        </p:txBody>
      </p:sp>
      <p:pic>
        <p:nvPicPr>
          <p:cNvPr id="11" name="Picture 10" descr="LuFolder_n.png"/>
          <p:cNvPicPr>
            <a:picLocks noChangeAspect="1"/>
          </p:cNvPicPr>
          <p:nvPr/>
        </p:nvPicPr>
        <p:blipFill>
          <a:blip r:embed="rId3"/>
          <a:stretch>
            <a:fillRect/>
          </a:stretch>
        </p:blipFill>
        <p:spPr>
          <a:xfrm>
            <a:off x="5961888" y="2505456"/>
            <a:ext cx="256032" cy="256032"/>
          </a:xfrm>
          <a:prstGeom prst="rect">
            <a:avLst/>
          </a:prstGeom>
        </p:spPr>
      </p:pic>
      <p:sp>
        <p:nvSpPr>
          <p:cNvPr id="12" name="TextBox 11"/>
          <p:cNvSpPr txBox="1"/>
          <p:nvPr/>
        </p:nvSpPr>
        <p:spPr>
          <a:xfrm>
            <a:off x="6327648" y="2468880"/>
            <a:ext cx="5486400" cy="329184"/>
          </a:xfrm>
          <a:prstGeom prst="rect">
            <a:avLst/>
          </a:prstGeom>
          <a:noFill/>
        </p:spPr>
        <p:txBody>
          <a:bodyPr wrap="square" lIns="0" rIns="0" tIns="0" bIns="0" anchor="ctr"/>
          <a:lstStyle/>
          <a:p>
            <a:pPr algn="l">
              <a:spcAft>
                <a:spcPts val="400"/>
              </a:spcAft>
              <a:buNone/>
            </a:pPr>
            <a:r>
              <a:rPr sz="1300" b="1" i="0">
                <a:solidFill>
                  <a:srgbClr val="0E1F53"/>
                </a:solidFill>
                <a:latin typeface="Roboto"/>
              </a:rPr>
              <a:t>interview-leitfaden/</a:t>
            </a:r>
          </a:p>
        </p:txBody>
      </p:sp>
      <p:pic>
        <p:nvPicPr>
          <p:cNvPr id="13" name="Picture 12" descr="LuFileCode_n.png"/>
          <p:cNvPicPr>
            <a:picLocks noChangeAspect="1"/>
          </p:cNvPicPr>
          <p:nvPr/>
        </p:nvPicPr>
        <p:blipFill>
          <a:blip r:embed="rId4"/>
          <a:stretch>
            <a:fillRect/>
          </a:stretch>
        </p:blipFill>
        <p:spPr>
          <a:xfrm>
            <a:off x="6327648" y="2889504"/>
            <a:ext cx="256032" cy="256032"/>
          </a:xfrm>
          <a:prstGeom prst="rect">
            <a:avLst/>
          </a:prstGeom>
        </p:spPr>
      </p:pic>
      <p:sp>
        <p:nvSpPr>
          <p:cNvPr id="14" name="TextBox 13"/>
          <p:cNvSpPr txBox="1"/>
          <p:nvPr/>
        </p:nvSpPr>
        <p:spPr>
          <a:xfrm>
            <a:off x="6693408" y="2852928"/>
            <a:ext cx="5486400" cy="329184"/>
          </a:xfrm>
          <a:prstGeom prst="rect">
            <a:avLst/>
          </a:prstGeom>
          <a:noFill/>
        </p:spPr>
        <p:txBody>
          <a:bodyPr wrap="square" lIns="0" rIns="0" tIns="0" bIns="0" anchor="ctr"/>
          <a:lstStyle/>
          <a:p>
            <a:pPr algn="l">
              <a:spcAft>
                <a:spcPts val="400"/>
              </a:spcAft>
              <a:buNone/>
            </a:pPr>
            <a:r>
              <a:rPr sz="1300" b="0" i="0">
                <a:solidFill>
                  <a:srgbClr val="0E1F53"/>
                </a:solidFill>
                <a:latin typeface="Roboto"/>
              </a:rPr>
              <a:t>SKILL.md  · Name, Beschreibung, Anleitung</a:t>
            </a:r>
          </a:p>
        </p:txBody>
      </p:sp>
      <p:pic>
        <p:nvPicPr>
          <p:cNvPr id="15" name="Picture 14" descr="LuFolder_n.png"/>
          <p:cNvPicPr>
            <a:picLocks noChangeAspect="1"/>
          </p:cNvPicPr>
          <p:nvPr/>
        </p:nvPicPr>
        <p:blipFill>
          <a:blip r:embed="rId3"/>
          <a:stretch>
            <a:fillRect/>
          </a:stretch>
        </p:blipFill>
        <p:spPr>
          <a:xfrm>
            <a:off x="6327648" y="3273552"/>
            <a:ext cx="256032" cy="256032"/>
          </a:xfrm>
          <a:prstGeom prst="rect">
            <a:avLst/>
          </a:prstGeom>
        </p:spPr>
      </p:pic>
      <p:sp>
        <p:nvSpPr>
          <p:cNvPr id="16" name="TextBox 15"/>
          <p:cNvSpPr txBox="1"/>
          <p:nvPr/>
        </p:nvSpPr>
        <p:spPr>
          <a:xfrm>
            <a:off x="6693408" y="3236976"/>
            <a:ext cx="5486400" cy="329184"/>
          </a:xfrm>
          <a:prstGeom prst="rect">
            <a:avLst/>
          </a:prstGeom>
          <a:noFill/>
        </p:spPr>
        <p:txBody>
          <a:bodyPr wrap="square" lIns="0" rIns="0" tIns="0" bIns="0" anchor="ctr"/>
          <a:lstStyle/>
          <a:p>
            <a:pPr algn="l">
              <a:spcAft>
                <a:spcPts val="400"/>
              </a:spcAft>
              <a:buNone/>
            </a:pPr>
            <a:r>
              <a:rPr sz="1300" b="0" i="0">
                <a:solidFill>
                  <a:srgbClr val="0E1F53"/>
                </a:solidFill>
                <a:latin typeface="Roboto"/>
              </a:rPr>
              <a:t>references/  · Vorlagen, Beispiele</a:t>
            </a:r>
          </a:p>
        </p:txBody>
      </p:sp>
      <p:pic>
        <p:nvPicPr>
          <p:cNvPr id="17" name="Picture 16" descr="LuFolder_n.png"/>
          <p:cNvPicPr>
            <a:picLocks noChangeAspect="1"/>
          </p:cNvPicPr>
          <p:nvPr/>
        </p:nvPicPr>
        <p:blipFill>
          <a:blip r:embed="rId3"/>
          <a:stretch>
            <a:fillRect/>
          </a:stretch>
        </p:blipFill>
        <p:spPr>
          <a:xfrm>
            <a:off x="6327648" y="3657600"/>
            <a:ext cx="256032" cy="256032"/>
          </a:xfrm>
          <a:prstGeom prst="rect">
            <a:avLst/>
          </a:prstGeom>
        </p:spPr>
      </p:pic>
      <p:sp>
        <p:nvSpPr>
          <p:cNvPr id="18" name="TextBox 17"/>
          <p:cNvSpPr txBox="1"/>
          <p:nvPr/>
        </p:nvSpPr>
        <p:spPr>
          <a:xfrm>
            <a:off x="6693408" y="3621024"/>
            <a:ext cx="5486400" cy="329184"/>
          </a:xfrm>
          <a:prstGeom prst="rect">
            <a:avLst/>
          </a:prstGeom>
          <a:noFill/>
        </p:spPr>
        <p:txBody>
          <a:bodyPr wrap="square" lIns="0" rIns="0" tIns="0" bIns="0" anchor="ctr"/>
          <a:lstStyle/>
          <a:p>
            <a:pPr algn="l">
              <a:spcAft>
                <a:spcPts val="400"/>
              </a:spcAft>
              <a:buNone/>
            </a:pPr>
            <a:r>
              <a:rPr sz="1300" b="0" i="0">
                <a:solidFill>
                  <a:srgbClr val="0E1F53"/>
                </a:solidFill>
                <a:latin typeface="Roboto"/>
              </a:rPr>
              <a:t>scripts/  · optionale Skripte</a:t>
            </a:r>
          </a:p>
        </p:txBody>
      </p:sp>
      <p:sp>
        <p:nvSpPr>
          <p:cNvPr id="19" name="Rounded Rectangle 18"/>
          <p:cNvSpPr/>
          <p:nvPr/>
        </p:nvSpPr>
        <p:spPr>
          <a:xfrm>
            <a:off x="5961888" y="4160520"/>
            <a:ext cx="5385816" cy="1828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90488" y="4251960"/>
            <a:ext cx="4928616" cy="1691640"/>
          </a:xfrm>
          <a:prstGeom prst="rect">
            <a:avLst/>
          </a:prstGeom>
          <a:noFill/>
        </p:spPr>
        <p:txBody>
          <a:bodyPr wrap="square" lIns="0" rIns="0" tIns="0" bIns="0" anchor="t"/>
          <a:lstStyle/>
          <a:p>
            <a:pPr algn="l">
              <a:spcAft>
                <a:spcPts val="600"/>
              </a:spcAft>
              <a:buNone/>
            </a:pPr>
            <a:r>
              <a:rPr sz="1500" b="1" i="0">
                <a:solidFill>
                  <a:srgbClr val="0E1F53"/>
                </a:solidFill>
                <a:latin typeface="Roboto"/>
              </a:rPr>
              <a:t>Warum Skills für KMU spannend sind</a:t>
            </a:r>
          </a:p>
          <a:p>
            <a:pPr algn="l" marL="164592" indent="-164592">
              <a:spcAft>
                <a:spcPts val="300"/>
              </a:spcAft>
              <a:buClr>
                <a:srgbClr val="FB2762"/>
              </a:buClr>
              <a:buFont typeface="Arial"/>
              <a:buChar char="•"/>
            </a:pPr>
            <a:r>
              <a:rPr sz="1300" b="0" i="0">
                <a:solidFill>
                  <a:srgbClr val="0E1F53"/>
                </a:solidFill>
                <a:latin typeface="Roboto"/>
              </a:rPr>
              <a:t>Einmal schreiben, in jedem Agenten nutzen</a:t>
            </a:r>
          </a:p>
          <a:p>
            <a:pPr algn="l" marL="164592" indent="-164592">
              <a:spcAft>
                <a:spcPts val="300"/>
              </a:spcAft>
              <a:buClr>
                <a:srgbClr val="FB2762"/>
              </a:buClr>
              <a:buFont typeface="Arial"/>
              <a:buChar char="•"/>
            </a:pPr>
            <a:r>
              <a:rPr sz="1300" b="0" i="0">
                <a:solidFill>
                  <a:srgbClr val="0E1F53"/>
                </a:solidFill>
                <a:latin typeface="Roboto"/>
              </a:rPr>
              <a:t>Offener Standard: funktioniert werkzeugübergreifend</a:t>
            </a:r>
          </a:p>
          <a:p>
            <a:pPr algn="l" marL="164592" indent="-164592">
              <a:spcAft>
                <a:spcPts val="300"/>
              </a:spcAft>
              <a:buClr>
                <a:srgbClr val="FB2762"/>
              </a:buClr>
              <a:buFont typeface="Arial"/>
              <a:buChar char="•"/>
            </a:pPr>
            <a:r>
              <a:rPr sz="1300" b="0" i="0">
                <a:solidFill>
                  <a:srgbClr val="0E1F53"/>
                </a:solidFill>
                <a:latin typeface="Roboto"/>
              </a:rPr>
              <a:t>Firmenwissen bleibt in Ihren Dateien, nicht im Kopf</a:t>
            </a:r>
          </a:p>
          <a:p>
            <a:pPr algn="l" marL="164592" indent="-164592">
              <a:spcAft>
                <a:spcPts val="300"/>
              </a:spcAft>
              <a:buClr>
                <a:srgbClr val="FB2762"/>
              </a:buClr>
              <a:buFont typeface="Arial"/>
              <a:buChar char="•"/>
            </a:pPr>
            <a:r>
              <a:rPr sz="1300" b="0" i="0">
                <a:solidFill>
                  <a:srgbClr val="0E1F53"/>
                </a:solidFill>
                <a:latin typeface="Roboto"/>
              </a:rPr>
              <a:t>Fertige Skills frei auf GitHub verfügbar</a:t>
            </a:r>
          </a:p>
        </p:txBody>
      </p:sp>
      <p:sp>
        <p:nvSpPr>
          <p:cNvPr id="21" name="TextBox 20"/>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Agent Skills Spezifikation: agentskills.io · Beispiel-Skills: github.com/anthropics/skills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Fertige Skills auf GitHub: wo Sie suchen können</a:t>
            </a:r>
          </a:p>
        </p:txBody>
      </p:sp>
      <p:sp>
        <p:nvSpPr>
          <p:cNvPr id="3" name="Rounded Rectangle 2"/>
          <p:cNvSpPr/>
          <p:nvPr/>
        </p:nvSpPr>
        <p:spPr>
          <a:xfrm>
            <a:off x="841248" y="850392"/>
            <a:ext cx="779068"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SKILLS</a:t>
            </a:r>
          </a:p>
        </p:txBody>
      </p:sp>
      <p:sp>
        <p:nvSpPr>
          <p:cNvPr id="4" name="Rounded Rectangle 3"/>
          <p:cNvSpPr/>
          <p:nvPr/>
        </p:nvSpPr>
        <p:spPr>
          <a:xfrm>
            <a:off x="841248" y="2011680"/>
            <a:ext cx="10506456" cy="8686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LuGithub_n.png"/>
          <p:cNvPicPr>
            <a:picLocks noChangeAspect="1"/>
          </p:cNvPicPr>
          <p:nvPr/>
        </p:nvPicPr>
        <p:blipFill>
          <a:blip r:embed="rId3"/>
          <a:stretch>
            <a:fillRect/>
          </a:stretch>
        </p:blipFill>
        <p:spPr>
          <a:xfrm>
            <a:off x="1042416" y="2240280"/>
            <a:ext cx="411480" cy="411480"/>
          </a:xfrm>
          <a:prstGeom prst="rect">
            <a:avLst/>
          </a:prstGeom>
        </p:spPr>
      </p:pic>
      <p:sp>
        <p:nvSpPr>
          <p:cNvPr id="6" name="TextBox 5"/>
          <p:cNvSpPr txBox="1"/>
          <p:nvPr/>
        </p:nvSpPr>
        <p:spPr>
          <a:xfrm>
            <a:off x="1618488" y="2084832"/>
            <a:ext cx="4023360" cy="731520"/>
          </a:xfrm>
          <a:prstGeom prst="rect">
            <a:avLst/>
          </a:prstGeom>
          <a:noFill/>
        </p:spPr>
        <p:txBody>
          <a:bodyPr wrap="square" lIns="0" rIns="0" tIns="0" bIns="0" anchor="ctr"/>
          <a:lstStyle/>
          <a:p>
            <a:pPr algn="l">
              <a:spcAft>
                <a:spcPts val="0"/>
              </a:spcAft>
              <a:buNone/>
            </a:pPr>
            <a:r>
              <a:rPr sz="1350" b="1" i="0">
                <a:solidFill>
                  <a:srgbClr val="0E1F53"/>
                </a:solidFill>
                <a:latin typeface="Roboto"/>
              </a:rPr>
              <a:t>github.com/anthropics/skills</a:t>
            </a:r>
          </a:p>
          <a:p>
            <a:pPr algn="l">
              <a:spcAft>
                <a:spcPts val="0"/>
              </a:spcAft>
              <a:buNone/>
            </a:pPr>
            <a:r>
              <a:rPr sz="1150" b="0" i="0">
                <a:solidFill>
                  <a:srgbClr val="5A6684"/>
                </a:solidFill>
                <a:latin typeface="Roboto"/>
              </a:rPr>
              <a:t>Offizielle Beispiel-Skills von Anthropic</a:t>
            </a:r>
          </a:p>
        </p:txBody>
      </p:sp>
      <p:sp>
        <p:nvSpPr>
          <p:cNvPr id="7" name="Rounded Rectangle 6"/>
          <p:cNvSpPr/>
          <p:nvPr/>
        </p:nvSpPr>
        <p:spPr>
          <a:xfrm>
            <a:off x="5733288" y="2295144"/>
            <a:ext cx="470708"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50" b="1" i="0">
                <a:solidFill>
                  <a:srgbClr val="0E1F53"/>
                </a:solidFill>
                <a:latin typeface="Roboto"/>
              </a:rPr>
              <a:t>pdf</a:t>
            </a:r>
          </a:p>
        </p:txBody>
      </p:sp>
      <p:sp>
        <p:nvSpPr>
          <p:cNvPr id="8" name="Rounded Rectangle 7"/>
          <p:cNvSpPr/>
          <p:nvPr/>
        </p:nvSpPr>
        <p:spPr>
          <a:xfrm>
            <a:off x="6295436" y="2295144"/>
            <a:ext cx="53617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50" b="1" i="0">
                <a:solidFill>
                  <a:srgbClr val="0E1F53"/>
                </a:solidFill>
                <a:latin typeface="Roboto"/>
              </a:rPr>
              <a:t>docx</a:t>
            </a:r>
          </a:p>
        </p:txBody>
      </p:sp>
      <p:sp>
        <p:nvSpPr>
          <p:cNvPr id="9" name="Rounded Rectangle 8"/>
          <p:cNvSpPr/>
          <p:nvPr/>
        </p:nvSpPr>
        <p:spPr>
          <a:xfrm>
            <a:off x="6923047" y="2295144"/>
            <a:ext cx="53617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50" b="1" i="0">
                <a:solidFill>
                  <a:srgbClr val="0E1F53"/>
                </a:solidFill>
                <a:latin typeface="Roboto"/>
              </a:rPr>
              <a:t>xlsx</a:t>
            </a:r>
          </a:p>
        </p:txBody>
      </p:sp>
      <p:sp>
        <p:nvSpPr>
          <p:cNvPr id="10" name="Rounded Rectangle 9"/>
          <p:cNvSpPr/>
          <p:nvPr/>
        </p:nvSpPr>
        <p:spPr>
          <a:xfrm>
            <a:off x="7550658" y="2295144"/>
            <a:ext cx="53617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50" b="1" i="0">
                <a:solidFill>
                  <a:srgbClr val="0E1F53"/>
                </a:solidFill>
                <a:latin typeface="Roboto"/>
              </a:rPr>
              <a:t>pptx</a:t>
            </a:r>
          </a:p>
        </p:txBody>
      </p:sp>
      <p:sp>
        <p:nvSpPr>
          <p:cNvPr id="11" name="Rounded Rectangle 10"/>
          <p:cNvSpPr/>
          <p:nvPr/>
        </p:nvSpPr>
        <p:spPr>
          <a:xfrm>
            <a:off x="8178268" y="2295144"/>
            <a:ext cx="125626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50" b="1" i="0">
                <a:solidFill>
                  <a:srgbClr val="0E1F53"/>
                </a:solidFill>
                <a:latin typeface="Roboto"/>
              </a:rPr>
              <a:t>frontend-design</a:t>
            </a:r>
          </a:p>
        </p:txBody>
      </p:sp>
      <p:sp>
        <p:nvSpPr>
          <p:cNvPr id="12" name="Rounded Rectangle 11"/>
          <p:cNvSpPr/>
          <p:nvPr/>
        </p:nvSpPr>
        <p:spPr>
          <a:xfrm>
            <a:off x="9525969" y="2295144"/>
            <a:ext cx="1125335"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50" b="1" i="0">
                <a:solidFill>
                  <a:srgbClr val="0E1F53"/>
                </a:solidFill>
                <a:latin typeface="Roboto"/>
              </a:rPr>
              <a:t>canvas-design</a:t>
            </a:r>
          </a:p>
        </p:txBody>
      </p:sp>
      <p:sp>
        <p:nvSpPr>
          <p:cNvPr id="13" name="Rounded Rectangle 12"/>
          <p:cNvSpPr/>
          <p:nvPr/>
        </p:nvSpPr>
        <p:spPr>
          <a:xfrm>
            <a:off x="841248" y="3017520"/>
            <a:ext cx="10506456" cy="8686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LuGithub_p.png"/>
          <p:cNvPicPr>
            <a:picLocks noChangeAspect="1"/>
          </p:cNvPicPr>
          <p:nvPr/>
        </p:nvPicPr>
        <p:blipFill>
          <a:blip r:embed="rId4"/>
          <a:stretch>
            <a:fillRect/>
          </a:stretch>
        </p:blipFill>
        <p:spPr>
          <a:xfrm>
            <a:off x="1042416" y="3246120"/>
            <a:ext cx="411480" cy="411480"/>
          </a:xfrm>
          <a:prstGeom prst="rect">
            <a:avLst/>
          </a:prstGeom>
        </p:spPr>
      </p:pic>
      <p:sp>
        <p:nvSpPr>
          <p:cNvPr id="15" name="TextBox 14"/>
          <p:cNvSpPr txBox="1"/>
          <p:nvPr/>
        </p:nvSpPr>
        <p:spPr>
          <a:xfrm>
            <a:off x="1618488" y="3090672"/>
            <a:ext cx="4023360" cy="731520"/>
          </a:xfrm>
          <a:prstGeom prst="rect">
            <a:avLst/>
          </a:prstGeom>
          <a:noFill/>
        </p:spPr>
        <p:txBody>
          <a:bodyPr wrap="square" lIns="0" rIns="0" tIns="0" bIns="0" anchor="ctr"/>
          <a:lstStyle/>
          <a:p>
            <a:pPr algn="l">
              <a:spcAft>
                <a:spcPts val="0"/>
              </a:spcAft>
              <a:buNone/>
            </a:pPr>
            <a:r>
              <a:rPr sz="1350" b="1" i="0">
                <a:solidFill>
                  <a:srgbClr val="0E1F53"/>
                </a:solidFill>
                <a:latin typeface="Roboto"/>
              </a:rPr>
              <a:t>github.com/deanpeters/Product-Manager-Skills</a:t>
            </a:r>
          </a:p>
          <a:p>
            <a:pPr algn="l">
              <a:spcAft>
                <a:spcPts val="0"/>
              </a:spcAft>
              <a:buNone/>
            </a:pPr>
            <a:r>
              <a:rPr sz="1150" b="0" i="0">
                <a:solidFill>
                  <a:srgbClr val="5A6684"/>
                </a:solidFill>
                <a:latin typeface="Roboto"/>
              </a:rPr>
              <a:t>Produktmanagement und Discovery</a:t>
            </a:r>
          </a:p>
        </p:txBody>
      </p:sp>
      <p:sp>
        <p:nvSpPr>
          <p:cNvPr id="16" name="Rounded Rectangle 15"/>
          <p:cNvSpPr/>
          <p:nvPr/>
        </p:nvSpPr>
        <p:spPr>
          <a:xfrm>
            <a:off x="5733288" y="3300984"/>
            <a:ext cx="1714500"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50" b="1" i="0">
                <a:solidFill>
                  <a:srgbClr val="0E1F53"/>
                </a:solidFill>
                <a:latin typeface="Roboto"/>
              </a:rPr>
              <a:t>problem-framing-canvas</a:t>
            </a:r>
          </a:p>
        </p:txBody>
      </p:sp>
      <p:sp>
        <p:nvSpPr>
          <p:cNvPr id="17" name="Rounded Rectangle 16"/>
          <p:cNvSpPr/>
          <p:nvPr/>
        </p:nvSpPr>
        <p:spPr>
          <a:xfrm>
            <a:off x="7539227" y="3300984"/>
            <a:ext cx="1845425"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50" b="1" i="0">
                <a:solidFill>
                  <a:srgbClr val="0E1F53"/>
                </a:solidFill>
                <a:latin typeface="Roboto"/>
              </a:rPr>
              <a:t>discovery-interview-prep</a:t>
            </a:r>
          </a:p>
        </p:txBody>
      </p:sp>
      <p:sp>
        <p:nvSpPr>
          <p:cNvPr id="18" name="Rounded Rectangle 17"/>
          <p:cNvSpPr/>
          <p:nvPr/>
        </p:nvSpPr>
        <p:spPr>
          <a:xfrm>
            <a:off x="9476093" y="3300984"/>
            <a:ext cx="1125335"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50" b="1" i="0">
                <a:solidFill>
                  <a:srgbClr val="0E1F53"/>
                </a:solidFill>
                <a:latin typeface="Roboto"/>
              </a:rPr>
              <a:t>proto-persona</a:t>
            </a:r>
          </a:p>
        </p:txBody>
      </p:sp>
      <p:sp>
        <p:nvSpPr>
          <p:cNvPr id="19" name="Rounded Rectangle 18"/>
          <p:cNvSpPr/>
          <p:nvPr/>
        </p:nvSpPr>
        <p:spPr>
          <a:xfrm>
            <a:off x="841248" y="4023360"/>
            <a:ext cx="10506456" cy="8686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Github_n.png"/>
          <p:cNvPicPr>
            <a:picLocks noChangeAspect="1"/>
          </p:cNvPicPr>
          <p:nvPr/>
        </p:nvPicPr>
        <p:blipFill>
          <a:blip r:embed="rId3"/>
          <a:stretch>
            <a:fillRect/>
          </a:stretch>
        </p:blipFill>
        <p:spPr>
          <a:xfrm>
            <a:off x="1042416" y="4251960"/>
            <a:ext cx="411480" cy="411480"/>
          </a:xfrm>
          <a:prstGeom prst="rect">
            <a:avLst/>
          </a:prstGeom>
        </p:spPr>
      </p:pic>
      <p:sp>
        <p:nvSpPr>
          <p:cNvPr id="21" name="TextBox 20"/>
          <p:cNvSpPr txBox="1"/>
          <p:nvPr/>
        </p:nvSpPr>
        <p:spPr>
          <a:xfrm>
            <a:off x="1618488" y="4096512"/>
            <a:ext cx="4023360" cy="731520"/>
          </a:xfrm>
          <a:prstGeom prst="rect">
            <a:avLst/>
          </a:prstGeom>
          <a:noFill/>
        </p:spPr>
        <p:txBody>
          <a:bodyPr wrap="square" lIns="0" rIns="0" tIns="0" bIns="0" anchor="ctr"/>
          <a:lstStyle/>
          <a:p>
            <a:pPr algn="l">
              <a:spcAft>
                <a:spcPts val="0"/>
              </a:spcAft>
              <a:buNone/>
            </a:pPr>
            <a:r>
              <a:rPr sz="1350" b="1" i="0">
                <a:solidFill>
                  <a:srgbClr val="0E1F53"/>
                </a:solidFill>
                <a:latin typeface="Roboto"/>
              </a:rPr>
              <a:t>github.com/product-on-purpose/pm-skills</a:t>
            </a:r>
          </a:p>
          <a:p>
            <a:pPr algn="l">
              <a:spcAft>
                <a:spcPts val="0"/>
              </a:spcAft>
              <a:buNone/>
            </a:pPr>
            <a:r>
              <a:rPr sz="1150" b="0" i="0">
                <a:solidFill>
                  <a:srgbClr val="5A6684"/>
                </a:solidFill>
                <a:latin typeface="Roboto"/>
              </a:rPr>
              <a:t>Skills entlang des Innovationsprozesses, Apache 2.0</a:t>
            </a:r>
          </a:p>
        </p:txBody>
      </p:sp>
      <p:sp>
        <p:nvSpPr>
          <p:cNvPr id="22" name="Rounded Rectangle 21"/>
          <p:cNvSpPr/>
          <p:nvPr/>
        </p:nvSpPr>
        <p:spPr>
          <a:xfrm>
            <a:off x="5733288" y="4306824"/>
            <a:ext cx="1518111"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50" b="1" i="0">
                <a:solidFill>
                  <a:srgbClr val="0E1F53"/>
                </a:solidFill>
                <a:latin typeface="Roboto"/>
              </a:rPr>
              <a:t>interview-synthesis</a:t>
            </a:r>
          </a:p>
        </p:txBody>
      </p:sp>
      <p:sp>
        <p:nvSpPr>
          <p:cNvPr id="23" name="Rounded Rectangle 22"/>
          <p:cNvSpPr/>
          <p:nvPr/>
        </p:nvSpPr>
        <p:spPr>
          <a:xfrm>
            <a:off x="7342839" y="4306824"/>
            <a:ext cx="1583574"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50" b="1" i="0">
                <a:solidFill>
                  <a:srgbClr val="0E1F53"/>
                </a:solidFill>
                <a:latin typeface="Roboto"/>
              </a:rPr>
              <a:t>design-sprint-sketch</a:t>
            </a:r>
          </a:p>
        </p:txBody>
      </p:sp>
      <p:sp>
        <p:nvSpPr>
          <p:cNvPr id="24" name="Rounded Rectangle 23"/>
          <p:cNvSpPr/>
          <p:nvPr/>
        </p:nvSpPr>
        <p:spPr>
          <a:xfrm>
            <a:off x="9017854" y="4306824"/>
            <a:ext cx="1387186"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50" b="1" i="0">
                <a:solidFill>
                  <a:srgbClr val="0E1F53"/>
                </a:solidFill>
                <a:latin typeface="Roboto"/>
              </a:rPr>
              <a:t>experiment-design</a:t>
            </a:r>
          </a:p>
        </p:txBody>
      </p:sp>
      <p:sp>
        <p:nvSpPr>
          <p:cNvPr id="25" name="Rounded Rectangle 24"/>
          <p:cNvSpPr/>
          <p:nvPr/>
        </p:nvSpPr>
        <p:spPr>
          <a:xfrm>
            <a:off x="841248" y="5029200"/>
            <a:ext cx="10506456" cy="8686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Github_n.png"/>
          <p:cNvPicPr>
            <a:picLocks noChangeAspect="1"/>
          </p:cNvPicPr>
          <p:nvPr/>
        </p:nvPicPr>
        <p:blipFill>
          <a:blip r:embed="rId3"/>
          <a:stretch>
            <a:fillRect/>
          </a:stretch>
        </p:blipFill>
        <p:spPr>
          <a:xfrm>
            <a:off x="1042416" y="5257800"/>
            <a:ext cx="411480" cy="411480"/>
          </a:xfrm>
          <a:prstGeom prst="rect">
            <a:avLst/>
          </a:prstGeom>
        </p:spPr>
      </p:pic>
      <p:sp>
        <p:nvSpPr>
          <p:cNvPr id="27" name="TextBox 26"/>
          <p:cNvSpPr txBox="1"/>
          <p:nvPr/>
        </p:nvSpPr>
        <p:spPr>
          <a:xfrm>
            <a:off x="1618488" y="5102352"/>
            <a:ext cx="4023360" cy="731520"/>
          </a:xfrm>
          <a:prstGeom prst="rect">
            <a:avLst/>
          </a:prstGeom>
          <a:noFill/>
        </p:spPr>
        <p:txBody>
          <a:bodyPr wrap="square" lIns="0" rIns="0" tIns="0" bIns="0" anchor="ctr"/>
          <a:lstStyle/>
          <a:p>
            <a:pPr algn="l">
              <a:spcAft>
                <a:spcPts val="0"/>
              </a:spcAft>
              <a:buNone/>
            </a:pPr>
            <a:r>
              <a:rPr sz="1350" b="1" i="0">
                <a:solidFill>
                  <a:srgbClr val="0E1F53"/>
                </a:solidFill>
                <a:latin typeface="Roboto"/>
              </a:rPr>
              <a:t>github.com/VoltAgent/awesome-agent-skills</a:t>
            </a:r>
          </a:p>
          <a:p>
            <a:pPr algn="l">
              <a:spcAft>
                <a:spcPts val="0"/>
              </a:spcAft>
              <a:buNone/>
            </a:pPr>
            <a:r>
              <a:rPr sz="1150" b="0" i="0">
                <a:solidFill>
                  <a:srgbClr val="5A6684"/>
                </a:solidFill>
                <a:latin typeface="Roboto"/>
              </a:rPr>
              <a:t>Kuratiertes Verzeichnis mit über 1.000 Skills</a:t>
            </a:r>
          </a:p>
        </p:txBody>
      </p:sp>
      <p:sp>
        <p:nvSpPr>
          <p:cNvPr id="28" name="Rounded Rectangle 27"/>
          <p:cNvSpPr/>
          <p:nvPr/>
        </p:nvSpPr>
        <p:spPr>
          <a:xfrm>
            <a:off x="5733288" y="5312664"/>
            <a:ext cx="1387186"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50" b="1" i="0">
                <a:solidFill>
                  <a:srgbClr val="0E1F53"/>
                </a:solidFill>
                <a:latin typeface="Roboto"/>
              </a:rPr>
              <a:t>Suche nach Themen</a:t>
            </a:r>
          </a:p>
        </p:txBody>
      </p:sp>
      <p:sp>
        <p:nvSpPr>
          <p:cNvPr id="29" name="Rounded Rectangle 28"/>
          <p:cNvSpPr/>
          <p:nvPr/>
        </p:nvSpPr>
        <p:spPr>
          <a:xfrm>
            <a:off x="7211914" y="5312664"/>
            <a:ext cx="1845425"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50" b="1" i="0">
                <a:solidFill>
                  <a:srgbClr val="0E1F53"/>
                </a:solidFill>
                <a:latin typeface="Roboto"/>
              </a:rPr>
              <a:t>Skills offizieller Teams</a:t>
            </a:r>
          </a:p>
        </p:txBody>
      </p:sp>
      <p:sp>
        <p:nvSpPr>
          <p:cNvPr id="30" name="TextBox 29"/>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Auswahl, Stand Oktober 2026 · Lizenzen je Repository prüfen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Verantwortungsvoll einsetzen: fünf Spielregeln</a:t>
            </a:r>
          </a:p>
        </p:txBody>
      </p:sp>
      <p:sp>
        <p:nvSpPr>
          <p:cNvPr id="3" name="Rounded Rectangle 2"/>
          <p:cNvSpPr/>
          <p:nvPr/>
        </p:nvSpPr>
        <p:spPr>
          <a:xfrm>
            <a:off x="841248" y="850392"/>
            <a:ext cx="779068"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RAHMEN</a:t>
            </a:r>
          </a:p>
        </p:txBody>
      </p:sp>
      <p:sp>
        <p:nvSpPr>
          <p:cNvPr id="4" name="Rounded Rectangle 3"/>
          <p:cNvSpPr/>
          <p:nvPr/>
        </p:nvSpPr>
        <p:spPr>
          <a:xfrm>
            <a:off x="841248" y="2011680"/>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78408" y="2112264"/>
            <a:ext cx="475488" cy="47548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ShieldCheck_w.png"/>
          <p:cNvPicPr>
            <a:picLocks noChangeAspect="1"/>
          </p:cNvPicPr>
          <p:nvPr/>
        </p:nvPicPr>
        <p:blipFill>
          <a:blip r:embed="rId3"/>
          <a:stretch>
            <a:fillRect/>
          </a:stretch>
        </p:blipFill>
        <p:spPr>
          <a:xfrm>
            <a:off x="1092525" y="2226381"/>
            <a:ext cx="247253" cy="247253"/>
          </a:xfrm>
          <a:prstGeom prst="rect">
            <a:avLst/>
          </a:prstGeom>
        </p:spPr>
      </p:pic>
      <p:sp>
        <p:nvSpPr>
          <p:cNvPr id="7" name="TextBox 6"/>
          <p:cNvSpPr txBox="1"/>
          <p:nvPr/>
        </p:nvSpPr>
        <p:spPr>
          <a:xfrm>
            <a:off x="1618488" y="2011680"/>
            <a:ext cx="23774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Datenschutz</a:t>
            </a:r>
          </a:p>
        </p:txBody>
      </p:sp>
      <p:sp>
        <p:nvSpPr>
          <p:cNvPr id="8" name="TextBox 7"/>
          <p:cNvSpPr txBox="1"/>
          <p:nvPr/>
        </p:nvSpPr>
        <p:spPr>
          <a:xfrm>
            <a:off x="4041648" y="2011680"/>
            <a:ext cx="71231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Keine personenbezogenen oder vertraulichen Daten in private Gratis-Konten. Business-Lizenzen mit AV-Vertrag nutzen.</a:t>
            </a:r>
          </a:p>
        </p:txBody>
      </p:sp>
      <p:sp>
        <p:nvSpPr>
          <p:cNvPr id="9" name="Rounded Rectangle 8"/>
          <p:cNvSpPr/>
          <p:nvPr/>
        </p:nvSpPr>
        <p:spPr>
          <a:xfrm>
            <a:off x="841248" y="2798064"/>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978408" y="2898648"/>
            <a:ext cx="475488" cy="47548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Search_w.png"/>
          <p:cNvPicPr>
            <a:picLocks noChangeAspect="1"/>
          </p:cNvPicPr>
          <p:nvPr/>
        </p:nvPicPr>
        <p:blipFill>
          <a:blip r:embed="rId4"/>
          <a:stretch>
            <a:fillRect/>
          </a:stretch>
        </p:blipFill>
        <p:spPr>
          <a:xfrm>
            <a:off x="1092525" y="3012765"/>
            <a:ext cx="247253" cy="247253"/>
          </a:xfrm>
          <a:prstGeom prst="rect">
            <a:avLst/>
          </a:prstGeom>
        </p:spPr>
      </p:pic>
      <p:sp>
        <p:nvSpPr>
          <p:cNvPr id="12" name="TextBox 11"/>
          <p:cNvSpPr txBox="1"/>
          <p:nvPr/>
        </p:nvSpPr>
        <p:spPr>
          <a:xfrm>
            <a:off x="1618488" y="2798064"/>
            <a:ext cx="23774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Fakten prüfen</a:t>
            </a:r>
          </a:p>
        </p:txBody>
      </p:sp>
      <p:sp>
        <p:nvSpPr>
          <p:cNvPr id="13" name="TextBox 12"/>
          <p:cNvSpPr txBox="1"/>
          <p:nvPr/>
        </p:nvSpPr>
        <p:spPr>
          <a:xfrm>
            <a:off x="4041648" y="2798064"/>
            <a:ext cx="71231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KI kann Quellen und Zahlen erfinden. Wichtige Aussagen immer an der Originalquelle prüfen.</a:t>
            </a:r>
          </a:p>
        </p:txBody>
      </p:sp>
      <p:sp>
        <p:nvSpPr>
          <p:cNvPr id="14" name="Rounded Rectangle 13"/>
          <p:cNvSpPr/>
          <p:nvPr/>
        </p:nvSpPr>
        <p:spPr>
          <a:xfrm>
            <a:off x="841248" y="3584448"/>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978408" y="3685032"/>
            <a:ext cx="475488" cy="47548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UserRound_w.png"/>
          <p:cNvPicPr>
            <a:picLocks noChangeAspect="1"/>
          </p:cNvPicPr>
          <p:nvPr/>
        </p:nvPicPr>
        <p:blipFill>
          <a:blip r:embed="rId5"/>
          <a:stretch>
            <a:fillRect/>
          </a:stretch>
        </p:blipFill>
        <p:spPr>
          <a:xfrm>
            <a:off x="1092525" y="3799149"/>
            <a:ext cx="247253" cy="247253"/>
          </a:xfrm>
          <a:prstGeom prst="rect">
            <a:avLst/>
          </a:prstGeom>
        </p:spPr>
      </p:pic>
      <p:sp>
        <p:nvSpPr>
          <p:cNvPr id="17" name="TextBox 16"/>
          <p:cNvSpPr txBox="1"/>
          <p:nvPr/>
        </p:nvSpPr>
        <p:spPr>
          <a:xfrm>
            <a:off x="1618488" y="3584448"/>
            <a:ext cx="23774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Mensch entscheidet</a:t>
            </a:r>
          </a:p>
        </p:txBody>
      </p:sp>
      <p:sp>
        <p:nvSpPr>
          <p:cNvPr id="18" name="TextBox 17"/>
          <p:cNvSpPr txBox="1"/>
          <p:nvPr/>
        </p:nvSpPr>
        <p:spPr>
          <a:xfrm>
            <a:off x="4041648" y="3584448"/>
            <a:ext cx="71231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Agenten bereiten vor, Menschen entscheiden. Besonders bei Kundinnen, Personal und Geld.</a:t>
            </a:r>
          </a:p>
        </p:txBody>
      </p:sp>
      <p:sp>
        <p:nvSpPr>
          <p:cNvPr id="19" name="Rounded Rectangle 18"/>
          <p:cNvSpPr/>
          <p:nvPr/>
        </p:nvSpPr>
        <p:spPr>
          <a:xfrm>
            <a:off x="841248" y="4370832"/>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978408" y="4471416"/>
            <a:ext cx="475488" cy="47548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GraduationCap_w.png"/>
          <p:cNvPicPr>
            <a:picLocks noChangeAspect="1"/>
          </p:cNvPicPr>
          <p:nvPr/>
        </p:nvPicPr>
        <p:blipFill>
          <a:blip r:embed="rId6"/>
          <a:stretch>
            <a:fillRect/>
          </a:stretch>
        </p:blipFill>
        <p:spPr>
          <a:xfrm>
            <a:off x="1092525" y="4585533"/>
            <a:ext cx="247253" cy="247253"/>
          </a:xfrm>
          <a:prstGeom prst="rect">
            <a:avLst/>
          </a:prstGeom>
        </p:spPr>
      </p:pic>
      <p:sp>
        <p:nvSpPr>
          <p:cNvPr id="22" name="TextBox 21"/>
          <p:cNvSpPr txBox="1"/>
          <p:nvPr/>
        </p:nvSpPr>
        <p:spPr>
          <a:xfrm>
            <a:off x="1618488" y="4370832"/>
            <a:ext cx="23774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KI-Kompetenz</a:t>
            </a:r>
          </a:p>
        </p:txBody>
      </p:sp>
      <p:sp>
        <p:nvSpPr>
          <p:cNvPr id="23" name="TextBox 22"/>
          <p:cNvSpPr txBox="1"/>
          <p:nvPr/>
        </p:nvSpPr>
        <p:spPr>
          <a:xfrm>
            <a:off x="4041648" y="4370832"/>
            <a:ext cx="71231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EU AI Act Art. 4: Seit Februar 2025 müssen Unternehmen die KI-Kompetenz ihrer Teams sicherstellen.</a:t>
            </a:r>
          </a:p>
        </p:txBody>
      </p:sp>
      <p:sp>
        <p:nvSpPr>
          <p:cNvPr id="24" name="Rounded Rectangle 23"/>
          <p:cNvSpPr/>
          <p:nvPr/>
        </p:nvSpPr>
        <p:spPr>
          <a:xfrm>
            <a:off x="841248" y="5157216"/>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978408" y="5257800"/>
            <a:ext cx="475488" cy="47548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MessagesSquare_w.png"/>
          <p:cNvPicPr>
            <a:picLocks noChangeAspect="1"/>
          </p:cNvPicPr>
          <p:nvPr/>
        </p:nvPicPr>
        <p:blipFill>
          <a:blip r:embed="rId7"/>
          <a:stretch>
            <a:fillRect/>
          </a:stretch>
        </p:blipFill>
        <p:spPr>
          <a:xfrm>
            <a:off x="1092525" y="5371917"/>
            <a:ext cx="247253" cy="247253"/>
          </a:xfrm>
          <a:prstGeom prst="rect">
            <a:avLst/>
          </a:prstGeom>
        </p:spPr>
      </p:pic>
      <p:sp>
        <p:nvSpPr>
          <p:cNvPr id="27" name="TextBox 26"/>
          <p:cNvSpPr txBox="1"/>
          <p:nvPr/>
        </p:nvSpPr>
        <p:spPr>
          <a:xfrm>
            <a:off x="1618488" y="5157216"/>
            <a:ext cx="23774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Transparenz</a:t>
            </a:r>
          </a:p>
        </p:txBody>
      </p:sp>
      <p:sp>
        <p:nvSpPr>
          <p:cNvPr id="28" name="TextBox 27"/>
          <p:cNvSpPr txBox="1"/>
          <p:nvPr/>
        </p:nvSpPr>
        <p:spPr>
          <a:xfrm>
            <a:off x="4041648" y="5157216"/>
            <a:ext cx="71231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Offen sagen, wo KI mitgearbeitet hat: intern und gegenüber Kundschaft.</a:t>
            </a:r>
          </a:p>
        </p:txBody>
      </p:sp>
      <p:sp>
        <p:nvSpPr>
          <p:cNvPr id="29" name="TextBox 28"/>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Verordnung (EU) 2024/1689 (KI-Verordnung), Art. 4; DSGVO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Praxisfall HSRW</a:t>
            </a:r>
          </a:p>
        </p:txBody>
      </p:sp>
      <p:sp>
        <p:nvSpPr>
          <p:cNvPr id="3" name="Text Placeholder 2"/>
          <p:cNvSpPr>
            <a:spLocks noGrp="1"/>
          </p:cNvSpPr>
          <p:nvPr>
            <p:ph type="body" idx="11" sz="quarter"/>
          </p:nvPr>
        </p:nvSpPr>
        <p:spPr/>
        <p:txBody>
          <a:bodyPr/>
          <a:lstStyle/>
          <a:p>
            <a:r>
              <a:rPr b="0" sz="2000"/>
              <a:t>Den Prozess einmal komplett an einer echten Herausforderung durchlaufen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Ausgangslage: Was die Zahlen über die HSRW sagen</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Rounded Rectangle 3"/>
          <p:cNvSpPr/>
          <p:nvPr/>
        </p:nvSpPr>
        <p:spPr>
          <a:xfrm>
            <a:off x="841248" y="2011680"/>
            <a:ext cx="2420874"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9848" y="2148840"/>
            <a:ext cx="1963674" cy="731520"/>
          </a:xfrm>
          <a:prstGeom prst="rect">
            <a:avLst/>
          </a:prstGeom>
          <a:noFill/>
        </p:spPr>
        <p:txBody>
          <a:bodyPr wrap="square" lIns="0" rIns="0" tIns="0" bIns="0" anchor="t"/>
          <a:lstStyle/>
          <a:p>
            <a:pPr algn="l">
              <a:spcAft>
                <a:spcPts val="400"/>
              </a:spcAft>
              <a:buNone/>
            </a:pPr>
            <a:r>
              <a:rPr sz="3600" b="1" i="0">
                <a:solidFill>
                  <a:srgbClr val="0E1F53"/>
                </a:solidFill>
                <a:latin typeface="Roboto"/>
              </a:rPr>
              <a:t>6.242</a:t>
            </a:r>
          </a:p>
        </p:txBody>
      </p:sp>
      <p:sp>
        <p:nvSpPr>
          <p:cNvPr id="6" name="TextBox 5"/>
          <p:cNvSpPr txBox="1"/>
          <p:nvPr/>
        </p:nvSpPr>
        <p:spPr>
          <a:xfrm>
            <a:off x="1069848" y="2926080"/>
            <a:ext cx="1963674" cy="594360"/>
          </a:xfrm>
          <a:prstGeom prst="rect">
            <a:avLst/>
          </a:prstGeom>
          <a:noFill/>
        </p:spPr>
        <p:txBody>
          <a:bodyPr wrap="square" lIns="0" rIns="0" tIns="0" bIns="0" anchor="t"/>
          <a:lstStyle/>
          <a:p>
            <a:pPr algn="l">
              <a:spcAft>
                <a:spcPts val="400"/>
              </a:spcAft>
              <a:buNone/>
            </a:pPr>
            <a:r>
              <a:rPr sz="1400" b="1" i="0">
                <a:solidFill>
                  <a:srgbClr val="0E1F53"/>
                </a:solidFill>
                <a:latin typeface="Roboto"/>
              </a:rPr>
              <a:t>Studierende im WS 2025/26</a:t>
            </a:r>
          </a:p>
        </p:txBody>
      </p:sp>
      <p:sp>
        <p:nvSpPr>
          <p:cNvPr id="7" name="TextBox 6"/>
          <p:cNvSpPr txBox="1"/>
          <p:nvPr/>
        </p:nvSpPr>
        <p:spPr>
          <a:xfrm>
            <a:off x="1069848" y="3547872"/>
            <a:ext cx="1963674" cy="548640"/>
          </a:xfrm>
          <a:prstGeom prst="rect">
            <a:avLst/>
          </a:prstGeom>
          <a:noFill/>
        </p:spPr>
        <p:txBody>
          <a:bodyPr wrap="square" lIns="0" rIns="0" tIns="0" bIns="0" anchor="t"/>
          <a:lstStyle/>
          <a:p>
            <a:pPr algn="l">
              <a:spcAft>
                <a:spcPts val="400"/>
              </a:spcAft>
              <a:buNone/>
            </a:pPr>
            <a:r>
              <a:rPr sz="1200" b="0" i="0">
                <a:solidFill>
                  <a:srgbClr val="5A6684"/>
                </a:solidFill>
                <a:latin typeface="Roboto"/>
              </a:rPr>
              <a:t>früher 6.700–7.400 (2015–2021)</a:t>
            </a:r>
          </a:p>
        </p:txBody>
      </p:sp>
      <p:sp>
        <p:nvSpPr>
          <p:cNvPr id="8" name="Rounded Rectangle 7"/>
          <p:cNvSpPr/>
          <p:nvPr/>
        </p:nvSpPr>
        <p:spPr>
          <a:xfrm>
            <a:off x="3536441" y="2011680"/>
            <a:ext cx="2420874"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765041" y="2148840"/>
            <a:ext cx="1963674" cy="731520"/>
          </a:xfrm>
          <a:prstGeom prst="rect">
            <a:avLst/>
          </a:prstGeom>
          <a:noFill/>
        </p:spPr>
        <p:txBody>
          <a:bodyPr wrap="square" lIns="0" rIns="0" tIns="0" bIns="0" anchor="t"/>
          <a:lstStyle/>
          <a:p>
            <a:pPr algn="l">
              <a:spcAft>
                <a:spcPts val="400"/>
              </a:spcAft>
              <a:buNone/>
            </a:pPr>
            <a:r>
              <a:rPr sz="3600" b="1" i="0">
                <a:solidFill>
                  <a:srgbClr val="1E8E4E"/>
                </a:solidFill>
                <a:latin typeface="Roboto"/>
              </a:rPr>
              <a:t>+20 %</a:t>
            </a:r>
          </a:p>
        </p:txBody>
      </p:sp>
      <p:sp>
        <p:nvSpPr>
          <p:cNvPr id="10" name="TextBox 9"/>
          <p:cNvSpPr txBox="1"/>
          <p:nvPr/>
        </p:nvSpPr>
        <p:spPr>
          <a:xfrm>
            <a:off x="3765041" y="2926080"/>
            <a:ext cx="1963674" cy="594360"/>
          </a:xfrm>
          <a:prstGeom prst="rect">
            <a:avLst/>
          </a:prstGeom>
          <a:noFill/>
        </p:spPr>
        <p:txBody>
          <a:bodyPr wrap="square" lIns="0" rIns="0" tIns="0" bIns="0" anchor="t"/>
          <a:lstStyle/>
          <a:p>
            <a:pPr algn="l">
              <a:spcAft>
                <a:spcPts val="400"/>
              </a:spcAft>
              <a:buNone/>
            </a:pPr>
            <a:r>
              <a:rPr sz="1400" b="1" i="0">
                <a:solidFill>
                  <a:srgbClr val="0E1F53"/>
                </a:solidFill>
                <a:latin typeface="Roboto"/>
              </a:rPr>
              <a:t>Erstsemester 2025/26</a:t>
            </a:r>
          </a:p>
        </p:txBody>
      </p:sp>
      <p:sp>
        <p:nvSpPr>
          <p:cNvPr id="11" name="TextBox 10"/>
          <p:cNvSpPr txBox="1"/>
          <p:nvPr/>
        </p:nvSpPr>
        <p:spPr>
          <a:xfrm>
            <a:off x="3765041" y="3547872"/>
            <a:ext cx="1963674" cy="548640"/>
          </a:xfrm>
          <a:prstGeom prst="rect">
            <a:avLst/>
          </a:prstGeom>
          <a:noFill/>
        </p:spPr>
        <p:txBody>
          <a:bodyPr wrap="square" lIns="0" rIns="0" tIns="0" bIns="0" anchor="t"/>
          <a:lstStyle/>
          <a:p>
            <a:pPr algn="l">
              <a:spcAft>
                <a:spcPts val="400"/>
              </a:spcAft>
              <a:buNone/>
            </a:pPr>
            <a:r>
              <a:rPr sz="1200" b="0" i="0">
                <a:solidFill>
                  <a:srgbClr val="5A6684"/>
                </a:solidFill>
                <a:latin typeface="Roboto"/>
              </a:rPr>
              <a:t>1.291 nach 1.070 im Vorjahr</a:t>
            </a:r>
          </a:p>
        </p:txBody>
      </p:sp>
      <p:sp>
        <p:nvSpPr>
          <p:cNvPr id="12" name="Rounded Rectangle 11"/>
          <p:cNvSpPr/>
          <p:nvPr/>
        </p:nvSpPr>
        <p:spPr>
          <a:xfrm>
            <a:off x="6231636" y="2011680"/>
            <a:ext cx="2420874"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60236" y="2148840"/>
            <a:ext cx="1963674" cy="731520"/>
          </a:xfrm>
          <a:prstGeom prst="rect">
            <a:avLst/>
          </a:prstGeom>
          <a:noFill/>
        </p:spPr>
        <p:txBody>
          <a:bodyPr wrap="square" lIns="0" rIns="0" tIns="0" bIns="0" anchor="t"/>
          <a:lstStyle/>
          <a:p>
            <a:pPr algn="l">
              <a:spcAft>
                <a:spcPts val="400"/>
              </a:spcAft>
              <a:buNone/>
            </a:pPr>
            <a:r>
              <a:rPr sz="3600" b="1" i="0">
                <a:solidFill>
                  <a:srgbClr val="0E1F53"/>
                </a:solidFill>
                <a:latin typeface="Roboto"/>
              </a:rPr>
              <a:t>&gt; 50 %</a:t>
            </a:r>
          </a:p>
        </p:txBody>
      </p:sp>
      <p:sp>
        <p:nvSpPr>
          <p:cNvPr id="14" name="TextBox 13"/>
          <p:cNvSpPr txBox="1"/>
          <p:nvPr/>
        </p:nvSpPr>
        <p:spPr>
          <a:xfrm>
            <a:off x="6460236" y="2926080"/>
            <a:ext cx="1963674" cy="594360"/>
          </a:xfrm>
          <a:prstGeom prst="rect">
            <a:avLst/>
          </a:prstGeom>
          <a:noFill/>
        </p:spPr>
        <p:txBody>
          <a:bodyPr wrap="square" lIns="0" rIns="0" tIns="0" bIns="0" anchor="t"/>
          <a:lstStyle/>
          <a:p>
            <a:pPr algn="l">
              <a:spcAft>
                <a:spcPts val="400"/>
              </a:spcAft>
              <a:buNone/>
            </a:pPr>
            <a:r>
              <a:rPr sz="1400" b="1" i="0">
                <a:solidFill>
                  <a:srgbClr val="0E1F53"/>
                </a:solidFill>
                <a:latin typeface="Roboto"/>
              </a:rPr>
              <a:t>der Studierenden kommen nicht aus NRW</a:t>
            </a:r>
          </a:p>
        </p:txBody>
      </p:sp>
      <p:sp>
        <p:nvSpPr>
          <p:cNvPr id="15" name="TextBox 14"/>
          <p:cNvSpPr txBox="1"/>
          <p:nvPr/>
        </p:nvSpPr>
        <p:spPr>
          <a:xfrm>
            <a:off x="6460236" y="3547872"/>
            <a:ext cx="1963674" cy="548640"/>
          </a:xfrm>
          <a:prstGeom prst="rect">
            <a:avLst/>
          </a:prstGeom>
          <a:noFill/>
        </p:spPr>
        <p:txBody>
          <a:bodyPr wrap="square" lIns="0" rIns="0" tIns="0" bIns="0" anchor="t"/>
          <a:lstStyle/>
          <a:p>
            <a:pPr algn="l">
              <a:spcAft>
                <a:spcPts val="400"/>
              </a:spcAft>
              <a:buNone/>
            </a:pPr>
            <a:r>
              <a:rPr sz="1200" b="0" i="0">
                <a:solidFill>
                  <a:srgbClr val="5A6684"/>
                </a:solidFill>
                <a:latin typeface="Roboto"/>
              </a:rPr>
              <a:t>stark international geprägt</a:t>
            </a:r>
          </a:p>
        </p:txBody>
      </p:sp>
      <p:sp>
        <p:nvSpPr>
          <p:cNvPr id="16" name="Rounded Rectangle 15"/>
          <p:cNvSpPr/>
          <p:nvPr/>
        </p:nvSpPr>
        <p:spPr>
          <a:xfrm>
            <a:off x="8926830" y="2011680"/>
            <a:ext cx="2420874"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55430" y="2148840"/>
            <a:ext cx="1963674" cy="731520"/>
          </a:xfrm>
          <a:prstGeom prst="rect">
            <a:avLst/>
          </a:prstGeom>
          <a:noFill/>
        </p:spPr>
        <p:txBody>
          <a:bodyPr wrap="square" lIns="0" rIns="0" tIns="0" bIns="0" anchor="t"/>
          <a:lstStyle/>
          <a:p>
            <a:pPr algn="l">
              <a:spcAft>
                <a:spcPts val="400"/>
              </a:spcAft>
              <a:buNone/>
            </a:pPr>
            <a:r>
              <a:rPr sz="3600" b="1" i="0">
                <a:solidFill>
                  <a:srgbClr val="FB2762"/>
                </a:solidFill>
                <a:latin typeface="Roboto"/>
              </a:rPr>
              <a:t>2026</a:t>
            </a:r>
          </a:p>
        </p:txBody>
      </p:sp>
      <p:sp>
        <p:nvSpPr>
          <p:cNvPr id="18" name="TextBox 17"/>
          <p:cNvSpPr txBox="1"/>
          <p:nvPr/>
        </p:nvSpPr>
        <p:spPr>
          <a:xfrm>
            <a:off x="9155430" y="2926080"/>
            <a:ext cx="1963674" cy="594360"/>
          </a:xfrm>
          <a:prstGeom prst="rect">
            <a:avLst/>
          </a:prstGeom>
          <a:noFill/>
        </p:spPr>
        <p:txBody>
          <a:bodyPr wrap="square" lIns="0" rIns="0" tIns="0" bIns="0" anchor="t"/>
          <a:lstStyle/>
          <a:p>
            <a:pPr algn="l">
              <a:spcAft>
                <a:spcPts val="400"/>
              </a:spcAft>
              <a:buNone/>
            </a:pPr>
            <a:r>
              <a:rPr sz="1400" b="1" i="0">
                <a:solidFill>
                  <a:srgbClr val="0E1F53"/>
                </a:solidFill>
                <a:latin typeface="Roboto"/>
              </a:rPr>
              <a:t>fehlt in NRW durch G9 fast ein Abiturjahrgang</a:t>
            </a:r>
          </a:p>
        </p:txBody>
      </p:sp>
      <p:sp>
        <p:nvSpPr>
          <p:cNvPr id="19" name="TextBox 18"/>
          <p:cNvSpPr txBox="1"/>
          <p:nvPr/>
        </p:nvSpPr>
        <p:spPr>
          <a:xfrm>
            <a:off x="9155430" y="3547872"/>
            <a:ext cx="1963674" cy="548640"/>
          </a:xfrm>
          <a:prstGeom prst="rect">
            <a:avLst/>
          </a:prstGeom>
          <a:noFill/>
        </p:spPr>
        <p:txBody>
          <a:bodyPr wrap="square" lIns="0" rIns="0" tIns="0" bIns="0" anchor="t"/>
          <a:lstStyle/>
          <a:p>
            <a:pPr algn="l">
              <a:spcAft>
                <a:spcPts val="400"/>
              </a:spcAft>
              <a:buNone/>
            </a:pPr>
            <a:r>
              <a:rPr sz="1200" b="0" i="0">
                <a:solidFill>
                  <a:srgbClr val="5A6684"/>
                </a:solidFill>
                <a:latin typeface="Roboto"/>
              </a:rPr>
              <a:t>weniger Studienanfänger:innen landesweit</a:t>
            </a:r>
          </a:p>
        </p:txBody>
      </p:sp>
      <p:sp>
        <p:nvSpPr>
          <p:cNvPr id="20" name="Rounded Rectangle 19"/>
          <p:cNvSpPr/>
          <p:nvPr/>
        </p:nvSpPr>
        <p:spPr>
          <a:xfrm>
            <a:off x="841248" y="4389120"/>
            <a:ext cx="5116068" cy="16002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069848" y="4572000"/>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uSchool_w.png"/>
          <p:cNvPicPr>
            <a:picLocks noChangeAspect="1"/>
          </p:cNvPicPr>
          <p:nvPr/>
        </p:nvPicPr>
        <p:blipFill>
          <a:blip r:embed="rId3"/>
          <a:stretch>
            <a:fillRect/>
          </a:stretch>
        </p:blipFill>
        <p:spPr>
          <a:xfrm>
            <a:off x="1201521" y="4703673"/>
            <a:ext cx="285292" cy="285292"/>
          </a:xfrm>
          <a:prstGeom prst="rect">
            <a:avLst/>
          </a:prstGeom>
        </p:spPr>
      </p:pic>
      <p:sp>
        <p:nvSpPr>
          <p:cNvPr id="23" name="TextBox 22"/>
          <p:cNvSpPr txBox="1"/>
          <p:nvPr/>
        </p:nvSpPr>
        <p:spPr>
          <a:xfrm>
            <a:off x="1801368" y="4526280"/>
            <a:ext cx="3927348" cy="1371600"/>
          </a:xfrm>
          <a:prstGeom prst="rect">
            <a:avLst/>
          </a:prstGeom>
          <a:noFill/>
        </p:spPr>
        <p:txBody>
          <a:bodyPr wrap="square" lIns="0" rIns="0" tIns="0" bIns="0" anchor="t"/>
          <a:lstStyle/>
          <a:p>
            <a:pPr algn="l">
              <a:spcAft>
                <a:spcPts val="400"/>
              </a:spcAft>
              <a:buNone/>
            </a:pPr>
            <a:r>
              <a:rPr sz="1500" b="1" i="0">
                <a:solidFill>
                  <a:srgbClr val="0E1F53"/>
                </a:solidFill>
                <a:latin typeface="Roboto"/>
              </a:rPr>
              <a:t>Die Hochschule</a:t>
            </a:r>
          </a:p>
          <a:p>
            <a:pPr algn="l">
              <a:spcAft>
                <a:spcPts val="400"/>
              </a:spcAft>
              <a:buNone/>
            </a:pPr>
            <a:r>
              <a:rPr sz="1300" b="0" i="0">
                <a:solidFill>
                  <a:srgbClr val="0E1F53"/>
                </a:solidFill>
                <a:latin typeface="Roboto"/>
              </a:rPr>
              <a:t>Gegründet 2009, Standorte Kleve und Kamp-Lintfort, rund drei Viertel der Studiengänge auf Englisch.</a:t>
            </a:r>
          </a:p>
        </p:txBody>
      </p:sp>
      <p:sp>
        <p:nvSpPr>
          <p:cNvPr id="24" name="Rounded Rectangle 23"/>
          <p:cNvSpPr/>
          <p:nvPr/>
        </p:nvSpPr>
        <p:spPr>
          <a:xfrm>
            <a:off x="6231636" y="4389120"/>
            <a:ext cx="5116068" cy="16002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460236" y="457200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GraduationCap_w.png"/>
          <p:cNvPicPr>
            <a:picLocks noChangeAspect="1"/>
          </p:cNvPicPr>
          <p:nvPr/>
        </p:nvPicPr>
        <p:blipFill>
          <a:blip r:embed="rId4"/>
          <a:stretch>
            <a:fillRect/>
          </a:stretch>
        </p:blipFill>
        <p:spPr>
          <a:xfrm>
            <a:off x="6591909" y="4703673"/>
            <a:ext cx="285292" cy="285292"/>
          </a:xfrm>
          <a:prstGeom prst="rect">
            <a:avLst/>
          </a:prstGeom>
        </p:spPr>
      </p:pic>
      <p:sp>
        <p:nvSpPr>
          <p:cNvPr id="27" name="TextBox 26"/>
          <p:cNvSpPr txBox="1"/>
          <p:nvPr/>
        </p:nvSpPr>
        <p:spPr>
          <a:xfrm>
            <a:off x="7191756" y="4526280"/>
            <a:ext cx="3927348" cy="1371600"/>
          </a:xfrm>
          <a:prstGeom prst="rect">
            <a:avLst/>
          </a:prstGeom>
          <a:noFill/>
        </p:spPr>
        <p:txBody>
          <a:bodyPr wrap="square" lIns="0" rIns="0" tIns="0" bIns="0" anchor="t"/>
          <a:lstStyle/>
          <a:p>
            <a:pPr algn="l">
              <a:spcAft>
                <a:spcPts val="400"/>
              </a:spcAft>
              <a:buNone/>
            </a:pPr>
            <a:r>
              <a:rPr sz="1500" b="1" i="0">
                <a:solidFill>
                  <a:srgbClr val="0E1F53"/>
                </a:solidFill>
                <a:latin typeface="Roboto"/>
              </a:rPr>
              <a:t>Bindung an die Region</a:t>
            </a:r>
          </a:p>
          <a:p>
            <a:pPr algn="l">
              <a:spcAft>
                <a:spcPts val="400"/>
              </a:spcAft>
              <a:buNone/>
            </a:pPr>
            <a:r>
              <a:rPr sz="1300" b="0" i="0">
                <a:solidFill>
                  <a:srgbClr val="0E1F53"/>
                </a:solidFill>
                <a:latin typeface="Roboto"/>
              </a:rPr>
              <a:t>789 Absolvent:innen 2025. 71 % bleiben in NRW, bei den internationalen Absolvent:innen nur 46 %.</a:t>
            </a:r>
          </a:p>
        </p:txBody>
      </p:sp>
      <p:sp>
        <p:nvSpPr>
          <p:cNvPr id="28" name="TextBox 27"/>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Quellen: HSRW, Pressemitteilung WS 2025/26 (Stichtag 31.10.2025); HSRW, Zahlen der Hochschule 2020 und 2021; IT.NRW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Die Herausforderung: weniger Studierende, leerer Campus</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Rounded Rectangle 3"/>
          <p:cNvSpPr/>
          <p:nvPr/>
        </p:nvSpPr>
        <p:spPr>
          <a:xfrm>
            <a:off x="841248" y="2011680"/>
            <a:ext cx="5116068" cy="12984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9848" y="2240280"/>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TrendingUp_w.png"/>
          <p:cNvPicPr>
            <a:picLocks noChangeAspect="1"/>
          </p:cNvPicPr>
          <p:nvPr/>
        </p:nvPicPr>
        <p:blipFill>
          <a:blip r:embed="rId3"/>
          <a:stretch>
            <a:fillRect/>
          </a:stretch>
        </p:blipFill>
        <p:spPr>
          <a:xfrm>
            <a:off x="1205910" y="2376342"/>
            <a:ext cx="294802" cy="294802"/>
          </a:xfrm>
          <a:prstGeom prst="rect">
            <a:avLst/>
          </a:prstGeom>
        </p:spPr>
      </p:pic>
      <p:sp>
        <p:nvSpPr>
          <p:cNvPr id="7" name="TextBox 6"/>
          <p:cNvSpPr txBox="1"/>
          <p:nvPr/>
        </p:nvSpPr>
        <p:spPr>
          <a:xfrm>
            <a:off x="1801368" y="2176272"/>
            <a:ext cx="2921508" cy="384048"/>
          </a:xfrm>
          <a:prstGeom prst="rect">
            <a:avLst/>
          </a:prstGeom>
          <a:noFill/>
        </p:spPr>
        <p:txBody>
          <a:bodyPr wrap="square" lIns="0" rIns="0" tIns="0" bIns="0" anchor="t"/>
          <a:lstStyle/>
          <a:p>
            <a:pPr algn="l">
              <a:spcAft>
                <a:spcPts val="400"/>
              </a:spcAft>
              <a:buNone/>
            </a:pPr>
            <a:r>
              <a:rPr sz="1600" b="1" i="0">
                <a:solidFill>
                  <a:srgbClr val="0E1F53"/>
                </a:solidFill>
                <a:latin typeface="Roboto"/>
              </a:rPr>
              <a:t>Weniger Studierende</a:t>
            </a:r>
          </a:p>
        </p:txBody>
      </p:sp>
      <p:sp>
        <p:nvSpPr>
          <p:cNvPr id="8" name="TextBox 7"/>
          <p:cNvSpPr txBox="1"/>
          <p:nvPr/>
        </p:nvSpPr>
        <p:spPr>
          <a:xfrm>
            <a:off x="1801368" y="2560320"/>
            <a:ext cx="3927348" cy="685800"/>
          </a:xfrm>
          <a:prstGeom prst="rect">
            <a:avLst/>
          </a:prstGeom>
          <a:noFill/>
        </p:spPr>
        <p:txBody>
          <a:bodyPr wrap="square" lIns="0" rIns="0" tIns="0" bIns="0" anchor="t"/>
          <a:lstStyle/>
          <a:p>
            <a:pPr algn="l">
              <a:spcAft>
                <a:spcPts val="400"/>
              </a:spcAft>
              <a:buNone/>
            </a:pPr>
            <a:r>
              <a:rPr sz="1300" b="0" i="0">
                <a:solidFill>
                  <a:srgbClr val="0E1F53"/>
                </a:solidFill>
                <a:latin typeface="Roboto"/>
              </a:rPr>
              <a:t>Gesamtzahl unter dem früheren Niveau, sinkende Studierendenzahlen in ganz NRW seit 2020/21.</a:t>
            </a:r>
          </a:p>
        </p:txBody>
      </p:sp>
      <p:sp>
        <p:nvSpPr>
          <p:cNvPr id="9" name="Rounded Rectangle 8"/>
          <p:cNvSpPr/>
          <p:nvPr/>
        </p:nvSpPr>
        <p:spPr>
          <a:xfrm>
            <a:off x="4768596" y="2194560"/>
            <a:ext cx="566927" cy="292608"/>
          </a:xfrm>
          <a:prstGeom prst="roundRect">
            <a:avLst>
              <a:gd name="adj" fmla="val 50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1E8E4E"/>
                </a:solidFill>
                <a:latin typeface="Roboto"/>
              </a:rPr>
              <a:t>FAKT</a:t>
            </a:r>
          </a:p>
        </p:txBody>
      </p:sp>
      <p:sp>
        <p:nvSpPr>
          <p:cNvPr id="10" name="Rounded Rectangle 9"/>
          <p:cNvSpPr/>
          <p:nvPr/>
        </p:nvSpPr>
        <p:spPr>
          <a:xfrm>
            <a:off x="6231636" y="2011680"/>
            <a:ext cx="5116068" cy="12984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0236" y="2240280"/>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Building2_w.png"/>
          <p:cNvPicPr>
            <a:picLocks noChangeAspect="1"/>
          </p:cNvPicPr>
          <p:nvPr/>
        </p:nvPicPr>
        <p:blipFill>
          <a:blip r:embed="rId4"/>
          <a:stretch>
            <a:fillRect/>
          </a:stretch>
        </p:blipFill>
        <p:spPr>
          <a:xfrm>
            <a:off x="6596298" y="2376342"/>
            <a:ext cx="294802" cy="294802"/>
          </a:xfrm>
          <a:prstGeom prst="rect">
            <a:avLst/>
          </a:prstGeom>
        </p:spPr>
      </p:pic>
      <p:sp>
        <p:nvSpPr>
          <p:cNvPr id="13" name="TextBox 12"/>
          <p:cNvSpPr txBox="1"/>
          <p:nvPr/>
        </p:nvSpPr>
        <p:spPr>
          <a:xfrm>
            <a:off x="7191755" y="2176272"/>
            <a:ext cx="2921508" cy="384048"/>
          </a:xfrm>
          <a:prstGeom prst="rect">
            <a:avLst/>
          </a:prstGeom>
          <a:noFill/>
        </p:spPr>
        <p:txBody>
          <a:bodyPr wrap="square" lIns="0" rIns="0" tIns="0" bIns="0" anchor="t"/>
          <a:lstStyle/>
          <a:p>
            <a:pPr algn="l">
              <a:spcAft>
                <a:spcPts val="400"/>
              </a:spcAft>
              <a:buNone/>
            </a:pPr>
            <a:r>
              <a:rPr sz="1600" b="1" i="0">
                <a:solidFill>
                  <a:srgbClr val="0E1F53"/>
                </a:solidFill>
                <a:latin typeface="Roboto"/>
              </a:rPr>
              <a:t>Wenig Präsenz am Campus</a:t>
            </a:r>
          </a:p>
        </p:txBody>
      </p:sp>
      <p:sp>
        <p:nvSpPr>
          <p:cNvPr id="14" name="TextBox 13"/>
          <p:cNvSpPr txBox="1"/>
          <p:nvPr/>
        </p:nvSpPr>
        <p:spPr>
          <a:xfrm>
            <a:off x="7191755" y="2560320"/>
            <a:ext cx="3927348" cy="685800"/>
          </a:xfrm>
          <a:prstGeom prst="rect">
            <a:avLst/>
          </a:prstGeom>
          <a:noFill/>
        </p:spPr>
        <p:txBody>
          <a:bodyPr wrap="square" lIns="0" rIns="0" tIns="0" bIns="0" anchor="t"/>
          <a:lstStyle/>
          <a:p>
            <a:pPr algn="l">
              <a:spcAft>
                <a:spcPts val="400"/>
              </a:spcAft>
              <a:buNone/>
            </a:pPr>
            <a:r>
              <a:rPr sz="1300" b="0" i="0">
                <a:solidFill>
                  <a:srgbClr val="0E1F53"/>
                </a:solidFill>
                <a:latin typeface="Roboto"/>
              </a:rPr>
              <a:t>Lehrende berichten von leeren Hörsälen und einem ruhigen Campus am Nachmittag.</a:t>
            </a:r>
          </a:p>
        </p:txBody>
      </p:sp>
      <p:sp>
        <p:nvSpPr>
          <p:cNvPr id="15" name="Rounded Rectangle 14"/>
          <p:cNvSpPr/>
          <p:nvPr/>
        </p:nvSpPr>
        <p:spPr>
          <a:xfrm>
            <a:off x="10158984" y="2194560"/>
            <a:ext cx="786384" cy="292608"/>
          </a:xfrm>
          <a:prstGeom prst="roundRect">
            <a:avLst>
              <a:gd name="adj" fmla="val 50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D9730D"/>
                </a:solidFill>
                <a:latin typeface="Roboto"/>
              </a:rPr>
              <a:t>ANNAHME</a:t>
            </a:r>
          </a:p>
        </p:txBody>
      </p:sp>
      <p:sp>
        <p:nvSpPr>
          <p:cNvPr id="16" name="Rounded Rectangle 15"/>
          <p:cNvSpPr/>
          <p:nvPr/>
        </p:nvSpPr>
        <p:spPr>
          <a:xfrm>
            <a:off x="841248" y="3493008"/>
            <a:ext cx="5116068" cy="12984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069848" y="3721608"/>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CalendarClock_w.png"/>
          <p:cNvPicPr>
            <a:picLocks noChangeAspect="1"/>
          </p:cNvPicPr>
          <p:nvPr/>
        </p:nvPicPr>
        <p:blipFill>
          <a:blip r:embed="rId5"/>
          <a:stretch>
            <a:fillRect/>
          </a:stretch>
        </p:blipFill>
        <p:spPr>
          <a:xfrm>
            <a:off x="1205910" y="3857670"/>
            <a:ext cx="294802" cy="294802"/>
          </a:xfrm>
          <a:prstGeom prst="rect">
            <a:avLst/>
          </a:prstGeom>
        </p:spPr>
      </p:pic>
      <p:sp>
        <p:nvSpPr>
          <p:cNvPr id="19" name="TextBox 18"/>
          <p:cNvSpPr txBox="1"/>
          <p:nvPr/>
        </p:nvSpPr>
        <p:spPr>
          <a:xfrm>
            <a:off x="1801368" y="3657600"/>
            <a:ext cx="2921508" cy="384048"/>
          </a:xfrm>
          <a:prstGeom prst="rect">
            <a:avLst/>
          </a:prstGeom>
          <a:noFill/>
        </p:spPr>
        <p:txBody>
          <a:bodyPr wrap="square" lIns="0" rIns="0" tIns="0" bIns="0" anchor="t"/>
          <a:lstStyle/>
          <a:p>
            <a:pPr algn="l">
              <a:spcAft>
                <a:spcPts val="400"/>
              </a:spcAft>
              <a:buNone/>
            </a:pPr>
            <a:r>
              <a:rPr sz="1600" b="1" i="0">
                <a:solidFill>
                  <a:srgbClr val="0E1F53"/>
                </a:solidFill>
                <a:latin typeface="Roboto"/>
              </a:rPr>
              <a:t>G9-Lücke 2026</a:t>
            </a:r>
          </a:p>
        </p:txBody>
      </p:sp>
      <p:sp>
        <p:nvSpPr>
          <p:cNvPr id="20" name="TextBox 19"/>
          <p:cNvSpPr txBox="1"/>
          <p:nvPr/>
        </p:nvSpPr>
        <p:spPr>
          <a:xfrm>
            <a:off x="1801368" y="4041648"/>
            <a:ext cx="3927348" cy="685800"/>
          </a:xfrm>
          <a:prstGeom prst="rect">
            <a:avLst/>
          </a:prstGeom>
          <a:noFill/>
        </p:spPr>
        <p:txBody>
          <a:bodyPr wrap="square" lIns="0" rIns="0" tIns="0" bIns="0" anchor="t"/>
          <a:lstStyle/>
          <a:p>
            <a:pPr algn="l">
              <a:spcAft>
                <a:spcPts val="400"/>
              </a:spcAft>
              <a:buNone/>
            </a:pPr>
            <a:r>
              <a:rPr sz="1300" b="0" i="0">
                <a:solidFill>
                  <a:srgbClr val="0E1F53"/>
                </a:solidFill>
                <a:latin typeface="Roboto"/>
              </a:rPr>
              <a:t>Ein fast fehlender Abiturjahrgang verschärft den Wettbewerb um Studienanfänger:innen.</a:t>
            </a:r>
          </a:p>
        </p:txBody>
      </p:sp>
      <p:sp>
        <p:nvSpPr>
          <p:cNvPr id="21" name="Rounded Rectangle 20"/>
          <p:cNvSpPr/>
          <p:nvPr/>
        </p:nvSpPr>
        <p:spPr>
          <a:xfrm>
            <a:off x="4768596" y="3675888"/>
            <a:ext cx="566927" cy="292608"/>
          </a:xfrm>
          <a:prstGeom prst="roundRect">
            <a:avLst>
              <a:gd name="adj" fmla="val 50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1E8E4E"/>
                </a:solidFill>
                <a:latin typeface="Roboto"/>
              </a:rPr>
              <a:t>FAKT</a:t>
            </a:r>
          </a:p>
        </p:txBody>
      </p:sp>
      <p:sp>
        <p:nvSpPr>
          <p:cNvPr id="22" name="Rounded Rectangle 21"/>
          <p:cNvSpPr/>
          <p:nvPr/>
        </p:nvSpPr>
        <p:spPr>
          <a:xfrm>
            <a:off x="6231636" y="3493008"/>
            <a:ext cx="5116068" cy="12984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0236" y="3721608"/>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uGlobe_w.png"/>
          <p:cNvPicPr>
            <a:picLocks noChangeAspect="1"/>
          </p:cNvPicPr>
          <p:nvPr/>
        </p:nvPicPr>
        <p:blipFill>
          <a:blip r:embed="rId6"/>
          <a:stretch>
            <a:fillRect/>
          </a:stretch>
        </p:blipFill>
        <p:spPr>
          <a:xfrm>
            <a:off x="6596298" y="3857670"/>
            <a:ext cx="294802" cy="294802"/>
          </a:xfrm>
          <a:prstGeom prst="rect">
            <a:avLst/>
          </a:prstGeom>
        </p:spPr>
      </p:pic>
      <p:sp>
        <p:nvSpPr>
          <p:cNvPr id="25" name="TextBox 24"/>
          <p:cNvSpPr txBox="1"/>
          <p:nvPr/>
        </p:nvSpPr>
        <p:spPr>
          <a:xfrm>
            <a:off x="7191755" y="3657600"/>
            <a:ext cx="2921508" cy="384048"/>
          </a:xfrm>
          <a:prstGeom prst="rect">
            <a:avLst/>
          </a:prstGeom>
          <a:noFill/>
        </p:spPr>
        <p:txBody>
          <a:bodyPr wrap="square" lIns="0" rIns="0" tIns="0" bIns="0" anchor="t"/>
          <a:lstStyle/>
          <a:p>
            <a:pPr algn="l">
              <a:spcAft>
                <a:spcPts val="400"/>
              </a:spcAft>
              <a:buNone/>
            </a:pPr>
            <a:r>
              <a:rPr sz="1600" b="1" i="0">
                <a:solidFill>
                  <a:srgbClr val="0E1F53"/>
                </a:solidFill>
                <a:latin typeface="Roboto"/>
              </a:rPr>
              <a:t>Starker Wettbewerb</a:t>
            </a:r>
          </a:p>
        </p:txBody>
      </p:sp>
      <p:sp>
        <p:nvSpPr>
          <p:cNvPr id="26" name="TextBox 25"/>
          <p:cNvSpPr txBox="1"/>
          <p:nvPr/>
        </p:nvSpPr>
        <p:spPr>
          <a:xfrm>
            <a:off x="7191755" y="4041648"/>
            <a:ext cx="3927348" cy="685800"/>
          </a:xfrm>
          <a:prstGeom prst="rect">
            <a:avLst/>
          </a:prstGeom>
          <a:noFill/>
        </p:spPr>
        <p:txBody>
          <a:bodyPr wrap="square" lIns="0" rIns="0" tIns="0" bIns="0" anchor="t"/>
          <a:lstStyle/>
          <a:p>
            <a:pPr algn="l">
              <a:spcAft>
                <a:spcPts val="400"/>
              </a:spcAft>
              <a:buNone/>
            </a:pPr>
            <a:r>
              <a:rPr sz="1300" b="0" i="0">
                <a:solidFill>
                  <a:srgbClr val="0E1F53"/>
                </a:solidFill>
                <a:latin typeface="Roboto"/>
              </a:rPr>
              <a:t>Große Hochschulen im Ruhrgebiet, Rheinland und in den Niederlanden in Reichweite.</a:t>
            </a:r>
          </a:p>
        </p:txBody>
      </p:sp>
      <p:sp>
        <p:nvSpPr>
          <p:cNvPr id="27" name="Rounded Rectangle 26"/>
          <p:cNvSpPr/>
          <p:nvPr/>
        </p:nvSpPr>
        <p:spPr>
          <a:xfrm>
            <a:off x="10158984" y="3675888"/>
            <a:ext cx="786384" cy="292608"/>
          </a:xfrm>
          <a:prstGeom prst="roundRect">
            <a:avLst>
              <a:gd name="adj" fmla="val 50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D9730D"/>
                </a:solidFill>
                <a:latin typeface="Roboto"/>
              </a:rPr>
              <a:t>ANNAHME</a:t>
            </a:r>
          </a:p>
        </p:txBody>
      </p:sp>
      <p:sp>
        <p:nvSpPr>
          <p:cNvPr id="28" name="Rounded Rectangle 27"/>
          <p:cNvSpPr/>
          <p:nvPr/>
        </p:nvSpPr>
        <p:spPr>
          <a:xfrm>
            <a:off x="841248" y="5029200"/>
            <a:ext cx="10506456" cy="96012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161288" y="5029200"/>
            <a:ext cx="9866376" cy="960120"/>
          </a:xfrm>
          <a:prstGeom prst="rect">
            <a:avLst/>
          </a:prstGeom>
          <a:noFill/>
        </p:spPr>
        <p:txBody>
          <a:bodyPr wrap="square" lIns="0" rIns="0" tIns="0" bIns="0" anchor="ctr"/>
          <a:lstStyle/>
          <a:p>
            <a:pPr algn="l">
              <a:spcAft>
                <a:spcPts val="200"/>
              </a:spcAft>
              <a:buNone/>
            </a:pPr>
            <a:r>
              <a:rPr sz="1300" b="1" i="0">
                <a:solidFill>
                  <a:srgbClr val="9FD0FF"/>
                </a:solidFill>
                <a:latin typeface="Roboto"/>
              </a:rPr>
              <a:t>Ausgangsfrage der Hochschulleitung</a:t>
            </a:r>
          </a:p>
          <a:p>
            <a:pPr algn="l">
              <a:spcAft>
                <a:spcPts val="400"/>
              </a:spcAft>
              <a:buNone/>
            </a:pPr>
            <a:r>
              <a:rPr sz="1800" b="1" i="0">
                <a:solidFill>
                  <a:srgbClr val="FFFFFF"/>
                </a:solidFill>
                <a:latin typeface="Roboto"/>
              </a:rPr>
              <a:t>„Wie gewinnen wir wieder mehr Studierende, und wie bringen wir sie zurück auf den Campus?“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Unser Agenten-Team für den Innovationsprozess</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Rounded Rectangle 3"/>
          <p:cNvSpPr/>
          <p:nvPr/>
        </p:nvSpPr>
        <p:spPr>
          <a:xfrm>
            <a:off x="4677156" y="3383279"/>
            <a:ext cx="2834640" cy="1188720"/>
          </a:xfrm>
          <a:prstGeom prst="roundRect">
            <a:avLst>
              <a:gd name="adj" fmla="val 15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LuUsers_w.png"/>
          <p:cNvPicPr>
            <a:picLocks noChangeAspect="1"/>
          </p:cNvPicPr>
          <p:nvPr/>
        </p:nvPicPr>
        <p:blipFill>
          <a:blip r:embed="rId3"/>
          <a:stretch>
            <a:fillRect/>
          </a:stretch>
        </p:blipFill>
        <p:spPr>
          <a:xfrm>
            <a:off x="4860036" y="3685031"/>
            <a:ext cx="585216" cy="585216"/>
          </a:xfrm>
          <a:prstGeom prst="rect">
            <a:avLst/>
          </a:prstGeom>
        </p:spPr>
      </p:pic>
      <p:sp>
        <p:nvSpPr>
          <p:cNvPr id="6" name="TextBox 5"/>
          <p:cNvSpPr txBox="1"/>
          <p:nvPr/>
        </p:nvSpPr>
        <p:spPr>
          <a:xfrm>
            <a:off x="5545836" y="3383279"/>
            <a:ext cx="1920240" cy="1188720"/>
          </a:xfrm>
          <a:prstGeom prst="rect">
            <a:avLst/>
          </a:prstGeom>
          <a:noFill/>
        </p:spPr>
        <p:txBody>
          <a:bodyPr wrap="square" lIns="0" rIns="0" tIns="0" bIns="0" anchor="ctr"/>
          <a:lstStyle/>
          <a:p>
            <a:pPr algn="l">
              <a:spcAft>
                <a:spcPts val="0"/>
              </a:spcAft>
              <a:buNone/>
            </a:pPr>
            <a:r>
              <a:rPr sz="1500" b="1" i="0">
                <a:solidFill>
                  <a:srgbClr val="FFFFFF"/>
                </a:solidFill>
                <a:latin typeface="Roboto"/>
              </a:rPr>
              <a:t>Innovationsteam</a:t>
            </a:r>
          </a:p>
          <a:p>
            <a:pPr algn="l">
              <a:spcAft>
                <a:spcPts val="0"/>
              </a:spcAft>
              <a:buNone/>
            </a:pPr>
            <a:r>
              <a:rPr sz="1150" b="0" i="0">
                <a:solidFill>
                  <a:srgbClr val="FFFFFF"/>
                </a:solidFill>
                <a:latin typeface="Roboto"/>
              </a:rPr>
              <a:t>steuert, prüft, entscheidet</a:t>
            </a:r>
          </a:p>
        </p:txBody>
      </p:sp>
      <p:sp>
        <p:nvSpPr>
          <p:cNvPr id="7" name="Rounded Rectangle 6"/>
          <p:cNvSpPr/>
          <p:nvPr/>
        </p:nvSpPr>
        <p:spPr>
          <a:xfrm>
            <a:off x="841248" y="2011680"/>
            <a:ext cx="3136392" cy="960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24128" y="2194560"/>
            <a:ext cx="594360" cy="59436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LuSearch_w.png"/>
          <p:cNvPicPr>
            <a:picLocks noChangeAspect="1"/>
          </p:cNvPicPr>
          <p:nvPr/>
        </p:nvPicPr>
        <p:blipFill>
          <a:blip r:embed="rId4"/>
          <a:stretch>
            <a:fillRect/>
          </a:stretch>
        </p:blipFill>
        <p:spPr>
          <a:xfrm>
            <a:off x="1166774" y="2337206"/>
            <a:ext cx="309067" cy="309067"/>
          </a:xfrm>
          <a:prstGeom prst="rect">
            <a:avLst/>
          </a:prstGeom>
        </p:spPr>
      </p:pic>
      <p:sp>
        <p:nvSpPr>
          <p:cNvPr id="10" name="TextBox 9"/>
          <p:cNvSpPr txBox="1"/>
          <p:nvPr/>
        </p:nvSpPr>
        <p:spPr>
          <a:xfrm>
            <a:off x="1755648" y="2103120"/>
            <a:ext cx="2130552" cy="822960"/>
          </a:xfrm>
          <a:prstGeom prst="rect">
            <a:avLst/>
          </a:prstGeom>
          <a:noFill/>
        </p:spPr>
        <p:txBody>
          <a:bodyPr wrap="square" lIns="0" rIns="0" tIns="0" bIns="0" anchor="ctr"/>
          <a:lstStyle/>
          <a:p>
            <a:pPr algn="l">
              <a:spcAft>
                <a:spcPts val="100"/>
              </a:spcAft>
              <a:buNone/>
            </a:pPr>
            <a:r>
              <a:rPr sz="1350" b="1" i="0">
                <a:solidFill>
                  <a:srgbClr val="0E1F53"/>
                </a:solidFill>
                <a:latin typeface="Roboto"/>
              </a:rPr>
              <a:t>1 · Challenge-Scout</a:t>
            </a:r>
          </a:p>
          <a:p>
            <a:pPr algn="l">
              <a:spcAft>
                <a:spcPts val="100"/>
              </a:spcAft>
              <a:buNone/>
            </a:pPr>
            <a:r>
              <a:rPr sz="1100" b="0" i="0">
                <a:solidFill>
                  <a:srgbClr val="5A6684"/>
                </a:solidFill>
                <a:latin typeface="Roboto"/>
              </a:rPr>
              <a:t>recherchiert das Umfeld und schärft die Design Challenge</a:t>
            </a:r>
          </a:p>
        </p:txBody>
      </p:sp>
      <p:cxnSp>
        <p:nvCxnSpPr>
          <p:cNvPr id="11" name="Connector 10"/>
          <p:cNvCxnSpPr/>
          <p:nvPr/>
        </p:nvCxnSpPr>
        <p:spPr>
          <a:xfrm>
            <a:off x="2409444" y="2971800"/>
            <a:ext cx="2395270" cy="411479"/>
          </a:xfrm>
          <a:prstGeom prst="line">
            <a:avLst/>
          </a:prstGeom>
          <a:ln w="15875">
            <a:solidFill>
              <a:srgbClr val="8FA3C8"/>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526280" y="2011680"/>
            <a:ext cx="3136392" cy="960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709160" y="2194560"/>
            <a:ext cx="594360" cy="59436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LuEye_w.png"/>
          <p:cNvPicPr>
            <a:picLocks noChangeAspect="1"/>
          </p:cNvPicPr>
          <p:nvPr/>
        </p:nvPicPr>
        <p:blipFill>
          <a:blip r:embed="rId5"/>
          <a:stretch>
            <a:fillRect/>
          </a:stretch>
        </p:blipFill>
        <p:spPr>
          <a:xfrm>
            <a:off x="4851806" y="2337206"/>
            <a:ext cx="309067" cy="309067"/>
          </a:xfrm>
          <a:prstGeom prst="rect">
            <a:avLst/>
          </a:prstGeom>
        </p:spPr>
      </p:pic>
      <p:sp>
        <p:nvSpPr>
          <p:cNvPr id="15" name="TextBox 14"/>
          <p:cNvSpPr txBox="1"/>
          <p:nvPr/>
        </p:nvSpPr>
        <p:spPr>
          <a:xfrm>
            <a:off x="5440680" y="2103120"/>
            <a:ext cx="2130552" cy="822960"/>
          </a:xfrm>
          <a:prstGeom prst="rect">
            <a:avLst/>
          </a:prstGeom>
          <a:noFill/>
        </p:spPr>
        <p:txBody>
          <a:bodyPr wrap="square" lIns="0" rIns="0" tIns="0" bIns="0" anchor="ctr"/>
          <a:lstStyle/>
          <a:p>
            <a:pPr algn="l">
              <a:spcAft>
                <a:spcPts val="100"/>
              </a:spcAft>
              <a:buNone/>
            </a:pPr>
            <a:r>
              <a:rPr sz="1350" b="1" i="0">
                <a:solidFill>
                  <a:srgbClr val="0E1F53"/>
                </a:solidFill>
                <a:latin typeface="Roboto"/>
              </a:rPr>
              <a:t>1 · Interview-Coach</a:t>
            </a:r>
          </a:p>
          <a:p>
            <a:pPr algn="l">
              <a:spcAft>
                <a:spcPts val="100"/>
              </a:spcAft>
              <a:buNone/>
            </a:pPr>
            <a:r>
              <a:rPr sz="1100" b="0" i="0">
                <a:solidFill>
                  <a:srgbClr val="5A6684"/>
                </a:solidFill>
                <a:latin typeface="Roboto"/>
              </a:rPr>
              <a:t>bereitet Interviews vor und wertet Transkripte aus</a:t>
            </a:r>
          </a:p>
        </p:txBody>
      </p:sp>
      <p:cxnSp>
        <p:nvCxnSpPr>
          <p:cNvPr id="16" name="Connector 15"/>
          <p:cNvCxnSpPr/>
          <p:nvPr/>
        </p:nvCxnSpPr>
        <p:spPr>
          <a:xfrm>
            <a:off x="6094476" y="2971800"/>
            <a:ext cx="0" cy="411479"/>
          </a:xfrm>
          <a:prstGeom prst="line">
            <a:avLst/>
          </a:prstGeom>
          <a:ln w="15875">
            <a:solidFill>
              <a:srgbClr val="8FA3C8"/>
            </a:solidFill>
            <a:prstDash val="dash"/>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11312" y="2011680"/>
            <a:ext cx="3136392" cy="960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394192" y="2194560"/>
            <a:ext cx="594360" cy="59436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uTarget_w.png"/>
          <p:cNvPicPr>
            <a:picLocks noChangeAspect="1"/>
          </p:cNvPicPr>
          <p:nvPr/>
        </p:nvPicPr>
        <p:blipFill>
          <a:blip r:embed="rId6"/>
          <a:stretch>
            <a:fillRect/>
          </a:stretch>
        </p:blipFill>
        <p:spPr>
          <a:xfrm>
            <a:off x="8536838" y="2337206"/>
            <a:ext cx="309067" cy="309067"/>
          </a:xfrm>
          <a:prstGeom prst="rect">
            <a:avLst/>
          </a:prstGeom>
        </p:spPr>
      </p:pic>
      <p:sp>
        <p:nvSpPr>
          <p:cNvPr id="20" name="TextBox 19"/>
          <p:cNvSpPr txBox="1"/>
          <p:nvPr/>
        </p:nvSpPr>
        <p:spPr>
          <a:xfrm>
            <a:off x="9125712" y="2103120"/>
            <a:ext cx="2130552" cy="822960"/>
          </a:xfrm>
          <a:prstGeom prst="rect">
            <a:avLst/>
          </a:prstGeom>
          <a:noFill/>
        </p:spPr>
        <p:txBody>
          <a:bodyPr wrap="square" lIns="0" rIns="0" tIns="0" bIns="0" anchor="ctr"/>
          <a:lstStyle/>
          <a:p>
            <a:pPr algn="l">
              <a:spcAft>
                <a:spcPts val="100"/>
              </a:spcAft>
              <a:buNone/>
            </a:pPr>
            <a:r>
              <a:rPr sz="1350" b="1" i="0">
                <a:solidFill>
                  <a:srgbClr val="0E1F53"/>
                </a:solidFill>
                <a:latin typeface="Roboto"/>
              </a:rPr>
              <a:t>2 · Insight-Analyst</a:t>
            </a:r>
          </a:p>
          <a:p>
            <a:pPr algn="l">
              <a:spcAft>
                <a:spcPts val="100"/>
              </a:spcAft>
              <a:buNone/>
            </a:pPr>
            <a:r>
              <a:rPr sz="1100" b="0" i="0">
                <a:solidFill>
                  <a:srgbClr val="5A6684"/>
                </a:solidFill>
                <a:latin typeface="Roboto"/>
              </a:rPr>
              <a:t>verdichtet Daten zu Insights, Persona und Point of View</a:t>
            </a:r>
          </a:p>
        </p:txBody>
      </p:sp>
      <p:cxnSp>
        <p:nvCxnSpPr>
          <p:cNvPr id="21" name="Connector 20"/>
          <p:cNvCxnSpPr/>
          <p:nvPr/>
        </p:nvCxnSpPr>
        <p:spPr>
          <a:xfrm flipH="1">
            <a:off x="7384237" y="2971800"/>
            <a:ext cx="2395271" cy="411479"/>
          </a:xfrm>
          <a:prstGeom prst="line">
            <a:avLst/>
          </a:prstGeom>
          <a:ln w="15875">
            <a:solidFill>
              <a:srgbClr val="8FA3C8"/>
            </a:solidFill>
            <a:prstDash val="dash"/>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41248" y="4937760"/>
            <a:ext cx="3136392" cy="960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24128" y="5120640"/>
            <a:ext cx="594360" cy="59436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uLightbulb_w.png"/>
          <p:cNvPicPr>
            <a:picLocks noChangeAspect="1"/>
          </p:cNvPicPr>
          <p:nvPr/>
        </p:nvPicPr>
        <p:blipFill>
          <a:blip r:embed="rId7"/>
          <a:stretch>
            <a:fillRect/>
          </a:stretch>
        </p:blipFill>
        <p:spPr>
          <a:xfrm>
            <a:off x="1166774" y="5263286"/>
            <a:ext cx="309067" cy="309067"/>
          </a:xfrm>
          <a:prstGeom prst="rect">
            <a:avLst/>
          </a:prstGeom>
        </p:spPr>
      </p:pic>
      <p:sp>
        <p:nvSpPr>
          <p:cNvPr id="25" name="TextBox 24"/>
          <p:cNvSpPr txBox="1"/>
          <p:nvPr/>
        </p:nvSpPr>
        <p:spPr>
          <a:xfrm>
            <a:off x="1755648" y="5029200"/>
            <a:ext cx="2130552" cy="822960"/>
          </a:xfrm>
          <a:prstGeom prst="rect">
            <a:avLst/>
          </a:prstGeom>
          <a:noFill/>
        </p:spPr>
        <p:txBody>
          <a:bodyPr wrap="square" lIns="0" rIns="0" tIns="0" bIns="0" anchor="ctr"/>
          <a:lstStyle/>
          <a:p>
            <a:pPr algn="l">
              <a:spcAft>
                <a:spcPts val="100"/>
              </a:spcAft>
              <a:buNone/>
            </a:pPr>
            <a:r>
              <a:rPr sz="1350" b="1" i="0">
                <a:solidFill>
                  <a:srgbClr val="0E1F53"/>
                </a:solidFill>
                <a:latin typeface="Roboto"/>
              </a:rPr>
              <a:t>3 · Ideen-Sparringspartner</a:t>
            </a:r>
          </a:p>
          <a:p>
            <a:pPr algn="l">
              <a:spcAft>
                <a:spcPts val="100"/>
              </a:spcAft>
              <a:buNone/>
            </a:pPr>
            <a:r>
              <a:rPr sz="1100" b="0" i="0">
                <a:solidFill>
                  <a:srgbClr val="5A6684"/>
                </a:solidFill>
                <a:latin typeface="Roboto"/>
              </a:rPr>
              <a:t>erweitert den Ideenspeicher und hilft beim Bewerten</a:t>
            </a:r>
          </a:p>
        </p:txBody>
      </p:sp>
      <p:cxnSp>
        <p:nvCxnSpPr>
          <p:cNvPr id="26" name="Connector 25"/>
          <p:cNvCxnSpPr/>
          <p:nvPr/>
        </p:nvCxnSpPr>
        <p:spPr>
          <a:xfrm flipV="1">
            <a:off x="2409444" y="4572000"/>
            <a:ext cx="2395270" cy="365760"/>
          </a:xfrm>
          <a:prstGeom prst="line">
            <a:avLst/>
          </a:prstGeom>
          <a:ln w="15875">
            <a:solidFill>
              <a:srgbClr val="8FA3C8"/>
            </a:solidFill>
            <a:prstDash val="dash"/>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526280" y="4937760"/>
            <a:ext cx="3136392" cy="960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709160" y="5120640"/>
            <a:ext cx="594360" cy="59436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LuPencilRuler_w.png"/>
          <p:cNvPicPr>
            <a:picLocks noChangeAspect="1"/>
          </p:cNvPicPr>
          <p:nvPr/>
        </p:nvPicPr>
        <p:blipFill>
          <a:blip r:embed="rId8"/>
          <a:stretch>
            <a:fillRect/>
          </a:stretch>
        </p:blipFill>
        <p:spPr>
          <a:xfrm>
            <a:off x="4851806" y="5263286"/>
            <a:ext cx="309067" cy="309067"/>
          </a:xfrm>
          <a:prstGeom prst="rect">
            <a:avLst/>
          </a:prstGeom>
        </p:spPr>
      </p:pic>
      <p:sp>
        <p:nvSpPr>
          <p:cNvPr id="30" name="TextBox 29"/>
          <p:cNvSpPr txBox="1"/>
          <p:nvPr/>
        </p:nvSpPr>
        <p:spPr>
          <a:xfrm>
            <a:off x="5440680" y="5029200"/>
            <a:ext cx="2130552" cy="822960"/>
          </a:xfrm>
          <a:prstGeom prst="rect">
            <a:avLst/>
          </a:prstGeom>
          <a:noFill/>
        </p:spPr>
        <p:txBody>
          <a:bodyPr wrap="square" lIns="0" rIns="0" tIns="0" bIns="0" anchor="ctr"/>
          <a:lstStyle/>
          <a:p>
            <a:pPr algn="l">
              <a:spcAft>
                <a:spcPts val="100"/>
              </a:spcAft>
              <a:buNone/>
            </a:pPr>
            <a:r>
              <a:rPr sz="1350" b="1" i="0">
                <a:solidFill>
                  <a:srgbClr val="0E1F53"/>
                </a:solidFill>
                <a:latin typeface="Roboto"/>
              </a:rPr>
              <a:t>4 · Prototyp-Werkstatt</a:t>
            </a:r>
          </a:p>
          <a:p>
            <a:pPr algn="l">
              <a:spcAft>
                <a:spcPts val="100"/>
              </a:spcAft>
              <a:buNone/>
            </a:pPr>
            <a:r>
              <a:rPr sz="1100" b="0" i="0">
                <a:solidFill>
                  <a:srgbClr val="5A6684"/>
                </a:solidFill>
                <a:latin typeface="Roboto"/>
              </a:rPr>
              <a:t>baut Landingpages, Storyboards und Material in Minuten</a:t>
            </a:r>
          </a:p>
        </p:txBody>
      </p:sp>
      <p:cxnSp>
        <p:nvCxnSpPr>
          <p:cNvPr id="31" name="Connector 30"/>
          <p:cNvCxnSpPr/>
          <p:nvPr/>
        </p:nvCxnSpPr>
        <p:spPr>
          <a:xfrm flipV="1">
            <a:off x="6094476" y="4572000"/>
            <a:ext cx="0" cy="365760"/>
          </a:xfrm>
          <a:prstGeom prst="line">
            <a:avLst/>
          </a:prstGeom>
          <a:ln w="15875">
            <a:solidFill>
              <a:srgbClr val="8FA3C8"/>
            </a:solidFill>
            <a:prstDash val="dash"/>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211312" y="4937760"/>
            <a:ext cx="3136392" cy="960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394192" y="5120640"/>
            <a:ext cx="594360" cy="59436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FlaskConical_w.png"/>
          <p:cNvPicPr>
            <a:picLocks noChangeAspect="1"/>
          </p:cNvPicPr>
          <p:nvPr/>
        </p:nvPicPr>
        <p:blipFill>
          <a:blip r:embed="rId9"/>
          <a:stretch>
            <a:fillRect/>
          </a:stretch>
        </p:blipFill>
        <p:spPr>
          <a:xfrm>
            <a:off x="8536838" y="5263286"/>
            <a:ext cx="309067" cy="309067"/>
          </a:xfrm>
          <a:prstGeom prst="rect">
            <a:avLst/>
          </a:prstGeom>
        </p:spPr>
      </p:pic>
      <p:sp>
        <p:nvSpPr>
          <p:cNvPr id="35" name="TextBox 34"/>
          <p:cNvSpPr txBox="1"/>
          <p:nvPr/>
        </p:nvSpPr>
        <p:spPr>
          <a:xfrm>
            <a:off x="9125712" y="5029200"/>
            <a:ext cx="2130552" cy="822960"/>
          </a:xfrm>
          <a:prstGeom prst="rect">
            <a:avLst/>
          </a:prstGeom>
          <a:noFill/>
        </p:spPr>
        <p:txBody>
          <a:bodyPr wrap="square" lIns="0" rIns="0" tIns="0" bIns="0" anchor="ctr"/>
          <a:lstStyle/>
          <a:p>
            <a:pPr algn="l">
              <a:spcAft>
                <a:spcPts val="100"/>
              </a:spcAft>
              <a:buNone/>
            </a:pPr>
            <a:r>
              <a:rPr sz="1350" b="1" i="0">
                <a:solidFill>
                  <a:srgbClr val="0E1F53"/>
                </a:solidFill>
                <a:latin typeface="Roboto"/>
              </a:rPr>
              <a:t>5 · Test-Auswerter</a:t>
            </a:r>
          </a:p>
          <a:p>
            <a:pPr algn="l">
              <a:spcAft>
                <a:spcPts val="100"/>
              </a:spcAft>
              <a:buNone/>
            </a:pPr>
            <a:r>
              <a:rPr sz="1100" b="0" i="0">
                <a:solidFill>
                  <a:srgbClr val="5A6684"/>
                </a:solidFill>
                <a:latin typeface="Roboto"/>
              </a:rPr>
              <a:t>plant Tests und wertet Feedback und Kennzahlen aus</a:t>
            </a:r>
          </a:p>
        </p:txBody>
      </p:sp>
      <p:cxnSp>
        <p:nvCxnSpPr>
          <p:cNvPr id="36" name="Connector 35"/>
          <p:cNvCxnSpPr/>
          <p:nvPr/>
        </p:nvCxnSpPr>
        <p:spPr>
          <a:xfrm flipH="1" flipV="1">
            <a:off x="7384237" y="4572000"/>
            <a:ext cx="2395271" cy="365760"/>
          </a:xfrm>
          <a:prstGeom prst="line">
            <a:avLst/>
          </a:prstGeom>
          <a:ln w="15875">
            <a:solidFill>
              <a:srgbClr val="8FA3C8"/>
            </a:solidFill>
            <a:prstDash val="dash"/>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8970264" y="3474720"/>
            <a:ext cx="2377440" cy="100584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9107424" y="3675887"/>
            <a:ext cx="603504" cy="603504"/>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LuCalendarClock_w.png"/>
          <p:cNvPicPr>
            <a:picLocks noChangeAspect="1"/>
          </p:cNvPicPr>
          <p:nvPr/>
        </p:nvPicPr>
        <p:blipFill>
          <a:blip r:embed="rId10"/>
          <a:stretch>
            <a:fillRect/>
          </a:stretch>
        </p:blipFill>
        <p:spPr>
          <a:xfrm>
            <a:off x="9252264" y="3820728"/>
            <a:ext cx="313822" cy="313822"/>
          </a:xfrm>
          <a:prstGeom prst="rect">
            <a:avLst/>
          </a:prstGeom>
        </p:spPr>
      </p:pic>
      <p:sp>
        <p:nvSpPr>
          <p:cNvPr id="40" name="TextBox 39"/>
          <p:cNvSpPr txBox="1"/>
          <p:nvPr/>
        </p:nvSpPr>
        <p:spPr>
          <a:xfrm>
            <a:off x="9793224" y="3474720"/>
            <a:ext cx="1508760" cy="1005840"/>
          </a:xfrm>
          <a:prstGeom prst="rect">
            <a:avLst/>
          </a:prstGeom>
          <a:noFill/>
        </p:spPr>
        <p:txBody>
          <a:bodyPr wrap="square" lIns="0" rIns="0" tIns="0" bIns="0" anchor="ctr"/>
          <a:lstStyle/>
          <a:p>
            <a:pPr algn="l">
              <a:spcAft>
                <a:spcPts val="100"/>
              </a:spcAft>
              <a:buNone/>
            </a:pPr>
            <a:r>
              <a:rPr sz="1350" b="1" i="0">
                <a:solidFill>
                  <a:srgbClr val="0E1F53"/>
                </a:solidFill>
                <a:latin typeface="Roboto"/>
              </a:rPr>
              <a:t>Markt-Radar</a:t>
            </a:r>
          </a:p>
          <a:p>
            <a:pPr algn="l">
              <a:spcAft>
                <a:spcPts val="100"/>
              </a:spcAft>
              <a:buNone/>
            </a:pPr>
            <a:r>
              <a:rPr sz="1100" b="0" i="0">
                <a:solidFill>
                  <a:srgbClr val="5A6684"/>
                </a:solidFill>
                <a:latin typeface="Roboto"/>
              </a:rPr>
              <a:t>jeden Montag 7:00</a:t>
            </a:r>
          </a:p>
        </p:txBody>
      </p:sp>
      <p:cxnSp>
        <p:nvCxnSpPr>
          <p:cNvPr id="41" name="Connector 40"/>
          <p:cNvCxnSpPr/>
          <p:nvPr/>
        </p:nvCxnSpPr>
        <p:spPr>
          <a:xfrm>
            <a:off x="7511796" y="3977639"/>
            <a:ext cx="1458468" cy="0"/>
          </a:xfrm>
          <a:prstGeom prst="line">
            <a:avLst/>
          </a:prstGeom>
          <a:ln w="19050">
            <a:solidFill>
              <a:srgbClr val="1E8E4E"/>
            </a:solidFill>
            <a:prstDash val="dash"/>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41248" y="3474720"/>
            <a:ext cx="2651760" cy="1005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024128" y="3474720"/>
            <a:ext cx="2377440" cy="1005840"/>
          </a:xfrm>
          <a:prstGeom prst="rect">
            <a:avLst/>
          </a:prstGeom>
          <a:noFill/>
        </p:spPr>
        <p:txBody>
          <a:bodyPr wrap="square" lIns="0" rIns="0" tIns="0" bIns="0" anchor="ctr"/>
          <a:lstStyle/>
          <a:p>
            <a:pPr algn="l">
              <a:spcAft>
                <a:spcPts val="200"/>
              </a:spcAft>
              <a:buNone/>
            </a:pPr>
            <a:r>
              <a:rPr sz="1250" b="1" i="0">
                <a:solidFill>
                  <a:srgbClr val="0E1F53"/>
                </a:solidFill>
                <a:latin typeface="Roboto"/>
              </a:rPr>
              <a:t>Für jeden Agenten:</a:t>
            </a:r>
          </a:p>
          <a:p>
            <a:pPr algn="l">
              <a:spcAft>
                <a:spcPts val="200"/>
              </a:spcAft>
              <a:buNone/>
            </a:pPr>
            <a:r>
              <a:rPr sz="1150" b="0" i="0">
                <a:solidFill>
                  <a:srgbClr val="0E1F53"/>
                </a:solidFill>
                <a:latin typeface="Roboto"/>
              </a:rPr>
              <a:t>Systemprompt · Wissen · Werkzeuge · Skills</a:t>
            </a:r>
          </a:p>
        </p:txBody>
      </p:sp>
      <p:cxnSp>
        <p:nvCxnSpPr>
          <p:cNvPr id="44" name="Connector 43"/>
          <p:cNvCxnSpPr/>
          <p:nvPr/>
        </p:nvCxnSpPr>
        <p:spPr>
          <a:xfrm>
            <a:off x="3493008" y="3977639"/>
            <a:ext cx="1184148" cy="0"/>
          </a:xfrm>
          <a:prstGeom prst="line">
            <a:avLst/>
          </a:prstGeom>
          <a:ln w="15875">
            <a:solidFill>
              <a:srgbClr val="8FA3C8"/>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Phase 1 · Empathie</a:t>
            </a:r>
          </a:p>
        </p:txBody>
      </p:sp>
      <p:sp>
        <p:nvSpPr>
          <p:cNvPr id="3" name="Text Placeholder 2"/>
          <p:cNvSpPr>
            <a:spLocks noGrp="1"/>
          </p:cNvSpPr>
          <p:nvPr>
            <p:ph type="body" idx="11" sz="quarter"/>
          </p:nvPr>
        </p:nvSpPr>
        <p:spPr/>
        <p:txBody>
          <a:bodyPr/>
          <a:lstStyle/>
          <a:p>
            <a:r>
              <a:rPr b="0" sz="2000"/>
              <a:t>Verstehen und Beobachten: Welches Problem lösen wir, und für wen?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Leitfragen und Methoden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Oval 3"/>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Empathie: Verstehen</a:t>
            </a:r>
          </a:p>
        </p:txBody>
      </p:sp>
      <p:sp>
        <p:nvSpPr>
          <p:cNvPr id="10" name="Rounded Rectangle 9"/>
          <p:cNvSpPr/>
          <p:nvPr/>
        </p:nvSpPr>
        <p:spPr>
          <a:xfrm>
            <a:off x="841248" y="2011680"/>
            <a:ext cx="4206240" cy="3977639"/>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15568" y="2148840"/>
            <a:ext cx="3657599" cy="457200"/>
          </a:xfrm>
          <a:prstGeom prst="rect">
            <a:avLst/>
          </a:prstGeom>
          <a:noFill/>
        </p:spPr>
        <p:txBody>
          <a:bodyPr wrap="square" lIns="0" rIns="0" tIns="0" bIns="0" anchor="t"/>
          <a:lstStyle/>
          <a:p>
            <a:pPr algn="l">
              <a:spcAft>
                <a:spcPts val="400"/>
              </a:spcAft>
              <a:buNone/>
            </a:pPr>
            <a:r>
              <a:rPr sz="1700" b="1" i="0">
                <a:solidFill>
                  <a:srgbClr val="9FD0FF"/>
                </a:solidFill>
                <a:latin typeface="Roboto"/>
              </a:rPr>
              <a:t>Leitfragen</a:t>
            </a:r>
          </a:p>
        </p:txBody>
      </p:sp>
      <p:sp>
        <p:nvSpPr>
          <p:cNvPr id="12" name="TextBox 11"/>
          <p:cNvSpPr txBox="1"/>
          <p:nvPr/>
        </p:nvSpPr>
        <p:spPr>
          <a:xfrm>
            <a:off x="1115568" y="2651760"/>
            <a:ext cx="3657599" cy="3291840"/>
          </a:xfrm>
          <a:prstGeom prst="rect">
            <a:avLst/>
          </a:prstGeom>
          <a:noFill/>
        </p:spPr>
        <p:txBody>
          <a:bodyPr wrap="square" lIns="0" rIns="0" tIns="0" bIns="0" anchor="t"/>
          <a:lstStyle/>
          <a:p>
            <a:pPr algn="l" marL="164592" indent="-164592">
              <a:spcAft>
                <a:spcPts val="700"/>
              </a:spcAft>
              <a:buClr>
                <a:srgbClr val="FB2762"/>
              </a:buClr>
              <a:buFont typeface="Arial"/>
              <a:buChar char="?"/>
            </a:pPr>
            <a:r>
              <a:rPr sz="1350" b="0" i="0">
                <a:solidFill>
                  <a:srgbClr val="FFFFFF"/>
                </a:solidFill>
                <a:latin typeface="Roboto"/>
              </a:rPr>
              <a:t>Was genau ist das Problem, und woran merken wir es?</a:t>
            </a:r>
          </a:p>
          <a:p>
            <a:pPr algn="l" marL="164592" indent="-164592">
              <a:spcAft>
                <a:spcPts val="700"/>
              </a:spcAft>
              <a:buClr>
                <a:srgbClr val="FB2762"/>
              </a:buClr>
              <a:buFont typeface="Arial"/>
              <a:buChar char="?"/>
            </a:pPr>
            <a:r>
              <a:rPr sz="1350" b="0" i="0">
                <a:solidFill>
                  <a:srgbClr val="FFFFFF"/>
                </a:solidFill>
                <a:latin typeface="Roboto"/>
              </a:rPr>
              <a:t>Wen betrifft es: Kundschaft, Mitarbeitende, Partner?</a:t>
            </a:r>
          </a:p>
          <a:p>
            <a:pPr algn="l" marL="164592" indent="-164592">
              <a:spcAft>
                <a:spcPts val="700"/>
              </a:spcAft>
              <a:buClr>
                <a:srgbClr val="FB2762"/>
              </a:buClr>
              <a:buFont typeface="Arial"/>
              <a:buChar char="?"/>
            </a:pPr>
            <a:r>
              <a:rPr sz="1350" b="0" i="0">
                <a:solidFill>
                  <a:srgbClr val="FFFFFF"/>
                </a:solidFill>
                <a:latin typeface="Roboto"/>
              </a:rPr>
              <a:t>Was wissen wir sicher, was vermuten wir nur?</a:t>
            </a:r>
          </a:p>
          <a:p>
            <a:pPr algn="l" marL="164592" indent="-164592">
              <a:spcAft>
                <a:spcPts val="700"/>
              </a:spcAft>
              <a:buClr>
                <a:srgbClr val="FB2762"/>
              </a:buClr>
              <a:buFont typeface="Arial"/>
              <a:buChar char="?"/>
            </a:pPr>
            <a:r>
              <a:rPr sz="1350" b="0" i="0">
                <a:solidFill>
                  <a:srgbClr val="FFFFFF"/>
                </a:solidFill>
                <a:latin typeface="Roboto"/>
              </a:rPr>
              <a:t>Welche Trends, Zahlen und Wettbewerber prägen das Umfeld?</a:t>
            </a:r>
          </a:p>
          <a:p>
            <a:pPr algn="l" marL="164592" indent="-164592">
              <a:spcAft>
                <a:spcPts val="700"/>
              </a:spcAft>
              <a:buClr>
                <a:srgbClr val="FB2762"/>
              </a:buClr>
              <a:buFont typeface="Arial"/>
              <a:buChar char="?"/>
            </a:pPr>
            <a:r>
              <a:rPr sz="1350" b="0" i="0">
                <a:solidFill>
                  <a:srgbClr val="FFFFFF"/>
                </a:solidFill>
                <a:latin typeface="Roboto"/>
              </a:rPr>
              <a:t>Welcher Rahmen gilt: Budget, Zeit, Tabus?</a:t>
            </a:r>
          </a:p>
          <a:p>
            <a:pPr algn="l" marL="164592" indent="-164592">
              <a:spcAft>
                <a:spcPts val="700"/>
              </a:spcAft>
              <a:buClr>
                <a:srgbClr val="FB2762"/>
              </a:buClr>
              <a:buFont typeface="Arial"/>
              <a:buChar char="?"/>
            </a:pPr>
            <a:r>
              <a:rPr sz="1350" b="0" i="0">
                <a:solidFill>
                  <a:srgbClr val="FFFFFF"/>
                </a:solidFill>
                <a:latin typeface="Roboto"/>
              </a:rPr>
              <a:t>Woran erkennen wir am Ende Erfolg?</a:t>
            </a:r>
          </a:p>
        </p:txBody>
      </p:sp>
      <p:sp>
        <p:nvSpPr>
          <p:cNvPr id="13" name="Rounded Rectangle 12"/>
          <p:cNvSpPr/>
          <p:nvPr/>
        </p:nvSpPr>
        <p:spPr>
          <a:xfrm>
            <a:off x="5321807"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522975"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LuTarget_w.png"/>
          <p:cNvPicPr>
            <a:picLocks noChangeAspect="1"/>
          </p:cNvPicPr>
          <p:nvPr/>
        </p:nvPicPr>
        <p:blipFill>
          <a:blip r:embed="rId3"/>
          <a:stretch>
            <a:fillRect/>
          </a:stretch>
        </p:blipFill>
        <p:spPr>
          <a:xfrm>
            <a:off x="5650260" y="2340132"/>
            <a:ext cx="275783" cy="275783"/>
          </a:xfrm>
          <a:prstGeom prst="rect">
            <a:avLst/>
          </a:prstGeom>
        </p:spPr>
      </p:pic>
      <p:sp>
        <p:nvSpPr>
          <p:cNvPr id="16" name="TextBox 15"/>
          <p:cNvSpPr txBox="1"/>
          <p:nvPr/>
        </p:nvSpPr>
        <p:spPr>
          <a:xfrm>
            <a:off x="6190488"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Design Challenge</a:t>
            </a:r>
          </a:p>
        </p:txBody>
      </p:sp>
      <p:sp>
        <p:nvSpPr>
          <p:cNvPr id="17" name="TextBox 16"/>
          <p:cNvSpPr txBox="1"/>
          <p:nvPr/>
        </p:nvSpPr>
        <p:spPr>
          <a:xfrm>
            <a:off x="5522975"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Das Problem als offene „Wie können wir …?“-Frage formulieren: nicht zu eng, nicht zu weit.</a:t>
            </a:r>
          </a:p>
        </p:txBody>
      </p:sp>
      <p:sp>
        <p:nvSpPr>
          <p:cNvPr id="18" name="Rounded Rectangle 17"/>
          <p:cNvSpPr/>
          <p:nvPr/>
        </p:nvSpPr>
        <p:spPr>
          <a:xfrm>
            <a:off x="8471916"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673084"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Network_w.png"/>
          <p:cNvPicPr>
            <a:picLocks noChangeAspect="1"/>
          </p:cNvPicPr>
          <p:nvPr/>
        </p:nvPicPr>
        <p:blipFill>
          <a:blip r:embed="rId4"/>
          <a:stretch>
            <a:fillRect/>
          </a:stretch>
        </p:blipFill>
        <p:spPr>
          <a:xfrm>
            <a:off x="8800368" y="2340132"/>
            <a:ext cx="275783" cy="275783"/>
          </a:xfrm>
          <a:prstGeom prst="rect">
            <a:avLst/>
          </a:prstGeom>
        </p:spPr>
      </p:pic>
      <p:sp>
        <p:nvSpPr>
          <p:cNvPr id="21" name="TextBox 20"/>
          <p:cNvSpPr txBox="1"/>
          <p:nvPr/>
        </p:nvSpPr>
        <p:spPr>
          <a:xfrm>
            <a:off x="9340596"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Stakeholder-Landkarte</a:t>
            </a:r>
          </a:p>
        </p:txBody>
      </p:sp>
      <p:sp>
        <p:nvSpPr>
          <p:cNvPr id="22" name="TextBox 21"/>
          <p:cNvSpPr txBox="1"/>
          <p:nvPr/>
        </p:nvSpPr>
        <p:spPr>
          <a:xfrm>
            <a:off x="8673084"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Wer ist betroffen, wer entscheidet, wer beeinflusst? Auf einer Karte sichtbar machen.</a:t>
            </a:r>
          </a:p>
        </p:txBody>
      </p:sp>
      <p:sp>
        <p:nvSpPr>
          <p:cNvPr id="23" name="Rounded Rectangle 22"/>
          <p:cNvSpPr/>
          <p:nvPr/>
        </p:nvSpPr>
        <p:spPr>
          <a:xfrm>
            <a:off x="5321807"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522975"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uBookOpen_w.png"/>
          <p:cNvPicPr>
            <a:picLocks noChangeAspect="1"/>
          </p:cNvPicPr>
          <p:nvPr/>
        </p:nvPicPr>
        <p:blipFill>
          <a:blip r:embed="rId5"/>
          <a:stretch>
            <a:fillRect/>
          </a:stretch>
        </p:blipFill>
        <p:spPr>
          <a:xfrm>
            <a:off x="5650260" y="4397532"/>
            <a:ext cx="275783" cy="275783"/>
          </a:xfrm>
          <a:prstGeom prst="rect">
            <a:avLst/>
          </a:prstGeom>
        </p:spPr>
      </p:pic>
      <p:sp>
        <p:nvSpPr>
          <p:cNvPr id="26" name="TextBox 25"/>
          <p:cNvSpPr txBox="1"/>
          <p:nvPr/>
        </p:nvSpPr>
        <p:spPr>
          <a:xfrm>
            <a:off x="6190488"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Desk Research</a:t>
            </a:r>
          </a:p>
        </p:txBody>
      </p:sp>
      <p:sp>
        <p:nvSpPr>
          <p:cNvPr id="27" name="TextBox 26"/>
          <p:cNvSpPr txBox="1"/>
          <p:nvPr/>
        </p:nvSpPr>
        <p:spPr>
          <a:xfrm>
            <a:off x="5522975"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Zahlen, Studien, Trends und Wettbewerber sammeln, bevor wir rausgehen.</a:t>
            </a:r>
          </a:p>
        </p:txBody>
      </p:sp>
      <p:sp>
        <p:nvSpPr>
          <p:cNvPr id="28" name="Rounded Rectangle 27"/>
          <p:cNvSpPr/>
          <p:nvPr/>
        </p:nvSpPr>
        <p:spPr>
          <a:xfrm>
            <a:off x="8471916"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8673084"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Scale_w.png"/>
          <p:cNvPicPr>
            <a:picLocks noChangeAspect="1"/>
          </p:cNvPicPr>
          <p:nvPr/>
        </p:nvPicPr>
        <p:blipFill>
          <a:blip r:embed="rId6"/>
          <a:stretch>
            <a:fillRect/>
          </a:stretch>
        </p:blipFill>
        <p:spPr>
          <a:xfrm>
            <a:off x="8800368" y="4397532"/>
            <a:ext cx="275783" cy="275783"/>
          </a:xfrm>
          <a:prstGeom prst="rect">
            <a:avLst/>
          </a:prstGeom>
        </p:spPr>
      </p:pic>
      <p:sp>
        <p:nvSpPr>
          <p:cNvPr id="31" name="TextBox 30"/>
          <p:cNvSpPr txBox="1"/>
          <p:nvPr/>
        </p:nvSpPr>
        <p:spPr>
          <a:xfrm>
            <a:off x="9340596"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Annahmen-Check</a:t>
            </a:r>
          </a:p>
        </p:txBody>
      </p:sp>
      <p:sp>
        <p:nvSpPr>
          <p:cNvPr id="32" name="TextBox 31"/>
          <p:cNvSpPr txBox="1"/>
          <p:nvPr/>
        </p:nvSpPr>
        <p:spPr>
          <a:xfrm>
            <a:off x="8673084"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Trennen: Was ist belegt, was glauben wir nur? Annahmen werden in den Interviews geprüft.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KI-Werkzeuge für diese Phase</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Oval 3"/>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Empathie: Verstehen</a:t>
            </a:r>
          </a:p>
        </p:txBody>
      </p:sp>
      <p:sp>
        <p:nvSpPr>
          <p:cNvPr id="10" name="Rounded Rectangle 9"/>
          <p:cNvSpPr/>
          <p:nvPr/>
        </p:nvSpPr>
        <p:spPr>
          <a:xfrm>
            <a:off x="841248"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42416" y="2194560"/>
            <a:ext cx="530352" cy="530352"/>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ScanSearch_w.png"/>
          <p:cNvPicPr>
            <a:picLocks noChangeAspect="1"/>
          </p:cNvPicPr>
          <p:nvPr/>
        </p:nvPicPr>
        <p:blipFill>
          <a:blip r:embed="rId3"/>
          <a:stretch>
            <a:fillRect/>
          </a:stretch>
        </p:blipFill>
        <p:spPr>
          <a:xfrm>
            <a:off x="1169700" y="2321844"/>
            <a:ext cx="275783" cy="275783"/>
          </a:xfrm>
          <a:prstGeom prst="rect">
            <a:avLst/>
          </a:prstGeom>
        </p:spPr>
      </p:pic>
      <p:sp>
        <p:nvSpPr>
          <p:cNvPr id="13" name="TextBox 12"/>
          <p:cNvSpPr txBox="1"/>
          <p:nvPr/>
        </p:nvSpPr>
        <p:spPr>
          <a:xfrm>
            <a:off x="1709928"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Deep Research</a:t>
            </a:r>
          </a:p>
        </p:txBody>
      </p:sp>
      <p:sp>
        <p:nvSpPr>
          <p:cNvPr id="14" name="TextBox 13"/>
          <p:cNvSpPr txBox="1"/>
          <p:nvPr/>
        </p:nvSpPr>
        <p:spPr>
          <a:xfrm>
            <a:off x="1709928"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Markt, Trends und Wettbewerb in Minuten statt Tagen</a:t>
            </a:r>
          </a:p>
        </p:txBody>
      </p:sp>
      <p:sp>
        <p:nvSpPr>
          <p:cNvPr id="15" name="Rounded Rectangle 14"/>
          <p:cNvSpPr/>
          <p:nvPr/>
        </p:nvSpPr>
        <p:spPr>
          <a:xfrm>
            <a:off x="1042416"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61288"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„Recherchiere den Markt für [Thema] in [Region] seit 2022. Gliedere nach Zahlen, Trends, Wettbewerbern. Mit Quellen.“</a:t>
            </a:r>
          </a:p>
        </p:txBody>
      </p:sp>
      <p:sp>
        <p:nvSpPr>
          <p:cNvPr id="17" name="Rounded Rectangle 16"/>
          <p:cNvSpPr/>
          <p:nvPr/>
        </p:nvSpPr>
        <p:spPr>
          <a:xfrm>
            <a:off x="6231636"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32803" y="2194560"/>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uBot_w.png"/>
          <p:cNvPicPr>
            <a:picLocks noChangeAspect="1"/>
          </p:cNvPicPr>
          <p:nvPr/>
        </p:nvPicPr>
        <p:blipFill>
          <a:blip r:embed="rId4"/>
          <a:stretch>
            <a:fillRect/>
          </a:stretch>
        </p:blipFill>
        <p:spPr>
          <a:xfrm>
            <a:off x="6560088" y="2321844"/>
            <a:ext cx="275783" cy="275783"/>
          </a:xfrm>
          <a:prstGeom prst="rect">
            <a:avLst/>
          </a:prstGeom>
        </p:spPr>
      </p:pic>
      <p:sp>
        <p:nvSpPr>
          <p:cNvPr id="20" name="TextBox 19"/>
          <p:cNvSpPr txBox="1"/>
          <p:nvPr/>
        </p:nvSpPr>
        <p:spPr>
          <a:xfrm>
            <a:off x="7100316"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Agent: Challenge-Scout</a:t>
            </a:r>
          </a:p>
        </p:txBody>
      </p:sp>
      <p:sp>
        <p:nvSpPr>
          <p:cNvPr id="21" name="TextBox 20"/>
          <p:cNvSpPr txBox="1"/>
          <p:nvPr/>
        </p:nvSpPr>
        <p:spPr>
          <a:xfrm>
            <a:off x="7100316"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Schärft die Challenge und trennt Fakten von Annahmen</a:t>
            </a:r>
          </a:p>
        </p:txBody>
      </p:sp>
      <p:sp>
        <p:nvSpPr>
          <p:cNvPr id="22" name="Rounded Rectangle 21"/>
          <p:cNvSpPr/>
          <p:nvPr/>
        </p:nvSpPr>
        <p:spPr>
          <a:xfrm>
            <a:off x="6432803"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51675"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„Formuliere 5 Varianten unserer Challenge als ‚Wie können wir …?‘, mal enger, mal weiter.“</a:t>
            </a:r>
          </a:p>
        </p:txBody>
      </p:sp>
      <p:sp>
        <p:nvSpPr>
          <p:cNvPr id="24" name="Rounded Rectangle 23"/>
          <p:cNvSpPr/>
          <p:nvPr/>
        </p:nvSpPr>
        <p:spPr>
          <a:xfrm>
            <a:off x="841248"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042416"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Folder_w.png"/>
          <p:cNvPicPr>
            <a:picLocks noChangeAspect="1"/>
          </p:cNvPicPr>
          <p:nvPr/>
        </p:nvPicPr>
        <p:blipFill>
          <a:blip r:embed="rId5"/>
          <a:stretch>
            <a:fillRect/>
          </a:stretch>
        </p:blipFill>
        <p:spPr>
          <a:xfrm>
            <a:off x="1169700" y="4351812"/>
            <a:ext cx="275783" cy="275783"/>
          </a:xfrm>
          <a:prstGeom prst="rect">
            <a:avLst/>
          </a:prstGeom>
        </p:spPr>
      </p:pic>
      <p:sp>
        <p:nvSpPr>
          <p:cNvPr id="27" name="TextBox 26"/>
          <p:cNvSpPr txBox="1"/>
          <p:nvPr/>
        </p:nvSpPr>
        <p:spPr>
          <a:xfrm>
            <a:off x="1709928"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Chat mit Dateien</a:t>
            </a:r>
          </a:p>
        </p:txBody>
      </p:sp>
      <p:sp>
        <p:nvSpPr>
          <p:cNvPr id="28" name="TextBox 27"/>
          <p:cNvSpPr txBox="1"/>
          <p:nvPr/>
        </p:nvSpPr>
        <p:spPr>
          <a:xfrm>
            <a:off x="1709928"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Interne Daten auswerten: Reklamationen, Statistiken, Protokolle</a:t>
            </a:r>
          </a:p>
        </p:txBody>
      </p:sp>
      <p:sp>
        <p:nvSpPr>
          <p:cNvPr id="29" name="Rounded Rectangle 28"/>
          <p:cNvSpPr/>
          <p:nvPr/>
        </p:nvSpPr>
        <p:spPr>
          <a:xfrm>
            <a:off x="1042416"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161288"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„Fasse die beigefügten Reklamationen nach Themen zusammen und zähle die Häufigkeit.“</a:t>
            </a:r>
          </a:p>
        </p:txBody>
      </p:sp>
      <p:sp>
        <p:nvSpPr>
          <p:cNvPr id="31" name="Rounded Rectangle 30"/>
          <p:cNvSpPr/>
          <p:nvPr/>
        </p:nvSpPr>
        <p:spPr>
          <a:xfrm>
            <a:off x="6231636"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6432803"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LuCalendarClock_w.png"/>
          <p:cNvPicPr>
            <a:picLocks noChangeAspect="1"/>
          </p:cNvPicPr>
          <p:nvPr/>
        </p:nvPicPr>
        <p:blipFill>
          <a:blip r:embed="rId6"/>
          <a:stretch>
            <a:fillRect/>
          </a:stretch>
        </p:blipFill>
        <p:spPr>
          <a:xfrm>
            <a:off x="6560088" y="4351812"/>
            <a:ext cx="275783" cy="275783"/>
          </a:xfrm>
          <a:prstGeom prst="rect">
            <a:avLst/>
          </a:prstGeom>
        </p:spPr>
      </p:pic>
      <p:sp>
        <p:nvSpPr>
          <p:cNvPr id="34" name="TextBox 33"/>
          <p:cNvSpPr txBox="1"/>
          <p:nvPr/>
        </p:nvSpPr>
        <p:spPr>
          <a:xfrm>
            <a:off x="7100316"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Markt-Radar</a:t>
            </a:r>
          </a:p>
        </p:txBody>
      </p:sp>
      <p:sp>
        <p:nvSpPr>
          <p:cNvPr id="35" name="TextBox 34"/>
          <p:cNvSpPr txBox="1"/>
          <p:nvPr/>
        </p:nvSpPr>
        <p:spPr>
          <a:xfrm>
            <a:off x="7100316"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Ab jetzt läuft die Recherche jede Woche automatisch weiter</a:t>
            </a:r>
          </a:p>
        </p:txBody>
      </p:sp>
      <p:sp>
        <p:nvSpPr>
          <p:cNvPr id="36" name="Rounded Rectangle 35"/>
          <p:cNvSpPr/>
          <p:nvPr/>
        </p:nvSpPr>
        <p:spPr>
          <a:xfrm>
            <a:off x="6432803"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51675"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„Jeden Montag 7:00: Was ist neu zu [Stichworten]? Nur Neues seit letzter Woche.“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Skill und Automatisierung</a:t>
            </a:r>
          </a:p>
        </p:txBody>
      </p:sp>
      <p:sp>
        <p:nvSpPr>
          <p:cNvPr id="3" name="Rounded Rectangle 2"/>
          <p:cNvSpPr/>
          <p:nvPr/>
        </p:nvSpPr>
        <p:spPr>
          <a:xfrm>
            <a:off x="841248" y="850392"/>
            <a:ext cx="2209190"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SKILL &amp; AUTOMATISIERUNG</a:t>
            </a:r>
          </a:p>
        </p:txBody>
      </p:sp>
      <p:sp>
        <p:nvSpPr>
          <p:cNvPr id="4" name="Oval 3"/>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Empathie: Verstehen</a:t>
            </a:r>
          </a:p>
        </p:txBody>
      </p:sp>
      <p:sp>
        <p:nvSpPr>
          <p:cNvPr id="10" name="Rounded Rectangle 9"/>
          <p:cNvSpPr/>
          <p:nvPr/>
        </p:nvSpPr>
        <p:spPr>
          <a:xfrm>
            <a:off x="841248" y="2011680"/>
            <a:ext cx="4160520" cy="3977639"/>
          </a:xfrm>
          <a:prstGeom prst="roundRect">
            <a:avLst>
              <a:gd name="adj" fmla="val 3000"/>
            </a:avLst>
          </a:prstGeom>
          <a:solidFill>
            <a:srgbClr val="0B1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78408" y="2130552"/>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161288" y="2130552"/>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344168" y="2130552"/>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618488" y="2039112"/>
            <a:ext cx="3246120" cy="292608"/>
          </a:xfrm>
          <a:prstGeom prst="rect">
            <a:avLst/>
          </a:prstGeom>
          <a:noFill/>
        </p:spPr>
        <p:txBody>
          <a:bodyPr wrap="square" lIns="0" rIns="0" tIns="0" bIns="0" anchor="ctr"/>
          <a:lstStyle/>
          <a:p>
            <a:pPr algn="l">
              <a:spcAft>
                <a:spcPts val="400"/>
              </a:spcAft>
              <a:buNone/>
            </a:pPr>
            <a:r>
              <a:rPr sz="1050" b="1" i="0">
                <a:solidFill>
                  <a:srgbClr val="9FB2D9"/>
                </a:solidFill>
                <a:latin typeface="Roboto"/>
              </a:rPr>
              <a:t>design-challenge/SKILL.md</a:t>
            </a:r>
          </a:p>
        </p:txBody>
      </p:sp>
      <p:sp>
        <p:nvSpPr>
          <p:cNvPr id="15" name="TextBox 14"/>
          <p:cNvSpPr txBox="1"/>
          <p:nvPr/>
        </p:nvSpPr>
        <p:spPr>
          <a:xfrm>
            <a:off x="1069848" y="2468880"/>
            <a:ext cx="3749039" cy="3428999"/>
          </a:xfrm>
          <a:prstGeom prst="rect">
            <a:avLst/>
          </a:prstGeom>
          <a:noFill/>
        </p:spPr>
        <p:txBody>
          <a:bodyPr wrap="square" lIns="0" rIns="0" tIns="0" bIns="0" anchor="t"/>
          <a:lstStyle/>
          <a:p>
            <a:pPr algn="l">
              <a:spcAft>
                <a:spcPts val="150"/>
              </a:spcAft>
              <a:buNone/>
            </a:pPr>
            <a:r>
              <a:rPr sz="1050" b="0" i="0">
                <a:solidFill>
                  <a:srgbClr val="6E7FA8"/>
                </a:solidFill>
                <a:latin typeface="Roboto Mono"/>
              </a:rPr>
              <a:t>---</a:t>
            </a:r>
          </a:p>
          <a:p>
            <a:pPr algn="l">
              <a:spcAft>
                <a:spcPts val="150"/>
              </a:spcAft>
              <a:buNone/>
            </a:pPr>
            <a:r>
              <a:rPr sz="1050" b="0" i="0">
                <a:solidFill>
                  <a:srgbClr val="7FE0A7"/>
                </a:solidFill>
                <a:latin typeface="Roboto Mono"/>
              </a:rPr>
              <a:t>name: design-challenge</a:t>
            </a:r>
          </a:p>
          <a:p>
            <a:pPr algn="l">
              <a:spcAft>
                <a:spcPts val="150"/>
              </a:spcAft>
              <a:buNone/>
            </a:pPr>
            <a:r>
              <a:rPr sz="1050" b="0" i="0">
                <a:solidFill>
                  <a:srgbClr val="7FE0A7"/>
                </a:solidFill>
                <a:latin typeface="Roboto Mono"/>
              </a:rPr>
              <a:t>description: Formuliert Design</a:t>
            </a:r>
          </a:p>
          <a:p>
            <a:pPr algn="l">
              <a:spcAft>
                <a:spcPts val="150"/>
              </a:spcAft>
              <a:buNone/>
            </a:pPr>
            <a:r>
              <a:rPr sz="1050" b="0" i="0">
                <a:solidFill>
                  <a:srgbClr val="7FE0A7"/>
                </a:solidFill>
                <a:latin typeface="Roboto Mono"/>
              </a:rPr>
              <a:t>  Challenges als Wie-können-wir-</a:t>
            </a:r>
          </a:p>
          <a:p>
            <a:pPr algn="l">
              <a:spcAft>
                <a:spcPts val="150"/>
              </a:spcAft>
              <a:buNone/>
            </a:pPr>
            <a:r>
              <a:rPr sz="1050" b="0" i="0">
                <a:solidFill>
                  <a:srgbClr val="7FE0A7"/>
                </a:solidFill>
                <a:latin typeface="Roboto Mono"/>
              </a:rPr>
              <a:t>  Fragen. Nutzen bei Empathie.</a:t>
            </a:r>
          </a:p>
          <a:p>
            <a:pPr algn="l">
              <a:spcAft>
                <a:spcPts val="150"/>
              </a:spcAft>
              <a:buNone/>
            </a:pPr>
            <a:r>
              <a:rPr sz="1050" b="0" i="0">
                <a:solidFill>
                  <a:srgbClr val="6E7FA8"/>
                </a:solidFill>
                <a:latin typeface="Roboto Mono"/>
              </a:rPr>
              <a:t>---</a:t>
            </a:r>
          </a:p>
          <a:p>
            <a:pPr algn="l">
              <a:spcAft>
                <a:spcPts val="150"/>
              </a:spcAft>
              <a:buNone/>
            </a:pPr>
            <a:r>
              <a:rPr sz="1050" b="0" i="0">
                <a:solidFill>
                  <a:srgbClr val="FFFFFF"/>
                </a:solidFill>
                <a:latin typeface="Roboto Mono"/>
              </a:rPr>
              <a:t># Design Challenge formulieren</a:t>
            </a:r>
          </a:p>
          <a:p>
            <a:pPr algn="l">
              <a:spcAft>
                <a:spcPts val="150"/>
              </a:spcAft>
              <a:buNone/>
            </a:pPr>
            <a:r>
              <a:rPr sz="1050" b="0" i="0">
                <a:solidFill>
                  <a:srgbClr val="C9D6EE"/>
                </a:solidFill>
                <a:latin typeface="Roboto Mono"/>
              </a:rPr>
              <a:t>1. Problem in einem Satz</a:t>
            </a:r>
          </a:p>
          <a:p>
            <a:pPr algn="l">
              <a:spcAft>
                <a:spcPts val="150"/>
              </a:spcAft>
              <a:buNone/>
            </a:pPr>
            <a:r>
              <a:rPr sz="1050" b="0" i="0">
                <a:solidFill>
                  <a:srgbClr val="C9D6EE"/>
                </a:solidFill>
                <a:latin typeface="Roboto Mono"/>
              </a:rPr>
              <a:t>2. Zielgruppe benennen</a:t>
            </a:r>
          </a:p>
          <a:p>
            <a:pPr algn="l">
              <a:spcAft>
                <a:spcPts val="150"/>
              </a:spcAft>
              <a:buNone/>
            </a:pPr>
            <a:r>
              <a:rPr sz="1050" b="0" i="0">
                <a:solidFill>
                  <a:srgbClr val="C9D6EE"/>
                </a:solidFill>
                <a:latin typeface="Roboto Mono"/>
              </a:rPr>
              <a:t>3. Gewünschte Wirkung beschreiben</a:t>
            </a:r>
          </a:p>
          <a:p>
            <a:pPr algn="l">
              <a:spcAft>
                <a:spcPts val="150"/>
              </a:spcAft>
              <a:buNone/>
            </a:pPr>
            <a:r>
              <a:rPr sz="1050" b="0" i="0">
                <a:solidFill>
                  <a:srgbClr val="C9D6EE"/>
                </a:solidFill>
                <a:latin typeface="Roboto Mono"/>
              </a:rPr>
              <a:t>4. Prüfen: Steckt schon eine</a:t>
            </a:r>
          </a:p>
          <a:p>
            <a:pPr algn="l">
              <a:spcAft>
                <a:spcPts val="150"/>
              </a:spcAft>
              <a:buNone/>
            </a:pPr>
            <a:r>
              <a:rPr sz="1050" b="0" i="0">
                <a:solidFill>
                  <a:srgbClr val="C9D6EE"/>
                </a:solidFill>
                <a:latin typeface="Roboto Mono"/>
              </a:rPr>
              <a:t>   Lösung in der Frage? → streichen</a:t>
            </a:r>
          </a:p>
          <a:p>
            <a:pPr algn="l">
              <a:spcAft>
                <a:spcPts val="150"/>
              </a:spcAft>
              <a:buNone/>
            </a:pPr>
            <a:r>
              <a:rPr sz="1050" b="0" i="0">
                <a:solidFill>
                  <a:srgbClr val="C9D6EE"/>
                </a:solidFill>
                <a:latin typeface="Roboto Mono"/>
              </a:rPr>
              <a:t>5. 3 Varianten: eng, mittel, weit</a:t>
            </a:r>
          </a:p>
        </p:txBody>
      </p:sp>
      <p:sp>
        <p:nvSpPr>
          <p:cNvPr id="16" name="Rounded Rectangle 15"/>
          <p:cNvSpPr/>
          <p:nvPr/>
        </p:nvSpPr>
        <p:spPr>
          <a:xfrm>
            <a:off x="5276088" y="2011680"/>
            <a:ext cx="6071616" cy="2240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5477255" y="2130552"/>
            <a:ext cx="457200" cy="45720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Workflow_w.png"/>
          <p:cNvPicPr>
            <a:picLocks noChangeAspect="1"/>
          </p:cNvPicPr>
          <p:nvPr/>
        </p:nvPicPr>
        <p:blipFill>
          <a:blip r:embed="rId3"/>
          <a:stretch>
            <a:fillRect/>
          </a:stretch>
        </p:blipFill>
        <p:spPr>
          <a:xfrm>
            <a:off x="5586983" y="2240280"/>
            <a:ext cx="237744" cy="237744"/>
          </a:xfrm>
          <a:prstGeom prst="rect">
            <a:avLst/>
          </a:prstGeom>
        </p:spPr>
      </p:pic>
      <p:sp>
        <p:nvSpPr>
          <p:cNvPr id="19" name="TextBox 18"/>
          <p:cNvSpPr txBox="1"/>
          <p:nvPr/>
        </p:nvSpPr>
        <p:spPr>
          <a:xfrm>
            <a:off x="6053327" y="2130552"/>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Markt-Radar: Recherche, die nie aufhört</a:t>
            </a:r>
          </a:p>
        </p:txBody>
      </p:sp>
      <p:sp>
        <p:nvSpPr>
          <p:cNvPr id="20" name="Rounded Rectangle 19"/>
          <p:cNvSpPr/>
          <p:nvPr/>
        </p:nvSpPr>
        <p:spPr>
          <a:xfrm>
            <a:off x="5477255"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CalendarClock_n.png"/>
          <p:cNvPicPr>
            <a:picLocks noChangeAspect="1"/>
          </p:cNvPicPr>
          <p:nvPr/>
        </p:nvPicPr>
        <p:blipFill>
          <a:blip r:embed="rId4"/>
          <a:stretch>
            <a:fillRect/>
          </a:stretch>
        </p:blipFill>
        <p:spPr>
          <a:xfrm>
            <a:off x="5909309" y="2788920"/>
            <a:ext cx="347472" cy="347472"/>
          </a:xfrm>
          <a:prstGeom prst="rect">
            <a:avLst/>
          </a:prstGeom>
        </p:spPr>
      </p:pic>
      <p:sp>
        <p:nvSpPr>
          <p:cNvPr id="22" name="TextBox 21"/>
          <p:cNvSpPr txBox="1"/>
          <p:nvPr/>
        </p:nvSpPr>
        <p:spPr>
          <a:xfrm>
            <a:off x="5522975"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Jeden Montag</a:t>
            </a:r>
          </a:p>
          <a:p>
            <a:pPr algn="ctr">
              <a:spcAft>
                <a:spcPts val="0"/>
              </a:spcAft>
              <a:buNone/>
            </a:pPr>
            <a:r>
              <a:rPr sz="1150" b="1" i="0">
                <a:solidFill>
                  <a:srgbClr val="0E1F53"/>
                </a:solidFill>
                <a:latin typeface="Roboto"/>
              </a:rPr>
              <a:t>7:00 Uhr</a:t>
            </a:r>
          </a:p>
        </p:txBody>
      </p:sp>
      <p:sp>
        <p:nvSpPr>
          <p:cNvPr id="23" name="Right Arrow 22"/>
          <p:cNvSpPr/>
          <p:nvPr/>
        </p:nvSpPr>
        <p:spPr>
          <a:xfrm>
            <a:off x="6734555" y="313639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963155"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uScanSearch_n.png"/>
          <p:cNvPicPr>
            <a:picLocks noChangeAspect="1"/>
          </p:cNvPicPr>
          <p:nvPr/>
        </p:nvPicPr>
        <p:blipFill>
          <a:blip r:embed="rId5"/>
          <a:stretch>
            <a:fillRect/>
          </a:stretch>
        </p:blipFill>
        <p:spPr>
          <a:xfrm>
            <a:off x="7395210" y="2788920"/>
            <a:ext cx="347472" cy="347472"/>
          </a:xfrm>
          <a:prstGeom prst="rect">
            <a:avLst/>
          </a:prstGeom>
        </p:spPr>
      </p:pic>
      <p:sp>
        <p:nvSpPr>
          <p:cNvPr id="26" name="TextBox 25"/>
          <p:cNvSpPr txBox="1"/>
          <p:nvPr/>
        </p:nvSpPr>
        <p:spPr>
          <a:xfrm>
            <a:off x="7008875"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Recherche zu</a:t>
            </a:r>
          </a:p>
          <a:p>
            <a:pPr algn="ctr">
              <a:spcAft>
                <a:spcPts val="0"/>
              </a:spcAft>
              <a:buNone/>
            </a:pPr>
            <a:r>
              <a:rPr sz="1150" b="1" i="0">
                <a:solidFill>
                  <a:srgbClr val="0E1F53"/>
                </a:solidFill>
                <a:latin typeface="Roboto"/>
              </a:rPr>
              <a:t>Stichworten</a:t>
            </a:r>
          </a:p>
        </p:txBody>
      </p:sp>
      <p:sp>
        <p:nvSpPr>
          <p:cNvPr id="27" name="Right Arrow 26"/>
          <p:cNvSpPr/>
          <p:nvPr/>
        </p:nvSpPr>
        <p:spPr>
          <a:xfrm>
            <a:off x="8220456" y="313639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8449056"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LuListChecks_n.png"/>
          <p:cNvPicPr>
            <a:picLocks noChangeAspect="1"/>
          </p:cNvPicPr>
          <p:nvPr/>
        </p:nvPicPr>
        <p:blipFill>
          <a:blip r:embed="rId6"/>
          <a:stretch>
            <a:fillRect/>
          </a:stretch>
        </p:blipFill>
        <p:spPr>
          <a:xfrm>
            <a:off x="8881110" y="2788920"/>
            <a:ext cx="347472" cy="347472"/>
          </a:xfrm>
          <a:prstGeom prst="rect">
            <a:avLst/>
          </a:prstGeom>
        </p:spPr>
      </p:pic>
      <p:sp>
        <p:nvSpPr>
          <p:cNvPr id="30" name="TextBox 29"/>
          <p:cNvSpPr txBox="1"/>
          <p:nvPr/>
        </p:nvSpPr>
        <p:spPr>
          <a:xfrm>
            <a:off x="8494776"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Nur Neues</a:t>
            </a:r>
          </a:p>
          <a:p>
            <a:pPr algn="ctr">
              <a:spcAft>
                <a:spcPts val="0"/>
              </a:spcAft>
              <a:buNone/>
            </a:pPr>
            <a:r>
              <a:rPr sz="1150" b="1" i="0">
                <a:solidFill>
                  <a:srgbClr val="0E1F53"/>
                </a:solidFill>
                <a:latin typeface="Roboto"/>
              </a:rPr>
              <a:t>filtern</a:t>
            </a:r>
          </a:p>
        </p:txBody>
      </p:sp>
      <p:sp>
        <p:nvSpPr>
          <p:cNvPr id="31" name="Right Arrow 30"/>
          <p:cNvSpPr/>
          <p:nvPr/>
        </p:nvSpPr>
        <p:spPr>
          <a:xfrm>
            <a:off x="9706356" y="313639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9934956"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LuMail_n.png"/>
          <p:cNvPicPr>
            <a:picLocks noChangeAspect="1"/>
          </p:cNvPicPr>
          <p:nvPr/>
        </p:nvPicPr>
        <p:blipFill>
          <a:blip r:embed="rId7"/>
          <a:stretch>
            <a:fillRect/>
          </a:stretch>
        </p:blipFill>
        <p:spPr>
          <a:xfrm>
            <a:off x="10367010" y="2788920"/>
            <a:ext cx="347472" cy="347472"/>
          </a:xfrm>
          <a:prstGeom prst="rect">
            <a:avLst/>
          </a:prstGeom>
        </p:spPr>
      </p:pic>
      <p:sp>
        <p:nvSpPr>
          <p:cNvPr id="34" name="TextBox 33"/>
          <p:cNvSpPr txBox="1"/>
          <p:nvPr/>
        </p:nvSpPr>
        <p:spPr>
          <a:xfrm>
            <a:off x="9980676"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Briefing-Mail</a:t>
            </a:r>
          </a:p>
          <a:p>
            <a:pPr algn="ctr">
              <a:spcAft>
                <a:spcPts val="0"/>
              </a:spcAft>
              <a:buNone/>
            </a:pPr>
            <a:r>
              <a:rPr sz="1150" b="1" i="0">
                <a:solidFill>
                  <a:srgbClr val="0E1F53"/>
                </a:solidFill>
                <a:latin typeface="Roboto"/>
              </a:rPr>
              <a:t>ans Team</a:t>
            </a:r>
          </a:p>
        </p:txBody>
      </p:sp>
      <p:sp>
        <p:nvSpPr>
          <p:cNvPr id="35" name="TextBox 34"/>
          <p:cNvSpPr txBox="1"/>
          <p:nvPr/>
        </p:nvSpPr>
        <p:spPr>
          <a:xfrm>
            <a:off x="5477255" y="3794760"/>
            <a:ext cx="5669280" cy="411480"/>
          </a:xfrm>
          <a:prstGeom prst="rect">
            <a:avLst/>
          </a:prstGeom>
          <a:noFill/>
        </p:spPr>
        <p:txBody>
          <a:bodyPr wrap="square" lIns="0" rIns="0" tIns="0" bIns="0" anchor="t"/>
          <a:lstStyle/>
          <a:p>
            <a:pPr algn="l">
              <a:spcAft>
                <a:spcPts val="400"/>
              </a:spcAft>
              <a:buNone/>
            </a:pPr>
            <a:r>
              <a:rPr sz="1100" b="0" i="0">
                <a:solidFill>
                  <a:srgbClr val="5A6684"/>
                </a:solidFill>
                <a:latin typeface="Roboto"/>
              </a:rPr>
              <a:t>Umsetzung als geplante Aufgabe im KI-Assistenten oder als n8n-Workflow. Details in Teil 5.</a:t>
            </a:r>
          </a:p>
        </p:txBody>
      </p:sp>
      <p:sp>
        <p:nvSpPr>
          <p:cNvPr id="36" name="Rounded Rectangle 35"/>
          <p:cNvSpPr/>
          <p:nvPr/>
        </p:nvSpPr>
        <p:spPr>
          <a:xfrm>
            <a:off x="5276088" y="4434840"/>
            <a:ext cx="6071616" cy="1554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5477255" y="4553712"/>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LuGithub_w.png"/>
          <p:cNvPicPr>
            <a:picLocks noChangeAspect="1"/>
          </p:cNvPicPr>
          <p:nvPr/>
        </p:nvPicPr>
        <p:blipFill>
          <a:blip r:embed="rId8"/>
          <a:stretch>
            <a:fillRect/>
          </a:stretch>
        </p:blipFill>
        <p:spPr>
          <a:xfrm>
            <a:off x="5586983" y="4663440"/>
            <a:ext cx="237744" cy="237744"/>
          </a:xfrm>
          <a:prstGeom prst="rect">
            <a:avLst/>
          </a:prstGeom>
        </p:spPr>
      </p:pic>
      <p:sp>
        <p:nvSpPr>
          <p:cNvPr id="39" name="TextBox 38"/>
          <p:cNvSpPr txBox="1"/>
          <p:nvPr/>
        </p:nvSpPr>
        <p:spPr>
          <a:xfrm>
            <a:off x="6053327" y="4553712"/>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Fertige Skills auf GitHub</a:t>
            </a:r>
          </a:p>
        </p:txBody>
      </p:sp>
      <p:sp>
        <p:nvSpPr>
          <p:cNvPr id="40" name="Rounded Rectangle 39"/>
          <p:cNvSpPr/>
          <p:nvPr/>
        </p:nvSpPr>
        <p:spPr>
          <a:xfrm>
            <a:off x="5477255" y="5047488"/>
            <a:ext cx="461356"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pdf</a:t>
            </a:r>
          </a:p>
        </p:txBody>
      </p:sp>
      <p:sp>
        <p:nvSpPr>
          <p:cNvPr id="41" name="Rounded Rectangle 40"/>
          <p:cNvSpPr/>
          <p:nvPr/>
        </p:nvSpPr>
        <p:spPr>
          <a:xfrm>
            <a:off x="6030052" y="5047488"/>
            <a:ext cx="1645920"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problem-framing-canvas</a:t>
            </a:r>
          </a:p>
        </p:txBody>
      </p:sp>
      <p:sp>
        <p:nvSpPr>
          <p:cNvPr id="42" name="Rounded Rectangle 41"/>
          <p:cNvSpPr/>
          <p:nvPr/>
        </p:nvSpPr>
        <p:spPr>
          <a:xfrm>
            <a:off x="7767412" y="5047488"/>
            <a:ext cx="1458883"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stakeholder-mapping</a:t>
            </a:r>
          </a:p>
        </p:txBody>
      </p:sp>
      <p:sp>
        <p:nvSpPr>
          <p:cNvPr id="43" name="Rounded Rectangle 42"/>
          <p:cNvSpPr/>
          <p:nvPr/>
        </p:nvSpPr>
        <p:spPr>
          <a:xfrm>
            <a:off x="9317736" y="5047488"/>
            <a:ext cx="1583574"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market-landscape-scan</a:t>
            </a:r>
          </a:p>
        </p:txBody>
      </p:sp>
      <p:sp>
        <p:nvSpPr>
          <p:cNvPr id="44" name="TextBox 43"/>
          <p:cNvSpPr txBox="1"/>
          <p:nvPr/>
        </p:nvSpPr>
        <p:spPr>
          <a:xfrm>
            <a:off x="5477255" y="5724144"/>
            <a:ext cx="5669280" cy="237744"/>
          </a:xfrm>
          <a:prstGeom prst="rect">
            <a:avLst/>
          </a:prstGeom>
          <a:noFill/>
        </p:spPr>
        <p:txBody>
          <a:bodyPr wrap="square" lIns="0" rIns="0" tIns="0" bIns="0" anchor="t"/>
          <a:lstStyle/>
          <a:p>
            <a:pPr algn="l">
              <a:spcAft>
                <a:spcPts val="400"/>
              </a:spcAft>
              <a:buNone/>
            </a:pPr>
            <a:r>
              <a:rPr sz="950" b="0" i="0">
                <a:solidFill>
                  <a:srgbClr val="5A6684"/>
                </a:solidFill>
                <a:latin typeface="Roboto"/>
              </a:rPr>
              <a:t>GitHub: anthropics/skills · deanpeters/Product-Manager-Skills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 Der Challenge-Scout im Einsatz</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Empathie: Verstehen</a:t>
            </a:r>
          </a:p>
        </p:txBody>
      </p:sp>
      <p:sp>
        <p:nvSpPr>
          <p:cNvPr id="10" name="Rounded Rectangle 9"/>
          <p:cNvSpPr/>
          <p:nvPr/>
        </p:nvSpPr>
        <p:spPr>
          <a:xfrm>
            <a:off x="841248" y="2011680"/>
            <a:ext cx="74980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59536" y="2029968"/>
            <a:ext cx="74615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18488" y="2048256"/>
            <a:ext cx="65836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Challenge-Scout · Hochschule Rhein-Waal</a:t>
            </a:r>
          </a:p>
        </p:txBody>
      </p:sp>
      <p:sp>
        <p:nvSpPr>
          <p:cNvPr id="16" name="Rounded Rectangle 15"/>
          <p:cNvSpPr/>
          <p:nvPr/>
        </p:nvSpPr>
        <p:spPr>
          <a:xfrm>
            <a:off x="969264" y="2487168"/>
            <a:ext cx="7242047" cy="420283"/>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8" name="TextBox 17"/>
          <p:cNvSpPr txBox="1"/>
          <p:nvPr/>
        </p:nvSpPr>
        <p:spPr>
          <a:xfrm>
            <a:off x="2020824" y="2523744"/>
            <a:ext cx="6080759" cy="347131"/>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Challenge-Scout, Innovationsberaterin mit Erfahrung im Hochschulmarketing und in Design Thinking.</a:t>
            </a:r>
          </a:p>
        </p:txBody>
      </p:sp>
      <p:sp>
        <p:nvSpPr>
          <p:cNvPr id="19" name="Rounded Rectangle 18"/>
          <p:cNvSpPr/>
          <p:nvPr/>
        </p:nvSpPr>
        <p:spPr>
          <a:xfrm>
            <a:off x="969264" y="2971459"/>
            <a:ext cx="7242047" cy="760513"/>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60704" y="3026323"/>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1" name="TextBox 20"/>
          <p:cNvSpPr txBox="1"/>
          <p:nvPr/>
        </p:nvSpPr>
        <p:spPr>
          <a:xfrm>
            <a:off x="2020824" y="3008035"/>
            <a:ext cx="6080759" cy="687361"/>
          </a:xfrm>
          <a:prstGeom prst="rect">
            <a:avLst/>
          </a:prstGeom>
          <a:noFill/>
        </p:spPr>
        <p:txBody>
          <a:bodyPr wrap="square" lIns="0" rIns="0" tIns="0" bIns="0" anchor="ctr"/>
          <a:lstStyle/>
          <a:p>
            <a:pPr algn="l">
              <a:spcAft>
                <a:spcPts val="0"/>
              </a:spcAft>
              <a:buNone/>
            </a:pPr>
            <a:r>
              <a:rPr sz="1150" b="0" i="0">
                <a:solidFill>
                  <a:srgbClr val="1B2440"/>
                </a:solidFill>
                <a:latin typeface="Roboto"/>
              </a:rPr>
              <a:t>Die Hochschule Rhein-Waal (Kleve und Kamp-Lintfort, gegr. 2009) hat weniger Studierende als vor einigen Jahren, der Campus wirkt oft leer. 2026 fehlt in NRW durch G9 fast ein Abiturjahrgang.</a:t>
            </a:r>
          </a:p>
        </p:txBody>
      </p:sp>
      <p:sp>
        <p:nvSpPr>
          <p:cNvPr id="22" name="Rounded Rectangle 21"/>
          <p:cNvSpPr/>
          <p:nvPr/>
        </p:nvSpPr>
        <p:spPr>
          <a:xfrm>
            <a:off x="969264" y="3795980"/>
            <a:ext cx="7242047" cy="500337"/>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60704" y="3850844"/>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4" name="TextBox 23"/>
          <p:cNvSpPr txBox="1"/>
          <p:nvPr/>
        </p:nvSpPr>
        <p:spPr>
          <a:xfrm>
            <a:off x="2020824" y="3832556"/>
            <a:ext cx="6080759" cy="427185"/>
          </a:xfrm>
          <a:prstGeom prst="rect">
            <a:avLst/>
          </a:prstGeom>
          <a:noFill/>
        </p:spPr>
        <p:txBody>
          <a:bodyPr wrap="square" lIns="0" rIns="0" tIns="0" bIns="0" anchor="ctr"/>
          <a:lstStyle/>
          <a:p>
            <a:pPr algn="l">
              <a:spcAft>
                <a:spcPts val="0"/>
              </a:spcAft>
              <a:buNone/>
            </a:pPr>
            <a:r>
              <a:rPr sz="1150" b="0" i="0">
                <a:solidFill>
                  <a:srgbClr val="1B2440"/>
                </a:solidFill>
                <a:latin typeface="Roboto"/>
              </a:rPr>
              <a:t>Erstelle ein Verständnis-Dossier zu Studierendenzahlen, Wettbewerb und Trends sowie drei Vorschläge für die Design Challenge.</a:t>
            </a:r>
          </a:p>
        </p:txBody>
      </p:sp>
      <p:sp>
        <p:nvSpPr>
          <p:cNvPr id="25" name="Rounded Rectangle 24"/>
          <p:cNvSpPr/>
          <p:nvPr/>
        </p:nvSpPr>
        <p:spPr>
          <a:xfrm>
            <a:off x="969264" y="4360326"/>
            <a:ext cx="7242047" cy="636429"/>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60704" y="4415190"/>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7" name="TextBox 26"/>
          <p:cNvSpPr txBox="1"/>
          <p:nvPr/>
        </p:nvSpPr>
        <p:spPr>
          <a:xfrm>
            <a:off x="2020824" y="4396902"/>
            <a:ext cx="6080759" cy="563277"/>
          </a:xfrm>
          <a:prstGeom prst="rect">
            <a:avLst/>
          </a:prstGeom>
          <a:noFill/>
        </p:spPr>
        <p:txBody>
          <a:bodyPr wrap="square" lIns="0" rIns="0" tIns="0" bIns="0" anchor="ctr"/>
          <a:lstStyle/>
          <a:p>
            <a:pPr algn="l">
              <a:spcAft>
                <a:spcPts val="0"/>
              </a:spcAft>
              <a:buNone/>
            </a:pPr>
            <a:r>
              <a:rPr sz="1150" b="0" i="0">
                <a:solidFill>
                  <a:srgbClr val="1B2440"/>
                </a:solidFill>
                <a:latin typeface="Roboto"/>
              </a:rPr>
              <a:t>1. Zahlen der HSRW und NRW seit 2018 recherchieren. 2. Nachbarhochschulen in NRW und NL analysieren. 3. Fakten von Annahmen trennen. 4. Challenges formulieren.</a:t>
            </a:r>
          </a:p>
        </p:txBody>
      </p:sp>
      <p:sp>
        <p:nvSpPr>
          <p:cNvPr id="28" name="Rounded Rectangle 27"/>
          <p:cNvSpPr/>
          <p:nvPr/>
        </p:nvSpPr>
        <p:spPr>
          <a:xfrm>
            <a:off x="969264" y="5060763"/>
            <a:ext cx="7242047" cy="400270"/>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60704" y="5115627"/>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0" name="TextBox 29"/>
          <p:cNvSpPr txBox="1"/>
          <p:nvPr/>
        </p:nvSpPr>
        <p:spPr>
          <a:xfrm>
            <a:off x="2020824" y="5097339"/>
            <a:ext cx="6080759" cy="327118"/>
          </a:xfrm>
          <a:prstGeom prst="rect">
            <a:avLst/>
          </a:prstGeom>
          <a:noFill/>
        </p:spPr>
        <p:txBody>
          <a:bodyPr wrap="square" lIns="0" rIns="0" tIns="0" bIns="0" anchor="ctr"/>
          <a:lstStyle/>
          <a:p>
            <a:pPr algn="l">
              <a:spcAft>
                <a:spcPts val="0"/>
              </a:spcAft>
              <a:buNone/>
            </a:pPr>
            <a:r>
              <a:rPr sz="1150" b="0" i="0">
                <a:solidFill>
                  <a:srgbClr val="1B2440"/>
                </a:solidFill>
                <a:latin typeface="Roboto"/>
              </a:rPr>
              <a:t>Max. 2 Seiten: Fakten mit Quelle, Annahmen-Liste, Stakeholder-Tabelle, 3 „Wie können wir …?“-Fragen.</a:t>
            </a:r>
          </a:p>
        </p:txBody>
      </p:sp>
      <p:sp>
        <p:nvSpPr>
          <p:cNvPr id="31" name="Rounded Rectangle 30"/>
          <p:cNvSpPr/>
          <p:nvPr/>
        </p:nvSpPr>
        <p:spPr>
          <a:xfrm>
            <a:off x="969264" y="5525041"/>
            <a:ext cx="7242047" cy="400270"/>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60704" y="5579905"/>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3" name="TextBox 32"/>
          <p:cNvSpPr txBox="1"/>
          <p:nvPr/>
        </p:nvSpPr>
        <p:spPr>
          <a:xfrm>
            <a:off x="2020824" y="5561617"/>
            <a:ext cx="6080759" cy="327118"/>
          </a:xfrm>
          <a:prstGeom prst="rect">
            <a:avLst/>
          </a:prstGeom>
          <a:noFill/>
        </p:spPr>
        <p:txBody>
          <a:bodyPr wrap="square" lIns="0" rIns="0" tIns="0" bIns="0" anchor="ctr"/>
          <a:lstStyle/>
          <a:p>
            <a:pPr algn="l">
              <a:spcAft>
                <a:spcPts val="0"/>
              </a:spcAft>
              <a:buNone/>
            </a:pPr>
            <a:r>
              <a:rPr sz="1150" b="0" i="0">
                <a:solidFill>
                  <a:srgbClr val="1B2440"/>
                </a:solidFill>
                <a:latin typeface="Roboto"/>
              </a:rPr>
              <a:t>Nur belastbare Quellen: HSRW, IT.NRW, Destatis, seriöse Presse. Jede Zahl mit Datum. Keine Lösungen.</a:t>
            </a:r>
          </a:p>
        </p:txBody>
      </p:sp>
      <p:sp>
        <p:nvSpPr>
          <p:cNvPr id="34" name="Rounded Rectangle 33"/>
          <p:cNvSpPr/>
          <p:nvPr/>
        </p:nvSpPr>
        <p:spPr>
          <a:xfrm>
            <a:off x="8613648" y="2011680"/>
            <a:ext cx="27340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842248" y="2194560"/>
            <a:ext cx="640080" cy="64008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LuSearch_w.png"/>
          <p:cNvPicPr>
            <a:picLocks noChangeAspect="1"/>
          </p:cNvPicPr>
          <p:nvPr/>
        </p:nvPicPr>
        <p:blipFill>
          <a:blip r:embed="rId3"/>
          <a:stretch>
            <a:fillRect/>
          </a:stretch>
        </p:blipFill>
        <p:spPr>
          <a:xfrm>
            <a:off x="8995867" y="2348179"/>
            <a:ext cx="332841" cy="332841"/>
          </a:xfrm>
          <a:prstGeom prst="rect">
            <a:avLst/>
          </a:prstGeom>
        </p:spPr>
      </p:pic>
      <p:sp>
        <p:nvSpPr>
          <p:cNvPr id="37" name="TextBox 36"/>
          <p:cNvSpPr txBox="1"/>
          <p:nvPr/>
        </p:nvSpPr>
        <p:spPr>
          <a:xfrm>
            <a:off x="9619488" y="2194560"/>
            <a:ext cx="1591056" cy="640080"/>
          </a:xfrm>
          <a:prstGeom prst="rect">
            <a:avLst/>
          </a:prstGeom>
          <a:noFill/>
        </p:spPr>
        <p:txBody>
          <a:bodyPr wrap="square" lIns="0" rIns="0" tIns="0" bIns="0" anchor="ctr"/>
          <a:lstStyle/>
          <a:p>
            <a:pPr algn="l">
              <a:spcAft>
                <a:spcPts val="0"/>
              </a:spcAft>
              <a:buNone/>
            </a:pPr>
            <a:r>
              <a:rPr sz="1500" b="1" i="0">
                <a:solidFill>
                  <a:srgbClr val="0E1F53"/>
                </a:solidFill>
                <a:latin typeface="Roboto"/>
              </a:rPr>
              <a:t>Challenge-Scout</a:t>
            </a:r>
          </a:p>
          <a:p>
            <a:pPr algn="l">
              <a:spcAft>
                <a:spcPts val="0"/>
              </a:spcAft>
              <a:buNone/>
            </a:pPr>
            <a:r>
              <a:rPr sz="1100" b="0" i="0">
                <a:solidFill>
                  <a:srgbClr val="5A6684"/>
                </a:solidFill>
                <a:latin typeface="Roboto"/>
              </a:rPr>
              <a:t>Phase 1 · Empathie</a:t>
            </a:r>
          </a:p>
        </p:txBody>
      </p:sp>
      <p:sp>
        <p:nvSpPr>
          <p:cNvPr id="38" name="TextBox 37"/>
          <p:cNvSpPr txBox="1"/>
          <p:nvPr/>
        </p:nvSpPr>
        <p:spPr>
          <a:xfrm>
            <a:off x="8842248" y="3063240"/>
            <a:ext cx="2276856" cy="320040"/>
          </a:xfrm>
          <a:prstGeom prst="rect">
            <a:avLst/>
          </a:prstGeom>
          <a:noFill/>
        </p:spPr>
        <p:txBody>
          <a:bodyPr wrap="square" lIns="0" rIns="0" tIns="0" bIns="0" anchor="t"/>
          <a:lstStyle/>
          <a:p>
            <a:pPr algn="l">
              <a:spcAft>
                <a:spcPts val="400"/>
              </a:spcAft>
              <a:buNone/>
            </a:pPr>
            <a:r>
              <a:rPr sz="1200" b="1" i="0">
                <a:solidFill>
                  <a:srgbClr val="5A6684"/>
                </a:solidFill>
                <a:latin typeface="Roboto"/>
              </a:rPr>
              <a:t>Im Einsatz</a:t>
            </a:r>
          </a:p>
        </p:txBody>
      </p:sp>
      <p:sp>
        <p:nvSpPr>
          <p:cNvPr id="39" name="Rounded Rectangle 38"/>
          <p:cNvSpPr/>
          <p:nvPr/>
        </p:nvSpPr>
        <p:spPr>
          <a:xfrm>
            <a:off x="8842248" y="3429000"/>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LuCheck_p.png"/>
          <p:cNvPicPr>
            <a:picLocks noChangeAspect="1"/>
          </p:cNvPicPr>
          <p:nvPr/>
        </p:nvPicPr>
        <p:blipFill>
          <a:blip r:embed="rId4"/>
          <a:stretch>
            <a:fillRect/>
          </a:stretch>
        </p:blipFill>
        <p:spPr>
          <a:xfrm>
            <a:off x="8933688" y="3502152"/>
            <a:ext cx="237744" cy="237744"/>
          </a:xfrm>
          <a:prstGeom prst="rect">
            <a:avLst/>
          </a:prstGeom>
        </p:spPr>
      </p:pic>
      <p:sp>
        <p:nvSpPr>
          <p:cNvPr id="41" name="TextBox 40"/>
          <p:cNvSpPr txBox="1"/>
          <p:nvPr/>
        </p:nvSpPr>
        <p:spPr>
          <a:xfrm>
            <a:off x="9253728" y="3429000"/>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Deep Research</a:t>
            </a:r>
          </a:p>
        </p:txBody>
      </p:sp>
      <p:sp>
        <p:nvSpPr>
          <p:cNvPr id="42" name="Rounded Rectangle 41"/>
          <p:cNvSpPr/>
          <p:nvPr/>
        </p:nvSpPr>
        <p:spPr>
          <a:xfrm>
            <a:off x="8842248" y="3904487"/>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Picture 42" descr="LuCheck_p.png"/>
          <p:cNvPicPr>
            <a:picLocks noChangeAspect="1"/>
          </p:cNvPicPr>
          <p:nvPr/>
        </p:nvPicPr>
        <p:blipFill>
          <a:blip r:embed="rId4"/>
          <a:stretch>
            <a:fillRect/>
          </a:stretch>
        </p:blipFill>
        <p:spPr>
          <a:xfrm>
            <a:off x="8933688" y="3977639"/>
            <a:ext cx="237744" cy="237744"/>
          </a:xfrm>
          <a:prstGeom prst="rect">
            <a:avLst/>
          </a:prstGeom>
        </p:spPr>
      </p:pic>
      <p:sp>
        <p:nvSpPr>
          <p:cNvPr id="44" name="TextBox 43"/>
          <p:cNvSpPr txBox="1"/>
          <p:nvPr/>
        </p:nvSpPr>
        <p:spPr>
          <a:xfrm>
            <a:off x="9253728" y="3904487"/>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Websuche</a:t>
            </a:r>
          </a:p>
        </p:txBody>
      </p:sp>
      <p:sp>
        <p:nvSpPr>
          <p:cNvPr id="45" name="Rounded Rectangle 44"/>
          <p:cNvSpPr/>
          <p:nvPr/>
        </p:nvSpPr>
        <p:spPr>
          <a:xfrm>
            <a:off x="8842248" y="4379976"/>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LuCheck_p.png"/>
          <p:cNvPicPr>
            <a:picLocks noChangeAspect="1"/>
          </p:cNvPicPr>
          <p:nvPr/>
        </p:nvPicPr>
        <p:blipFill>
          <a:blip r:embed="rId4"/>
          <a:stretch>
            <a:fillRect/>
          </a:stretch>
        </p:blipFill>
        <p:spPr>
          <a:xfrm>
            <a:off x="8933688" y="4453128"/>
            <a:ext cx="237744" cy="237744"/>
          </a:xfrm>
          <a:prstGeom prst="rect">
            <a:avLst/>
          </a:prstGeom>
        </p:spPr>
      </p:pic>
      <p:sp>
        <p:nvSpPr>
          <p:cNvPr id="47" name="TextBox 46"/>
          <p:cNvSpPr txBox="1"/>
          <p:nvPr/>
        </p:nvSpPr>
        <p:spPr>
          <a:xfrm>
            <a:off x="9253728" y="4379976"/>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Skill: design-challenge</a:t>
            </a:r>
          </a:p>
        </p:txBody>
      </p:sp>
      <p:sp>
        <p:nvSpPr>
          <p:cNvPr id="48" name="Rounded Rectangle 47"/>
          <p:cNvSpPr/>
          <p:nvPr/>
        </p:nvSpPr>
        <p:spPr>
          <a:xfrm>
            <a:off x="8842248" y="4855464"/>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9" name="Picture 48" descr="LuCheck_p.png"/>
          <p:cNvPicPr>
            <a:picLocks noChangeAspect="1"/>
          </p:cNvPicPr>
          <p:nvPr/>
        </p:nvPicPr>
        <p:blipFill>
          <a:blip r:embed="rId4"/>
          <a:stretch>
            <a:fillRect/>
          </a:stretch>
        </p:blipFill>
        <p:spPr>
          <a:xfrm>
            <a:off x="8933688" y="4928616"/>
            <a:ext cx="237744" cy="237744"/>
          </a:xfrm>
          <a:prstGeom prst="rect">
            <a:avLst/>
          </a:prstGeom>
        </p:spPr>
      </p:pic>
      <p:sp>
        <p:nvSpPr>
          <p:cNvPr id="50" name="TextBox 49"/>
          <p:cNvSpPr txBox="1"/>
          <p:nvPr/>
        </p:nvSpPr>
        <p:spPr>
          <a:xfrm>
            <a:off x="9253728" y="4855464"/>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Markt-Radar (Mo 7:00)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HSRW-Ergebnis Empathie: Dossier und Design Challenge</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Empathie: Verstehen</a:t>
            </a:r>
          </a:p>
        </p:txBody>
      </p:sp>
      <p:sp>
        <p:nvSpPr>
          <p:cNvPr id="10" name="Rounded Rectangle 9"/>
          <p:cNvSpPr/>
          <p:nvPr/>
        </p:nvSpPr>
        <p:spPr>
          <a:xfrm>
            <a:off x="841248" y="2011680"/>
            <a:ext cx="10506456" cy="105156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61288" y="2011680"/>
            <a:ext cx="9866376" cy="1051560"/>
          </a:xfrm>
          <a:prstGeom prst="rect">
            <a:avLst/>
          </a:prstGeom>
          <a:noFill/>
        </p:spPr>
        <p:txBody>
          <a:bodyPr wrap="square" lIns="0" rIns="0" tIns="0" bIns="0" anchor="ctr"/>
          <a:lstStyle/>
          <a:p>
            <a:pPr algn="l">
              <a:spcAft>
                <a:spcPts val="200"/>
              </a:spcAft>
              <a:buNone/>
            </a:pPr>
            <a:r>
              <a:rPr sz="1250" b="1" i="0">
                <a:solidFill>
                  <a:srgbClr val="9FD0FF"/>
                </a:solidFill>
                <a:latin typeface="Roboto"/>
              </a:rPr>
              <a:t>Design Challenge</a:t>
            </a:r>
          </a:p>
          <a:p>
            <a:pPr algn="l">
              <a:spcAft>
                <a:spcPts val="400"/>
              </a:spcAft>
              <a:buNone/>
            </a:pPr>
            <a:r>
              <a:rPr sz="1700" b="1" i="0">
                <a:solidFill>
                  <a:srgbClr val="FFFFFF"/>
                </a:solidFill>
                <a:latin typeface="Roboto"/>
              </a:rPr>
              <a:t>Wie können wir die HSRW zu einem Ort machen, für den sich junge Menschen bewusst entscheiden und an den sie gern kommen?</a:t>
            </a:r>
          </a:p>
        </p:txBody>
      </p:sp>
      <p:sp>
        <p:nvSpPr>
          <p:cNvPr id="12" name="Rounded Rectangle 11"/>
          <p:cNvSpPr/>
          <p:nvPr/>
        </p:nvSpPr>
        <p:spPr>
          <a:xfrm>
            <a:off x="841248" y="3291840"/>
            <a:ext cx="3319272" cy="2697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24128" y="3429000"/>
            <a:ext cx="457200" cy="45720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LuCheck_w.png"/>
          <p:cNvPicPr>
            <a:picLocks noChangeAspect="1"/>
          </p:cNvPicPr>
          <p:nvPr/>
        </p:nvPicPr>
        <p:blipFill>
          <a:blip r:embed="rId3"/>
          <a:stretch>
            <a:fillRect/>
          </a:stretch>
        </p:blipFill>
        <p:spPr>
          <a:xfrm>
            <a:off x="1133856" y="3538728"/>
            <a:ext cx="237744" cy="237744"/>
          </a:xfrm>
          <a:prstGeom prst="rect">
            <a:avLst/>
          </a:prstGeom>
        </p:spPr>
      </p:pic>
      <p:sp>
        <p:nvSpPr>
          <p:cNvPr id="15" name="TextBox 14"/>
          <p:cNvSpPr txBox="1"/>
          <p:nvPr/>
        </p:nvSpPr>
        <p:spPr>
          <a:xfrm>
            <a:off x="1591056" y="3429000"/>
            <a:ext cx="2404872" cy="457200"/>
          </a:xfrm>
          <a:prstGeom prst="rect">
            <a:avLst/>
          </a:prstGeom>
          <a:noFill/>
        </p:spPr>
        <p:txBody>
          <a:bodyPr wrap="square" lIns="0" rIns="0" tIns="0" bIns="0" anchor="ctr"/>
          <a:lstStyle/>
          <a:p>
            <a:pPr algn="l">
              <a:spcAft>
                <a:spcPts val="400"/>
              </a:spcAft>
              <a:buNone/>
            </a:pPr>
            <a:r>
              <a:rPr sz="1450" b="1" i="0">
                <a:solidFill>
                  <a:srgbClr val="1E8E4E"/>
                </a:solidFill>
                <a:latin typeface="Roboto"/>
              </a:rPr>
              <a:t>Fakten (mit Quelle)</a:t>
            </a:r>
          </a:p>
        </p:txBody>
      </p:sp>
      <p:sp>
        <p:nvSpPr>
          <p:cNvPr id="16" name="TextBox 15"/>
          <p:cNvSpPr txBox="1"/>
          <p:nvPr/>
        </p:nvSpPr>
        <p:spPr>
          <a:xfrm>
            <a:off x="1024128" y="4023360"/>
            <a:ext cx="2953512" cy="1920240"/>
          </a:xfrm>
          <a:prstGeom prst="rect">
            <a:avLst/>
          </a:prstGeom>
          <a:noFill/>
        </p:spPr>
        <p:txBody>
          <a:bodyPr wrap="square" lIns="0" rIns="0" tIns="0" bIns="0" anchor="t"/>
          <a:lstStyle/>
          <a:p>
            <a:pPr algn="l" marL="164592" indent="-164592">
              <a:spcAft>
                <a:spcPts val="400"/>
              </a:spcAft>
              <a:buClr>
                <a:srgbClr val="1E8E4E"/>
              </a:buClr>
              <a:buFont typeface="Arial"/>
              <a:buChar char="•"/>
            </a:pPr>
            <a:r>
              <a:rPr sz="1250" b="0" i="0">
                <a:solidFill>
                  <a:srgbClr val="0E1F53"/>
                </a:solidFill>
                <a:latin typeface="Roboto"/>
              </a:rPr>
              <a:t>6.242 Studierende WS 2025/26, früher bis 7.400</a:t>
            </a:r>
          </a:p>
          <a:p>
            <a:pPr algn="l" marL="164592" indent="-164592">
              <a:spcAft>
                <a:spcPts val="400"/>
              </a:spcAft>
              <a:buClr>
                <a:srgbClr val="1E8E4E"/>
              </a:buClr>
              <a:buFont typeface="Arial"/>
              <a:buChar char="•"/>
            </a:pPr>
            <a:r>
              <a:rPr sz="1250" b="0" i="0">
                <a:solidFill>
                  <a:srgbClr val="0E1F53"/>
                </a:solidFill>
                <a:latin typeface="Roboto"/>
              </a:rPr>
              <a:t>Erstsemester +20 % (2025/26)</a:t>
            </a:r>
          </a:p>
          <a:p>
            <a:pPr algn="l" marL="164592" indent="-164592">
              <a:spcAft>
                <a:spcPts val="400"/>
              </a:spcAft>
              <a:buClr>
                <a:srgbClr val="1E8E4E"/>
              </a:buClr>
              <a:buFont typeface="Arial"/>
              <a:buChar char="•"/>
            </a:pPr>
            <a:r>
              <a:rPr sz="1250" b="0" i="0">
                <a:solidFill>
                  <a:srgbClr val="0E1F53"/>
                </a:solidFill>
                <a:latin typeface="Roboto"/>
              </a:rPr>
              <a:t>G9: 2026 fehlt fast ein Abiturjahrgang</a:t>
            </a:r>
          </a:p>
          <a:p>
            <a:pPr algn="l" marL="164592" indent="-164592">
              <a:spcAft>
                <a:spcPts val="400"/>
              </a:spcAft>
              <a:buClr>
                <a:srgbClr val="1E8E4E"/>
              </a:buClr>
              <a:buFont typeface="Arial"/>
              <a:buChar char="•"/>
            </a:pPr>
            <a:r>
              <a:rPr sz="1250" b="0" i="0">
                <a:solidFill>
                  <a:srgbClr val="0E1F53"/>
                </a:solidFill>
                <a:latin typeface="Roboto"/>
              </a:rPr>
              <a:t>Internationale Absolvent:innen: nur 46 % bleiben in NRW</a:t>
            </a:r>
          </a:p>
        </p:txBody>
      </p:sp>
      <p:sp>
        <p:nvSpPr>
          <p:cNvPr id="17" name="Rounded Rectangle 16"/>
          <p:cNvSpPr/>
          <p:nvPr/>
        </p:nvSpPr>
        <p:spPr>
          <a:xfrm>
            <a:off x="4434840" y="3291840"/>
            <a:ext cx="3319272" cy="2697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617720" y="3429000"/>
            <a:ext cx="457200" cy="457200"/>
          </a:xfrm>
          <a:prstGeom prst="ellipse">
            <a:avLst/>
          </a:prstGeom>
          <a:solidFill>
            <a:srgbClr val="D973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uScale_w.png"/>
          <p:cNvPicPr>
            <a:picLocks noChangeAspect="1"/>
          </p:cNvPicPr>
          <p:nvPr/>
        </p:nvPicPr>
        <p:blipFill>
          <a:blip r:embed="rId4"/>
          <a:stretch>
            <a:fillRect/>
          </a:stretch>
        </p:blipFill>
        <p:spPr>
          <a:xfrm>
            <a:off x="4727448" y="3538728"/>
            <a:ext cx="237744" cy="237744"/>
          </a:xfrm>
          <a:prstGeom prst="rect">
            <a:avLst/>
          </a:prstGeom>
        </p:spPr>
      </p:pic>
      <p:sp>
        <p:nvSpPr>
          <p:cNvPr id="20" name="TextBox 19"/>
          <p:cNvSpPr txBox="1"/>
          <p:nvPr/>
        </p:nvSpPr>
        <p:spPr>
          <a:xfrm>
            <a:off x="5184648" y="3429000"/>
            <a:ext cx="2404872" cy="457200"/>
          </a:xfrm>
          <a:prstGeom prst="rect">
            <a:avLst/>
          </a:prstGeom>
          <a:noFill/>
        </p:spPr>
        <p:txBody>
          <a:bodyPr wrap="square" lIns="0" rIns="0" tIns="0" bIns="0" anchor="ctr"/>
          <a:lstStyle/>
          <a:p>
            <a:pPr algn="l">
              <a:spcAft>
                <a:spcPts val="400"/>
              </a:spcAft>
              <a:buNone/>
            </a:pPr>
            <a:r>
              <a:rPr sz="1450" b="1" i="0">
                <a:solidFill>
                  <a:srgbClr val="D9730D"/>
                </a:solidFill>
                <a:latin typeface="Roboto"/>
              </a:rPr>
              <a:t>Annahmen (zu prüfen)</a:t>
            </a:r>
          </a:p>
        </p:txBody>
      </p:sp>
      <p:sp>
        <p:nvSpPr>
          <p:cNvPr id="21" name="TextBox 20"/>
          <p:cNvSpPr txBox="1"/>
          <p:nvPr/>
        </p:nvSpPr>
        <p:spPr>
          <a:xfrm>
            <a:off x="4617720" y="4023360"/>
            <a:ext cx="2953512" cy="1920240"/>
          </a:xfrm>
          <a:prstGeom prst="rect">
            <a:avLst/>
          </a:prstGeom>
          <a:noFill/>
        </p:spPr>
        <p:txBody>
          <a:bodyPr wrap="square" lIns="0" rIns="0" tIns="0" bIns="0" anchor="t"/>
          <a:lstStyle/>
          <a:p>
            <a:pPr algn="l" marL="164592" indent="-164592">
              <a:spcAft>
                <a:spcPts val="400"/>
              </a:spcAft>
              <a:buClr>
                <a:srgbClr val="D9730D"/>
              </a:buClr>
              <a:buFont typeface="Arial"/>
              <a:buChar char="•"/>
            </a:pPr>
            <a:r>
              <a:rPr sz="1250" b="0" i="0">
                <a:solidFill>
                  <a:srgbClr val="0E1F53"/>
                </a:solidFill>
                <a:latin typeface="Roboto"/>
              </a:rPr>
              <a:t>Studierende kommen nur zu Pflichtterminen</a:t>
            </a:r>
          </a:p>
          <a:p>
            <a:pPr algn="l" marL="164592" indent="-164592">
              <a:spcAft>
                <a:spcPts val="400"/>
              </a:spcAft>
              <a:buClr>
                <a:srgbClr val="D9730D"/>
              </a:buClr>
              <a:buFont typeface="Arial"/>
              <a:buChar char="•"/>
            </a:pPr>
            <a:r>
              <a:rPr sz="1250" b="0" i="0">
                <a:solidFill>
                  <a:srgbClr val="0E1F53"/>
                </a:solidFill>
                <a:latin typeface="Roboto"/>
              </a:rPr>
              <a:t>Aufzeichnungen ersetzen Präsenz</a:t>
            </a:r>
          </a:p>
          <a:p>
            <a:pPr algn="l" marL="164592" indent="-164592">
              <a:spcAft>
                <a:spcPts val="400"/>
              </a:spcAft>
              <a:buClr>
                <a:srgbClr val="D9730D"/>
              </a:buClr>
              <a:buFont typeface="Arial"/>
              <a:buChar char="•"/>
            </a:pPr>
            <a:r>
              <a:rPr sz="1250" b="0" i="0">
                <a:solidFill>
                  <a:srgbClr val="0E1F53"/>
                </a:solidFill>
                <a:latin typeface="Roboto"/>
              </a:rPr>
              <a:t>Wenig Kontakt lokal–international</a:t>
            </a:r>
          </a:p>
          <a:p>
            <a:pPr algn="l" marL="164592" indent="-164592">
              <a:spcAft>
                <a:spcPts val="400"/>
              </a:spcAft>
              <a:buClr>
                <a:srgbClr val="D9730D"/>
              </a:buClr>
              <a:buFont typeface="Arial"/>
              <a:buChar char="•"/>
            </a:pPr>
            <a:r>
              <a:rPr sz="1250" b="0" i="0">
                <a:solidFill>
                  <a:srgbClr val="0E1F53"/>
                </a:solidFill>
                <a:latin typeface="Roboto"/>
              </a:rPr>
              <a:t>Region ist als Karriereort unbekannt</a:t>
            </a:r>
          </a:p>
        </p:txBody>
      </p:sp>
      <p:sp>
        <p:nvSpPr>
          <p:cNvPr id="22" name="Rounded Rectangle 21"/>
          <p:cNvSpPr/>
          <p:nvPr/>
        </p:nvSpPr>
        <p:spPr>
          <a:xfrm>
            <a:off x="8028432" y="3291840"/>
            <a:ext cx="3319272" cy="2697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211312" y="3429000"/>
            <a:ext cx="457200" cy="457200"/>
          </a:xfrm>
          <a:prstGeom prst="ellipse">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uNetwork_w.png"/>
          <p:cNvPicPr>
            <a:picLocks noChangeAspect="1"/>
          </p:cNvPicPr>
          <p:nvPr/>
        </p:nvPicPr>
        <p:blipFill>
          <a:blip r:embed="rId5"/>
          <a:stretch>
            <a:fillRect/>
          </a:stretch>
        </p:blipFill>
        <p:spPr>
          <a:xfrm>
            <a:off x="8321040" y="3538728"/>
            <a:ext cx="237744" cy="237744"/>
          </a:xfrm>
          <a:prstGeom prst="rect">
            <a:avLst/>
          </a:prstGeom>
        </p:spPr>
      </p:pic>
      <p:sp>
        <p:nvSpPr>
          <p:cNvPr id="25" name="TextBox 24"/>
          <p:cNvSpPr txBox="1"/>
          <p:nvPr/>
        </p:nvSpPr>
        <p:spPr>
          <a:xfrm>
            <a:off x="8778240" y="3429000"/>
            <a:ext cx="2404872" cy="457200"/>
          </a:xfrm>
          <a:prstGeom prst="rect">
            <a:avLst/>
          </a:prstGeom>
          <a:noFill/>
        </p:spPr>
        <p:txBody>
          <a:bodyPr wrap="square" lIns="0" rIns="0" tIns="0" bIns="0" anchor="ctr"/>
          <a:lstStyle/>
          <a:p>
            <a:pPr algn="l">
              <a:spcAft>
                <a:spcPts val="400"/>
              </a:spcAft>
              <a:buNone/>
            </a:pPr>
            <a:r>
              <a:rPr sz="1450" b="1" i="0">
                <a:solidFill>
                  <a:srgbClr val="1F6FD1"/>
                </a:solidFill>
                <a:latin typeface="Roboto"/>
              </a:rPr>
              <a:t>Stakeholder</a:t>
            </a:r>
          </a:p>
        </p:txBody>
      </p:sp>
      <p:sp>
        <p:nvSpPr>
          <p:cNvPr id="26" name="TextBox 25"/>
          <p:cNvSpPr txBox="1"/>
          <p:nvPr/>
        </p:nvSpPr>
        <p:spPr>
          <a:xfrm>
            <a:off x="8211312" y="4023360"/>
            <a:ext cx="2953512" cy="1920240"/>
          </a:xfrm>
          <a:prstGeom prst="rect">
            <a:avLst/>
          </a:prstGeom>
          <a:noFill/>
        </p:spPr>
        <p:txBody>
          <a:bodyPr wrap="square" lIns="0" rIns="0" tIns="0" bIns="0" anchor="t"/>
          <a:lstStyle/>
          <a:p>
            <a:pPr algn="l" marL="164592" indent="-164592">
              <a:spcAft>
                <a:spcPts val="400"/>
              </a:spcAft>
              <a:buClr>
                <a:srgbClr val="1F6FD1"/>
              </a:buClr>
              <a:buFont typeface="Arial"/>
              <a:buChar char="•"/>
            </a:pPr>
            <a:r>
              <a:rPr sz="1250" b="0" i="0">
                <a:solidFill>
                  <a:srgbClr val="0E1F53"/>
                </a:solidFill>
                <a:latin typeface="Roboto"/>
              </a:rPr>
              <a:t>Studieninteressierte &amp; Schulen</a:t>
            </a:r>
          </a:p>
          <a:p>
            <a:pPr algn="l" marL="164592" indent="-164592">
              <a:spcAft>
                <a:spcPts val="400"/>
              </a:spcAft>
              <a:buClr>
                <a:srgbClr val="1F6FD1"/>
              </a:buClr>
              <a:buFont typeface="Arial"/>
              <a:buChar char="•"/>
            </a:pPr>
            <a:r>
              <a:rPr sz="1250" b="0" i="0">
                <a:solidFill>
                  <a:srgbClr val="0E1F53"/>
                </a:solidFill>
                <a:latin typeface="Roboto"/>
              </a:rPr>
              <a:t>Studierende: lokal, pendelnd, international</a:t>
            </a:r>
          </a:p>
          <a:p>
            <a:pPr algn="l" marL="164592" indent="-164592">
              <a:spcAft>
                <a:spcPts val="400"/>
              </a:spcAft>
              <a:buClr>
                <a:srgbClr val="1F6FD1"/>
              </a:buClr>
              <a:buFont typeface="Arial"/>
              <a:buChar char="•"/>
            </a:pPr>
            <a:r>
              <a:rPr sz="1250" b="0" i="0">
                <a:solidFill>
                  <a:srgbClr val="0E1F53"/>
                </a:solidFill>
                <a:latin typeface="Roboto"/>
              </a:rPr>
              <a:t>Lehrende &amp; Verwaltung</a:t>
            </a:r>
          </a:p>
          <a:p>
            <a:pPr algn="l" marL="164592" indent="-164592">
              <a:spcAft>
                <a:spcPts val="400"/>
              </a:spcAft>
              <a:buClr>
                <a:srgbClr val="1F6FD1"/>
              </a:buClr>
              <a:buFont typeface="Arial"/>
              <a:buChar char="•"/>
            </a:pPr>
            <a:r>
              <a:rPr sz="1250" b="0" i="0">
                <a:solidFill>
                  <a:srgbClr val="0E1F53"/>
                </a:solidFill>
                <a:latin typeface="Roboto"/>
              </a:rPr>
              <a:t>Unternehmen &amp; Kommunen der Region</a:t>
            </a:r>
          </a:p>
        </p:txBody>
      </p:sp>
      <p:sp>
        <p:nvSpPr>
          <p:cNvPr id="27" name="TextBox 26"/>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Fakten: HSRW-Pressemitteilung WS 2025/26; HSRW, Zahlen der Hochschule 2021; Annahmen aus Gesprächen mit der Hochschule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Jetzt Sie: Ihre eigene Challenge</a:t>
            </a:r>
          </a:p>
        </p:txBody>
      </p:sp>
      <p:sp>
        <p:nvSpPr>
          <p:cNvPr id="3" name="Rounded Rectangle 2"/>
          <p:cNvSpPr/>
          <p:nvPr/>
        </p:nvSpPr>
        <p:spPr>
          <a:xfrm>
            <a:off x="841248" y="850392"/>
            <a:ext cx="153619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ÜBUNG · 10 MIN.</a:t>
            </a:r>
          </a:p>
        </p:txBody>
      </p:sp>
      <p:sp>
        <p:nvSpPr>
          <p:cNvPr id="4" name="Oval 3"/>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Empathie: Verstehen</a:t>
            </a:r>
          </a:p>
        </p:txBody>
      </p:sp>
      <p:sp>
        <p:nvSpPr>
          <p:cNvPr id="10" name="Rounded Rectangle 9"/>
          <p:cNvSpPr/>
          <p:nvPr/>
        </p:nvSpPr>
        <p:spPr>
          <a:xfrm>
            <a:off x="841248" y="201168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42416" y="219456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1</a:t>
            </a:r>
          </a:p>
        </p:txBody>
      </p:sp>
      <p:sp>
        <p:nvSpPr>
          <p:cNvPr id="12" name="TextBox 11"/>
          <p:cNvSpPr txBox="1"/>
          <p:nvPr/>
        </p:nvSpPr>
        <p:spPr>
          <a:xfrm>
            <a:off x="1801368" y="201168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Formulieren Sie Ihre eigene Innovations-Challenge als „Wie können wir …?“-Frage.</a:t>
            </a:r>
          </a:p>
        </p:txBody>
      </p:sp>
      <p:sp>
        <p:nvSpPr>
          <p:cNvPr id="13" name="Rounded Rectangle 12"/>
          <p:cNvSpPr/>
          <p:nvPr/>
        </p:nvSpPr>
        <p:spPr>
          <a:xfrm>
            <a:off x="841248" y="310896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42416" y="329184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2</a:t>
            </a:r>
          </a:p>
        </p:txBody>
      </p:sp>
      <p:sp>
        <p:nvSpPr>
          <p:cNvPr id="15" name="TextBox 14"/>
          <p:cNvSpPr txBox="1"/>
          <p:nvPr/>
        </p:nvSpPr>
        <p:spPr>
          <a:xfrm>
            <a:off x="1801368" y="310896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Schreiben Sie mit der Vorlage einen Rechercheauftrag für Deep Research.</a:t>
            </a:r>
          </a:p>
        </p:txBody>
      </p:sp>
      <p:sp>
        <p:nvSpPr>
          <p:cNvPr id="16" name="Rounded Rectangle 15"/>
          <p:cNvSpPr/>
          <p:nvPr/>
        </p:nvSpPr>
        <p:spPr>
          <a:xfrm>
            <a:off x="841248" y="420624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042416" y="438912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3</a:t>
            </a:r>
          </a:p>
        </p:txBody>
      </p:sp>
      <p:sp>
        <p:nvSpPr>
          <p:cNvPr id="18" name="TextBox 17"/>
          <p:cNvSpPr txBox="1"/>
          <p:nvPr/>
        </p:nvSpPr>
        <p:spPr>
          <a:xfrm>
            <a:off x="1801368" y="420624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Starten Sie die Recherche. Das Ergebnis lesen Sie in der Remote-Phase.</a:t>
            </a:r>
          </a:p>
        </p:txBody>
      </p:sp>
      <p:sp>
        <p:nvSpPr>
          <p:cNvPr id="19" name="Rounded Rectangle 18"/>
          <p:cNvSpPr/>
          <p:nvPr/>
        </p:nvSpPr>
        <p:spPr>
          <a:xfrm>
            <a:off x="8065008" y="2011680"/>
            <a:ext cx="3282696" cy="310896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Timer_w.png"/>
          <p:cNvPicPr>
            <a:picLocks noChangeAspect="1"/>
          </p:cNvPicPr>
          <p:nvPr/>
        </p:nvPicPr>
        <p:blipFill>
          <a:blip r:embed="rId3"/>
          <a:stretch>
            <a:fillRect/>
          </a:stretch>
        </p:blipFill>
        <p:spPr>
          <a:xfrm>
            <a:off x="8339328" y="2240280"/>
            <a:ext cx="548640" cy="548640"/>
          </a:xfrm>
          <a:prstGeom prst="rect">
            <a:avLst/>
          </a:prstGeom>
        </p:spPr>
      </p:pic>
      <p:sp>
        <p:nvSpPr>
          <p:cNvPr id="21" name="TextBox 20"/>
          <p:cNvSpPr txBox="1"/>
          <p:nvPr/>
        </p:nvSpPr>
        <p:spPr>
          <a:xfrm>
            <a:off x="9025128" y="2240280"/>
            <a:ext cx="2185415" cy="548640"/>
          </a:xfrm>
          <a:prstGeom prst="rect">
            <a:avLst/>
          </a:prstGeom>
          <a:noFill/>
        </p:spPr>
        <p:txBody>
          <a:bodyPr wrap="square" lIns="0" rIns="0" tIns="0" bIns="0" anchor="ctr"/>
          <a:lstStyle/>
          <a:p>
            <a:pPr algn="l">
              <a:spcAft>
                <a:spcPts val="400"/>
              </a:spcAft>
              <a:buNone/>
            </a:pPr>
            <a:r>
              <a:rPr sz="2400" b="1" i="0">
                <a:solidFill>
                  <a:srgbClr val="FFFFFF"/>
                </a:solidFill>
                <a:latin typeface="Roboto"/>
              </a:rPr>
              <a:t>10 Min.</a:t>
            </a:r>
          </a:p>
        </p:txBody>
      </p:sp>
      <p:sp>
        <p:nvSpPr>
          <p:cNvPr id="22" name="TextBox 21"/>
          <p:cNvSpPr txBox="1"/>
          <p:nvPr/>
        </p:nvSpPr>
        <p:spPr>
          <a:xfrm>
            <a:off x="8339328" y="2971800"/>
            <a:ext cx="2734056" cy="2011680"/>
          </a:xfrm>
          <a:prstGeom prst="rect">
            <a:avLst/>
          </a:prstGeom>
          <a:noFill/>
        </p:spPr>
        <p:txBody>
          <a:bodyPr wrap="square" lIns="0" rIns="0" tIns="0" bIns="0" anchor="t"/>
          <a:lstStyle/>
          <a:p>
            <a:pPr algn="l">
              <a:spcAft>
                <a:spcPts val="600"/>
              </a:spcAft>
              <a:buNone/>
            </a:pPr>
            <a:r>
              <a:rPr sz="1350" b="1" i="0">
                <a:solidFill>
                  <a:srgbClr val="9FD0FF"/>
                </a:solidFill>
                <a:latin typeface="Roboto"/>
              </a:rPr>
              <a:t>Hilfsmittel</a:t>
            </a:r>
          </a:p>
          <a:p>
            <a:pPr algn="l" marL="164592" indent="-164592">
              <a:spcAft>
                <a:spcPts val="400"/>
              </a:spcAft>
              <a:buClr>
                <a:srgbClr val="FB2762"/>
              </a:buClr>
              <a:buFont typeface="Arial"/>
              <a:buChar char="•"/>
            </a:pPr>
            <a:r>
              <a:rPr sz="1350" b="0" i="0">
                <a:solidFill>
                  <a:srgbClr val="FFFFFF"/>
                </a:solidFill>
                <a:latin typeface="Roboto"/>
              </a:rPr>
              <a:t>Systemprompt „Challenge-Scout“ im Arbeitsheft</a:t>
            </a:r>
          </a:p>
          <a:p>
            <a:pPr algn="l" marL="164592" indent="-164592">
              <a:spcAft>
                <a:spcPts val="400"/>
              </a:spcAft>
              <a:buClr>
                <a:srgbClr val="FB2762"/>
              </a:buClr>
              <a:buFont typeface="Arial"/>
              <a:buChar char="•"/>
            </a:pPr>
            <a:r>
              <a:rPr sz="1350" b="0" i="0">
                <a:solidFill>
                  <a:srgbClr val="FFFFFF"/>
                </a:solidFill>
                <a:latin typeface="Roboto"/>
              </a:rPr>
              <a:t>Ihr KI-Assistent auf dem Laptop</a:t>
            </a:r>
          </a:p>
          <a:p>
            <a:pPr algn="l" marL="164592" indent="-164592">
              <a:spcAft>
                <a:spcPts val="400"/>
              </a:spcAft>
              <a:buClr>
                <a:srgbClr val="FB2762"/>
              </a:buClr>
              <a:buFont typeface="Arial"/>
              <a:buChar char="•"/>
            </a:pPr>
            <a:r>
              <a:rPr sz="1350" b="0" i="0">
                <a:solidFill>
                  <a:srgbClr val="FFFFFF"/>
                </a:solidFill>
                <a:latin typeface="Roboto"/>
              </a:rPr>
              <a:t>Post-its und Stifte</a:t>
            </a:r>
          </a:p>
        </p:txBody>
      </p:sp>
      <p:sp>
        <p:nvSpPr>
          <p:cNvPr id="23" name="Rounded Rectangle 22"/>
          <p:cNvSpPr/>
          <p:nvPr/>
        </p:nvSpPr>
        <p:spPr>
          <a:xfrm>
            <a:off x="841248" y="5349240"/>
            <a:ext cx="10506456" cy="640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15568" y="5349240"/>
            <a:ext cx="9957816" cy="640080"/>
          </a:xfrm>
          <a:prstGeom prst="rect">
            <a:avLst/>
          </a:prstGeom>
          <a:noFill/>
        </p:spPr>
        <p:txBody>
          <a:bodyPr wrap="square" lIns="0" rIns="0" tIns="0" bIns="0" anchor="ctr"/>
          <a:lstStyle/>
          <a:p>
            <a:pPr algn="l">
              <a:spcAft>
                <a:spcPts val="400"/>
              </a:spcAft>
              <a:buNone/>
            </a:pPr>
            <a:r>
              <a:rPr sz="1350" b="1" i="0">
                <a:solidFill>
                  <a:srgbClr val="0E1F53"/>
                </a:solidFill>
                <a:latin typeface="Roboto"/>
              </a:rPr>
              <a:t>Hinweis: </a:t>
            </a:r>
            <a:r>
              <a:rPr sz="1350" b="0" i="0">
                <a:solidFill>
                  <a:srgbClr val="0E1F53"/>
                </a:solidFill>
                <a:latin typeface="Roboto"/>
              </a:rPr>
              <a:t>Sie arbeiten an Ihrer eigenen Challenge. Das HSRW-Beispiel dient als Vorlage.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Leitfragen und Methoden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Oval 3"/>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Empathie: Beobachten</a:t>
            </a:r>
          </a:p>
        </p:txBody>
      </p:sp>
      <p:sp>
        <p:nvSpPr>
          <p:cNvPr id="10" name="Rounded Rectangle 9"/>
          <p:cNvSpPr/>
          <p:nvPr/>
        </p:nvSpPr>
        <p:spPr>
          <a:xfrm>
            <a:off x="841248" y="2011680"/>
            <a:ext cx="4206240" cy="3977639"/>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15568" y="2148840"/>
            <a:ext cx="3657599" cy="457200"/>
          </a:xfrm>
          <a:prstGeom prst="rect">
            <a:avLst/>
          </a:prstGeom>
          <a:noFill/>
        </p:spPr>
        <p:txBody>
          <a:bodyPr wrap="square" lIns="0" rIns="0" tIns="0" bIns="0" anchor="t"/>
          <a:lstStyle/>
          <a:p>
            <a:pPr algn="l">
              <a:spcAft>
                <a:spcPts val="400"/>
              </a:spcAft>
              <a:buNone/>
            </a:pPr>
            <a:r>
              <a:rPr sz="1700" b="1" i="0">
                <a:solidFill>
                  <a:srgbClr val="9FD0FF"/>
                </a:solidFill>
                <a:latin typeface="Roboto"/>
              </a:rPr>
              <a:t>Leitfragen</a:t>
            </a:r>
          </a:p>
        </p:txBody>
      </p:sp>
      <p:sp>
        <p:nvSpPr>
          <p:cNvPr id="12" name="TextBox 11"/>
          <p:cNvSpPr txBox="1"/>
          <p:nvPr/>
        </p:nvSpPr>
        <p:spPr>
          <a:xfrm>
            <a:off x="1115568" y="2651760"/>
            <a:ext cx="3657599" cy="3291840"/>
          </a:xfrm>
          <a:prstGeom prst="rect">
            <a:avLst/>
          </a:prstGeom>
          <a:noFill/>
        </p:spPr>
        <p:txBody>
          <a:bodyPr wrap="square" lIns="0" rIns="0" tIns="0" bIns="0" anchor="t"/>
          <a:lstStyle/>
          <a:p>
            <a:pPr algn="l" marL="164592" indent="-164592">
              <a:spcAft>
                <a:spcPts val="700"/>
              </a:spcAft>
              <a:buClr>
                <a:srgbClr val="FB2762"/>
              </a:buClr>
              <a:buFont typeface="Arial"/>
              <a:buChar char="?"/>
            </a:pPr>
            <a:r>
              <a:rPr sz="1350" b="0" i="0">
                <a:solidFill>
                  <a:srgbClr val="FFFFFF"/>
                </a:solidFill>
                <a:latin typeface="Roboto"/>
              </a:rPr>
              <a:t>Wen müssen wir sprechen: typische und extreme Nutzer:innen?</a:t>
            </a:r>
          </a:p>
          <a:p>
            <a:pPr algn="l" marL="164592" indent="-164592">
              <a:spcAft>
                <a:spcPts val="700"/>
              </a:spcAft>
              <a:buClr>
                <a:srgbClr val="FB2762"/>
              </a:buClr>
              <a:buFont typeface="Arial"/>
              <a:buChar char="?"/>
            </a:pPr>
            <a:r>
              <a:rPr sz="1350" b="0" i="0">
                <a:solidFill>
                  <a:srgbClr val="FFFFFF"/>
                </a:solidFill>
                <a:latin typeface="Roboto"/>
              </a:rPr>
              <a:t>Was tun die Menschen tatsächlich, nicht nur was sie sagen?</a:t>
            </a:r>
          </a:p>
          <a:p>
            <a:pPr algn="l" marL="164592" indent="-164592">
              <a:spcAft>
                <a:spcPts val="700"/>
              </a:spcAft>
              <a:buClr>
                <a:srgbClr val="FB2762"/>
              </a:buClr>
              <a:buFont typeface="Arial"/>
              <a:buChar char="?"/>
            </a:pPr>
            <a:r>
              <a:rPr sz="1350" b="0" i="0">
                <a:solidFill>
                  <a:srgbClr val="FFFFFF"/>
                </a:solidFill>
                <a:latin typeface="Roboto"/>
              </a:rPr>
              <a:t>Wo erleben sie Frust, Umwege, Notlösungen?</a:t>
            </a:r>
          </a:p>
          <a:p>
            <a:pPr algn="l" marL="164592" indent="-164592">
              <a:spcAft>
                <a:spcPts val="700"/>
              </a:spcAft>
              <a:buClr>
                <a:srgbClr val="FB2762"/>
              </a:buClr>
              <a:buFont typeface="Arial"/>
              <a:buChar char="?"/>
            </a:pPr>
            <a:r>
              <a:rPr sz="1350" b="0" i="0">
                <a:solidFill>
                  <a:srgbClr val="FFFFFF"/>
                </a:solidFill>
                <a:latin typeface="Roboto"/>
              </a:rPr>
              <a:t>Welche Gefühle und Motive stecken dahinter?</a:t>
            </a:r>
          </a:p>
          <a:p>
            <a:pPr algn="l" marL="164592" indent="-164592">
              <a:spcAft>
                <a:spcPts val="700"/>
              </a:spcAft>
              <a:buClr>
                <a:srgbClr val="FB2762"/>
              </a:buClr>
              <a:buFont typeface="Arial"/>
              <a:buChar char="?"/>
            </a:pPr>
            <a:r>
              <a:rPr sz="1350" b="0" i="0">
                <a:solidFill>
                  <a:srgbClr val="FFFFFF"/>
                </a:solidFill>
                <a:latin typeface="Roboto"/>
              </a:rPr>
              <a:t>Welche Annahmen aus der Recherche bestätigen sich, welche nicht?</a:t>
            </a:r>
          </a:p>
        </p:txBody>
      </p:sp>
      <p:sp>
        <p:nvSpPr>
          <p:cNvPr id="13" name="Rounded Rectangle 12"/>
          <p:cNvSpPr/>
          <p:nvPr/>
        </p:nvSpPr>
        <p:spPr>
          <a:xfrm>
            <a:off x="5321807"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522975"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LuMic_w.png"/>
          <p:cNvPicPr>
            <a:picLocks noChangeAspect="1"/>
          </p:cNvPicPr>
          <p:nvPr/>
        </p:nvPicPr>
        <p:blipFill>
          <a:blip r:embed="rId3"/>
          <a:stretch>
            <a:fillRect/>
          </a:stretch>
        </p:blipFill>
        <p:spPr>
          <a:xfrm>
            <a:off x="5650260" y="2340132"/>
            <a:ext cx="275783" cy="275783"/>
          </a:xfrm>
          <a:prstGeom prst="rect">
            <a:avLst/>
          </a:prstGeom>
        </p:spPr>
      </p:pic>
      <p:sp>
        <p:nvSpPr>
          <p:cNvPr id="16" name="TextBox 15"/>
          <p:cNvSpPr txBox="1"/>
          <p:nvPr/>
        </p:nvSpPr>
        <p:spPr>
          <a:xfrm>
            <a:off x="6190488"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Leitfaden-Interview</a:t>
            </a:r>
          </a:p>
        </p:txBody>
      </p:sp>
      <p:sp>
        <p:nvSpPr>
          <p:cNvPr id="17" name="TextBox 16"/>
          <p:cNvSpPr txBox="1"/>
          <p:nvPr/>
        </p:nvSpPr>
        <p:spPr>
          <a:xfrm>
            <a:off x="5522975"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30–45 Minuten, offene Fragen, viel Nachfragen: „Erzählen Sie mir vom letzten Mal, als …“</a:t>
            </a:r>
          </a:p>
        </p:txBody>
      </p:sp>
      <p:sp>
        <p:nvSpPr>
          <p:cNvPr id="18" name="Rounded Rectangle 17"/>
          <p:cNvSpPr/>
          <p:nvPr/>
        </p:nvSpPr>
        <p:spPr>
          <a:xfrm>
            <a:off x="8471916"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673084"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Eye_w.png"/>
          <p:cNvPicPr>
            <a:picLocks noChangeAspect="1"/>
          </p:cNvPicPr>
          <p:nvPr/>
        </p:nvPicPr>
        <p:blipFill>
          <a:blip r:embed="rId4"/>
          <a:stretch>
            <a:fillRect/>
          </a:stretch>
        </p:blipFill>
        <p:spPr>
          <a:xfrm>
            <a:off x="8800368" y="2340132"/>
            <a:ext cx="275783" cy="275783"/>
          </a:xfrm>
          <a:prstGeom prst="rect">
            <a:avLst/>
          </a:prstGeom>
        </p:spPr>
      </p:pic>
      <p:sp>
        <p:nvSpPr>
          <p:cNvPr id="21" name="TextBox 20"/>
          <p:cNvSpPr txBox="1"/>
          <p:nvPr/>
        </p:nvSpPr>
        <p:spPr>
          <a:xfrm>
            <a:off x="9340596"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Beobachtung vor Ort</a:t>
            </a:r>
          </a:p>
        </p:txBody>
      </p:sp>
      <p:sp>
        <p:nvSpPr>
          <p:cNvPr id="22" name="TextBox 21"/>
          <p:cNvSpPr txBox="1"/>
          <p:nvPr/>
        </p:nvSpPr>
        <p:spPr>
          <a:xfrm>
            <a:off x="8673084"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Menschen in ihrer echten Situation begleiten. Was tun sie, wo stocken sie?</a:t>
            </a:r>
          </a:p>
        </p:txBody>
      </p:sp>
      <p:sp>
        <p:nvSpPr>
          <p:cNvPr id="23" name="Rounded Rectangle 22"/>
          <p:cNvSpPr/>
          <p:nvPr/>
        </p:nvSpPr>
        <p:spPr>
          <a:xfrm>
            <a:off x="5321807"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522975"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uUserRound_w.png"/>
          <p:cNvPicPr>
            <a:picLocks noChangeAspect="1"/>
          </p:cNvPicPr>
          <p:nvPr/>
        </p:nvPicPr>
        <p:blipFill>
          <a:blip r:embed="rId5"/>
          <a:stretch>
            <a:fillRect/>
          </a:stretch>
        </p:blipFill>
        <p:spPr>
          <a:xfrm>
            <a:off x="5650260" y="4397532"/>
            <a:ext cx="275783" cy="275783"/>
          </a:xfrm>
          <a:prstGeom prst="rect">
            <a:avLst/>
          </a:prstGeom>
        </p:spPr>
      </p:pic>
      <p:sp>
        <p:nvSpPr>
          <p:cNvPr id="26" name="TextBox 25"/>
          <p:cNvSpPr txBox="1"/>
          <p:nvPr/>
        </p:nvSpPr>
        <p:spPr>
          <a:xfrm>
            <a:off x="6190488"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Selbstversuch</a:t>
            </a:r>
          </a:p>
        </p:txBody>
      </p:sp>
      <p:sp>
        <p:nvSpPr>
          <p:cNvPr id="27" name="TextBox 26"/>
          <p:cNvSpPr txBox="1"/>
          <p:nvPr/>
        </p:nvSpPr>
        <p:spPr>
          <a:xfrm>
            <a:off x="5522975"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Den Weg der Kundschaft selbst gehen: bestellen, anrufen, warten, reklamieren.</a:t>
            </a:r>
          </a:p>
        </p:txBody>
      </p:sp>
      <p:sp>
        <p:nvSpPr>
          <p:cNvPr id="28" name="Rounded Rectangle 27"/>
          <p:cNvSpPr/>
          <p:nvPr/>
        </p:nvSpPr>
        <p:spPr>
          <a:xfrm>
            <a:off x="8471916"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8673084"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MessagesSquare_w.png"/>
          <p:cNvPicPr>
            <a:picLocks noChangeAspect="1"/>
          </p:cNvPicPr>
          <p:nvPr/>
        </p:nvPicPr>
        <p:blipFill>
          <a:blip r:embed="rId6"/>
          <a:stretch>
            <a:fillRect/>
          </a:stretch>
        </p:blipFill>
        <p:spPr>
          <a:xfrm>
            <a:off x="8800368" y="4397532"/>
            <a:ext cx="275783" cy="275783"/>
          </a:xfrm>
          <a:prstGeom prst="rect">
            <a:avLst/>
          </a:prstGeom>
        </p:spPr>
      </p:pic>
      <p:sp>
        <p:nvSpPr>
          <p:cNvPr id="31" name="TextBox 30"/>
          <p:cNvSpPr txBox="1"/>
          <p:nvPr/>
        </p:nvSpPr>
        <p:spPr>
          <a:xfrm>
            <a:off x="9340596"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Online-Stimmen</a:t>
            </a:r>
          </a:p>
        </p:txBody>
      </p:sp>
      <p:sp>
        <p:nvSpPr>
          <p:cNvPr id="32" name="TextBox 31"/>
          <p:cNvSpPr txBox="1"/>
          <p:nvPr/>
        </p:nvSpPr>
        <p:spPr>
          <a:xfrm>
            <a:off x="8673084"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Bewertungen, Foren und Social Media systematisch auswerten.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KI-Werkzeuge für diese Phase</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Oval 3"/>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Empathie: Beobachten</a:t>
            </a:r>
          </a:p>
        </p:txBody>
      </p:sp>
      <p:sp>
        <p:nvSpPr>
          <p:cNvPr id="10" name="Rounded Rectangle 9"/>
          <p:cNvSpPr/>
          <p:nvPr/>
        </p:nvSpPr>
        <p:spPr>
          <a:xfrm>
            <a:off x="841248"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42416" y="2194560"/>
            <a:ext cx="530352" cy="530352"/>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Bot_w.png"/>
          <p:cNvPicPr>
            <a:picLocks noChangeAspect="1"/>
          </p:cNvPicPr>
          <p:nvPr/>
        </p:nvPicPr>
        <p:blipFill>
          <a:blip r:embed="rId3"/>
          <a:stretch>
            <a:fillRect/>
          </a:stretch>
        </p:blipFill>
        <p:spPr>
          <a:xfrm>
            <a:off x="1169700" y="2321844"/>
            <a:ext cx="275783" cy="275783"/>
          </a:xfrm>
          <a:prstGeom prst="rect">
            <a:avLst/>
          </a:prstGeom>
        </p:spPr>
      </p:pic>
      <p:sp>
        <p:nvSpPr>
          <p:cNvPr id="13" name="TextBox 12"/>
          <p:cNvSpPr txBox="1"/>
          <p:nvPr/>
        </p:nvSpPr>
        <p:spPr>
          <a:xfrm>
            <a:off x="1709928"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Agent: Interview-Coach</a:t>
            </a:r>
          </a:p>
        </p:txBody>
      </p:sp>
      <p:sp>
        <p:nvSpPr>
          <p:cNvPr id="14" name="TextBox 13"/>
          <p:cNvSpPr txBox="1"/>
          <p:nvPr/>
        </p:nvSpPr>
        <p:spPr>
          <a:xfrm>
            <a:off x="1709928"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Leitfaden erstellen und Fragen prüfen</a:t>
            </a:r>
          </a:p>
        </p:txBody>
      </p:sp>
      <p:sp>
        <p:nvSpPr>
          <p:cNvPr id="15" name="Rounded Rectangle 14"/>
          <p:cNvSpPr/>
          <p:nvPr/>
        </p:nvSpPr>
        <p:spPr>
          <a:xfrm>
            <a:off x="1042416"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61288"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„Prüfe meine Fragen: Welche sind suggestiv oder geschlossen? Formuliere sie offen um.“</a:t>
            </a:r>
          </a:p>
        </p:txBody>
      </p:sp>
      <p:sp>
        <p:nvSpPr>
          <p:cNvPr id="17" name="Rounded Rectangle 16"/>
          <p:cNvSpPr/>
          <p:nvPr/>
        </p:nvSpPr>
        <p:spPr>
          <a:xfrm>
            <a:off x="6231636"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32803" y="2194560"/>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uMic_w.png"/>
          <p:cNvPicPr>
            <a:picLocks noChangeAspect="1"/>
          </p:cNvPicPr>
          <p:nvPr/>
        </p:nvPicPr>
        <p:blipFill>
          <a:blip r:embed="rId4"/>
          <a:stretch>
            <a:fillRect/>
          </a:stretch>
        </p:blipFill>
        <p:spPr>
          <a:xfrm>
            <a:off x="6560088" y="2321844"/>
            <a:ext cx="275783" cy="275783"/>
          </a:xfrm>
          <a:prstGeom prst="rect">
            <a:avLst/>
          </a:prstGeom>
        </p:spPr>
      </p:pic>
      <p:sp>
        <p:nvSpPr>
          <p:cNvPr id="20" name="TextBox 19"/>
          <p:cNvSpPr txBox="1"/>
          <p:nvPr/>
        </p:nvSpPr>
        <p:spPr>
          <a:xfrm>
            <a:off x="7100316"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Transkription</a:t>
            </a:r>
          </a:p>
        </p:txBody>
      </p:sp>
      <p:sp>
        <p:nvSpPr>
          <p:cNvPr id="21" name="TextBox 20"/>
          <p:cNvSpPr txBox="1"/>
          <p:nvPr/>
        </p:nvSpPr>
        <p:spPr>
          <a:xfrm>
            <a:off x="7100316"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Teams, Zoom oder Diktier-Apps schreiben mit, nur mit Einwilligung</a:t>
            </a:r>
          </a:p>
        </p:txBody>
      </p:sp>
      <p:sp>
        <p:nvSpPr>
          <p:cNvPr id="22" name="Rounded Rectangle 21"/>
          <p:cNvSpPr/>
          <p:nvPr/>
        </p:nvSpPr>
        <p:spPr>
          <a:xfrm>
            <a:off x="6432803"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51675"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„Fasse das Transkript zusammen: 5 Kernzitate, 3 Überraschungen.“</a:t>
            </a:r>
          </a:p>
        </p:txBody>
      </p:sp>
      <p:sp>
        <p:nvSpPr>
          <p:cNvPr id="24" name="Rounded Rectangle 23"/>
          <p:cNvSpPr/>
          <p:nvPr/>
        </p:nvSpPr>
        <p:spPr>
          <a:xfrm>
            <a:off x="841248"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042416"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Globe_w.png"/>
          <p:cNvPicPr>
            <a:picLocks noChangeAspect="1"/>
          </p:cNvPicPr>
          <p:nvPr/>
        </p:nvPicPr>
        <p:blipFill>
          <a:blip r:embed="rId5"/>
          <a:stretch>
            <a:fillRect/>
          </a:stretch>
        </p:blipFill>
        <p:spPr>
          <a:xfrm>
            <a:off x="1169700" y="4351812"/>
            <a:ext cx="275783" cy="275783"/>
          </a:xfrm>
          <a:prstGeom prst="rect">
            <a:avLst/>
          </a:prstGeom>
        </p:spPr>
      </p:pic>
      <p:sp>
        <p:nvSpPr>
          <p:cNvPr id="27" name="TextBox 26"/>
          <p:cNvSpPr txBox="1"/>
          <p:nvPr/>
        </p:nvSpPr>
        <p:spPr>
          <a:xfrm>
            <a:off x="1709928"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Online-Stimmen</a:t>
            </a:r>
          </a:p>
        </p:txBody>
      </p:sp>
      <p:sp>
        <p:nvSpPr>
          <p:cNvPr id="28" name="TextBox 27"/>
          <p:cNvSpPr txBox="1"/>
          <p:nvPr/>
        </p:nvSpPr>
        <p:spPr>
          <a:xfrm>
            <a:off x="1709928"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Öffentliche Bewertungen und Foren nach Themen ordnen</a:t>
            </a:r>
          </a:p>
        </p:txBody>
      </p:sp>
      <p:sp>
        <p:nvSpPr>
          <p:cNvPr id="29" name="Rounded Rectangle 28"/>
          <p:cNvSpPr/>
          <p:nvPr/>
        </p:nvSpPr>
        <p:spPr>
          <a:xfrm>
            <a:off x="1042416"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161288"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„Sammle öffentliche Bewertungen zu [Angebot] und ordne Lob und Kritik nach Themen.“</a:t>
            </a:r>
          </a:p>
        </p:txBody>
      </p:sp>
      <p:sp>
        <p:nvSpPr>
          <p:cNvPr id="31" name="Rounded Rectangle 30"/>
          <p:cNvSpPr/>
          <p:nvPr/>
        </p:nvSpPr>
        <p:spPr>
          <a:xfrm>
            <a:off x="6231636"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6432803"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LuUsers_w.png"/>
          <p:cNvPicPr>
            <a:picLocks noChangeAspect="1"/>
          </p:cNvPicPr>
          <p:nvPr/>
        </p:nvPicPr>
        <p:blipFill>
          <a:blip r:embed="rId6"/>
          <a:stretch>
            <a:fillRect/>
          </a:stretch>
        </p:blipFill>
        <p:spPr>
          <a:xfrm>
            <a:off x="6560088" y="4351812"/>
            <a:ext cx="275783" cy="275783"/>
          </a:xfrm>
          <a:prstGeom prst="rect">
            <a:avLst/>
          </a:prstGeom>
        </p:spPr>
      </p:pic>
      <p:sp>
        <p:nvSpPr>
          <p:cNvPr id="34" name="TextBox 33"/>
          <p:cNvSpPr txBox="1"/>
          <p:nvPr/>
        </p:nvSpPr>
        <p:spPr>
          <a:xfrm>
            <a:off x="7100316"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Interview-Training</a:t>
            </a:r>
          </a:p>
        </p:txBody>
      </p:sp>
      <p:sp>
        <p:nvSpPr>
          <p:cNvPr id="35" name="TextBox 34"/>
          <p:cNvSpPr txBox="1"/>
          <p:nvPr/>
        </p:nvSpPr>
        <p:spPr>
          <a:xfrm>
            <a:off x="7100316"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KI spielt die Gesprächspartnerin zum Üben, ersetzt aber nie echte Gespräche</a:t>
            </a:r>
          </a:p>
        </p:txBody>
      </p:sp>
      <p:sp>
        <p:nvSpPr>
          <p:cNvPr id="36" name="Rounded Rectangle 35"/>
          <p:cNvSpPr/>
          <p:nvPr/>
        </p:nvSpPr>
        <p:spPr>
          <a:xfrm>
            <a:off x="6432803"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51675"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„Spiele eine skeptische Kundin, damit ich mein Interview üben kann.“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Skill und Automatisierung</a:t>
            </a:r>
          </a:p>
        </p:txBody>
      </p:sp>
      <p:sp>
        <p:nvSpPr>
          <p:cNvPr id="3" name="Rounded Rectangle 2"/>
          <p:cNvSpPr/>
          <p:nvPr/>
        </p:nvSpPr>
        <p:spPr>
          <a:xfrm>
            <a:off x="841248" y="850392"/>
            <a:ext cx="2209190"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SKILL &amp; AUTOMATISIERUNG</a:t>
            </a:r>
          </a:p>
        </p:txBody>
      </p:sp>
      <p:sp>
        <p:nvSpPr>
          <p:cNvPr id="4" name="Oval 3"/>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Empathie: Beobachten</a:t>
            </a:r>
          </a:p>
        </p:txBody>
      </p:sp>
      <p:sp>
        <p:nvSpPr>
          <p:cNvPr id="10" name="Rounded Rectangle 9"/>
          <p:cNvSpPr/>
          <p:nvPr/>
        </p:nvSpPr>
        <p:spPr>
          <a:xfrm>
            <a:off x="841248" y="2011680"/>
            <a:ext cx="4160520" cy="3977639"/>
          </a:xfrm>
          <a:prstGeom prst="roundRect">
            <a:avLst>
              <a:gd name="adj" fmla="val 3000"/>
            </a:avLst>
          </a:prstGeom>
          <a:solidFill>
            <a:srgbClr val="0B1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78408" y="2130552"/>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161288" y="2130552"/>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344168" y="2130552"/>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618488" y="2039112"/>
            <a:ext cx="3246120" cy="292608"/>
          </a:xfrm>
          <a:prstGeom prst="rect">
            <a:avLst/>
          </a:prstGeom>
          <a:noFill/>
        </p:spPr>
        <p:txBody>
          <a:bodyPr wrap="square" lIns="0" rIns="0" tIns="0" bIns="0" anchor="ctr"/>
          <a:lstStyle/>
          <a:p>
            <a:pPr algn="l">
              <a:spcAft>
                <a:spcPts val="400"/>
              </a:spcAft>
              <a:buNone/>
            </a:pPr>
            <a:r>
              <a:rPr sz="1050" b="1" i="0">
                <a:solidFill>
                  <a:srgbClr val="9FB2D9"/>
                </a:solidFill>
                <a:latin typeface="Roboto"/>
              </a:rPr>
              <a:t>interview-auswertung/SKILL.md</a:t>
            </a:r>
          </a:p>
        </p:txBody>
      </p:sp>
      <p:sp>
        <p:nvSpPr>
          <p:cNvPr id="15" name="TextBox 14"/>
          <p:cNvSpPr txBox="1"/>
          <p:nvPr/>
        </p:nvSpPr>
        <p:spPr>
          <a:xfrm>
            <a:off x="1069848" y="2468880"/>
            <a:ext cx="3749039" cy="3428999"/>
          </a:xfrm>
          <a:prstGeom prst="rect">
            <a:avLst/>
          </a:prstGeom>
          <a:noFill/>
        </p:spPr>
        <p:txBody>
          <a:bodyPr wrap="square" lIns="0" rIns="0" tIns="0" bIns="0" anchor="t"/>
          <a:lstStyle/>
          <a:p>
            <a:pPr algn="l">
              <a:spcAft>
                <a:spcPts val="150"/>
              </a:spcAft>
              <a:buNone/>
            </a:pPr>
            <a:r>
              <a:rPr sz="1050" b="0" i="0">
                <a:solidFill>
                  <a:srgbClr val="6E7FA8"/>
                </a:solidFill>
                <a:latin typeface="Roboto Mono"/>
              </a:rPr>
              <a:t>---</a:t>
            </a:r>
          </a:p>
          <a:p>
            <a:pPr algn="l">
              <a:spcAft>
                <a:spcPts val="150"/>
              </a:spcAft>
              <a:buNone/>
            </a:pPr>
            <a:r>
              <a:rPr sz="1050" b="0" i="0">
                <a:solidFill>
                  <a:srgbClr val="7FE0A7"/>
                </a:solidFill>
                <a:latin typeface="Roboto Mono"/>
              </a:rPr>
              <a:t>name: interview-auswertung</a:t>
            </a:r>
          </a:p>
          <a:p>
            <a:pPr algn="l">
              <a:spcAft>
                <a:spcPts val="150"/>
              </a:spcAft>
              <a:buNone/>
            </a:pPr>
            <a:r>
              <a:rPr sz="1050" b="0" i="0">
                <a:solidFill>
                  <a:srgbClr val="7FE0A7"/>
                </a:solidFill>
                <a:latin typeface="Roboto Mono"/>
              </a:rPr>
              <a:t>description: Wertet Interview-</a:t>
            </a:r>
          </a:p>
          <a:p>
            <a:pPr algn="l">
              <a:spcAft>
                <a:spcPts val="150"/>
              </a:spcAft>
              <a:buNone/>
            </a:pPr>
            <a:r>
              <a:rPr sz="1050" b="0" i="0">
                <a:solidFill>
                  <a:srgbClr val="7FE0A7"/>
                </a:solidFill>
                <a:latin typeface="Roboto Mono"/>
              </a:rPr>
              <a:t>  Transkripte aus. Nutzen, sobald</a:t>
            </a:r>
          </a:p>
          <a:p>
            <a:pPr algn="l">
              <a:spcAft>
                <a:spcPts val="150"/>
              </a:spcAft>
              <a:buNone/>
            </a:pPr>
            <a:r>
              <a:rPr sz="1050" b="0" i="0">
                <a:solidFill>
                  <a:srgbClr val="7FE0A7"/>
                </a:solidFill>
                <a:latin typeface="Roboto Mono"/>
              </a:rPr>
              <a:t>  ein Transkript vorliegt.</a:t>
            </a:r>
          </a:p>
          <a:p>
            <a:pPr algn="l">
              <a:spcAft>
                <a:spcPts val="150"/>
              </a:spcAft>
              <a:buNone/>
            </a:pPr>
            <a:r>
              <a:rPr sz="1050" b="0" i="0">
                <a:solidFill>
                  <a:srgbClr val="6E7FA8"/>
                </a:solidFill>
                <a:latin typeface="Roboto Mono"/>
              </a:rPr>
              <a:t>---</a:t>
            </a:r>
          </a:p>
          <a:p>
            <a:pPr algn="l">
              <a:spcAft>
                <a:spcPts val="150"/>
              </a:spcAft>
              <a:buNone/>
            </a:pPr>
            <a:r>
              <a:rPr sz="1050" b="0" i="0">
                <a:solidFill>
                  <a:srgbClr val="FFFFFF"/>
                </a:solidFill>
                <a:latin typeface="Roboto Mono"/>
              </a:rPr>
              <a:t># Interviews auswerten</a:t>
            </a:r>
          </a:p>
          <a:p>
            <a:pPr algn="l">
              <a:spcAft>
                <a:spcPts val="150"/>
              </a:spcAft>
              <a:buNone/>
            </a:pPr>
            <a:r>
              <a:rPr sz="1050" b="0" i="0">
                <a:solidFill>
                  <a:srgbClr val="C9D6EE"/>
                </a:solidFill>
                <a:latin typeface="Roboto Mono"/>
              </a:rPr>
              <a:t>1. Transkript anonymisieren</a:t>
            </a:r>
          </a:p>
          <a:p>
            <a:pPr algn="l">
              <a:spcAft>
                <a:spcPts val="150"/>
              </a:spcAft>
              <a:buNone/>
            </a:pPr>
            <a:r>
              <a:rPr sz="1050" b="0" i="0">
                <a:solidFill>
                  <a:srgbClr val="C9D6EE"/>
                </a:solidFill>
                <a:latin typeface="Roboto Mono"/>
              </a:rPr>
              <a:t>2. Je Person 3 Kernzitate</a:t>
            </a:r>
          </a:p>
          <a:p>
            <a:pPr algn="l">
              <a:spcAft>
                <a:spcPts val="150"/>
              </a:spcAft>
              <a:buNone/>
            </a:pPr>
            <a:r>
              <a:rPr sz="1050" b="0" i="0">
                <a:solidFill>
                  <a:srgbClr val="C9D6EE"/>
                </a:solidFill>
                <a:latin typeface="Roboto Mono"/>
              </a:rPr>
              <a:t>3. Beobachtung ≠ Deutung</a:t>
            </a:r>
          </a:p>
          <a:p>
            <a:pPr algn="l">
              <a:spcAft>
                <a:spcPts val="150"/>
              </a:spcAft>
              <a:buNone/>
            </a:pPr>
            <a:r>
              <a:rPr sz="1050" b="0" i="0">
                <a:solidFill>
                  <a:srgbClr val="C9D6EE"/>
                </a:solidFill>
                <a:latin typeface="Roboto Mono"/>
              </a:rPr>
              <a:t>4. Bedürfnisse als Verb:</a:t>
            </a:r>
          </a:p>
          <a:p>
            <a:pPr algn="l">
              <a:spcAft>
                <a:spcPts val="150"/>
              </a:spcAft>
              <a:buNone/>
            </a:pPr>
            <a:r>
              <a:rPr sz="1050" b="0" i="0">
                <a:solidFill>
                  <a:srgbClr val="C9D6EE"/>
                </a:solidFill>
                <a:latin typeface="Roboto Mono"/>
              </a:rPr>
              <a:t>   „will …“, „braucht …“</a:t>
            </a:r>
          </a:p>
          <a:p>
            <a:pPr algn="l">
              <a:spcAft>
                <a:spcPts val="150"/>
              </a:spcAft>
              <a:buNone/>
            </a:pPr>
            <a:r>
              <a:rPr sz="1050" b="0" i="0">
                <a:solidFill>
                  <a:srgbClr val="FFC56B"/>
                </a:solidFill>
                <a:latin typeface="Roboto Mono"/>
              </a:rPr>
              <a:t>Schema: references/tabelle.md</a:t>
            </a:r>
          </a:p>
        </p:txBody>
      </p:sp>
      <p:sp>
        <p:nvSpPr>
          <p:cNvPr id="16" name="Rounded Rectangle 15"/>
          <p:cNvSpPr/>
          <p:nvPr/>
        </p:nvSpPr>
        <p:spPr>
          <a:xfrm>
            <a:off x="5276088" y="2011680"/>
            <a:ext cx="6071616" cy="2240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5477255" y="2130552"/>
            <a:ext cx="457200" cy="45720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Workflow_w.png"/>
          <p:cNvPicPr>
            <a:picLocks noChangeAspect="1"/>
          </p:cNvPicPr>
          <p:nvPr/>
        </p:nvPicPr>
        <p:blipFill>
          <a:blip r:embed="rId3"/>
          <a:stretch>
            <a:fillRect/>
          </a:stretch>
        </p:blipFill>
        <p:spPr>
          <a:xfrm>
            <a:off x="5586983" y="2240280"/>
            <a:ext cx="237744" cy="237744"/>
          </a:xfrm>
          <a:prstGeom prst="rect">
            <a:avLst/>
          </a:prstGeom>
        </p:spPr>
      </p:pic>
      <p:sp>
        <p:nvSpPr>
          <p:cNvPr id="19" name="TextBox 18"/>
          <p:cNvSpPr txBox="1"/>
          <p:nvPr/>
        </p:nvSpPr>
        <p:spPr>
          <a:xfrm>
            <a:off x="6053327" y="2130552"/>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Automatisch auswerten, sobald ein Interview da ist</a:t>
            </a:r>
          </a:p>
        </p:txBody>
      </p:sp>
      <p:sp>
        <p:nvSpPr>
          <p:cNvPr id="20" name="Rounded Rectangle 19"/>
          <p:cNvSpPr/>
          <p:nvPr/>
        </p:nvSpPr>
        <p:spPr>
          <a:xfrm>
            <a:off x="5477255"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Folder_n.png"/>
          <p:cNvPicPr>
            <a:picLocks noChangeAspect="1"/>
          </p:cNvPicPr>
          <p:nvPr/>
        </p:nvPicPr>
        <p:blipFill>
          <a:blip r:embed="rId4"/>
          <a:stretch>
            <a:fillRect/>
          </a:stretch>
        </p:blipFill>
        <p:spPr>
          <a:xfrm>
            <a:off x="5909309" y="2788920"/>
            <a:ext cx="347472" cy="347472"/>
          </a:xfrm>
          <a:prstGeom prst="rect">
            <a:avLst/>
          </a:prstGeom>
        </p:spPr>
      </p:pic>
      <p:sp>
        <p:nvSpPr>
          <p:cNvPr id="22" name="TextBox 21"/>
          <p:cNvSpPr txBox="1"/>
          <p:nvPr/>
        </p:nvSpPr>
        <p:spPr>
          <a:xfrm>
            <a:off x="5522975"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Neues Transkript</a:t>
            </a:r>
          </a:p>
          <a:p>
            <a:pPr algn="ctr">
              <a:spcAft>
                <a:spcPts val="0"/>
              </a:spcAft>
              <a:buNone/>
            </a:pPr>
            <a:r>
              <a:rPr sz="1150" b="1" i="0">
                <a:solidFill>
                  <a:srgbClr val="0E1F53"/>
                </a:solidFill>
                <a:latin typeface="Roboto"/>
              </a:rPr>
              <a:t>im Ordner</a:t>
            </a:r>
          </a:p>
        </p:txBody>
      </p:sp>
      <p:sp>
        <p:nvSpPr>
          <p:cNvPr id="23" name="Right Arrow 22"/>
          <p:cNvSpPr/>
          <p:nvPr/>
        </p:nvSpPr>
        <p:spPr>
          <a:xfrm>
            <a:off x="6734555" y="313639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963155"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uBot_n.png"/>
          <p:cNvPicPr>
            <a:picLocks noChangeAspect="1"/>
          </p:cNvPicPr>
          <p:nvPr/>
        </p:nvPicPr>
        <p:blipFill>
          <a:blip r:embed="rId5"/>
          <a:stretch>
            <a:fillRect/>
          </a:stretch>
        </p:blipFill>
        <p:spPr>
          <a:xfrm>
            <a:off x="7395210" y="2788920"/>
            <a:ext cx="347472" cy="347472"/>
          </a:xfrm>
          <a:prstGeom prst="rect">
            <a:avLst/>
          </a:prstGeom>
        </p:spPr>
      </p:pic>
      <p:sp>
        <p:nvSpPr>
          <p:cNvPr id="26" name="TextBox 25"/>
          <p:cNvSpPr txBox="1"/>
          <p:nvPr/>
        </p:nvSpPr>
        <p:spPr>
          <a:xfrm>
            <a:off x="7008875"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Agent nutzt Skill</a:t>
            </a:r>
          </a:p>
          <a:p>
            <a:pPr algn="ctr">
              <a:spcAft>
                <a:spcPts val="0"/>
              </a:spcAft>
              <a:buNone/>
            </a:pPr>
            <a:r>
              <a:rPr sz="1150" b="1" i="0">
                <a:solidFill>
                  <a:srgbClr val="0E1F53"/>
                </a:solidFill>
                <a:latin typeface="Roboto"/>
              </a:rPr>
              <a:t>Auswertung</a:t>
            </a:r>
          </a:p>
        </p:txBody>
      </p:sp>
      <p:sp>
        <p:nvSpPr>
          <p:cNvPr id="27" name="Right Arrow 26"/>
          <p:cNvSpPr/>
          <p:nvPr/>
        </p:nvSpPr>
        <p:spPr>
          <a:xfrm>
            <a:off x="8220456" y="313639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8449056"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LuChartColumn_n.png"/>
          <p:cNvPicPr>
            <a:picLocks noChangeAspect="1"/>
          </p:cNvPicPr>
          <p:nvPr/>
        </p:nvPicPr>
        <p:blipFill>
          <a:blip r:embed="rId6"/>
          <a:stretch>
            <a:fillRect/>
          </a:stretch>
        </p:blipFill>
        <p:spPr>
          <a:xfrm>
            <a:off x="8881110" y="2788920"/>
            <a:ext cx="347472" cy="347472"/>
          </a:xfrm>
          <a:prstGeom prst="rect">
            <a:avLst/>
          </a:prstGeom>
        </p:spPr>
      </p:pic>
      <p:sp>
        <p:nvSpPr>
          <p:cNvPr id="30" name="TextBox 29"/>
          <p:cNvSpPr txBox="1"/>
          <p:nvPr/>
        </p:nvSpPr>
        <p:spPr>
          <a:xfrm>
            <a:off x="8494776"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Zeile in</a:t>
            </a:r>
          </a:p>
          <a:p>
            <a:pPr algn="ctr">
              <a:spcAft>
                <a:spcPts val="0"/>
              </a:spcAft>
              <a:buNone/>
            </a:pPr>
            <a:r>
              <a:rPr sz="1150" b="1" i="0">
                <a:solidFill>
                  <a:srgbClr val="0E1F53"/>
                </a:solidFill>
                <a:latin typeface="Roboto"/>
              </a:rPr>
              <a:t>Insight-Tabelle</a:t>
            </a:r>
          </a:p>
        </p:txBody>
      </p:sp>
      <p:sp>
        <p:nvSpPr>
          <p:cNvPr id="31" name="Right Arrow 30"/>
          <p:cNvSpPr/>
          <p:nvPr/>
        </p:nvSpPr>
        <p:spPr>
          <a:xfrm>
            <a:off x="9706356" y="313639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9934956"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LuMessagesSquare_n.png"/>
          <p:cNvPicPr>
            <a:picLocks noChangeAspect="1"/>
          </p:cNvPicPr>
          <p:nvPr/>
        </p:nvPicPr>
        <p:blipFill>
          <a:blip r:embed="rId7"/>
          <a:stretch>
            <a:fillRect/>
          </a:stretch>
        </p:blipFill>
        <p:spPr>
          <a:xfrm>
            <a:off x="10367010" y="2788920"/>
            <a:ext cx="347472" cy="347472"/>
          </a:xfrm>
          <a:prstGeom prst="rect">
            <a:avLst/>
          </a:prstGeom>
        </p:spPr>
      </p:pic>
      <p:sp>
        <p:nvSpPr>
          <p:cNvPr id="34" name="TextBox 33"/>
          <p:cNvSpPr txBox="1"/>
          <p:nvPr/>
        </p:nvSpPr>
        <p:spPr>
          <a:xfrm>
            <a:off x="9980676"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Kurzinfo</a:t>
            </a:r>
          </a:p>
          <a:p>
            <a:pPr algn="ctr">
              <a:spcAft>
                <a:spcPts val="0"/>
              </a:spcAft>
              <a:buNone/>
            </a:pPr>
            <a:r>
              <a:rPr sz="1150" b="1" i="0">
                <a:solidFill>
                  <a:srgbClr val="0E1F53"/>
                </a:solidFill>
                <a:latin typeface="Roboto"/>
              </a:rPr>
              <a:t>ans Team</a:t>
            </a:r>
          </a:p>
        </p:txBody>
      </p:sp>
      <p:sp>
        <p:nvSpPr>
          <p:cNvPr id="35" name="TextBox 34"/>
          <p:cNvSpPr txBox="1"/>
          <p:nvPr/>
        </p:nvSpPr>
        <p:spPr>
          <a:xfrm>
            <a:off x="5477255" y="3794760"/>
            <a:ext cx="5669280" cy="411480"/>
          </a:xfrm>
          <a:prstGeom prst="rect">
            <a:avLst/>
          </a:prstGeom>
          <a:noFill/>
        </p:spPr>
        <p:txBody>
          <a:bodyPr wrap="square" lIns="0" rIns="0" tIns="0" bIns="0" anchor="t"/>
          <a:lstStyle/>
          <a:p>
            <a:pPr algn="l">
              <a:spcAft>
                <a:spcPts val="400"/>
              </a:spcAft>
              <a:buNone/>
            </a:pPr>
            <a:r>
              <a:rPr sz="1100" b="0" i="0">
                <a:solidFill>
                  <a:srgbClr val="5A6684"/>
                </a:solidFill>
                <a:latin typeface="Roboto"/>
              </a:rPr>
              <a:t>Ereignis-Auslöser statt Uhrzeit: umsetzbar mit n8n, Make oder Power Automate.</a:t>
            </a:r>
          </a:p>
        </p:txBody>
      </p:sp>
      <p:sp>
        <p:nvSpPr>
          <p:cNvPr id="36" name="Rounded Rectangle 35"/>
          <p:cNvSpPr/>
          <p:nvPr/>
        </p:nvSpPr>
        <p:spPr>
          <a:xfrm>
            <a:off x="5276088" y="4434840"/>
            <a:ext cx="6071616" cy="1554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5477255" y="4553712"/>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LuGithub_w.png"/>
          <p:cNvPicPr>
            <a:picLocks noChangeAspect="1"/>
          </p:cNvPicPr>
          <p:nvPr/>
        </p:nvPicPr>
        <p:blipFill>
          <a:blip r:embed="rId8"/>
          <a:stretch>
            <a:fillRect/>
          </a:stretch>
        </p:blipFill>
        <p:spPr>
          <a:xfrm>
            <a:off x="5586983" y="4663440"/>
            <a:ext cx="237744" cy="237744"/>
          </a:xfrm>
          <a:prstGeom prst="rect">
            <a:avLst/>
          </a:prstGeom>
        </p:spPr>
      </p:pic>
      <p:sp>
        <p:nvSpPr>
          <p:cNvPr id="39" name="TextBox 38"/>
          <p:cNvSpPr txBox="1"/>
          <p:nvPr/>
        </p:nvSpPr>
        <p:spPr>
          <a:xfrm>
            <a:off x="6053327" y="4553712"/>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Fertige Skills auf GitHub</a:t>
            </a:r>
          </a:p>
        </p:txBody>
      </p:sp>
      <p:sp>
        <p:nvSpPr>
          <p:cNvPr id="40" name="Rounded Rectangle 39"/>
          <p:cNvSpPr/>
          <p:nvPr/>
        </p:nvSpPr>
        <p:spPr>
          <a:xfrm>
            <a:off x="5477255" y="5047488"/>
            <a:ext cx="1770610"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discovery-interview-prep</a:t>
            </a:r>
          </a:p>
        </p:txBody>
      </p:sp>
      <p:sp>
        <p:nvSpPr>
          <p:cNvPr id="41" name="Rounded Rectangle 40"/>
          <p:cNvSpPr/>
          <p:nvPr/>
        </p:nvSpPr>
        <p:spPr>
          <a:xfrm>
            <a:off x="7339306" y="5047488"/>
            <a:ext cx="1458883"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interview-synthesis</a:t>
            </a:r>
          </a:p>
        </p:txBody>
      </p:sp>
      <p:sp>
        <p:nvSpPr>
          <p:cNvPr id="42" name="Rounded Rectangle 41"/>
          <p:cNvSpPr/>
          <p:nvPr/>
        </p:nvSpPr>
        <p:spPr>
          <a:xfrm>
            <a:off x="8889630" y="5047488"/>
            <a:ext cx="1708265"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voice-of-customer-miner</a:t>
            </a:r>
          </a:p>
        </p:txBody>
      </p:sp>
      <p:sp>
        <p:nvSpPr>
          <p:cNvPr id="43" name="TextBox 42"/>
          <p:cNvSpPr txBox="1"/>
          <p:nvPr/>
        </p:nvSpPr>
        <p:spPr>
          <a:xfrm>
            <a:off x="5477255" y="5724144"/>
            <a:ext cx="5669280" cy="237744"/>
          </a:xfrm>
          <a:prstGeom prst="rect">
            <a:avLst/>
          </a:prstGeom>
          <a:noFill/>
        </p:spPr>
        <p:txBody>
          <a:bodyPr wrap="square" lIns="0" rIns="0" tIns="0" bIns="0" anchor="t"/>
          <a:lstStyle/>
          <a:p>
            <a:pPr algn="l">
              <a:spcAft>
                <a:spcPts val="400"/>
              </a:spcAft>
              <a:buNone/>
            </a:pPr>
            <a:r>
              <a:rPr sz="950" b="0" i="0">
                <a:solidFill>
                  <a:srgbClr val="5A6684"/>
                </a:solidFill>
                <a:latin typeface="Roboto"/>
              </a:rPr>
              <a:t>GitHub: deanpeters/Product-Manager-Skills · product-on-purpose/pm-skills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 Der Interview-Coach im Einsatz</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Empathie: Beobachten</a:t>
            </a:r>
          </a:p>
        </p:txBody>
      </p:sp>
      <p:sp>
        <p:nvSpPr>
          <p:cNvPr id="10" name="Rounded Rectangle 9"/>
          <p:cNvSpPr/>
          <p:nvPr/>
        </p:nvSpPr>
        <p:spPr>
          <a:xfrm>
            <a:off x="841248" y="2011680"/>
            <a:ext cx="74980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59536" y="2029968"/>
            <a:ext cx="74615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18488" y="2048256"/>
            <a:ext cx="65836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Interview-Coach · Hochschule Rhein-Waal</a:t>
            </a:r>
          </a:p>
        </p:txBody>
      </p:sp>
      <p:sp>
        <p:nvSpPr>
          <p:cNvPr id="16" name="Rounded Rectangle 15"/>
          <p:cNvSpPr/>
          <p:nvPr/>
        </p:nvSpPr>
        <p:spPr>
          <a:xfrm>
            <a:off x="969264" y="2487168"/>
            <a:ext cx="7242047" cy="392864"/>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8" name="TextBox 17"/>
          <p:cNvSpPr txBox="1"/>
          <p:nvPr/>
        </p:nvSpPr>
        <p:spPr>
          <a:xfrm>
            <a:off x="2020824" y="2523744"/>
            <a:ext cx="6080759" cy="319712"/>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Interview-Coach mit Erfahrung in Nutzerforschung an Hochschulen.</a:t>
            </a:r>
          </a:p>
        </p:txBody>
      </p:sp>
      <p:sp>
        <p:nvSpPr>
          <p:cNvPr id="19" name="Rounded Rectangle 18"/>
          <p:cNvSpPr/>
          <p:nvPr/>
        </p:nvSpPr>
        <p:spPr>
          <a:xfrm>
            <a:off x="969264" y="2944040"/>
            <a:ext cx="7242047" cy="893249"/>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60704" y="2998904"/>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1" name="TextBox 20"/>
          <p:cNvSpPr txBox="1"/>
          <p:nvPr/>
        </p:nvSpPr>
        <p:spPr>
          <a:xfrm>
            <a:off x="2020824" y="2980616"/>
            <a:ext cx="6080759" cy="820097"/>
          </a:xfrm>
          <a:prstGeom prst="rect">
            <a:avLst/>
          </a:prstGeom>
          <a:noFill/>
        </p:spPr>
        <p:txBody>
          <a:bodyPr wrap="square" lIns="0" rIns="0" tIns="0" bIns="0" anchor="ctr"/>
          <a:lstStyle/>
          <a:p>
            <a:pPr algn="l">
              <a:spcAft>
                <a:spcPts val="0"/>
              </a:spcAft>
              <a:buNone/>
            </a:pPr>
            <a:r>
              <a:rPr sz="1150" b="0" i="0">
                <a:solidFill>
                  <a:srgbClr val="1B2440"/>
                </a:solidFill>
                <a:latin typeface="Roboto"/>
              </a:rPr>
              <a:t>Challenge der HSRW: Wie können wir die Hochschule zu einem Ort machen, für den man sich entscheidet und an den man gern kommt? Zielgruppen: Schüler:innen, Pendelnde, internationale Studierende, Lehrende, Unternehmen.</a:t>
            </a:r>
          </a:p>
        </p:txBody>
      </p:sp>
      <p:sp>
        <p:nvSpPr>
          <p:cNvPr id="22" name="Rounded Rectangle 21"/>
          <p:cNvSpPr/>
          <p:nvPr/>
        </p:nvSpPr>
        <p:spPr>
          <a:xfrm>
            <a:off x="969264" y="3901298"/>
            <a:ext cx="7242047" cy="392864"/>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60704" y="3956162"/>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4" name="TextBox 23"/>
          <p:cNvSpPr txBox="1"/>
          <p:nvPr/>
        </p:nvSpPr>
        <p:spPr>
          <a:xfrm>
            <a:off x="2020824" y="3937874"/>
            <a:ext cx="6080759" cy="319712"/>
          </a:xfrm>
          <a:prstGeom prst="rect">
            <a:avLst/>
          </a:prstGeom>
          <a:noFill/>
        </p:spPr>
        <p:txBody>
          <a:bodyPr wrap="square" lIns="0" rIns="0" tIns="0" bIns="0" anchor="ctr"/>
          <a:lstStyle/>
          <a:p>
            <a:pPr algn="l">
              <a:spcAft>
                <a:spcPts val="0"/>
              </a:spcAft>
              <a:buNone/>
            </a:pPr>
            <a:r>
              <a:rPr sz="1150" b="0" i="0">
                <a:solidFill>
                  <a:srgbClr val="1B2440"/>
                </a:solidFill>
                <a:latin typeface="Roboto"/>
              </a:rPr>
              <a:t>Erstelle je Zielgruppe einen Leitfaden und werte danach die Transkripte aus.</a:t>
            </a:r>
          </a:p>
        </p:txBody>
      </p:sp>
      <p:sp>
        <p:nvSpPr>
          <p:cNvPr id="25" name="Rounded Rectangle 24"/>
          <p:cNvSpPr/>
          <p:nvPr/>
        </p:nvSpPr>
        <p:spPr>
          <a:xfrm>
            <a:off x="969264" y="4358171"/>
            <a:ext cx="7242047" cy="583093"/>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60704" y="4413035"/>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7" name="TextBox 26"/>
          <p:cNvSpPr txBox="1"/>
          <p:nvPr/>
        </p:nvSpPr>
        <p:spPr>
          <a:xfrm>
            <a:off x="2020824" y="4394747"/>
            <a:ext cx="6080759" cy="509941"/>
          </a:xfrm>
          <a:prstGeom prst="rect">
            <a:avLst/>
          </a:prstGeom>
          <a:noFill/>
        </p:spPr>
        <p:txBody>
          <a:bodyPr wrap="square" lIns="0" rIns="0" tIns="0" bIns="0" anchor="ctr"/>
          <a:lstStyle/>
          <a:p>
            <a:pPr algn="l">
              <a:spcAft>
                <a:spcPts val="0"/>
              </a:spcAft>
              <a:buNone/>
            </a:pPr>
            <a:r>
              <a:rPr sz="1150" b="0" i="0">
                <a:solidFill>
                  <a:srgbClr val="1B2440"/>
                </a:solidFill>
                <a:latin typeface="Roboto"/>
              </a:rPr>
              <a:t>1. Leitfaden auf Deutsch und Englisch. 2. Fragen zu Campus-Alltag, Lernorten, Studienwahl. 3. Auswertung je Person mit Bezug zu den Annahmen.</a:t>
            </a:r>
          </a:p>
        </p:txBody>
      </p:sp>
      <p:sp>
        <p:nvSpPr>
          <p:cNvPr id="28" name="Rounded Rectangle 27"/>
          <p:cNvSpPr/>
          <p:nvPr/>
        </p:nvSpPr>
        <p:spPr>
          <a:xfrm>
            <a:off x="969264" y="5005272"/>
            <a:ext cx="7242047" cy="446624"/>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60704" y="5060136"/>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0" name="TextBox 29"/>
          <p:cNvSpPr txBox="1"/>
          <p:nvPr/>
        </p:nvSpPr>
        <p:spPr>
          <a:xfrm>
            <a:off x="2020824" y="5041848"/>
            <a:ext cx="6080759" cy="373472"/>
          </a:xfrm>
          <a:prstGeom prst="rect">
            <a:avLst/>
          </a:prstGeom>
          <a:noFill/>
        </p:spPr>
        <p:txBody>
          <a:bodyPr wrap="square" lIns="0" rIns="0" tIns="0" bIns="0" anchor="ctr"/>
          <a:lstStyle/>
          <a:p>
            <a:pPr algn="l">
              <a:spcAft>
                <a:spcPts val="0"/>
              </a:spcAft>
              <a:buNone/>
            </a:pPr>
            <a:r>
              <a:rPr sz="1150" b="0" i="0">
                <a:solidFill>
                  <a:srgbClr val="1B2440"/>
                </a:solidFill>
                <a:latin typeface="Roboto"/>
              </a:rPr>
              <a:t>Leitfaden: 10 Fragen mit Nachfragen. Auswertung: Tabelle Person | Zitat | Beobachtung | Bedürfnis | Annahme.</a:t>
            </a:r>
          </a:p>
        </p:txBody>
      </p:sp>
      <p:sp>
        <p:nvSpPr>
          <p:cNvPr id="31" name="Rounded Rectangle 30"/>
          <p:cNvSpPr/>
          <p:nvPr/>
        </p:nvSpPr>
        <p:spPr>
          <a:xfrm>
            <a:off x="969264" y="5515905"/>
            <a:ext cx="7242047" cy="409406"/>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60704" y="5570769"/>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3" name="TextBox 32"/>
          <p:cNvSpPr txBox="1"/>
          <p:nvPr/>
        </p:nvSpPr>
        <p:spPr>
          <a:xfrm>
            <a:off x="2020824" y="5552481"/>
            <a:ext cx="6080759" cy="336254"/>
          </a:xfrm>
          <a:prstGeom prst="rect">
            <a:avLst/>
          </a:prstGeom>
          <a:noFill/>
        </p:spPr>
        <p:txBody>
          <a:bodyPr wrap="square" lIns="0" rIns="0" tIns="0" bIns="0" anchor="ctr"/>
          <a:lstStyle/>
          <a:p>
            <a:pPr algn="l">
              <a:spcAft>
                <a:spcPts val="0"/>
              </a:spcAft>
              <a:buNone/>
            </a:pPr>
            <a:r>
              <a:rPr sz="1150" b="0" i="0">
                <a:solidFill>
                  <a:srgbClr val="1B2440"/>
                </a:solidFill>
                <a:latin typeface="Roboto"/>
              </a:rPr>
              <a:t>Nur mit Einwilligung transkribieren. Namen und Studiengänge anonymisieren. Keine erfundenen Zitate.</a:t>
            </a:r>
          </a:p>
        </p:txBody>
      </p:sp>
      <p:sp>
        <p:nvSpPr>
          <p:cNvPr id="34" name="Rounded Rectangle 33"/>
          <p:cNvSpPr/>
          <p:nvPr/>
        </p:nvSpPr>
        <p:spPr>
          <a:xfrm>
            <a:off x="8613648" y="2011680"/>
            <a:ext cx="27340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842248" y="2194560"/>
            <a:ext cx="640080" cy="64008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LuEye_w.png"/>
          <p:cNvPicPr>
            <a:picLocks noChangeAspect="1"/>
          </p:cNvPicPr>
          <p:nvPr/>
        </p:nvPicPr>
        <p:blipFill>
          <a:blip r:embed="rId3"/>
          <a:stretch>
            <a:fillRect/>
          </a:stretch>
        </p:blipFill>
        <p:spPr>
          <a:xfrm>
            <a:off x="8995867" y="2348179"/>
            <a:ext cx="332841" cy="332841"/>
          </a:xfrm>
          <a:prstGeom prst="rect">
            <a:avLst/>
          </a:prstGeom>
        </p:spPr>
      </p:pic>
      <p:sp>
        <p:nvSpPr>
          <p:cNvPr id="37" name="TextBox 36"/>
          <p:cNvSpPr txBox="1"/>
          <p:nvPr/>
        </p:nvSpPr>
        <p:spPr>
          <a:xfrm>
            <a:off x="9619488" y="2194560"/>
            <a:ext cx="1591056" cy="640080"/>
          </a:xfrm>
          <a:prstGeom prst="rect">
            <a:avLst/>
          </a:prstGeom>
          <a:noFill/>
        </p:spPr>
        <p:txBody>
          <a:bodyPr wrap="square" lIns="0" rIns="0" tIns="0" bIns="0" anchor="ctr"/>
          <a:lstStyle/>
          <a:p>
            <a:pPr algn="l">
              <a:spcAft>
                <a:spcPts val="0"/>
              </a:spcAft>
              <a:buNone/>
            </a:pPr>
            <a:r>
              <a:rPr sz="1500" b="1" i="0">
                <a:solidFill>
                  <a:srgbClr val="0E1F53"/>
                </a:solidFill>
                <a:latin typeface="Roboto"/>
              </a:rPr>
              <a:t>Interview-Coach</a:t>
            </a:r>
          </a:p>
          <a:p>
            <a:pPr algn="l">
              <a:spcAft>
                <a:spcPts val="0"/>
              </a:spcAft>
              <a:buNone/>
            </a:pPr>
            <a:r>
              <a:rPr sz="1100" b="0" i="0">
                <a:solidFill>
                  <a:srgbClr val="5A6684"/>
                </a:solidFill>
                <a:latin typeface="Roboto"/>
              </a:rPr>
              <a:t>Phase 1 · Empathie</a:t>
            </a:r>
          </a:p>
        </p:txBody>
      </p:sp>
      <p:sp>
        <p:nvSpPr>
          <p:cNvPr id="38" name="TextBox 37"/>
          <p:cNvSpPr txBox="1"/>
          <p:nvPr/>
        </p:nvSpPr>
        <p:spPr>
          <a:xfrm>
            <a:off x="8842248" y="3063240"/>
            <a:ext cx="2276856" cy="320040"/>
          </a:xfrm>
          <a:prstGeom prst="rect">
            <a:avLst/>
          </a:prstGeom>
          <a:noFill/>
        </p:spPr>
        <p:txBody>
          <a:bodyPr wrap="square" lIns="0" rIns="0" tIns="0" bIns="0" anchor="t"/>
          <a:lstStyle/>
          <a:p>
            <a:pPr algn="l">
              <a:spcAft>
                <a:spcPts val="400"/>
              </a:spcAft>
              <a:buNone/>
            </a:pPr>
            <a:r>
              <a:rPr sz="1200" b="1" i="0">
                <a:solidFill>
                  <a:srgbClr val="5A6684"/>
                </a:solidFill>
                <a:latin typeface="Roboto"/>
              </a:rPr>
              <a:t>Im Einsatz</a:t>
            </a:r>
          </a:p>
        </p:txBody>
      </p:sp>
      <p:sp>
        <p:nvSpPr>
          <p:cNvPr id="39" name="Rounded Rectangle 38"/>
          <p:cNvSpPr/>
          <p:nvPr/>
        </p:nvSpPr>
        <p:spPr>
          <a:xfrm>
            <a:off x="8842248" y="3429000"/>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LuCheck_p.png"/>
          <p:cNvPicPr>
            <a:picLocks noChangeAspect="1"/>
          </p:cNvPicPr>
          <p:nvPr/>
        </p:nvPicPr>
        <p:blipFill>
          <a:blip r:embed="rId4"/>
          <a:stretch>
            <a:fillRect/>
          </a:stretch>
        </p:blipFill>
        <p:spPr>
          <a:xfrm>
            <a:off x="8933688" y="3502152"/>
            <a:ext cx="237744" cy="237744"/>
          </a:xfrm>
          <a:prstGeom prst="rect">
            <a:avLst/>
          </a:prstGeom>
        </p:spPr>
      </p:pic>
      <p:sp>
        <p:nvSpPr>
          <p:cNvPr id="41" name="TextBox 40"/>
          <p:cNvSpPr txBox="1"/>
          <p:nvPr/>
        </p:nvSpPr>
        <p:spPr>
          <a:xfrm>
            <a:off x="9253728" y="3429000"/>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Transkription</a:t>
            </a:r>
          </a:p>
        </p:txBody>
      </p:sp>
      <p:sp>
        <p:nvSpPr>
          <p:cNvPr id="42" name="Rounded Rectangle 41"/>
          <p:cNvSpPr/>
          <p:nvPr/>
        </p:nvSpPr>
        <p:spPr>
          <a:xfrm>
            <a:off x="8842248" y="3904487"/>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Picture 42" descr="LuCheck_p.png"/>
          <p:cNvPicPr>
            <a:picLocks noChangeAspect="1"/>
          </p:cNvPicPr>
          <p:nvPr/>
        </p:nvPicPr>
        <p:blipFill>
          <a:blip r:embed="rId4"/>
          <a:stretch>
            <a:fillRect/>
          </a:stretch>
        </p:blipFill>
        <p:spPr>
          <a:xfrm>
            <a:off x="8933688" y="3977639"/>
            <a:ext cx="237744" cy="237744"/>
          </a:xfrm>
          <a:prstGeom prst="rect">
            <a:avLst/>
          </a:prstGeom>
        </p:spPr>
      </p:pic>
      <p:sp>
        <p:nvSpPr>
          <p:cNvPr id="44" name="TextBox 43"/>
          <p:cNvSpPr txBox="1"/>
          <p:nvPr/>
        </p:nvSpPr>
        <p:spPr>
          <a:xfrm>
            <a:off x="9253728" y="3904487"/>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Skill: interview-leitfaden</a:t>
            </a:r>
          </a:p>
        </p:txBody>
      </p:sp>
      <p:sp>
        <p:nvSpPr>
          <p:cNvPr id="45" name="Rounded Rectangle 44"/>
          <p:cNvSpPr/>
          <p:nvPr/>
        </p:nvSpPr>
        <p:spPr>
          <a:xfrm>
            <a:off x="8842248" y="4379976"/>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LuCheck_p.png"/>
          <p:cNvPicPr>
            <a:picLocks noChangeAspect="1"/>
          </p:cNvPicPr>
          <p:nvPr/>
        </p:nvPicPr>
        <p:blipFill>
          <a:blip r:embed="rId4"/>
          <a:stretch>
            <a:fillRect/>
          </a:stretch>
        </p:blipFill>
        <p:spPr>
          <a:xfrm>
            <a:off x="8933688" y="4453128"/>
            <a:ext cx="237744" cy="237744"/>
          </a:xfrm>
          <a:prstGeom prst="rect">
            <a:avLst/>
          </a:prstGeom>
        </p:spPr>
      </p:pic>
      <p:sp>
        <p:nvSpPr>
          <p:cNvPr id="47" name="TextBox 46"/>
          <p:cNvSpPr txBox="1"/>
          <p:nvPr/>
        </p:nvSpPr>
        <p:spPr>
          <a:xfrm>
            <a:off x="9253728" y="4379976"/>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Skill: interview-auswertung</a:t>
            </a:r>
          </a:p>
        </p:txBody>
      </p:sp>
      <p:sp>
        <p:nvSpPr>
          <p:cNvPr id="48" name="Rounded Rectangle 47"/>
          <p:cNvSpPr/>
          <p:nvPr/>
        </p:nvSpPr>
        <p:spPr>
          <a:xfrm>
            <a:off x="8842248" y="4855464"/>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9" name="Picture 48" descr="LuCheck_p.png"/>
          <p:cNvPicPr>
            <a:picLocks noChangeAspect="1"/>
          </p:cNvPicPr>
          <p:nvPr/>
        </p:nvPicPr>
        <p:blipFill>
          <a:blip r:embed="rId4"/>
          <a:stretch>
            <a:fillRect/>
          </a:stretch>
        </p:blipFill>
        <p:spPr>
          <a:xfrm>
            <a:off x="8933688" y="4928616"/>
            <a:ext cx="237744" cy="237744"/>
          </a:xfrm>
          <a:prstGeom prst="rect">
            <a:avLst/>
          </a:prstGeom>
        </p:spPr>
      </p:pic>
      <p:sp>
        <p:nvSpPr>
          <p:cNvPr id="50" name="TextBox 49"/>
          <p:cNvSpPr txBox="1"/>
          <p:nvPr/>
        </p:nvSpPr>
        <p:spPr>
          <a:xfrm>
            <a:off x="9253728" y="4855464"/>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Ordner-Automatisierung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HSRW-Ergebnis Empathie: Was wir gehört und gesehen haben</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Empathie: Beobachten</a:t>
            </a:r>
          </a:p>
        </p:txBody>
      </p:sp>
      <p:sp>
        <p:nvSpPr>
          <p:cNvPr id="10" name="Rounded Rectangle 9"/>
          <p:cNvSpPr/>
          <p:nvPr/>
        </p:nvSpPr>
        <p:spPr>
          <a:xfrm>
            <a:off x="841248" y="2011680"/>
            <a:ext cx="4343400"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69848" y="2130552"/>
            <a:ext cx="3886200" cy="365760"/>
          </a:xfrm>
          <a:prstGeom prst="rect">
            <a:avLst/>
          </a:prstGeom>
          <a:noFill/>
        </p:spPr>
        <p:txBody>
          <a:bodyPr wrap="square" lIns="0" rIns="0" tIns="0" bIns="0" anchor="t"/>
          <a:lstStyle/>
          <a:p>
            <a:pPr algn="l">
              <a:spcAft>
                <a:spcPts val="400"/>
              </a:spcAft>
              <a:buNone/>
            </a:pPr>
            <a:r>
              <a:rPr sz="1450" b="1" i="0">
                <a:solidFill>
                  <a:srgbClr val="0E1F53"/>
                </a:solidFill>
                <a:latin typeface="Roboto"/>
              </a:rPr>
              <a:t>Leitfaden-Auszug (Studierende)</a:t>
            </a:r>
          </a:p>
        </p:txBody>
      </p:sp>
      <p:sp>
        <p:nvSpPr>
          <p:cNvPr id="12" name="TextBox 11"/>
          <p:cNvSpPr txBox="1"/>
          <p:nvPr/>
        </p:nvSpPr>
        <p:spPr>
          <a:xfrm>
            <a:off x="1069848" y="2606040"/>
            <a:ext cx="3886200" cy="3291840"/>
          </a:xfrm>
          <a:prstGeom prst="rect">
            <a:avLst/>
          </a:prstGeom>
          <a:noFill/>
        </p:spPr>
        <p:txBody>
          <a:bodyPr wrap="square" lIns="0" rIns="0" tIns="0" bIns="0" anchor="t"/>
          <a:lstStyle/>
          <a:p>
            <a:pPr algn="l" marL="164592" indent="-164592">
              <a:spcAft>
                <a:spcPts val="600"/>
              </a:spcAft>
              <a:buClr>
                <a:srgbClr val="FB2762"/>
              </a:buClr>
              <a:buFont typeface="Arial"/>
              <a:buChar char="›"/>
            </a:pPr>
            <a:r>
              <a:rPr sz="1250" b="0" i="0">
                <a:solidFill>
                  <a:srgbClr val="0E1F53"/>
                </a:solidFill>
                <a:latin typeface="Roboto"/>
              </a:rPr>
              <a:t>Erzählen Sie von Ihrem letzten Tag am Campus. Wie lief er ab?</a:t>
            </a:r>
          </a:p>
          <a:p>
            <a:pPr algn="l" marL="164592" indent="-164592">
              <a:spcAft>
                <a:spcPts val="600"/>
              </a:spcAft>
              <a:buClr>
                <a:srgbClr val="FB2762"/>
              </a:buClr>
              <a:buFont typeface="Arial"/>
              <a:buChar char="›"/>
            </a:pPr>
            <a:r>
              <a:rPr sz="1250" b="0" i="0">
                <a:solidFill>
                  <a:srgbClr val="0E1F53"/>
                </a:solidFill>
                <a:latin typeface="Roboto"/>
              </a:rPr>
              <a:t>Was bringt Sie dazu, auf den Campus zu kommen, was hält Sie ab?</a:t>
            </a:r>
          </a:p>
          <a:p>
            <a:pPr algn="l" marL="164592" indent="-164592">
              <a:spcAft>
                <a:spcPts val="600"/>
              </a:spcAft>
              <a:buClr>
                <a:srgbClr val="FB2762"/>
              </a:buClr>
              <a:buFont typeface="Arial"/>
              <a:buChar char="›"/>
            </a:pPr>
            <a:r>
              <a:rPr sz="1250" b="0" i="0">
                <a:solidFill>
                  <a:srgbClr val="0E1F53"/>
                </a:solidFill>
                <a:latin typeface="Roboto"/>
              </a:rPr>
              <a:t>Wo lernen Sie am liebsten, und warum gerade dort?</a:t>
            </a:r>
          </a:p>
          <a:p>
            <a:pPr algn="l" marL="164592" indent="-164592">
              <a:spcAft>
                <a:spcPts val="600"/>
              </a:spcAft>
              <a:buClr>
                <a:srgbClr val="FB2762"/>
              </a:buClr>
              <a:buFont typeface="Arial"/>
              <a:buChar char="›"/>
            </a:pPr>
            <a:r>
              <a:rPr sz="1250" b="0" i="0">
                <a:solidFill>
                  <a:srgbClr val="0E1F53"/>
                </a:solidFill>
                <a:latin typeface="Roboto"/>
              </a:rPr>
              <a:t>Wie haben Sie sich damals für die HSRW entschieden?</a:t>
            </a:r>
          </a:p>
          <a:p>
            <a:pPr algn="l" marL="164592" indent="-164592">
              <a:spcAft>
                <a:spcPts val="600"/>
              </a:spcAft>
              <a:buClr>
                <a:srgbClr val="FB2762"/>
              </a:buClr>
              <a:buFont typeface="Arial"/>
              <a:buChar char="›"/>
            </a:pPr>
            <a:r>
              <a:rPr sz="1250" b="0" i="0">
                <a:solidFill>
                  <a:srgbClr val="0E1F53"/>
                </a:solidFill>
                <a:latin typeface="Roboto"/>
              </a:rPr>
              <a:t>Wenn Sie einen Tag die Hochschule leiten würden: Was würden Sie ändern?</a:t>
            </a:r>
          </a:p>
        </p:txBody>
      </p:sp>
      <p:sp>
        <p:nvSpPr>
          <p:cNvPr id="13" name="Rounded Rectangle 12"/>
          <p:cNvSpPr/>
          <p:nvPr/>
        </p:nvSpPr>
        <p:spPr>
          <a:xfrm>
            <a:off x="5458968" y="2011680"/>
            <a:ext cx="280720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41848" y="2057400"/>
            <a:ext cx="548640" cy="548640"/>
          </a:xfrm>
          <a:prstGeom prst="rect">
            <a:avLst/>
          </a:prstGeom>
          <a:noFill/>
        </p:spPr>
        <p:txBody>
          <a:bodyPr wrap="square" lIns="0" rIns="0" tIns="0" bIns="0" anchor="t"/>
          <a:lstStyle/>
          <a:p>
            <a:pPr algn="l">
              <a:spcAft>
                <a:spcPts val="400"/>
              </a:spcAft>
              <a:buNone/>
            </a:pPr>
            <a:r>
              <a:rPr sz="4000" b="1" i="0">
                <a:solidFill>
                  <a:srgbClr val="FB2762"/>
                </a:solidFill>
                <a:latin typeface="Roboto"/>
              </a:rPr>
              <a:t>“</a:t>
            </a:r>
          </a:p>
        </p:txBody>
      </p:sp>
      <p:sp>
        <p:nvSpPr>
          <p:cNvPr id="15" name="TextBox 14"/>
          <p:cNvSpPr txBox="1"/>
          <p:nvPr/>
        </p:nvSpPr>
        <p:spPr>
          <a:xfrm>
            <a:off x="5687568" y="2514600"/>
            <a:ext cx="2350008" cy="914400"/>
          </a:xfrm>
          <a:prstGeom prst="rect">
            <a:avLst/>
          </a:prstGeom>
          <a:noFill/>
        </p:spPr>
        <p:txBody>
          <a:bodyPr wrap="square" lIns="0" rIns="0" tIns="0" bIns="0" anchor="t"/>
          <a:lstStyle/>
          <a:p>
            <a:pPr algn="l">
              <a:spcAft>
                <a:spcPts val="400"/>
              </a:spcAft>
              <a:buNone/>
            </a:pPr>
            <a:r>
              <a:rPr sz="1300" b="0" i="1">
                <a:solidFill>
                  <a:srgbClr val="0E1F53"/>
                </a:solidFill>
                <a:latin typeface="Roboto"/>
              </a:rPr>
              <a:t>„Ich komme nur noch, wenn Anwesenheitspflicht ist. Die Aufzeichnung schaue ich im Zug.“</a:t>
            </a:r>
          </a:p>
        </p:txBody>
      </p:sp>
      <p:sp>
        <p:nvSpPr>
          <p:cNvPr id="16" name="TextBox 15"/>
          <p:cNvSpPr txBox="1"/>
          <p:nvPr/>
        </p:nvSpPr>
        <p:spPr>
          <a:xfrm>
            <a:off x="5687568" y="3474720"/>
            <a:ext cx="2350008" cy="320040"/>
          </a:xfrm>
          <a:prstGeom prst="rect">
            <a:avLst/>
          </a:prstGeom>
          <a:noFill/>
        </p:spPr>
        <p:txBody>
          <a:bodyPr wrap="square" lIns="0" rIns="0" tIns="0" bIns="0" anchor="t"/>
          <a:lstStyle/>
          <a:p>
            <a:pPr algn="l">
              <a:spcAft>
                <a:spcPts val="400"/>
              </a:spcAft>
              <a:buNone/>
            </a:pPr>
            <a:r>
              <a:rPr sz="1100" b="1" i="0">
                <a:solidFill>
                  <a:srgbClr val="5A6684"/>
                </a:solidFill>
                <a:latin typeface="Roboto"/>
              </a:rPr>
              <a:t>Bachelor, pendelt aus Duisburg</a:t>
            </a:r>
          </a:p>
        </p:txBody>
      </p:sp>
      <p:sp>
        <p:nvSpPr>
          <p:cNvPr id="17" name="Rounded Rectangle 16"/>
          <p:cNvSpPr/>
          <p:nvPr/>
        </p:nvSpPr>
        <p:spPr>
          <a:xfrm>
            <a:off x="8540496" y="2011680"/>
            <a:ext cx="280720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723376" y="2057400"/>
            <a:ext cx="548640" cy="548640"/>
          </a:xfrm>
          <a:prstGeom prst="rect">
            <a:avLst/>
          </a:prstGeom>
          <a:noFill/>
        </p:spPr>
        <p:txBody>
          <a:bodyPr wrap="square" lIns="0" rIns="0" tIns="0" bIns="0" anchor="t"/>
          <a:lstStyle/>
          <a:p>
            <a:pPr algn="l">
              <a:spcAft>
                <a:spcPts val="400"/>
              </a:spcAft>
              <a:buNone/>
            </a:pPr>
            <a:r>
              <a:rPr sz="4000" b="1" i="0">
                <a:solidFill>
                  <a:srgbClr val="FB2762"/>
                </a:solidFill>
                <a:latin typeface="Roboto"/>
              </a:rPr>
              <a:t>“</a:t>
            </a:r>
          </a:p>
        </p:txBody>
      </p:sp>
      <p:sp>
        <p:nvSpPr>
          <p:cNvPr id="19" name="TextBox 18"/>
          <p:cNvSpPr txBox="1"/>
          <p:nvPr/>
        </p:nvSpPr>
        <p:spPr>
          <a:xfrm>
            <a:off x="8769096" y="2514600"/>
            <a:ext cx="2350008" cy="914400"/>
          </a:xfrm>
          <a:prstGeom prst="rect">
            <a:avLst/>
          </a:prstGeom>
          <a:noFill/>
        </p:spPr>
        <p:txBody>
          <a:bodyPr wrap="square" lIns="0" rIns="0" tIns="0" bIns="0" anchor="t"/>
          <a:lstStyle/>
          <a:p>
            <a:pPr algn="l">
              <a:spcAft>
                <a:spcPts val="400"/>
              </a:spcAft>
              <a:buNone/>
            </a:pPr>
            <a:r>
              <a:rPr sz="1300" b="0" i="1">
                <a:solidFill>
                  <a:srgbClr val="0E1F53"/>
                </a:solidFill>
                <a:latin typeface="Roboto"/>
              </a:rPr>
              <a:t>„Nach einem Jahr kenne ich kaum deutsche Studierende.“</a:t>
            </a:r>
          </a:p>
        </p:txBody>
      </p:sp>
      <p:sp>
        <p:nvSpPr>
          <p:cNvPr id="20" name="TextBox 19"/>
          <p:cNvSpPr txBox="1"/>
          <p:nvPr/>
        </p:nvSpPr>
        <p:spPr>
          <a:xfrm>
            <a:off x="8769096" y="3474720"/>
            <a:ext cx="2350008" cy="320040"/>
          </a:xfrm>
          <a:prstGeom prst="rect">
            <a:avLst/>
          </a:prstGeom>
          <a:noFill/>
        </p:spPr>
        <p:txBody>
          <a:bodyPr wrap="square" lIns="0" rIns="0" tIns="0" bIns="0" anchor="t"/>
          <a:lstStyle/>
          <a:p>
            <a:pPr algn="l">
              <a:spcAft>
                <a:spcPts val="400"/>
              </a:spcAft>
              <a:buNone/>
            </a:pPr>
            <a:r>
              <a:rPr sz="1100" b="1" i="0">
                <a:solidFill>
                  <a:srgbClr val="5A6684"/>
                </a:solidFill>
                <a:latin typeface="Roboto"/>
              </a:rPr>
              <a:t>Master, international</a:t>
            </a:r>
          </a:p>
        </p:txBody>
      </p:sp>
      <p:sp>
        <p:nvSpPr>
          <p:cNvPr id="21" name="Rounded Rectangle 20"/>
          <p:cNvSpPr/>
          <p:nvPr/>
        </p:nvSpPr>
        <p:spPr>
          <a:xfrm>
            <a:off x="5458968" y="4069080"/>
            <a:ext cx="280720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641848" y="4114800"/>
            <a:ext cx="548640" cy="548640"/>
          </a:xfrm>
          <a:prstGeom prst="rect">
            <a:avLst/>
          </a:prstGeom>
          <a:noFill/>
        </p:spPr>
        <p:txBody>
          <a:bodyPr wrap="square" lIns="0" rIns="0" tIns="0" bIns="0" anchor="t"/>
          <a:lstStyle/>
          <a:p>
            <a:pPr algn="l">
              <a:spcAft>
                <a:spcPts val="400"/>
              </a:spcAft>
              <a:buNone/>
            </a:pPr>
            <a:r>
              <a:rPr sz="4000" b="1" i="0">
                <a:solidFill>
                  <a:srgbClr val="FB2762"/>
                </a:solidFill>
                <a:latin typeface="Roboto"/>
              </a:rPr>
              <a:t>“</a:t>
            </a:r>
          </a:p>
        </p:txBody>
      </p:sp>
      <p:sp>
        <p:nvSpPr>
          <p:cNvPr id="23" name="TextBox 22"/>
          <p:cNvSpPr txBox="1"/>
          <p:nvPr/>
        </p:nvSpPr>
        <p:spPr>
          <a:xfrm>
            <a:off x="5687568" y="4572000"/>
            <a:ext cx="2350008" cy="914400"/>
          </a:xfrm>
          <a:prstGeom prst="rect">
            <a:avLst/>
          </a:prstGeom>
          <a:noFill/>
        </p:spPr>
        <p:txBody>
          <a:bodyPr wrap="square" lIns="0" rIns="0" tIns="0" bIns="0" anchor="t"/>
          <a:lstStyle/>
          <a:p>
            <a:pPr algn="l">
              <a:spcAft>
                <a:spcPts val="400"/>
              </a:spcAft>
              <a:buNone/>
            </a:pPr>
            <a:r>
              <a:rPr sz="1300" b="0" i="1">
                <a:solidFill>
                  <a:srgbClr val="0E1F53"/>
                </a:solidFill>
                <a:latin typeface="Roboto"/>
              </a:rPr>
              <a:t>„Nach 18 Uhr ist der Campus leer. Wo soll ich mit meiner Lerngruppe hin?“</a:t>
            </a:r>
          </a:p>
        </p:txBody>
      </p:sp>
      <p:sp>
        <p:nvSpPr>
          <p:cNvPr id="24" name="TextBox 23"/>
          <p:cNvSpPr txBox="1"/>
          <p:nvPr/>
        </p:nvSpPr>
        <p:spPr>
          <a:xfrm>
            <a:off x="5687568" y="5532120"/>
            <a:ext cx="2350008" cy="320040"/>
          </a:xfrm>
          <a:prstGeom prst="rect">
            <a:avLst/>
          </a:prstGeom>
          <a:noFill/>
        </p:spPr>
        <p:txBody>
          <a:bodyPr wrap="square" lIns="0" rIns="0" tIns="0" bIns="0" anchor="t"/>
          <a:lstStyle/>
          <a:p>
            <a:pPr algn="l">
              <a:spcAft>
                <a:spcPts val="400"/>
              </a:spcAft>
              <a:buNone/>
            </a:pPr>
            <a:r>
              <a:rPr sz="1100" b="1" i="0">
                <a:solidFill>
                  <a:srgbClr val="5A6684"/>
                </a:solidFill>
                <a:latin typeface="Roboto"/>
              </a:rPr>
              <a:t>Bachelor, wohnt in Kleve</a:t>
            </a:r>
          </a:p>
        </p:txBody>
      </p:sp>
      <p:sp>
        <p:nvSpPr>
          <p:cNvPr id="25" name="Rounded Rectangle 24"/>
          <p:cNvSpPr/>
          <p:nvPr/>
        </p:nvSpPr>
        <p:spPr>
          <a:xfrm>
            <a:off x="8540496" y="4069080"/>
            <a:ext cx="280720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723376" y="4114800"/>
            <a:ext cx="548640" cy="548640"/>
          </a:xfrm>
          <a:prstGeom prst="rect">
            <a:avLst/>
          </a:prstGeom>
          <a:noFill/>
        </p:spPr>
        <p:txBody>
          <a:bodyPr wrap="square" lIns="0" rIns="0" tIns="0" bIns="0" anchor="t"/>
          <a:lstStyle/>
          <a:p>
            <a:pPr algn="l">
              <a:spcAft>
                <a:spcPts val="400"/>
              </a:spcAft>
              <a:buNone/>
            </a:pPr>
            <a:r>
              <a:rPr sz="4000" b="1" i="0">
                <a:solidFill>
                  <a:srgbClr val="FB2762"/>
                </a:solidFill>
                <a:latin typeface="Roboto"/>
              </a:rPr>
              <a:t>“</a:t>
            </a:r>
          </a:p>
        </p:txBody>
      </p:sp>
      <p:sp>
        <p:nvSpPr>
          <p:cNvPr id="27" name="TextBox 26"/>
          <p:cNvSpPr txBox="1"/>
          <p:nvPr/>
        </p:nvSpPr>
        <p:spPr>
          <a:xfrm>
            <a:off x="8769096" y="4572000"/>
            <a:ext cx="2350008" cy="914400"/>
          </a:xfrm>
          <a:prstGeom prst="rect">
            <a:avLst/>
          </a:prstGeom>
          <a:noFill/>
        </p:spPr>
        <p:txBody>
          <a:bodyPr wrap="square" lIns="0" rIns="0" tIns="0" bIns="0" anchor="t"/>
          <a:lstStyle/>
          <a:p>
            <a:pPr algn="l">
              <a:spcAft>
                <a:spcPts val="400"/>
              </a:spcAft>
              <a:buNone/>
            </a:pPr>
            <a:r>
              <a:rPr sz="1300" b="0" i="1">
                <a:solidFill>
                  <a:srgbClr val="0E1F53"/>
                </a:solidFill>
                <a:latin typeface="Roboto"/>
              </a:rPr>
              <a:t>„Meine Freunde gehen alle nach Köln oder Münster. Kleve kannte ich gar nicht.“</a:t>
            </a:r>
          </a:p>
        </p:txBody>
      </p:sp>
      <p:sp>
        <p:nvSpPr>
          <p:cNvPr id="28" name="TextBox 27"/>
          <p:cNvSpPr txBox="1"/>
          <p:nvPr/>
        </p:nvSpPr>
        <p:spPr>
          <a:xfrm>
            <a:off x="8769096" y="5532120"/>
            <a:ext cx="2350008" cy="320040"/>
          </a:xfrm>
          <a:prstGeom prst="rect">
            <a:avLst/>
          </a:prstGeom>
          <a:noFill/>
        </p:spPr>
        <p:txBody>
          <a:bodyPr wrap="square" lIns="0" rIns="0" tIns="0" bIns="0" anchor="t"/>
          <a:lstStyle/>
          <a:p>
            <a:pPr algn="l">
              <a:spcAft>
                <a:spcPts val="400"/>
              </a:spcAft>
              <a:buNone/>
            </a:pPr>
            <a:r>
              <a:rPr sz="1100" b="1" i="0">
                <a:solidFill>
                  <a:srgbClr val="5A6684"/>
                </a:solidFill>
                <a:latin typeface="Roboto"/>
              </a:rPr>
              <a:t>Schülerin, Q2</a:t>
            </a:r>
          </a:p>
        </p:txBody>
      </p:sp>
      <p:sp>
        <p:nvSpPr>
          <p:cNvPr id="29" name="TextBox 28"/>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Illustratives Beispiel für den Workshop: Interviewaussagen und Testergebnisse sind fiktiv.</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Jetzt Sie: Ihre eigene Challenge</a:t>
            </a:r>
          </a:p>
        </p:txBody>
      </p:sp>
      <p:sp>
        <p:nvSpPr>
          <p:cNvPr id="3" name="Rounded Rectangle 2"/>
          <p:cNvSpPr/>
          <p:nvPr/>
        </p:nvSpPr>
        <p:spPr>
          <a:xfrm>
            <a:off x="841248" y="850392"/>
            <a:ext cx="153619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ÜBUNG · 10 MIN.</a:t>
            </a:r>
          </a:p>
        </p:txBody>
      </p:sp>
      <p:sp>
        <p:nvSpPr>
          <p:cNvPr id="4" name="Oval 3"/>
          <p:cNvSpPr/>
          <p:nvPr/>
        </p:nvSpPr>
        <p:spPr>
          <a:xfrm>
            <a:off x="961034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1: Empathie: Beobachten</a:t>
            </a:r>
          </a:p>
        </p:txBody>
      </p:sp>
      <p:sp>
        <p:nvSpPr>
          <p:cNvPr id="10" name="Rounded Rectangle 9"/>
          <p:cNvSpPr/>
          <p:nvPr/>
        </p:nvSpPr>
        <p:spPr>
          <a:xfrm>
            <a:off x="841248" y="201168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42416" y="219456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1</a:t>
            </a:r>
          </a:p>
        </p:txBody>
      </p:sp>
      <p:sp>
        <p:nvSpPr>
          <p:cNvPr id="12" name="TextBox 11"/>
          <p:cNvSpPr txBox="1"/>
          <p:nvPr/>
        </p:nvSpPr>
        <p:spPr>
          <a:xfrm>
            <a:off x="1801368" y="201168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Lassen Sie den Interview-Coach einen Leitfaden für Ihre Challenge erstellen.</a:t>
            </a:r>
          </a:p>
        </p:txBody>
      </p:sp>
      <p:sp>
        <p:nvSpPr>
          <p:cNvPr id="13" name="Rounded Rectangle 12"/>
          <p:cNvSpPr/>
          <p:nvPr/>
        </p:nvSpPr>
        <p:spPr>
          <a:xfrm>
            <a:off x="841248" y="310896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42416" y="329184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2</a:t>
            </a:r>
          </a:p>
        </p:txBody>
      </p:sp>
      <p:sp>
        <p:nvSpPr>
          <p:cNvPr id="15" name="TextBox 14"/>
          <p:cNvSpPr txBox="1"/>
          <p:nvPr/>
        </p:nvSpPr>
        <p:spPr>
          <a:xfrm>
            <a:off x="1801368" y="310896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Streichen Sie suggestive Fragen und ergänzen Sie eigene.</a:t>
            </a:r>
          </a:p>
        </p:txBody>
      </p:sp>
      <p:sp>
        <p:nvSpPr>
          <p:cNvPr id="16" name="Rounded Rectangle 15"/>
          <p:cNvSpPr/>
          <p:nvPr/>
        </p:nvSpPr>
        <p:spPr>
          <a:xfrm>
            <a:off x="841248" y="420624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042416" y="438912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3</a:t>
            </a:r>
          </a:p>
        </p:txBody>
      </p:sp>
      <p:sp>
        <p:nvSpPr>
          <p:cNvPr id="18" name="TextBox 17"/>
          <p:cNvSpPr txBox="1"/>
          <p:nvPr/>
        </p:nvSpPr>
        <p:spPr>
          <a:xfrm>
            <a:off x="1801368" y="420624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Notieren Sie 5 Personen, die Sie bis zum 10.11. interviewen.</a:t>
            </a:r>
          </a:p>
        </p:txBody>
      </p:sp>
      <p:sp>
        <p:nvSpPr>
          <p:cNvPr id="19" name="Rounded Rectangle 18"/>
          <p:cNvSpPr/>
          <p:nvPr/>
        </p:nvSpPr>
        <p:spPr>
          <a:xfrm>
            <a:off x="8065008" y="2011680"/>
            <a:ext cx="3282696" cy="310896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Timer_w.png"/>
          <p:cNvPicPr>
            <a:picLocks noChangeAspect="1"/>
          </p:cNvPicPr>
          <p:nvPr/>
        </p:nvPicPr>
        <p:blipFill>
          <a:blip r:embed="rId3"/>
          <a:stretch>
            <a:fillRect/>
          </a:stretch>
        </p:blipFill>
        <p:spPr>
          <a:xfrm>
            <a:off x="8339328" y="2240280"/>
            <a:ext cx="548640" cy="548640"/>
          </a:xfrm>
          <a:prstGeom prst="rect">
            <a:avLst/>
          </a:prstGeom>
        </p:spPr>
      </p:pic>
      <p:sp>
        <p:nvSpPr>
          <p:cNvPr id="21" name="TextBox 20"/>
          <p:cNvSpPr txBox="1"/>
          <p:nvPr/>
        </p:nvSpPr>
        <p:spPr>
          <a:xfrm>
            <a:off x="9025128" y="2240280"/>
            <a:ext cx="2185415" cy="548640"/>
          </a:xfrm>
          <a:prstGeom prst="rect">
            <a:avLst/>
          </a:prstGeom>
          <a:noFill/>
        </p:spPr>
        <p:txBody>
          <a:bodyPr wrap="square" lIns="0" rIns="0" tIns="0" bIns="0" anchor="ctr"/>
          <a:lstStyle/>
          <a:p>
            <a:pPr algn="l">
              <a:spcAft>
                <a:spcPts val="400"/>
              </a:spcAft>
              <a:buNone/>
            </a:pPr>
            <a:r>
              <a:rPr sz="2400" b="1" i="0">
                <a:solidFill>
                  <a:srgbClr val="FFFFFF"/>
                </a:solidFill>
                <a:latin typeface="Roboto"/>
              </a:rPr>
              <a:t>10 Min.</a:t>
            </a:r>
          </a:p>
        </p:txBody>
      </p:sp>
      <p:sp>
        <p:nvSpPr>
          <p:cNvPr id="22" name="TextBox 21"/>
          <p:cNvSpPr txBox="1"/>
          <p:nvPr/>
        </p:nvSpPr>
        <p:spPr>
          <a:xfrm>
            <a:off x="8339328" y="2971800"/>
            <a:ext cx="2734056" cy="2011680"/>
          </a:xfrm>
          <a:prstGeom prst="rect">
            <a:avLst/>
          </a:prstGeom>
          <a:noFill/>
        </p:spPr>
        <p:txBody>
          <a:bodyPr wrap="square" lIns="0" rIns="0" tIns="0" bIns="0" anchor="t"/>
          <a:lstStyle/>
          <a:p>
            <a:pPr algn="l">
              <a:spcAft>
                <a:spcPts val="600"/>
              </a:spcAft>
              <a:buNone/>
            </a:pPr>
            <a:r>
              <a:rPr sz="1350" b="1" i="0">
                <a:solidFill>
                  <a:srgbClr val="9FD0FF"/>
                </a:solidFill>
                <a:latin typeface="Roboto"/>
              </a:rPr>
              <a:t>Hilfsmittel</a:t>
            </a:r>
          </a:p>
          <a:p>
            <a:pPr algn="l" marL="164592" indent="-164592">
              <a:spcAft>
                <a:spcPts val="400"/>
              </a:spcAft>
              <a:buClr>
                <a:srgbClr val="FB2762"/>
              </a:buClr>
              <a:buFont typeface="Arial"/>
              <a:buChar char="•"/>
            </a:pPr>
            <a:r>
              <a:rPr sz="1350" b="0" i="0">
                <a:solidFill>
                  <a:srgbClr val="FFFFFF"/>
                </a:solidFill>
                <a:latin typeface="Roboto"/>
              </a:rPr>
              <a:t>Systemprompt „Interview-Coach“ im Arbeitsheft</a:t>
            </a:r>
          </a:p>
          <a:p>
            <a:pPr algn="l" marL="164592" indent="-164592">
              <a:spcAft>
                <a:spcPts val="400"/>
              </a:spcAft>
              <a:buClr>
                <a:srgbClr val="FB2762"/>
              </a:buClr>
              <a:buFont typeface="Arial"/>
              <a:buChar char="•"/>
            </a:pPr>
            <a:r>
              <a:rPr sz="1350" b="0" i="0">
                <a:solidFill>
                  <a:srgbClr val="FFFFFF"/>
                </a:solidFill>
                <a:latin typeface="Roboto"/>
              </a:rPr>
              <a:t>Ihr KI-Assistent auf dem Laptop</a:t>
            </a:r>
          </a:p>
          <a:p>
            <a:pPr algn="l" marL="164592" indent="-164592">
              <a:spcAft>
                <a:spcPts val="400"/>
              </a:spcAft>
              <a:buClr>
                <a:srgbClr val="FB2762"/>
              </a:buClr>
              <a:buFont typeface="Arial"/>
              <a:buChar char="•"/>
            </a:pPr>
            <a:r>
              <a:rPr sz="1350" b="0" i="0">
                <a:solidFill>
                  <a:srgbClr val="FFFFFF"/>
                </a:solidFill>
                <a:latin typeface="Roboto"/>
              </a:rPr>
              <a:t>Post-its und Stifte</a:t>
            </a:r>
          </a:p>
        </p:txBody>
      </p:sp>
      <p:sp>
        <p:nvSpPr>
          <p:cNvPr id="23" name="Rounded Rectangle 22"/>
          <p:cNvSpPr/>
          <p:nvPr/>
        </p:nvSpPr>
        <p:spPr>
          <a:xfrm>
            <a:off x="841248" y="5349240"/>
            <a:ext cx="10506456" cy="640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15568" y="5349240"/>
            <a:ext cx="9957816" cy="640080"/>
          </a:xfrm>
          <a:prstGeom prst="rect">
            <a:avLst/>
          </a:prstGeom>
          <a:noFill/>
        </p:spPr>
        <p:txBody>
          <a:bodyPr wrap="square" lIns="0" rIns="0" tIns="0" bIns="0" anchor="ctr"/>
          <a:lstStyle/>
          <a:p>
            <a:pPr algn="l">
              <a:spcAft>
                <a:spcPts val="400"/>
              </a:spcAft>
              <a:buNone/>
            </a:pPr>
            <a:r>
              <a:rPr sz="1350" b="1" i="0">
                <a:solidFill>
                  <a:srgbClr val="0E1F53"/>
                </a:solidFill>
                <a:latin typeface="Roboto"/>
              </a:rPr>
              <a:t>Hinweis: </a:t>
            </a:r>
            <a:r>
              <a:rPr sz="1350" b="0" i="0">
                <a:solidFill>
                  <a:srgbClr val="0E1F53"/>
                </a:solidFill>
                <a:latin typeface="Roboto"/>
              </a:rPr>
              <a:t>Die Interviews führen Sie in der Remote-Phase. Heute bereiten Sie sie vor.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Phase 2 · Definieren</a:t>
            </a:r>
          </a:p>
        </p:txBody>
      </p:sp>
      <p:sp>
        <p:nvSpPr>
          <p:cNvPr id="3" name="Text Placeholder 2"/>
          <p:cNvSpPr>
            <a:spLocks noGrp="1"/>
          </p:cNvSpPr>
          <p:nvPr>
            <p:ph type="body" idx="11" sz="quarter"/>
          </p:nvPr>
        </p:nvSpPr>
        <p:spPr/>
        <p:txBody>
          <a:bodyPr/>
          <a:lstStyle/>
          <a:p>
            <a:r>
              <a:rPr b="0" sz="2000"/>
              <a:t>Aus Beobachtungen eine klare Sichtweise machen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Leitfragen und Methoden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2: Definieren</a:t>
            </a:r>
          </a:p>
        </p:txBody>
      </p:sp>
      <p:sp>
        <p:nvSpPr>
          <p:cNvPr id="10" name="Rounded Rectangle 9"/>
          <p:cNvSpPr/>
          <p:nvPr/>
        </p:nvSpPr>
        <p:spPr>
          <a:xfrm>
            <a:off x="841248" y="2011680"/>
            <a:ext cx="4206240" cy="3977639"/>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15568" y="2148840"/>
            <a:ext cx="3657599" cy="457200"/>
          </a:xfrm>
          <a:prstGeom prst="rect">
            <a:avLst/>
          </a:prstGeom>
          <a:noFill/>
        </p:spPr>
        <p:txBody>
          <a:bodyPr wrap="square" lIns="0" rIns="0" tIns="0" bIns="0" anchor="t"/>
          <a:lstStyle/>
          <a:p>
            <a:pPr algn="l">
              <a:spcAft>
                <a:spcPts val="400"/>
              </a:spcAft>
              <a:buNone/>
            </a:pPr>
            <a:r>
              <a:rPr sz="1700" b="1" i="0">
                <a:solidFill>
                  <a:srgbClr val="9FD0FF"/>
                </a:solidFill>
                <a:latin typeface="Roboto"/>
              </a:rPr>
              <a:t>Leitfragen</a:t>
            </a:r>
          </a:p>
        </p:txBody>
      </p:sp>
      <p:sp>
        <p:nvSpPr>
          <p:cNvPr id="12" name="TextBox 11"/>
          <p:cNvSpPr txBox="1"/>
          <p:nvPr/>
        </p:nvSpPr>
        <p:spPr>
          <a:xfrm>
            <a:off x="1115568" y="2651760"/>
            <a:ext cx="3657599" cy="3291840"/>
          </a:xfrm>
          <a:prstGeom prst="rect">
            <a:avLst/>
          </a:prstGeom>
          <a:noFill/>
        </p:spPr>
        <p:txBody>
          <a:bodyPr wrap="square" lIns="0" rIns="0" tIns="0" bIns="0" anchor="t"/>
          <a:lstStyle/>
          <a:p>
            <a:pPr algn="l" marL="164592" indent="-164592">
              <a:spcAft>
                <a:spcPts val="700"/>
              </a:spcAft>
              <a:buClr>
                <a:srgbClr val="FB2762"/>
              </a:buClr>
              <a:buFont typeface="Arial"/>
              <a:buChar char="?"/>
            </a:pPr>
            <a:r>
              <a:rPr sz="1350" b="0" i="0">
                <a:solidFill>
                  <a:srgbClr val="FFFFFF"/>
                </a:solidFill>
                <a:latin typeface="Roboto"/>
              </a:rPr>
              <a:t>Welche Muster wiederholen sich über mehrere Gespräche?</a:t>
            </a:r>
          </a:p>
          <a:p>
            <a:pPr algn="l" marL="164592" indent="-164592">
              <a:spcAft>
                <a:spcPts val="700"/>
              </a:spcAft>
              <a:buClr>
                <a:srgbClr val="FB2762"/>
              </a:buClr>
              <a:buFont typeface="Arial"/>
              <a:buChar char="?"/>
            </a:pPr>
            <a:r>
              <a:rPr sz="1350" b="0" i="0">
                <a:solidFill>
                  <a:srgbClr val="FFFFFF"/>
                </a:solidFill>
                <a:latin typeface="Roboto"/>
              </a:rPr>
              <a:t>Was hat uns überrascht?</a:t>
            </a:r>
          </a:p>
          <a:p>
            <a:pPr algn="l" marL="164592" indent="-164592">
              <a:spcAft>
                <a:spcPts val="700"/>
              </a:spcAft>
              <a:buClr>
                <a:srgbClr val="FB2762"/>
              </a:buClr>
              <a:buFont typeface="Arial"/>
              <a:buChar char="?"/>
            </a:pPr>
            <a:r>
              <a:rPr sz="1350" b="0" i="0">
                <a:solidFill>
                  <a:srgbClr val="FFFFFF"/>
                </a:solidFill>
                <a:latin typeface="Roboto"/>
              </a:rPr>
              <a:t>Wer ist unsere wichtigste Zielperson, und was treibt sie an?</a:t>
            </a:r>
          </a:p>
          <a:p>
            <a:pPr algn="l" marL="164592" indent="-164592">
              <a:spcAft>
                <a:spcPts val="700"/>
              </a:spcAft>
              <a:buClr>
                <a:srgbClr val="FB2762"/>
              </a:buClr>
              <a:buFont typeface="Arial"/>
              <a:buChar char="?"/>
            </a:pPr>
            <a:r>
              <a:rPr sz="1350" b="0" i="0">
                <a:solidFill>
                  <a:srgbClr val="FFFFFF"/>
                </a:solidFill>
                <a:latin typeface="Roboto"/>
              </a:rPr>
              <a:t>Welches Bedürfnis ist unerfüllt, und warum?</a:t>
            </a:r>
          </a:p>
          <a:p>
            <a:pPr algn="l" marL="164592" indent="-164592">
              <a:spcAft>
                <a:spcPts val="700"/>
              </a:spcAft>
              <a:buClr>
                <a:srgbClr val="FB2762"/>
              </a:buClr>
              <a:buFont typeface="Arial"/>
              <a:buChar char="?"/>
            </a:pPr>
            <a:r>
              <a:rPr sz="1350" b="0" i="0">
                <a:solidFill>
                  <a:srgbClr val="FFFFFF"/>
                </a:solidFill>
                <a:latin typeface="Roboto"/>
              </a:rPr>
              <a:t>Wo in der Customer Journey ist der größte Schmerz?</a:t>
            </a:r>
          </a:p>
          <a:p>
            <a:pPr algn="l" marL="164592" indent="-164592">
              <a:spcAft>
                <a:spcPts val="700"/>
              </a:spcAft>
              <a:buClr>
                <a:srgbClr val="FB2762"/>
              </a:buClr>
              <a:buFont typeface="Arial"/>
              <a:buChar char="?"/>
            </a:pPr>
            <a:r>
              <a:rPr sz="1350" b="0" i="0">
                <a:solidFill>
                  <a:srgbClr val="FFFFFF"/>
                </a:solidFill>
                <a:latin typeface="Roboto"/>
              </a:rPr>
              <a:t>Welche „Wie können wir …?“-Frage öffnet den besten Lösungsraum?</a:t>
            </a:r>
          </a:p>
        </p:txBody>
      </p:sp>
      <p:sp>
        <p:nvSpPr>
          <p:cNvPr id="13" name="Rounded Rectangle 12"/>
          <p:cNvSpPr/>
          <p:nvPr/>
        </p:nvSpPr>
        <p:spPr>
          <a:xfrm>
            <a:off x="5321807"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522975"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LuLayers_w.png"/>
          <p:cNvPicPr>
            <a:picLocks noChangeAspect="1"/>
          </p:cNvPicPr>
          <p:nvPr/>
        </p:nvPicPr>
        <p:blipFill>
          <a:blip r:embed="rId3"/>
          <a:stretch>
            <a:fillRect/>
          </a:stretch>
        </p:blipFill>
        <p:spPr>
          <a:xfrm>
            <a:off x="5650260" y="2340132"/>
            <a:ext cx="275783" cy="275783"/>
          </a:xfrm>
          <a:prstGeom prst="rect">
            <a:avLst/>
          </a:prstGeom>
        </p:spPr>
      </p:pic>
      <p:sp>
        <p:nvSpPr>
          <p:cNvPr id="16" name="TextBox 15"/>
          <p:cNvSpPr txBox="1"/>
          <p:nvPr/>
        </p:nvSpPr>
        <p:spPr>
          <a:xfrm>
            <a:off x="6190488"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Clustern</a:t>
            </a:r>
          </a:p>
        </p:txBody>
      </p:sp>
      <p:sp>
        <p:nvSpPr>
          <p:cNvPr id="17" name="TextBox 16"/>
          <p:cNvSpPr txBox="1"/>
          <p:nvPr/>
        </p:nvSpPr>
        <p:spPr>
          <a:xfrm>
            <a:off x="5522975"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Alle Beobachtungen auf Karten, ähnliche zusammenlegen, jedem Cluster eine Erkenntnis geben.</a:t>
            </a:r>
          </a:p>
        </p:txBody>
      </p:sp>
      <p:sp>
        <p:nvSpPr>
          <p:cNvPr id="18" name="Rounded Rectangle 17"/>
          <p:cNvSpPr/>
          <p:nvPr/>
        </p:nvSpPr>
        <p:spPr>
          <a:xfrm>
            <a:off x="8471916"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673084"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UserRound_w.png"/>
          <p:cNvPicPr>
            <a:picLocks noChangeAspect="1"/>
          </p:cNvPicPr>
          <p:nvPr/>
        </p:nvPicPr>
        <p:blipFill>
          <a:blip r:embed="rId4"/>
          <a:stretch>
            <a:fillRect/>
          </a:stretch>
        </p:blipFill>
        <p:spPr>
          <a:xfrm>
            <a:off x="8800368" y="2340132"/>
            <a:ext cx="275783" cy="275783"/>
          </a:xfrm>
          <a:prstGeom prst="rect">
            <a:avLst/>
          </a:prstGeom>
        </p:spPr>
      </p:pic>
      <p:sp>
        <p:nvSpPr>
          <p:cNvPr id="21" name="TextBox 20"/>
          <p:cNvSpPr txBox="1"/>
          <p:nvPr/>
        </p:nvSpPr>
        <p:spPr>
          <a:xfrm>
            <a:off x="9340596"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Persona</a:t>
            </a:r>
          </a:p>
        </p:txBody>
      </p:sp>
      <p:sp>
        <p:nvSpPr>
          <p:cNvPr id="22" name="TextBox 21"/>
          <p:cNvSpPr txBox="1"/>
          <p:nvPr/>
        </p:nvSpPr>
        <p:spPr>
          <a:xfrm>
            <a:off x="8673084"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Eine fiktive, aber datenbasierte Person, die eine Zielgruppe verkörpert.</a:t>
            </a:r>
          </a:p>
        </p:txBody>
      </p:sp>
      <p:sp>
        <p:nvSpPr>
          <p:cNvPr id="23" name="Rounded Rectangle 22"/>
          <p:cNvSpPr/>
          <p:nvPr/>
        </p:nvSpPr>
        <p:spPr>
          <a:xfrm>
            <a:off x="5321807"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522975"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uMap_w.png"/>
          <p:cNvPicPr>
            <a:picLocks noChangeAspect="1"/>
          </p:cNvPicPr>
          <p:nvPr/>
        </p:nvPicPr>
        <p:blipFill>
          <a:blip r:embed="rId5"/>
          <a:stretch>
            <a:fillRect/>
          </a:stretch>
        </p:blipFill>
        <p:spPr>
          <a:xfrm>
            <a:off x="5650260" y="4397532"/>
            <a:ext cx="275783" cy="275783"/>
          </a:xfrm>
          <a:prstGeom prst="rect">
            <a:avLst/>
          </a:prstGeom>
        </p:spPr>
      </p:pic>
      <p:sp>
        <p:nvSpPr>
          <p:cNvPr id="26" name="TextBox 25"/>
          <p:cNvSpPr txBox="1"/>
          <p:nvPr/>
        </p:nvSpPr>
        <p:spPr>
          <a:xfrm>
            <a:off x="6190488"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Customer Journey</a:t>
            </a:r>
          </a:p>
        </p:txBody>
      </p:sp>
      <p:sp>
        <p:nvSpPr>
          <p:cNvPr id="27" name="TextBox 26"/>
          <p:cNvSpPr txBox="1"/>
          <p:nvPr/>
        </p:nvSpPr>
        <p:spPr>
          <a:xfrm>
            <a:off x="5522975"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Schritt für Schritt: Was erlebt die Persona, was fühlt sie, wo hakt es?</a:t>
            </a:r>
          </a:p>
        </p:txBody>
      </p:sp>
      <p:sp>
        <p:nvSpPr>
          <p:cNvPr id="28" name="Rounded Rectangle 27"/>
          <p:cNvSpPr/>
          <p:nvPr/>
        </p:nvSpPr>
        <p:spPr>
          <a:xfrm>
            <a:off x="8471916"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8673084"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Target_w.png"/>
          <p:cNvPicPr>
            <a:picLocks noChangeAspect="1"/>
          </p:cNvPicPr>
          <p:nvPr/>
        </p:nvPicPr>
        <p:blipFill>
          <a:blip r:embed="rId6"/>
          <a:stretch>
            <a:fillRect/>
          </a:stretch>
        </p:blipFill>
        <p:spPr>
          <a:xfrm>
            <a:off x="8800368" y="4397532"/>
            <a:ext cx="275783" cy="275783"/>
          </a:xfrm>
          <a:prstGeom prst="rect">
            <a:avLst/>
          </a:prstGeom>
        </p:spPr>
      </p:pic>
      <p:sp>
        <p:nvSpPr>
          <p:cNvPr id="31" name="TextBox 30"/>
          <p:cNvSpPr txBox="1"/>
          <p:nvPr/>
        </p:nvSpPr>
        <p:spPr>
          <a:xfrm>
            <a:off x="9340596"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Point of View</a:t>
            </a:r>
          </a:p>
        </p:txBody>
      </p:sp>
      <p:sp>
        <p:nvSpPr>
          <p:cNvPr id="32" name="TextBox 31"/>
          <p:cNvSpPr txBox="1"/>
          <p:nvPr/>
        </p:nvSpPr>
        <p:spPr>
          <a:xfrm>
            <a:off x="8673084"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[Person] braucht [Bedürfnis], weil [Erkenntnis]. Daraus: „Wie können wir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KI-Werkzeuge für diese Phase</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2: Definieren</a:t>
            </a:r>
          </a:p>
        </p:txBody>
      </p:sp>
      <p:sp>
        <p:nvSpPr>
          <p:cNvPr id="10" name="Rounded Rectangle 9"/>
          <p:cNvSpPr/>
          <p:nvPr/>
        </p:nvSpPr>
        <p:spPr>
          <a:xfrm>
            <a:off x="841248"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42416" y="2194560"/>
            <a:ext cx="530352" cy="530352"/>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Bot_w.png"/>
          <p:cNvPicPr>
            <a:picLocks noChangeAspect="1"/>
          </p:cNvPicPr>
          <p:nvPr/>
        </p:nvPicPr>
        <p:blipFill>
          <a:blip r:embed="rId3"/>
          <a:stretch>
            <a:fillRect/>
          </a:stretch>
        </p:blipFill>
        <p:spPr>
          <a:xfrm>
            <a:off x="1169700" y="2321844"/>
            <a:ext cx="275783" cy="275783"/>
          </a:xfrm>
          <a:prstGeom prst="rect">
            <a:avLst/>
          </a:prstGeom>
        </p:spPr>
      </p:pic>
      <p:sp>
        <p:nvSpPr>
          <p:cNvPr id="13" name="TextBox 12"/>
          <p:cNvSpPr txBox="1"/>
          <p:nvPr/>
        </p:nvSpPr>
        <p:spPr>
          <a:xfrm>
            <a:off x="1709928"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Agent: Insight-Analyst</a:t>
            </a:r>
          </a:p>
        </p:txBody>
      </p:sp>
      <p:sp>
        <p:nvSpPr>
          <p:cNvPr id="14" name="TextBox 13"/>
          <p:cNvSpPr txBox="1"/>
          <p:nvPr/>
        </p:nvSpPr>
        <p:spPr>
          <a:xfrm>
            <a:off x="1709928"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Clustert die Interview-Tabelle nach Mustern</a:t>
            </a:r>
          </a:p>
        </p:txBody>
      </p:sp>
      <p:sp>
        <p:nvSpPr>
          <p:cNvPr id="15" name="Rounded Rectangle 14"/>
          <p:cNvSpPr/>
          <p:nvPr/>
        </p:nvSpPr>
        <p:spPr>
          <a:xfrm>
            <a:off x="1042416"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61288"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„Gruppiere diese 40 Beobachtungen in 5–7 Cluster und benenne jedes mit einer Erkenntnis.“</a:t>
            </a:r>
          </a:p>
        </p:txBody>
      </p:sp>
      <p:sp>
        <p:nvSpPr>
          <p:cNvPr id="17" name="Rounded Rectangle 16"/>
          <p:cNvSpPr/>
          <p:nvPr/>
        </p:nvSpPr>
        <p:spPr>
          <a:xfrm>
            <a:off x="6231636"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32803" y="2194560"/>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uUserRound_w.png"/>
          <p:cNvPicPr>
            <a:picLocks noChangeAspect="1"/>
          </p:cNvPicPr>
          <p:nvPr/>
        </p:nvPicPr>
        <p:blipFill>
          <a:blip r:embed="rId4"/>
          <a:stretch>
            <a:fillRect/>
          </a:stretch>
        </p:blipFill>
        <p:spPr>
          <a:xfrm>
            <a:off x="6560088" y="2321844"/>
            <a:ext cx="275783" cy="275783"/>
          </a:xfrm>
          <a:prstGeom prst="rect">
            <a:avLst/>
          </a:prstGeom>
        </p:spPr>
      </p:pic>
      <p:sp>
        <p:nvSpPr>
          <p:cNvPr id="20" name="TextBox 19"/>
          <p:cNvSpPr txBox="1"/>
          <p:nvPr/>
        </p:nvSpPr>
        <p:spPr>
          <a:xfrm>
            <a:off x="7100316"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Persona-Entwurf</a:t>
            </a:r>
          </a:p>
        </p:txBody>
      </p:sp>
      <p:sp>
        <p:nvSpPr>
          <p:cNvPr id="21" name="TextBox 20"/>
          <p:cNvSpPr txBox="1"/>
          <p:nvPr/>
        </p:nvSpPr>
        <p:spPr>
          <a:xfrm>
            <a:off x="7100316"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Aus echten Daten, nicht aus Fantasie</a:t>
            </a:r>
          </a:p>
        </p:txBody>
      </p:sp>
      <p:sp>
        <p:nvSpPr>
          <p:cNvPr id="22" name="Rounded Rectangle 21"/>
          <p:cNvSpPr/>
          <p:nvPr/>
        </p:nvSpPr>
        <p:spPr>
          <a:xfrm>
            <a:off x="6432803"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51675"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„Erstelle aus Cluster 2 und 4 eine Persona. Belege jedes Merkmal mit Interview-Nr.“</a:t>
            </a:r>
          </a:p>
        </p:txBody>
      </p:sp>
      <p:sp>
        <p:nvSpPr>
          <p:cNvPr id="24" name="Rounded Rectangle 23"/>
          <p:cNvSpPr/>
          <p:nvPr/>
        </p:nvSpPr>
        <p:spPr>
          <a:xfrm>
            <a:off x="841248"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042416"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Map_w.png"/>
          <p:cNvPicPr>
            <a:picLocks noChangeAspect="1"/>
          </p:cNvPicPr>
          <p:nvPr/>
        </p:nvPicPr>
        <p:blipFill>
          <a:blip r:embed="rId5"/>
          <a:stretch>
            <a:fillRect/>
          </a:stretch>
        </p:blipFill>
        <p:spPr>
          <a:xfrm>
            <a:off x="1169700" y="4351812"/>
            <a:ext cx="275783" cy="275783"/>
          </a:xfrm>
          <a:prstGeom prst="rect">
            <a:avLst/>
          </a:prstGeom>
        </p:spPr>
      </p:pic>
      <p:sp>
        <p:nvSpPr>
          <p:cNvPr id="27" name="TextBox 26"/>
          <p:cNvSpPr txBox="1"/>
          <p:nvPr/>
        </p:nvSpPr>
        <p:spPr>
          <a:xfrm>
            <a:off x="1709928"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Journey-Tabelle</a:t>
            </a:r>
          </a:p>
        </p:txBody>
      </p:sp>
      <p:sp>
        <p:nvSpPr>
          <p:cNvPr id="28" name="TextBox 27"/>
          <p:cNvSpPr txBox="1"/>
          <p:nvPr/>
        </p:nvSpPr>
        <p:spPr>
          <a:xfrm>
            <a:off x="1709928"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Schritte, Gefühle und Schmerzpunkte strukturieren</a:t>
            </a:r>
          </a:p>
        </p:txBody>
      </p:sp>
      <p:sp>
        <p:nvSpPr>
          <p:cNvPr id="29" name="Rounded Rectangle 28"/>
          <p:cNvSpPr/>
          <p:nvPr/>
        </p:nvSpPr>
        <p:spPr>
          <a:xfrm>
            <a:off x="1042416"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161288"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„Stelle die Journey von [Persona] als Tabelle dar: Schritt, Tun, Gefühl, Schmerzpunkt.“</a:t>
            </a:r>
          </a:p>
        </p:txBody>
      </p:sp>
      <p:sp>
        <p:nvSpPr>
          <p:cNvPr id="31" name="Rounded Rectangle 30"/>
          <p:cNvSpPr/>
          <p:nvPr/>
        </p:nvSpPr>
        <p:spPr>
          <a:xfrm>
            <a:off x="6231636"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6432803"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LuWandSparkles_w.png"/>
          <p:cNvPicPr>
            <a:picLocks noChangeAspect="1"/>
          </p:cNvPicPr>
          <p:nvPr/>
        </p:nvPicPr>
        <p:blipFill>
          <a:blip r:embed="rId6"/>
          <a:stretch>
            <a:fillRect/>
          </a:stretch>
        </p:blipFill>
        <p:spPr>
          <a:xfrm>
            <a:off x="6560088" y="4351812"/>
            <a:ext cx="275783" cy="275783"/>
          </a:xfrm>
          <a:prstGeom prst="rect">
            <a:avLst/>
          </a:prstGeom>
        </p:spPr>
      </p:pic>
      <p:sp>
        <p:nvSpPr>
          <p:cNvPr id="34" name="TextBox 33"/>
          <p:cNvSpPr txBox="1"/>
          <p:nvPr/>
        </p:nvSpPr>
        <p:spPr>
          <a:xfrm>
            <a:off x="7100316"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Bild-KI</a:t>
            </a:r>
          </a:p>
        </p:txBody>
      </p:sp>
      <p:sp>
        <p:nvSpPr>
          <p:cNvPr id="35" name="TextBox 34"/>
          <p:cNvSpPr txBox="1"/>
          <p:nvPr/>
        </p:nvSpPr>
        <p:spPr>
          <a:xfrm>
            <a:off x="7100316"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Persona-Porträt oder Poster für die Teamwand</a:t>
            </a:r>
          </a:p>
        </p:txBody>
      </p:sp>
      <p:sp>
        <p:nvSpPr>
          <p:cNvPr id="36" name="Rounded Rectangle 35"/>
          <p:cNvSpPr/>
          <p:nvPr/>
        </p:nvSpPr>
        <p:spPr>
          <a:xfrm>
            <a:off x="6432803"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51675"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„Erstelle ein Illustrationsporträt im Skizzenstil: [Persona-Beschreibung].“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Skill und Automatisierung</a:t>
            </a:r>
          </a:p>
        </p:txBody>
      </p:sp>
      <p:sp>
        <p:nvSpPr>
          <p:cNvPr id="3" name="Rounded Rectangle 2"/>
          <p:cNvSpPr/>
          <p:nvPr/>
        </p:nvSpPr>
        <p:spPr>
          <a:xfrm>
            <a:off x="841248" y="850392"/>
            <a:ext cx="2209190"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SKILL &amp; AUTOMATISIERUNG</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2: Definieren</a:t>
            </a:r>
          </a:p>
        </p:txBody>
      </p:sp>
      <p:sp>
        <p:nvSpPr>
          <p:cNvPr id="10" name="Rounded Rectangle 9"/>
          <p:cNvSpPr/>
          <p:nvPr/>
        </p:nvSpPr>
        <p:spPr>
          <a:xfrm>
            <a:off x="841248" y="2011680"/>
            <a:ext cx="4160520" cy="3977639"/>
          </a:xfrm>
          <a:prstGeom prst="roundRect">
            <a:avLst>
              <a:gd name="adj" fmla="val 3000"/>
            </a:avLst>
          </a:prstGeom>
          <a:solidFill>
            <a:srgbClr val="0B1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78408" y="2130552"/>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161288" y="2130552"/>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344168" y="2130552"/>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618488" y="2039112"/>
            <a:ext cx="3246120" cy="292608"/>
          </a:xfrm>
          <a:prstGeom prst="rect">
            <a:avLst/>
          </a:prstGeom>
          <a:noFill/>
        </p:spPr>
        <p:txBody>
          <a:bodyPr wrap="square" lIns="0" rIns="0" tIns="0" bIns="0" anchor="ctr"/>
          <a:lstStyle/>
          <a:p>
            <a:pPr algn="l">
              <a:spcAft>
                <a:spcPts val="400"/>
              </a:spcAft>
              <a:buNone/>
            </a:pPr>
            <a:r>
              <a:rPr sz="1050" b="1" i="0">
                <a:solidFill>
                  <a:srgbClr val="9FB2D9"/>
                </a:solidFill>
                <a:latin typeface="Roboto"/>
              </a:rPr>
              <a:t>persona-steckbrief/SKILL.md</a:t>
            </a:r>
          </a:p>
        </p:txBody>
      </p:sp>
      <p:sp>
        <p:nvSpPr>
          <p:cNvPr id="15" name="TextBox 14"/>
          <p:cNvSpPr txBox="1"/>
          <p:nvPr/>
        </p:nvSpPr>
        <p:spPr>
          <a:xfrm>
            <a:off x="1069848" y="2468880"/>
            <a:ext cx="3749039" cy="3428999"/>
          </a:xfrm>
          <a:prstGeom prst="rect">
            <a:avLst/>
          </a:prstGeom>
          <a:noFill/>
        </p:spPr>
        <p:txBody>
          <a:bodyPr wrap="square" lIns="0" rIns="0" tIns="0" bIns="0" anchor="t"/>
          <a:lstStyle/>
          <a:p>
            <a:pPr algn="l">
              <a:spcAft>
                <a:spcPts val="150"/>
              </a:spcAft>
              <a:buNone/>
            </a:pPr>
            <a:r>
              <a:rPr sz="1050" b="0" i="0">
                <a:solidFill>
                  <a:srgbClr val="6E7FA8"/>
                </a:solidFill>
                <a:latin typeface="Roboto Mono"/>
              </a:rPr>
              <a:t>---</a:t>
            </a:r>
          </a:p>
          <a:p>
            <a:pPr algn="l">
              <a:spcAft>
                <a:spcPts val="150"/>
              </a:spcAft>
              <a:buNone/>
            </a:pPr>
            <a:r>
              <a:rPr sz="1050" b="0" i="0">
                <a:solidFill>
                  <a:srgbClr val="7FE0A7"/>
                </a:solidFill>
                <a:latin typeface="Roboto Mono"/>
              </a:rPr>
              <a:t>name: persona-steckbrief</a:t>
            </a:r>
          </a:p>
          <a:p>
            <a:pPr algn="l">
              <a:spcAft>
                <a:spcPts val="150"/>
              </a:spcAft>
              <a:buNone/>
            </a:pPr>
            <a:r>
              <a:rPr sz="1050" b="0" i="0">
                <a:solidFill>
                  <a:srgbClr val="7FE0A7"/>
                </a:solidFill>
                <a:latin typeface="Roboto Mono"/>
              </a:rPr>
              <a:t>description: Erstellt daten-</a:t>
            </a:r>
          </a:p>
          <a:p>
            <a:pPr algn="l">
              <a:spcAft>
                <a:spcPts val="150"/>
              </a:spcAft>
              <a:buNone/>
            </a:pPr>
            <a:r>
              <a:rPr sz="1050" b="0" i="0">
                <a:solidFill>
                  <a:srgbClr val="7FE0A7"/>
                </a:solidFill>
                <a:latin typeface="Roboto Mono"/>
              </a:rPr>
              <a:t>  basierte Personas aus Interview-</a:t>
            </a:r>
          </a:p>
          <a:p>
            <a:pPr algn="l">
              <a:spcAft>
                <a:spcPts val="150"/>
              </a:spcAft>
              <a:buNone/>
            </a:pPr>
            <a:r>
              <a:rPr sz="1050" b="0" i="0">
                <a:solidFill>
                  <a:srgbClr val="7FE0A7"/>
                </a:solidFill>
                <a:latin typeface="Roboto Mono"/>
              </a:rPr>
              <a:t>  Auswertungen.</a:t>
            </a:r>
          </a:p>
          <a:p>
            <a:pPr algn="l">
              <a:spcAft>
                <a:spcPts val="150"/>
              </a:spcAft>
              <a:buNone/>
            </a:pPr>
            <a:r>
              <a:rPr sz="1050" b="0" i="0">
                <a:solidFill>
                  <a:srgbClr val="6E7FA8"/>
                </a:solidFill>
                <a:latin typeface="Roboto Mono"/>
              </a:rPr>
              <a:t>---</a:t>
            </a:r>
          </a:p>
          <a:p>
            <a:pPr algn="l">
              <a:spcAft>
                <a:spcPts val="150"/>
              </a:spcAft>
              <a:buNone/>
            </a:pPr>
            <a:r>
              <a:rPr sz="1050" b="0" i="0">
                <a:solidFill>
                  <a:srgbClr val="FFFFFF"/>
                </a:solidFill>
                <a:latin typeface="Roboto Mono"/>
              </a:rPr>
              <a:t># Persona erstellen</a:t>
            </a:r>
          </a:p>
          <a:p>
            <a:pPr algn="l">
              <a:spcAft>
                <a:spcPts val="150"/>
              </a:spcAft>
              <a:buNone/>
            </a:pPr>
            <a:r>
              <a:rPr sz="1050" b="0" i="0">
                <a:solidFill>
                  <a:srgbClr val="C9D6EE"/>
                </a:solidFill>
                <a:latin typeface="Roboto Mono"/>
              </a:rPr>
              <a:t>1. Nur Merkmale mit Beleg</a:t>
            </a:r>
          </a:p>
          <a:p>
            <a:pPr algn="l">
              <a:spcAft>
                <a:spcPts val="150"/>
              </a:spcAft>
              <a:buNone/>
            </a:pPr>
            <a:r>
              <a:rPr sz="1050" b="0" i="0">
                <a:solidFill>
                  <a:srgbClr val="C9D6EE"/>
                </a:solidFill>
                <a:latin typeface="Roboto Mono"/>
              </a:rPr>
              <a:t>2. Felder: Name, Alter, Situation,</a:t>
            </a:r>
          </a:p>
          <a:p>
            <a:pPr algn="l">
              <a:spcAft>
                <a:spcPts val="150"/>
              </a:spcAft>
              <a:buNone/>
            </a:pPr>
            <a:r>
              <a:rPr sz="1050" b="0" i="0">
                <a:solidFill>
                  <a:srgbClr val="C9D6EE"/>
                </a:solidFill>
                <a:latin typeface="Roboto Mono"/>
              </a:rPr>
              <a:t>   Ziele, Frust, Zitat, Verhalten</a:t>
            </a:r>
          </a:p>
          <a:p>
            <a:pPr algn="l">
              <a:spcAft>
                <a:spcPts val="150"/>
              </a:spcAft>
              <a:buNone/>
            </a:pPr>
            <a:r>
              <a:rPr sz="1050" b="0" i="0">
                <a:solidFill>
                  <a:srgbClr val="C9D6EE"/>
                </a:solidFill>
                <a:latin typeface="Roboto Mono"/>
              </a:rPr>
              <a:t>3. Ein Satz: Was wäre für sie</a:t>
            </a:r>
          </a:p>
          <a:p>
            <a:pPr algn="l">
              <a:spcAft>
                <a:spcPts val="150"/>
              </a:spcAft>
              <a:buNone/>
            </a:pPr>
            <a:r>
              <a:rPr sz="1050" b="0" i="0">
                <a:solidFill>
                  <a:srgbClr val="C9D6EE"/>
                </a:solidFill>
                <a:latin typeface="Roboto Mono"/>
              </a:rPr>
              <a:t>   ein guter Tag?</a:t>
            </a:r>
          </a:p>
          <a:p>
            <a:pPr algn="l">
              <a:spcAft>
                <a:spcPts val="150"/>
              </a:spcAft>
              <a:buNone/>
            </a:pPr>
            <a:r>
              <a:rPr sz="1050" b="0" i="0">
                <a:solidFill>
                  <a:srgbClr val="FFC56B"/>
                </a:solidFill>
                <a:latin typeface="Roboto Mono"/>
              </a:rPr>
              <a:t>Vorlage: references/persona.md</a:t>
            </a:r>
          </a:p>
        </p:txBody>
      </p:sp>
      <p:sp>
        <p:nvSpPr>
          <p:cNvPr id="16" name="Rounded Rectangle 15"/>
          <p:cNvSpPr/>
          <p:nvPr/>
        </p:nvSpPr>
        <p:spPr>
          <a:xfrm>
            <a:off x="5276088" y="2011680"/>
            <a:ext cx="6071616" cy="2240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5477255" y="2130552"/>
            <a:ext cx="457200" cy="45720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Workflow_w.png"/>
          <p:cNvPicPr>
            <a:picLocks noChangeAspect="1"/>
          </p:cNvPicPr>
          <p:nvPr/>
        </p:nvPicPr>
        <p:blipFill>
          <a:blip r:embed="rId3"/>
          <a:stretch>
            <a:fillRect/>
          </a:stretch>
        </p:blipFill>
        <p:spPr>
          <a:xfrm>
            <a:off x="5586983" y="2240280"/>
            <a:ext cx="237744" cy="237744"/>
          </a:xfrm>
          <a:prstGeom prst="rect">
            <a:avLst/>
          </a:prstGeom>
        </p:spPr>
      </p:pic>
      <p:sp>
        <p:nvSpPr>
          <p:cNvPr id="19" name="TextBox 18"/>
          <p:cNvSpPr txBox="1"/>
          <p:nvPr/>
        </p:nvSpPr>
        <p:spPr>
          <a:xfrm>
            <a:off x="6053327" y="2130552"/>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Die lebende Persona</a:t>
            </a:r>
          </a:p>
        </p:txBody>
      </p:sp>
      <p:sp>
        <p:nvSpPr>
          <p:cNvPr id="20" name="Rounded Rectangle 19"/>
          <p:cNvSpPr/>
          <p:nvPr/>
        </p:nvSpPr>
        <p:spPr>
          <a:xfrm>
            <a:off x="5477255"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ListChecks_n.png"/>
          <p:cNvPicPr>
            <a:picLocks noChangeAspect="1"/>
          </p:cNvPicPr>
          <p:nvPr/>
        </p:nvPicPr>
        <p:blipFill>
          <a:blip r:embed="rId4"/>
          <a:stretch>
            <a:fillRect/>
          </a:stretch>
        </p:blipFill>
        <p:spPr>
          <a:xfrm>
            <a:off x="5909309" y="2788920"/>
            <a:ext cx="347472" cy="347472"/>
          </a:xfrm>
          <a:prstGeom prst="rect">
            <a:avLst/>
          </a:prstGeom>
        </p:spPr>
      </p:pic>
      <p:sp>
        <p:nvSpPr>
          <p:cNvPr id="22" name="TextBox 21"/>
          <p:cNvSpPr txBox="1"/>
          <p:nvPr/>
        </p:nvSpPr>
        <p:spPr>
          <a:xfrm>
            <a:off x="5522975"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5 neue Interviews</a:t>
            </a:r>
          </a:p>
          <a:p>
            <a:pPr algn="ctr">
              <a:spcAft>
                <a:spcPts val="0"/>
              </a:spcAft>
              <a:buNone/>
            </a:pPr>
            <a:r>
              <a:rPr sz="1150" b="1" i="0">
                <a:solidFill>
                  <a:srgbClr val="0E1F53"/>
                </a:solidFill>
                <a:latin typeface="Roboto"/>
              </a:rPr>
              <a:t>ausgewertet</a:t>
            </a:r>
          </a:p>
        </p:txBody>
      </p:sp>
      <p:sp>
        <p:nvSpPr>
          <p:cNvPr id="23" name="Right Arrow 22"/>
          <p:cNvSpPr/>
          <p:nvPr/>
        </p:nvSpPr>
        <p:spPr>
          <a:xfrm>
            <a:off x="6734555" y="313639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963155"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uBot_n.png"/>
          <p:cNvPicPr>
            <a:picLocks noChangeAspect="1"/>
          </p:cNvPicPr>
          <p:nvPr/>
        </p:nvPicPr>
        <p:blipFill>
          <a:blip r:embed="rId5"/>
          <a:stretch>
            <a:fillRect/>
          </a:stretch>
        </p:blipFill>
        <p:spPr>
          <a:xfrm>
            <a:off x="7395210" y="2788920"/>
            <a:ext cx="347472" cy="347472"/>
          </a:xfrm>
          <a:prstGeom prst="rect">
            <a:avLst/>
          </a:prstGeom>
        </p:spPr>
      </p:pic>
      <p:sp>
        <p:nvSpPr>
          <p:cNvPr id="26" name="TextBox 25"/>
          <p:cNvSpPr txBox="1"/>
          <p:nvPr/>
        </p:nvSpPr>
        <p:spPr>
          <a:xfrm>
            <a:off x="7008875"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Insight-Analyst</a:t>
            </a:r>
          </a:p>
          <a:p>
            <a:pPr algn="ctr">
              <a:spcAft>
                <a:spcPts val="0"/>
              </a:spcAft>
              <a:buNone/>
            </a:pPr>
            <a:r>
              <a:rPr sz="1150" b="1" i="0">
                <a:solidFill>
                  <a:srgbClr val="0E1F53"/>
                </a:solidFill>
                <a:latin typeface="Roboto"/>
              </a:rPr>
              <a:t>aktualisiert</a:t>
            </a:r>
          </a:p>
        </p:txBody>
      </p:sp>
      <p:sp>
        <p:nvSpPr>
          <p:cNvPr id="27" name="Right Arrow 26"/>
          <p:cNvSpPr/>
          <p:nvPr/>
        </p:nvSpPr>
        <p:spPr>
          <a:xfrm>
            <a:off x="8220456" y="313639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8449056"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LuUserRound_n.png"/>
          <p:cNvPicPr>
            <a:picLocks noChangeAspect="1"/>
          </p:cNvPicPr>
          <p:nvPr/>
        </p:nvPicPr>
        <p:blipFill>
          <a:blip r:embed="rId6"/>
          <a:stretch>
            <a:fillRect/>
          </a:stretch>
        </p:blipFill>
        <p:spPr>
          <a:xfrm>
            <a:off x="8881110" y="2788920"/>
            <a:ext cx="347472" cy="347472"/>
          </a:xfrm>
          <a:prstGeom prst="rect">
            <a:avLst/>
          </a:prstGeom>
        </p:spPr>
      </p:pic>
      <p:sp>
        <p:nvSpPr>
          <p:cNvPr id="30" name="TextBox 29"/>
          <p:cNvSpPr txBox="1"/>
          <p:nvPr/>
        </p:nvSpPr>
        <p:spPr>
          <a:xfrm>
            <a:off x="8494776"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Persona &amp; Cluster</a:t>
            </a:r>
          </a:p>
          <a:p>
            <a:pPr algn="ctr">
              <a:spcAft>
                <a:spcPts val="0"/>
              </a:spcAft>
              <a:buNone/>
            </a:pPr>
            <a:r>
              <a:rPr sz="1150" b="1" i="0">
                <a:solidFill>
                  <a:srgbClr val="0E1F53"/>
                </a:solidFill>
                <a:latin typeface="Roboto"/>
              </a:rPr>
              <a:t>nachgeschärft</a:t>
            </a:r>
          </a:p>
        </p:txBody>
      </p:sp>
      <p:sp>
        <p:nvSpPr>
          <p:cNvPr id="31" name="Right Arrow 30"/>
          <p:cNvSpPr/>
          <p:nvPr/>
        </p:nvSpPr>
        <p:spPr>
          <a:xfrm>
            <a:off x="9706356" y="313639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9934956"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LuMail_n.png"/>
          <p:cNvPicPr>
            <a:picLocks noChangeAspect="1"/>
          </p:cNvPicPr>
          <p:nvPr/>
        </p:nvPicPr>
        <p:blipFill>
          <a:blip r:embed="rId7"/>
          <a:stretch>
            <a:fillRect/>
          </a:stretch>
        </p:blipFill>
        <p:spPr>
          <a:xfrm>
            <a:off x="10367010" y="2788920"/>
            <a:ext cx="347472" cy="347472"/>
          </a:xfrm>
          <a:prstGeom prst="rect">
            <a:avLst/>
          </a:prstGeom>
        </p:spPr>
      </p:pic>
      <p:sp>
        <p:nvSpPr>
          <p:cNvPr id="34" name="TextBox 33"/>
          <p:cNvSpPr txBox="1"/>
          <p:nvPr/>
        </p:nvSpPr>
        <p:spPr>
          <a:xfrm>
            <a:off x="9980676"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Änderungen</a:t>
            </a:r>
          </a:p>
          <a:p>
            <a:pPr algn="ctr">
              <a:spcAft>
                <a:spcPts val="0"/>
              </a:spcAft>
              <a:buNone/>
            </a:pPr>
            <a:r>
              <a:rPr sz="1150" b="1" i="0">
                <a:solidFill>
                  <a:srgbClr val="0E1F53"/>
                </a:solidFill>
                <a:latin typeface="Roboto"/>
              </a:rPr>
              <a:t>ans Team</a:t>
            </a:r>
          </a:p>
        </p:txBody>
      </p:sp>
      <p:sp>
        <p:nvSpPr>
          <p:cNvPr id="35" name="TextBox 34"/>
          <p:cNvSpPr txBox="1"/>
          <p:nvPr/>
        </p:nvSpPr>
        <p:spPr>
          <a:xfrm>
            <a:off x="5477255" y="3794760"/>
            <a:ext cx="5669280" cy="411480"/>
          </a:xfrm>
          <a:prstGeom prst="rect">
            <a:avLst/>
          </a:prstGeom>
          <a:noFill/>
        </p:spPr>
        <p:txBody>
          <a:bodyPr wrap="square" lIns="0" rIns="0" tIns="0" bIns="0" anchor="t"/>
          <a:lstStyle/>
          <a:p>
            <a:pPr algn="l">
              <a:spcAft>
                <a:spcPts val="400"/>
              </a:spcAft>
              <a:buNone/>
            </a:pPr>
            <a:r>
              <a:rPr sz="1100" b="0" i="0">
                <a:solidFill>
                  <a:srgbClr val="5A6684"/>
                </a:solidFill>
                <a:latin typeface="Roboto"/>
              </a:rPr>
              <a:t>Personas veralten. Ein Agent hält sie aktuell, sobald neue Daten aus Vertrieb oder Service eingehen.</a:t>
            </a:r>
          </a:p>
        </p:txBody>
      </p:sp>
      <p:sp>
        <p:nvSpPr>
          <p:cNvPr id="36" name="Rounded Rectangle 35"/>
          <p:cNvSpPr/>
          <p:nvPr/>
        </p:nvSpPr>
        <p:spPr>
          <a:xfrm>
            <a:off x="5276088" y="4434840"/>
            <a:ext cx="6071616" cy="1554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5477255" y="4553712"/>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LuGithub_w.png"/>
          <p:cNvPicPr>
            <a:picLocks noChangeAspect="1"/>
          </p:cNvPicPr>
          <p:nvPr/>
        </p:nvPicPr>
        <p:blipFill>
          <a:blip r:embed="rId8"/>
          <a:stretch>
            <a:fillRect/>
          </a:stretch>
        </p:blipFill>
        <p:spPr>
          <a:xfrm>
            <a:off x="5586983" y="4663440"/>
            <a:ext cx="237744" cy="237744"/>
          </a:xfrm>
          <a:prstGeom prst="rect">
            <a:avLst/>
          </a:prstGeom>
        </p:spPr>
      </p:pic>
      <p:sp>
        <p:nvSpPr>
          <p:cNvPr id="39" name="TextBox 38"/>
          <p:cNvSpPr txBox="1"/>
          <p:nvPr/>
        </p:nvSpPr>
        <p:spPr>
          <a:xfrm>
            <a:off x="6053327" y="4553712"/>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Fertige Skills auf GitHub</a:t>
            </a:r>
          </a:p>
        </p:txBody>
      </p:sp>
      <p:sp>
        <p:nvSpPr>
          <p:cNvPr id="40" name="Rounded Rectangle 39"/>
          <p:cNvSpPr/>
          <p:nvPr/>
        </p:nvSpPr>
        <p:spPr>
          <a:xfrm>
            <a:off x="5477255" y="5047488"/>
            <a:ext cx="1084810"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proto-persona</a:t>
            </a:r>
          </a:p>
        </p:txBody>
      </p:sp>
      <p:sp>
        <p:nvSpPr>
          <p:cNvPr id="41" name="Rounded Rectangle 40"/>
          <p:cNvSpPr/>
          <p:nvPr/>
        </p:nvSpPr>
        <p:spPr>
          <a:xfrm>
            <a:off x="6653506" y="5047488"/>
            <a:ext cx="1209501"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jobs-to-be-done</a:t>
            </a:r>
          </a:p>
        </p:txBody>
      </p:sp>
      <p:sp>
        <p:nvSpPr>
          <p:cNvPr id="42" name="Rounded Rectangle 41"/>
          <p:cNvSpPr/>
          <p:nvPr/>
        </p:nvSpPr>
        <p:spPr>
          <a:xfrm>
            <a:off x="7954448" y="5047488"/>
            <a:ext cx="1521229"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customer-journey-map</a:t>
            </a:r>
          </a:p>
        </p:txBody>
      </p:sp>
      <p:sp>
        <p:nvSpPr>
          <p:cNvPr id="43" name="Rounded Rectangle 42"/>
          <p:cNvSpPr/>
          <p:nvPr/>
        </p:nvSpPr>
        <p:spPr>
          <a:xfrm>
            <a:off x="9567117" y="5047488"/>
            <a:ext cx="1334192"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problem-statement</a:t>
            </a:r>
          </a:p>
        </p:txBody>
      </p:sp>
      <p:sp>
        <p:nvSpPr>
          <p:cNvPr id="44" name="TextBox 43"/>
          <p:cNvSpPr txBox="1"/>
          <p:nvPr/>
        </p:nvSpPr>
        <p:spPr>
          <a:xfrm>
            <a:off x="5477255" y="5724144"/>
            <a:ext cx="5669280" cy="237744"/>
          </a:xfrm>
          <a:prstGeom prst="rect">
            <a:avLst/>
          </a:prstGeom>
          <a:noFill/>
        </p:spPr>
        <p:txBody>
          <a:bodyPr wrap="square" lIns="0" rIns="0" tIns="0" bIns="0" anchor="t"/>
          <a:lstStyle/>
          <a:p>
            <a:pPr algn="l">
              <a:spcAft>
                <a:spcPts val="400"/>
              </a:spcAft>
              <a:buNone/>
            </a:pPr>
            <a:r>
              <a:rPr sz="950" b="0" i="0">
                <a:solidFill>
                  <a:srgbClr val="5A6684"/>
                </a:solidFill>
                <a:latin typeface="Roboto"/>
              </a:rPr>
              <a:t>GitHub: deanpeters/Product-Manager-Skills · product-on-purpose/pm-skills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 Der Insight-Analyst im Einsatz</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2: Definieren</a:t>
            </a:r>
          </a:p>
        </p:txBody>
      </p:sp>
      <p:sp>
        <p:nvSpPr>
          <p:cNvPr id="10" name="Rounded Rectangle 9"/>
          <p:cNvSpPr/>
          <p:nvPr/>
        </p:nvSpPr>
        <p:spPr>
          <a:xfrm>
            <a:off x="841248" y="2011680"/>
            <a:ext cx="74980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59536" y="2029968"/>
            <a:ext cx="74615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18488" y="2048256"/>
            <a:ext cx="65836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Insight-Analyst · Hochschule Rhein-Waal</a:t>
            </a:r>
          </a:p>
        </p:txBody>
      </p:sp>
      <p:sp>
        <p:nvSpPr>
          <p:cNvPr id="16" name="Rounded Rectangle 15"/>
          <p:cNvSpPr/>
          <p:nvPr/>
        </p:nvSpPr>
        <p:spPr>
          <a:xfrm>
            <a:off x="969264" y="2487168"/>
            <a:ext cx="7242047" cy="446787"/>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8" name="TextBox 17"/>
          <p:cNvSpPr txBox="1"/>
          <p:nvPr/>
        </p:nvSpPr>
        <p:spPr>
          <a:xfrm>
            <a:off x="2020824" y="2523744"/>
            <a:ext cx="6080759" cy="373635"/>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Insight-Analyst für das Innovationsteam der Hochschule Rhein-Waal.</a:t>
            </a:r>
          </a:p>
        </p:txBody>
      </p:sp>
      <p:sp>
        <p:nvSpPr>
          <p:cNvPr id="19" name="Rounded Rectangle 18"/>
          <p:cNvSpPr/>
          <p:nvPr/>
        </p:nvSpPr>
        <p:spPr>
          <a:xfrm>
            <a:off x="969264" y="2997963"/>
            <a:ext cx="7242047" cy="630205"/>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60704" y="3052827"/>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1" name="TextBox 20"/>
          <p:cNvSpPr txBox="1"/>
          <p:nvPr/>
        </p:nvSpPr>
        <p:spPr>
          <a:xfrm>
            <a:off x="2020824" y="3034539"/>
            <a:ext cx="6080759" cy="557053"/>
          </a:xfrm>
          <a:prstGeom prst="rect">
            <a:avLst/>
          </a:prstGeom>
          <a:noFill/>
        </p:spPr>
        <p:txBody>
          <a:bodyPr wrap="square" lIns="0" rIns="0" tIns="0" bIns="0" anchor="ctr"/>
          <a:lstStyle/>
          <a:p>
            <a:pPr algn="l">
              <a:spcAft>
                <a:spcPts val="0"/>
              </a:spcAft>
              <a:buNone/>
            </a:pPr>
            <a:r>
              <a:rPr sz="1150" b="0" i="0">
                <a:solidFill>
                  <a:srgbClr val="1B2440"/>
                </a:solidFill>
                <a:latin typeface="Roboto"/>
              </a:rPr>
              <a:t>Beigefügt: Auswertungstabelle aus 24 Interviews und 6 Campus-Beobachtungen mit Studierenden, Schüler:innen, Lehrenden und Unternehmen.</a:t>
            </a:r>
          </a:p>
        </p:txBody>
      </p:sp>
      <p:sp>
        <p:nvSpPr>
          <p:cNvPr id="22" name="Rounded Rectangle 21"/>
          <p:cNvSpPr/>
          <p:nvPr/>
        </p:nvSpPr>
        <p:spPr>
          <a:xfrm>
            <a:off x="969264" y="3692176"/>
            <a:ext cx="7242047" cy="446787"/>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60704" y="3747040"/>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4" name="TextBox 23"/>
          <p:cNvSpPr txBox="1"/>
          <p:nvPr/>
        </p:nvSpPr>
        <p:spPr>
          <a:xfrm>
            <a:off x="2020824" y="3728752"/>
            <a:ext cx="6080759" cy="373635"/>
          </a:xfrm>
          <a:prstGeom prst="rect">
            <a:avLst/>
          </a:prstGeom>
          <a:noFill/>
        </p:spPr>
        <p:txBody>
          <a:bodyPr wrap="square" lIns="0" rIns="0" tIns="0" bIns="0" anchor="ctr"/>
          <a:lstStyle/>
          <a:p>
            <a:pPr algn="l">
              <a:spcAft>
                <a:spcPts val="0"/>
              </a:spcAft>
              <a:buNone/>
            </a:pPr>
            <a:r>
              <a:rPr sz="1150" b="0" i="0">
                <a:solidFill>
                  <a:srgbClr val="1B2440"/>
                </a:solidFill>
                <a:latin typeface="Roboto"/>
              </a:rPr>
              <a:t>Finde die wichtigsten Muster und entwickle zwei Personas sowie je einen Point of View.</a:t>
            </a:r>
          </a:p>
        </p:txBody>
      </p:sp>
      <p:sp>
        <p:nvSpPr>
          <p:cNvPr id="25" name="Rounded Rectangle 24"/>
          <p:cNvSpPr/>
          <p:nvPr/>
        </p:nvSpPr>
        <p:spPr>
          <a:xfrm>
            <a:off x="969264" y="4202971"/>
            <a:ext cx="7242047" cy="700750"/>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60704" y="4257835"/>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7" name="TextBox 26"/>
          <p:cNvSpPr txBox="1"/>
          <p:nvPr/>
        </p:nvSpPr>
        <p:spPr>
          <a:xfrm>
            <a:off x="2020824" y="4239547"/>
            <a:ext cx="6080759" cy="627598"/>
          </a:xfrm>
          <a:prstGeom prst="rect">
            <a:avLst/>
          </a:prstGeom>
          <a:noFill/>
        </p:spPr>
        <p:txBody>
          <a:bodyPr wrap="square" lIns="0" rIns="0" tIns="0" bIns="0" anchor="ctr"/>
          <a:lstStyle/>
          <a:p>
            <a:pPr algn="l">
              <a:spcAft>
                <a:spcPts val="0"/>
              </a:spcAft>
              <a:buNone/>
            </a:pPr>
            <a:r>
              <a:rPr sz="1150" b="0" i="0">
                <a:solidFill>
                  <a:srgbClr val="1B2440"/>
                </a:solidFill>
                <a:latin typeface="Roboto"/>
              </a:rPr>
              <a:t>1. Cluster bilden. 2. Lokale und internationale Perspektive getrennt betrachten. 3. Personas ableiten. 4. POV und 3 Wie-können-wir-Fragen je Persona.</a:t>
            </a:r>
          </a:p>
        </p:txBody>
      </p:sp>
      <p:sp>
        <p:nvSpPr>
          <p:cNvPr id="28" name="Rounded Rectangle 27"/>
          <p:cNvSpPr/>
          <p:nvPr/>
        </p:nvSpPr>
        <p:spPr>
          <a:xfrm>
            <a:off x="969264" y="4967729"/>
            <a:ext cx="7242047" cy="446787"/>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60704" y="5022593"/>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0" name="TextBox 29"/>
          <p:cNvSpPr txBox="1"/>
          <p:nvPr/>
        </p:nvSpPr>
        <p:spPr>
          <a:xfrm>
            <a:off x="2020824" y="5004305"/>
            <a:ext cx="6080759" cy="373635"/>
          </a:xfrm>
          <a:prstGeom prst="rect">
            <a:avLst/>
          </a:prstGeom>
          <a:noFill/>
        </p:spPr>
        <p:txBody>
          <a:bodyPr wrap="square" lIns="0" rIns="0" tIns="0" bIns="0" anchor="ctr"/>
          <a:lstStyle/>
          <a:p>
            <a:pPr algn="l">
              <a:spcAft>
                <a:spcPts val="0"/>
              </a:spcAft>
              <a:buNone/>
            </a:pPr>
            <a:r>
              <a:rPr sz="1150" b="0" i="0">
                <a:solidFill>
                  <a:srgbClr val="1B2440"/>
                </a:solidFill>
                <a:latin typeface="Roboto"/>
              </a:rPr>
              <a:t>Cluster-Tabelle mit Interview-Nr., 2 Persona-Steckbriefe, POV-Sätze, Fragenliste.</a:t>
            </a:r>
          </a:p>
        </p:txBody>
      </p:sp>
      <p:sp>
        <p:nvSpPr>
          <p:cNvPr id="31" name="Rounded Rectangle 30"/>
          <p:cNvSpPr/>
          <p:nvPr/>
        </p:nvSpPr>
        <p:spPr>
          <a:xfrm>
            <a:off x="969264" y="5478524"/>
            <a:ext cx="7242047" cy="446787"/>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60704" y="5533388"/>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3" name="TextBox 32"/>
          <p:cNvSpPr txBox="1"/>
          <p:nvPr/>
        </p:nvSpPr>
        <p:spPr>
          <a:xfrm>
            <a:off x="2020824" y="5515100"/>
            <a:ext cx="6080759" cy="373635"/>
          </a:xfrm>
          <a:prstGeom prst="rect">
            <a:avLst/>
          </a:prstGeom>
          <a:noFill/>
        </p:spPr>
        <p:txBody>
          <a:bodyPr wrap="square" lIns="0" rIns="0" tIns="0" bIns="0" anchor="ctr"/>
          <a:lstStyle/>
          <a:p>
            <a:pPr algn="l">
              <a:spcAft>
                <a:spcPts val="0"/>
              </a:spcAft>
              <a:buNone/>
            </a:pPr>
            <a:r>
              <a:rPr sz="1150" b="0" i="0">
                <a:solidFill>
                  <a:srgbClr val="1B2440"/>
                </a:solidFill>
                <a:latin typeface="Roboto"/>
              </a:rPr>
              <a:t>Nur belegte Merkmale. Keine Klischees zu Herkunftsländern. Lücken in den Daten benennen.</a:t>
            </a:r>
          </a:p>
        </p:txBody>
      </p:sp>
      <p:sp>
        <p:nvSpPr>
          <p:cNvPr id="34" name="Rounded Rectangle 33"/>
          <p:cNvSpPr/>
          <p:nvPr/>
        </p:nvSpPr>
        <p:spPr>
          <a:xfrm>
            <a:off x="8613648" y="2011680"/>
            <a:ext cx="27340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842248" y="2194560"/>
            <a:ext cx="640080" cy="64008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LuTarget_w.png"/>
          <p:cNvPicPr>
            <a:picLocks noChangeAspect="1"/>
          </p:cNvPicPr>
          <p:nvPr/>
        </p:nvPicPr>
        <p:blipFill>
          <a:blip r:embed="rId3"/>
          <a:stretch>
            <a:fillRect/>
          </a:stretch>
        </p:blipFill>
        <p:spPr>
          <a:xfrm>
            <a:off x="8995867" y="2348179"/>
            <a:ext cx="332841" cy="332841"/>
          </a:xfrm>
          <a:prstGeom prst="rect">
            <a:avLst/>
          </a:prstGeom>
        </p:spPr>
      </p:pic>
      <p:sp>
        <p:nvSpPr>
          <p:cNvPr id="37" name="TextBox 36"/>
          <p:cNvSpPr txBox="1"/>
          <p:nvPr/>
        </p:nvSpPr>
        <p:spPr>
          <a:xfrm>
            <a:off x="9619488" y="2194560"/>
            <a:ext cx="1591056" cy="640080"/>
          </a:xfrm>
          <a:prstGeom prst="rect">
            <a:avLst/>
          </a:prstGeom>
          <a:noFill/>
        </p:spPr>
        <p:txBody>
          <a:bodyPr wrap="square" lIns="0" rIns="0" tIns="0" bIns="0" anchor="ctr"/>
          <a:lstStyle/>
          <a:p>
            <a:pPr algn="l">
              <a:spcAft>
                <a:spcPts val="0"/>
              </a:spcAft>
              <a:buNone/>
            </a:pPr>
            <a:r>
              <a:rPr sz="1500" b="1" i="0">
                <a:solidFill>
                  <a:srgbClr val="0E1F53"/>
                </a:solidFill>
                <a:latin typeface="Roboto"/>
              </a:rPr>
              <a:t>Insight-Analyst</a:t>
            </a:r>
          </a:p>
          <a:p>
            <a:pPr algn="l">
              <a:spcAft>
                <a:spcPts val="0"/>
              </a:spcAft>
              <a:buNone/>
            </a:pPr>
            <a:r>
              <a:rPr sz="1100" b="0" i="0">
                <a:solidFill>
                  <a:srgbClr val="5A6684"/>
                </a:solidFill>
                <a:latin typeface="Roboto"/>
              </a:rPr>
              <a:t>Phase 2 · Definieren</a:t>
            </a:r>
          </a:p>
        </p:txBody>
      </p:sp>
      <p:sp>
        <p:nvSpPr>
          <p:cNvPr id="38" name="TextBox 37"/>
          <p:cNvSpPr txBox="1"/>
          <p:nvPr/>
        </p:nvSpPr>
        <p:spPr>
          <a:xfrm>
            <a:off x="8842248" y="3063240"/>
            <a:ext cx="2276856" cy="320040"/>
          </a:xfrm>
          <a:prstGeom prst="rect">
            <a:avLst/>
          </a:prstGeom>
          <a:noFill/>
        </p:spPr>
        <p:txBody>
          <a:bodyPr wrap="square" lIns="0" rIns="0" tIns="0" bIns="0" anchor="t"/>
          <a:lstStyle/>
          <a:p>
            <a:pPr algn="l">
              <a:spcAft>
                <a:spcPts val="400"/>
              </a:spcAft>
              <a:buNone/>
            </a:pPr>
            <a:r>
              <a:rPr sz="1200" b="1" i="0">
                <a:solidFill>
                  <a:srgbClr val="5A6684"/>
                </a:solidFill>
                <a:latin typeface="Roboto"/>
              </a:rPr>
              <a:t>Im Einsatz</a:t>
            </a:r>
          </a:p>
        </p:txBody>
      </p:sp>
      <p:sp>
        <p:nvSpPr>
          <p:cNvPr id="39" name="Rounded Rectangle 38"/>
          <p:cNvSpPr/>
          <p:nvPr/>
        </p:nvSpPr>
        <p:spPr>
          <a:xfrm>
            <a:off x="8842248" y="3429000"/>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LuCheck_p.png"/>
          <p:cNvPicPr>
            <a:picLocks noChangeAspect="1"/>
          </p:cNvPicPr>
          <p:nvPr/>
        </p:nvPicPr>
        <p:blipFill>
          <a:blip r:embed="rId4"/>
          <a:stretch>
            <a:fillRect/>
          </a:stretch>
        </p:blipFill>
        <p:spPr>
          <a:xfrm>
            <a:off x="8933688" y="3502152"/>
            <a:ext cx="237744" cy="237744"/>
          </a:xfrm>
          <a:prstGeom prst="rect">
            <a:avLst/>
          </a:prstGeom>
        </p:spPr>
      </p:pic>
      <p:sp>
        <p:nvSpPr>
          <p:cNvPr id="41" name="TextBox 40"/>
          <p:cNvSpPr txBox="1"/>
          <p:nvPr/>
        </p:nvSpPr>
        <p:spPr>
          <a:xfrm>
            <a:off x="9253728" y="3429000"/>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Dateien: Auswertungstabelle</a:t>
            </a:r>
          </a:p>
        </p:txBody>
      </p:sp>
      <p:sp>
        <p:nvSpPr>
          <p:cNvPr id="42" name="Rounded Rectangle 41"/>
          <p:cNvSpPr/>
          <p:nvPr/>
        </p:nvSpPr>
        <p:spPr>
          <a:xfrm>
            <a:off x="8842248" y="3904487"/>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Picture 42" descr="LuCheck_p.png"/>
          <p:cNvPicPr>
            <a:picLocks noChangeAspect="1"/>
          </p:cNvPicPr>
          <p:nvPr/>
        </p:nvPicPr>
        <p:blipFill>
          <a:blip r:embed="rId4"/>
          <a:stretch>
            <a:fillRect/>
          </a:stretch>
        </p:blipFill>
        <p:spPr>
          <a:xfrm>
            <a:off x="8933688" y="3977639"/>
            <a:ext cx="237744" cy="237744"/>
          </a:xfrm>
          <a:prstGeom prst="rect">
            <a:avLst/>
          </a:prstGeom>
        </p:spPr>
      </p:pic>
      <p:sp>
        <p:nvSpPr>
          <p:cNvPr id="44" name="TextBox 43"/>
          <p:cNvSpPr txBox="1"/>
          <p:nvPr/>
        </p:nvSpPr>
        <p:spPr>
          <a:xfrm>
            <a:off x="9253728" y="3904487"/>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Skill: persona-steckbrief</a:t>
            </a:r>
          </a:p>
        </p:txBody>
      </p:sp>
      <p:sp>
        <p:nvSpPr>
          <p:cNvPr id="45" name="Rounded Rectangle 44"/>
          <p:cNvSpPr/>
          <p:nvPr/>
        </p:nvSpPr>
        <p:spPr>
          <a:xfrm>
            <a:off x="8842248" y="4379976"/>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LuCheck_p.png"/>
          <p:cNvPicPr>
            <a:picLocks noChangeAspect="1"/>
          </p:cNvPicPr>
          <p:nvPr/>
        </p:nvPicPr>
        <p:blipFill>
          <a:blip r:embed="rId4"/>
          <a:stretch>
            <a:fillRect/>
          </a:stretch>
        </p:blipFill>
        <p:spPr>
          <a:xfrm>
            <a:off x="8933688" y="4453128"/>
            <a:ext cx="237744" cy="237744"/>
          </a:xfrm>
          <a:prstGeom prst="rect">
            <a:avLst/>
          </a:prstGeom>
        </p:spPr>
      </p:pic>
      <p:sp>
        <p:nvSpPr>
          <p:cNvPr id="47" name="TextBox 46"/>
          <p:cNvSpPr txBox="1"/>
          <p:nvPr/>
        </p:nvSpPr>
        <p:spPr>
          <a:xfrm>
            <a:off x="9253728" y="4379976"/>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Bild-KI für Persona-Poster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HSRW-Ergebnis Definieren: Personas und Point of View</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2: Definieren</a:t>
            </a:r>
          </a:p>
        </p:txBody>
      </p:sp>
      <p:sp>
        <p:nvSpPr>
          <p:cNvPr id="10" name="Rounded Rectangle 9"/>
          <p:cNvSpPr/>
          <p:nvPr/>
        </p:nvSpPr>
        <p:spPr>
          <a:xfrm>
            <a:off x="841248" y="2011680"/>
            <a:ext cx="5116068"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42416" y="2176272"/>
            <a:ext cx="685800" cy="6858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UserRound_w.png"/>
          <p:cNvPicPr>
            <a:picLocks noChangeAspect="1"/>
          </p:cNvPicPr>
          <p:nvPr/>
        </p:nvPicPr>
        <p:blipFill>
          <a:blip r:embed="rId3"/>
          <a:stretch>
            <a:fillRect/>
          </a:stretch>
        </p:blipFill>
        <p:spPr>
          <a:xfrm>
            <a:off x="1207008" y="2340864"/>
            <a:ext cx="356616" cy="356616"/>
          </a:xfrm>
          <a:prstGeom prst="rect">
            <a:avLst/>
          </a:prstGeom>
        </p:spPr>
      </p:pic>
      <p:sp>
        <p:nvSpPr>
          <p:cNvPr id="13" name="TextBox 12"/>
          <p:cNvSpPr txBox="1"/>
          <p:nvPr/>
        </p:nvSpPr>
        <p:spPr>
          <a:xfrm>
            <a:off x="1892807" y="2176272"/>
            <a:ext cx="3835908" cy="685800"/>
          </a:xfrm>
          <a:prstGeom prst="rect">
            <a:avLst/>
          </a:prstGeom>
          <a:noFill/>
        </p:spPr>
        <p:txBody>
          <a:bodyPr wrap="square" lIns="0" rIns="0" tIns="0" bIns="0" anchor="ctr"/>
          <a:lstStyle/>
          <a:p>
            <a:pPr algn="l">
              <a:spcAft>
                <a:spcPts val="0"/>
              </a:spcAft>
              <a:buNone/>
            </a:pPr>
            <a:r>
              <a:rPr sz="1700" b="1" i="0">
                <a:solidFill>
                  <a:srgbClr val="0E1F53"/>
                </a:solidFill>
                <a:latin typeface="Roboto"/>
              </a:rPr>
              <a:t>Jonas, 20</a:t>
            </a:r>
          </a:p>
          <a:p>
            <a:pPr algn="l">
              <a:spcAft>
                <a:spcPts val="0"/>
              </a:spcAft>
              <a:buNone/>
            </a:pPr>
            <a:r>
              <a:rPr sz="1200" b="0" i="0">
                <a:solidFill>
                  <a:srgbClr val="5A6684"/>
                </a:solidFill>
                <a:latin typeface="Roboto"/>
              </a:rPr>
              <a:t>Bachelor, 3. Semester · pendelt 55 Min.</a:t>
            </a:r>
          </a:p>
        </p:txBody>
      </p:sp>
      <p:sp>
        <p:nvSpPr>
          <p:cNvPr id="14" name="TextBox 13"/>
          <p:cNvSpPr txBox="1"/>
          <p:nvPr/>
        </p:nvSpPr>
        <p:spPr>
          <a:xfrm>
            <a:off x="1042416" y="3017520"/>
            <a:ext cx="4713731" cy="1188720"/>
          </a:xfrm>
          <a:prstGeom prst="rect">
            <a:avLst/>
          </a:prstGeom>
          <a:noFill/>
        </p:spPr>
        <p:txBody>
          <a:bodyPr wrap="square" lIns="0" rIns="0" tIns="0" bIns="0" anchor="t"/>
          <a:lstStyle/>
          <a:p>
            <a:pPr algn="l">
              <a:spcAft>
                <a:spcPts val="400"/>
              </a:spcAft>
              <a:buNone/>
            </a:pPr>
            <a:r>
              <a:rPr sz="1250" b="1" i="0">
                <a:solidFill>
                  <a:srgbClr val="1E8E4E"/>
                </a:solidFill>
                <a:latin typeface="Roboto"/>
              </a:rPr>
              <a:t>Ziele: </a:t>
            </a:r>
            <a:r>
              <a:rPr sz="1250" b="0" i="0">
                <a:solidFill>
                  <a:srgbClr val="0E1F53"/>
                </a:solidFill>
                <a:latin typeface="Roboto"/>
              </a:rPr>
              <a:t>Abschluss in Regelstudienzeit, Nebenjob halten</a:t>
            </a:r>
          </a:p>
          <a:p>
            <a:pPr algn="l">
              <a:spcAft>
                <a:spcPts val="400"/>
              </a:spcAft>
              <a:buNone/>
            </a:pPr>
            <a:r>
              <a:rPr sz="1250" b="1" i="0">
                <a:solidFill>
                  <a:srgbClr val="FB2762"/>
                </a:solidFill>
                <a:latin typeface="Roboto"/>
              </a:rPr>
              <a:t>Frust: </a:t>
            </a:r>
            <a:r>
              <a:rPr sz="1250" b="0" i="0">
                <a:solidFill>
                  <a:srgbClr val="0E1F53"/>
                </a:solidFill>
                <a:latin typeface="Roboto"/>
              </a:rPr>
              <a:t>Pendelzeit, Freistunden ohne Sinn, Campus wirkt leer</a:t>
            </a:r>
          </a:p>
          <a:p>
            <a:pPr algn="l">
              <a:spcAft>
                <a:spcPts val="400"/>
              </a:spcAft>
              <a:buNone/>
            </a:pPr>
            <a:r>
              <a:rPr sz="1250" b="0" i="1">
                <a:solidFill>
                  <a:srgbClr val="5A6684"/>
                </a:solidFill>
                <a:latin typeface="Roboto"/>
              </a:rPr>
              <a:t>„Wofür soll ich extra hinfahren?“</a:t>
            </a:r>
          </a:p>
        </p:txBody>
      </p:sp>
      <p:sp>
        <p:nvSpPr>
          <p:cNvPr id="15" name="Rounded Rectangle 14"/>
          <p:cNvSpPr/>
          <p:nvPr/>
        </p:nvSpPr>
        <p:spPr>
          <a:xfrm>
            <a:off x="6231636" y="2011680"/>
            <a:ext cx="5116068"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432803" y="2176272"/>
            <a:ext cx="685800" cy="6858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uUserRound_w.png"/>
          <p:cNvPicPr>
            <a:picLocks noChangeAspect="1"/>
          </p:cNvPicPr>
          <p:nvPr/>
        </p:nvPicPr>
        <p:blipFill>
          <a:blip r:embed="rId3"/>
          <a:stretch>
            <a:fillRect/>
          </a:stretch>
        </p:blipFill>
        <p:spPr>
          <a:xfrm>
            <a:off x="6597395" y="2340864"/>
            <a:ext cx="356616" cy="356616"/>
          </a:xfrm>
          <a:prstGeom prst="rect">
            <a:avLst/>
          </a:prstGeom>
        </p:spPr>
      </p:pic>
      <p:sp>
        <p:nvSpPr>
          <p:cNvPr id="18" name="TextBox 17"/>
          <p:cNvSpPr txBox="1"/>
          <p:nvPr/>
        </p:nvSpPr>
        <p:spPr>
          <a:xfrm>
            <a:off x="7283196" y="2176272"/>
            <a:ext cx="3835908" cy="685800"/>
          </a:xfrm>
          <a:prstGeom prst="rect">
            <a:avLst/>
          </a:prstGeom>
          <a:noFill/>
        </p:spPr>
        <p:txBody>
          <a:bodyPr wrap="square" lIns="0" rIns="0" tIns="0" bIns="0" anchor="ctr"/>
          <a:lstStyle/>
          <a:p>
            <a:pPr algn="l">
              <a:spcAft>
                <a:spcPts val="0"/>
              </a:spcAft>
              <a:buNone/>
            </a:pPr>
            <a:r>
              <a:rPr sz="1700" b="1" i="0">
                <a:solidFill>
                  <a:srgbClr val="0E1F53"/>
                </a:solidFill>
                <a:latin typeface="Roboto"/>
              </a:rPr>
              <a:t>Priya, 25</a:t>
            </a:r>
          </a:p>
          <a:p>
            <a:pPr algn="l">
              <a:spcAft>
                <a:spcPts val="0"/>
              </a:spcAft>
              <a:buNone/>
            </a:pPr>
            <a:r>
              <a:rPr sz="1200" b="0" i="0">
                <a:solidFill>
                  <a:srgbClr val="5A6684"/>
                </a:solidFill>
                <a:latin typeface="Roboto"/>
              </a:rPr>
              <a:t>Master, aus Indien · wohnt in Kleve</a:t>
            </a:r>
          </a:p>
        </p:txBody>
      </p:sp>
      <p:sp>
        <p:nvSpPr>
          <p:cNvPr id="19" name="TextBox 18"/>
          <p:cNvSpPr txBox="1"/>
          <p:nvPr/>
        </p:nvSpPr>
        <p:spPr>
          <a:xfrm>
            <a:off x="6432803" y="3017520"/>
            <a:ext cx="4713731" cy="1188720"/>
          </a:xfrm>
          <a:prstGeom prst="rect">
            <a:avLst/>
          </a:prstGeom>
          <a:noFill/>
        </p:spPr>
        <p:txBody>
          <a:bodyPr wrap="square" lIns="0" rIns="0" tIns="0" bIns="0" anchor="t"/>
          <a:lstStyle/>
          <a:p>
            <a:pPr algn="l">
              <a:spcAft>
                <a:spcPts val="400"/>
              </a:spcAft>
              <a:buNone/>
            </a:pPr>
            <a:r>
              <a:rPr sz="1250" b="1" i="0">
                <a:solidFill>
                  <a:srgbClr val="1E8E4E"/>
                </a:solidFill>
                <a:latin typeface="Roboto"/>
              </a:rPr>
              <a:t>Ziele: </a:t>
            </a:r>
            <a:r>
              <a:rPr sz="1250" b="0" i="0">
                <a:solidFill>
                  <a:srgbClr val="0E1F53"/>
                </a:solidFill>
                <a:latin typeface="Roboto"/>
              </a:rPr>
              <a:t>Kontakte knüpfen, Werkstudentenjob, in Deutschland bleiben</a:t>
            </a:r>
          </a:p>
          <a:p>
            <a:pPr algn="l">
              <a:spcAft>
                <a:spcPts val="400"/>
              </a:spcAft>
              <a:buNone/>
            </a:pPr>
            <a:r>
              <a:rPr sz="1250" b="1" i="0">
                <a:solidFill>
                  <a:srgbClr val="FB2762"/>
                </a:solidFill>
                <a:latin typeface="Roboto"/>
              </a:rPr>
              <a:t>Frust: </a:t>
            </a:r>
            <a:r>
              <a:rPr sz="1250" b="0" i="0">
                <a:solidFill>
                  <a:srgbClr val="0E1F53"/>
                </a:solidFill>
                <a:latin typeface="Roboto"/>
              </a:rPr>
              <a:t>Wenig Austausch mit Deutschen und mit Unternehmen</a:t>
            </a:r>
          </a:p>
          <a:p>
            <a:pPr algn="l">
              <a:spcAft>
                <a:spcPts val="400"/>
              </a:spcAft>
              <a:buNone/>
            </a:pPr>
            <a:r>
              <a:rPr sz="1250" b="0" i="1">
                <a:solidFill>
                  <a:srgbClr val="5A6684"/>
                </a:solidFill>
                <a:latin typeface="Roboto"/>
              </a:rPr>
              <a:t>„Ich will die Region kennenlernen, nicht nur den Hörsaal.“</a:t>
            </a:r>
          </a:p>
        </p:txBody>
      </p:sp>
      <p:sp>
        <p:nvSpPr>
          <p:cNvPr id="20" name="Rounded Rectangle 19"/>
          <p:cNvSpPr/>
          <p:nvPr/>
        </p:nvSpPr>
        <p:spPr>
          <a:xfrm>
            <a:off x="841248" y="4709160"/>
            <a:ext cx="10506456" cy="5669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115568" y="4709160"/>
            <a:ext cx="9957816" cy="566928"/>
          </a:xfrm>
          <a:prstGeom prst="rect">
            <a:avLst/>
          </a:prstGeom>
          <a:noFill/>
        </p:spPr>
        <p:txBody>
          <a:bodyPr wrap="square" lIns="0" rIns="0" tIns="0" bIns="0" anchor="ctr"/>
          <a:lstStyle/>
          <a:p>
            <a:pPr algn="l">
              <a:spcAft>
                <a:spcPts val="400"/>
              </a:spcAft>
              <a:buNone/>
            </a:pPr>
            <a:r>
              <a:rPr sz="1350" b="1" i="0">
                <a:solidFill>
                  <a:srgbClr val="FB2762"/>
                </a:solidFill>
                <a:latin typeface="Roboto"/>
              </a:rPr>
              <a:t>POV: </a:t>
            </a:r>
            <a:r>
              <a:rPr sz="1350" b="0" i="0">
                <a:solidFill>
                  <a:srgbClr val="0E1F53"/>
                </a:solidFill>
                <a:latin typeface="Roboto"/>
              </a:rPr>
              <a:t>Jonas braucht einen Grund für den Campus, der mehr bietet als eine Vorlesung, weil er Inhalte auch online bekommt.</a:t>
            </a:r>
          </a:p>
        </p:txBody>
      </p:sp>
      <p:sp>
        <p:nvSpPr>
          <p:cNvPr id="22" name="Rounded Rectangle 21"/>
          <p:cNvSpPr/>
          <p:nvPr/>
        </p:nvSpPr>
        <p:spPr>
          <a:xfrm>
            <a:off x="841248" y="5413248"/>
            <a:ext cx="10506456" cy="566928"/>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115568" y="5413248"/>
            <a:ext cx="9957816" cy="566928"/>
          </a:xfrm>
          <a:prstGeom prst="rect">
            <a:avLst/>
          </a:prstGeom>
          <a:noFill/>
        </p:spPr>
        <p:txBody>
          <a:bodyPr wrap="square" lIns="0" rIns="0" tIns="0" bIns="0" anchor="ctr"/>
          <a:lstStyle/>
          <a:p>
            <a:pPr algn="l">
              <a:spcAft>
                <a:spcPts val="400"/>
              </a:spcAft>
              <a:buNone/>
            </a:pPr>
            <a:r>
              <a:rPr sz="1450" b="1" i="0">
                <a:solidFill>
                  <a:srgbClr val="9FD0FF"/>
                </a:solidFill>
                <a:latin typeface="Roboto"/>
              </a:rPr>
              <a:t>Wie können wir </a:t>
            </a:r>
            <a:r>
              <a:rPr sz="1450" b="1" i="0">
                <a:solidFill>
                  <a:srgbClr val="FFFFFF"/>
                </a:solidFill>
                <a:latin typeface="Roboto"/>
              </a:rPr>
              <a:t>Präsenztage so gestalten, dass sie einen Mehrwert bieten, den es online nicht gibt?</a:t>
            </a:r>
          </a:p>
        </p:txBody>
      </p:sp>
      <p:sp>
        <p:nvSpPr>
          <p:cNvPr id="24" name="TextBox 23"/>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Illustratives Beispiel für den Workshop: Interviewaussagen und Testergebnisse sind fiktiv.</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Jetzt Sie: Ihre eigene Challenge</a:t>
            </a:r>
          </a:p>
        </p:txBody>
      </p:sp>
      <p:sp>
        <p:nvSpPr>
          <p:cNvPr id="3" name="Rounded Rectangle 2"/>
          <p:cNvSpPr/>
          <p:nvPr/>
        </p:nvSpPr>
        <p:spPr>
          <a:xfrm>
            <a:off x="841248" y="850392"/>
            <a:ext cx="153619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ÜBUNG · 10 MIN.</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2: Definieren</a:t>
            </a:r>
          </a:p>
        </p:txBody>
      </p:sp>
      <p:sp>
        <p:nvSpPr>
          <p:cNvPr id="10" name="Rounded Rectangle 9"/>
          <p:cNvSpPr/>
          <p:nvPr/>
        </p:nvSpPr>
        <p:spPr>
          <a:xfrm>
            <a:off x="841248" y="201168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42416" y="219456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1</a:t>
            </a:r>
          </a:p>
        </p:txBody>
      </p:sp>
      <p:sp>
        <p:nvSpPr>
          <p:cNvPr id="12" name="TextBox 11"/>
          <p:cNvSpPr txBox="1"/>
          <p:nvPr/>
        </p:nvSpPr>
        <p:spPr>
          <a:xfrm>
            <a:off x="1801368" y="201168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Erstellen Sie eine Proto-Persona: Wen vermuten Sie als wichtigste Zielperson?</a:t>
            </a:r>
          </a:p>
        </p:txBody>
      </p:sp>
      <p:sp>
        <p:nvSpPr>
          <p:cNvPr id="13" name="Rounded Rectangle 12"/>
          <p:cNvSpPr/>
          <p:nvPr/>
        </p:nvSpPr>
        <p:spPr>
          <a:xfrm>
            <a:off x="841248" y="310896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42416" y="329184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2</a:t>
            </a:r>
          </a:p>
        </p:txBody>
      </p:sp>
      <p:sp>
        <p:nvSpPr>
          <p:cNvPr id="15" name="TextBox 14"/>
          <p:cNvSpPr txBox="1"/>
          <p:nvPr/>
        </p:nvSpPr>
        <p:spPr>
          <a:xfrm>
            <a:off x="1801368" y="310896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Formulieren Sie einen ersten POV: [Person] braucht [Bedürfnis], weil [Vermutung].</a:t>
            </a:r>
          </a:p>
        </p:txBody>
      </p:sp>
      <p:sp>
        <p:nvSpPr>
          <p:cNvPr id="16" name="Rounded Rectangle 15"/>
          <p:cNvSpPr/>
          <p:nvPr/>
        </p:nvSpPr>
        <p:spPr>
          <a:xfrm>
            <a:off x="841248" y="420624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042416" y="438912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3</a:t>
            </a:r>
          </a:p>
        </p:txBody>
      </p:sp>
      <p:sp>
        <p:nvSpPr>
          <p:cNvPr id="18" name="TextBox 17"/>
          <p:cNvSpPr txBox="1"/>
          <p:nvPr/>
        </p:nvSpPr>
        <p:spPr>
          <a:xfrm>
            <a:off x="1801368" y="420624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Markieren Sie, was Sie in den Interviews prüfen müssen.</a:t>
            </a:r>
          </a:p>
        </p:txBody>
      </p:sp>
      <p:sp>
        <p:nvSpPr>
          <p:cNvPr id="19" name="Rounded Rectangle 18"/>
          <p:cNvSpPr/>
          <p:nvPr/>
        </p:nvSpPr>
        <p:spPr>
          <a:xfrm>
            <a:off x="8065008" y="2011680"/>
            <a:ext cx="3282696" cy="310896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Timer_w.png"/>
          <p:cNvPicPr>
            <a:picLocks noChangeAspect="1"/>
          </p:cNvPicPr>
          <p:nvPr/>
        </p:nvPicPr>
        <p:blipFill>
          <a:blip r:embed="rId3"/>
          <a:stretch>
            <a:fillRect/>
          </a:stretch>
        </p:blipFill>
        <p:spPr>
          <a:xfrm>
            <a:off x="8339328" y="2240280"/>
            <a:ext cx="548640" cy="548640"/>
          </a:xfrm>
          <a:prstGeom prst="rect">
            <a:avLst/>
          </a:prstGeom>
        </p:spPr>
      </p:pic>
      <p:sp>
        <p:nvSpPr>
          <p:cNvPr id="21" name="TextBox 20"/>
          <p:cNvSpPr txBox="1"/>
          <p:nvPr/>
        </p:nvSpPr>
        <p:spPr>
          <a:xfrm>
            <a:off x="9025128" y="2240280"/>
            <a:ext cx="2185415" cy="548640"/>
          </a:xfrm>
          <a:prstGeom prst="rect">
            <a:avLst/>
          </a:prstGeom>
          <a:noFill/>
        </p:spPr>
        <p:txBody>
          <a:bodyPr wrap="square" lIns="0" rIns="0" tIns="0" bIns="0" anchor="ctr"/>
          <a:lstStyle/>
          <a:p>
            <a:pPr algn="l">
              <a:spcAft>
                <a:spcPts val="400"/>
              </a:spcAft>
              <a:buNone/>
            </a:pPr>
            <a:r>
              <a:rPr sz="2400" b="1" i="0">
                <a:solidFill>
                  <a:srgbClr val="FFFFFF"/>
                </a:solidFill>
                <a:latin typeface="Roboto"/>
              </a:rPr>
              <a:t>10 Min.</a:t>
            </a:r>
          </a:p>
        </p:txBody>
      </p:sp>
      <p:sp>
        <p:nvSpPr>
          <p:cNvPr id="22" name="TextBox 21"/>
          <p:cNvSpPr txBox="1"/>
          <p:nvPr/>
        </p:nvSpPr>
        <p:spPr>
          <a:xfrm>
            <a:off x="8339328" y="2971800"/>
            <a:ext cx="2734056" cy="2011680"/>
          </a:xfrm>
          <a:prstGeom prst="rect">
            <a:avLst/>
          </a:prstGeom>
          <a:noFill/>
        </p:spPr>
        <p:txBody>
          <a:bodyPr wrap="square" lIns="0" rIns="0" tIns="0" bIns="0" anchor="t"/>
          <a:lstStyle/>
          <a:p>
            <a:pPr algn="l">
              <a:spcAft>
                <a:spcPts val="600"/>
              </a:spcAft>
              <a:buNone/>
            </a:pPr>
            <a:r>
              <a:rPr sz="1350" b="1" i="0">
                <a:solidFill>
                  <a:srgbClr val="9FD0FF"/>
                </a:solidFill>
                <a:latin typeface="Roboto"/>
              </a:rPr>
              <a:t>Hilfsmittel</a:t>
            </a:r>
          </a:p>
          <a:p>
            <a:pPr algn="l" marL="164592" indent="-164592">
              <a:spcAft>
                <a:spcPts val="400"/>
              </a:spcAft>
              <a:buClr>
                <a:srgbClr val="FB2762"/>
              </a:buClr>
              <a:buFont typeface="Arial"/>
              <a:buChar char="•"/>
            </a:pPr>
            <a:r>
              <a:rPr sz="1350" b="0" i="0">
                <a:solidFill>
                  <a:srgbClr val="FFFFFF"/>
                </a:solidFill>
                <a:latin typeface="Roboto"/>
              </a:rPr>
              <a:t>Systemprompt „Insight-Analyst“ im Arbeitsheft</a:t>
            </a:r>
          </a:p>
          <a:p>
            <a:pPr algn="l" marL="164592" indent="-164592">
              <a:spcAft>
                <a:spcPts val="400"/>
              </a:spcAft>
              <a:buClr>
                <a:srgbClr val="FB2762"/>
              </a:buClr>
              <a:buFont typeface="Arial"/>
              <a:buChar char="•"/>
            </a:pPr>
            <a:r>
              <a:rPr sz="1350" b="0" i="0">
                <a:solidFill>
                  <a:srgbClr val="FFFFFF"/>
                </a:solidFill>
                <a:latin typeface="Roboto"/>
              </a:rPr>
              <a:t>Ihr KI-Assistent auf dem Laptop</a:t>
            </a:r>
          </a:p>
          <a:p>
            <a:pPr algn="l" marL="164592" indent="-164592">
              <a:spcAft>
                <a:spcPts val="400"/>
              </a:spcAft>
              <a:buClr>
                <a:srgbClr val="FB2762"/>
              </a:buClr>
              <a:buFont typeface="Arial"/>
              <a:buChar char="•"/>
            </a:pPr>
            <a:r>
              <a:rPr sz="1350" b="0" i="0">
                <a:solidFill>
                  <a:srgbClr val="FFFFFF"/>
                </a:solidFill>
                <a:latin typeface="Roboto"/>
              </a:rPr>
              <a:t>Post-its und Stifte</a:t>
            </a:r>
          </a:p>
        </p:txBody>
      </p:sp>
      <p:sp>
        <p:nvSpPr>
          <p:cNvPr id="23" name="Rounded Rectangle 22"/>
          <p:cNvSpPr/>
          <p:nvPr/>
        </p:nvSpPr>
        <p:spPr>
          <a:xfrm>
            <a:off x="841248" y="5349240"/>
            <a:ext cx="10506456" cy="640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15568" y="5349240"/>
            <a:ext cx="9957816" cy="640080"/>
          </a:xfrm>
          <a:prstGeom prst="rect">
            <a:avLst/>
          </a:prstGeom>
          <a:noFill/>
        </p:spPr>
        <p:txBody>
          <a:bodyPr wrap="square" lIns="0" rIns="0" tIns="0" bIns="0" anchor="ctr"/>
          <a:lstStyle/>
          <a:p>
            <a:pPr algn="l">
              <a:spcAft>
                <a:spcPts val="400"/>
              </a:spcAft>
              <a:buNone/>
            </a:pPr>
            <a:r>
              <a:rPr sz="1350" b="1" i="0">
                <a:solidFill>
                  <a:srgbClr val="0E1F53"/>
                </a:solidFill>
                <a:latin typeface="Roboto"/>
              </a:rPr>
              <a:t>Hinweis: </a:t>
            </a:r>
            <a:r>
              <a:rPr sz="1350" b="0" i="0">
                <a:solidFill>
                  <a:srgbClr val="0E1F53"/>
                </a:solidFill>
                <a:latin typeface="Roboto"/>
              </a:rPr>
              <a:t>Heute arbeiten Sie mit Vermutungen. Nach den Interviews prüfen und schärfen Sie Persona und POV.</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Phase 3 · Ideen finden</a:t>
            </a:r>
          </a:p>
        </p:txBody>
      </p:sp>
      <p:sp>
        <p:nvSpPr>
          <p:cNvPr id="3" name="Text Placeholder 2"/>
          <p:cNvSpPr>
            <a:spLocks noGrp="1"/>
          </p:cNvSpPr>
          <p:nvPr>
            <p:ph type="body" idx="11" sz="quarter"/>
          </p:nvPr>
        </p:nvSpPr>
        <p:spPr/>
        <p:txBody>
          <a:bodyPr/>
          <a:lstStyle/>
          <a:p>
            <a:r>
              <a:rPr b="0" sz="2000"/>
              <a:t>Viele Ideen, dann die besten. Das Prototyping folgt am 20.11.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Leitfragen und Methoden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3: Ideen finden</a:t>
            </a:r>
          </a:p>
        </p:txBody>
      </p:sp>
      <p:sp>
        <p:nvSpPr>
          <p:cNvPr id="10" name="Rounded Rectangle 9"/>
          <p:cNvSpPr/>
          <p:nvPr/>
        </p:nvSpPr>
        <p:spPr>
          <a:xfrm>
            <a:off x="841248" y="2011680"/>
            <a:ext cx="4206240" cy="3977639"/>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15568" y="2148840"/>
            <a:ext cx="3657599" cy="457200"/>
          </a:xfrm>
          <a:prstGeom prst="rect">
            <a:avLst/>
          </a:prstGeom>
          <a:noFill/>
        </p:spPr>
        <p:txBody>
          <a:bodyPr wrap="square" lIns="0" rIns="0" tIns="0" bIns="0" anchor="t"/>
          <a:lstStyle/>
          <a:p>
            <a:pPr algn="l">
              <a:spcAft>
                <a:spcPts val="400"/>
              </a:spcAft>
              <a:buNone/>
            </a:pPr>
            <a:r>
              <a:rPr sz="1700" b="1" i="0">
                <a:solidFill>
                  <a:srgbClr val="9FD0FF"/>
                </a:solidFill>
                <a:latin typeface="Roboto"/>
              </a:rPr>
              <a:t>Leitfragen</a:t>
            </a:r>
          </a:p>
        </p:txBody>
      </p:sp>
      <p:sp>
        <p:nvSpPr>
          <p:cNvPr id="12" name="TextBox 11"/>
          <p:cNvSpPr txBox="1"/>
          <p:nvPr/>
        </p:nvSpPr>
        <p:spPr>
          <a:xfrm>
            <a:off x="1115568" y="2651760"/>
            <a:ext cx="3657599" cy="3291840"/>
          </a:xfrm>
          <a:prstGeom prst="rect">
            <a:avLst/>
          </a:prstGeom>
          <a:noFill/>
        </p:spPr>
        <p:txBody>
          <a:bodyPr wrap="square" lIns="0" rIns="0" tIns="0" bIns="0" anchor="t"/>
          <a:lstStyle/>
          <a:p>
            <a:pPr algn="l" marL="164592" indent="-164592">
              <a:spcAft>
                <a:spcPts val="700"/>
              </a:spcAft>
              <a:buClr>
                <a:srgbClr val="FB2762"/>
              </a:buClr>
              <a:buFont typeface="Arial"/>
              <a:buChar char="?"/>
            </a:pPr>
            <a:r>
              <a:rPr sz="1350" b="0" i="0">
                <a:solidFill>
                  <a:srgbClr val="FFFFFF"/>
                </a:solidFill>
                <a:latin typeface="Roboto"/>
              </a:rPr>
              <a:t>Welche Ideen beantworten unsere „Wie können wir …?“-Frage direkt?</a:t>
            </a:r>
          </a:p>
          <a:p>
            <a:pPr algn="l" marL="164592" indent="-164592">
              <a:spcAft>
                <a:spcPts val="700"/>
              </a:spcAft>
              <a:buClr>
                <a:srgbClr val="FB2762"/>
              </a:buClr>
              <a:buFont typeface="Arial"/>
              <a:buChar char="?"/>
            </a:pPr>
            <a:r>
              <a:rPr sz="1350" b="0" i="0">
                <a:solidFill>
                  <a:srgbClr val="FFFFFF"/>
                </a:solidFill>
                <a:latin typeface="Roboto"/>
              </a:rPr>
              <a:t>Wie würde eine ganz andere Branche das lösen: Hotel, Fitnessstudio, Gaming?</a:t>
            </a:r>
          </a:p>
          <a:p>
            <a:pPr algn="l" marL="164592" indent="-164592">
              <a:spcAft>
                <a:spcPts val="700"/>
              </a:spcAft>
              <a:buClr>
                <a:srgbClr val="FB2762"/>
              </a:buClr>
              <a:buFont typeface="Arial"/>
              <a:buChar char="?"/>
            </a:pPr>
            <a:r>
              <a:rPr sz="1350" b="0" i="0">
                <a:solidFill>
                  <a:srgbClr val="FFFFFF"/>
                </a:solidFill>
                <a:latin typeface="Roboto"/>
              </a:rPr>
              <a:t>Was ist die verrückteste Idee, und was steckt Brauchbares darin?</a:t>
            </a:r>
          </a:p>
          <a:p>
            <a:pPr algn="l" marL="164592" indent="-164592">
              <a:spcAft>
                <a:spcPts val="700"/>
              </a:spcAft>
              <a:buClr>
                <a:srgbClr val="FB2762"/>
              </a:buClr>
              <a:buFont typeface="Arial"/>
              <a:buChar char="?"/>
            </a:pPr>
            <a:r>
              <a:rPr sz="1350" b="0" i="0">
                <a:solidFill>
                  <a:srgbClr val="FFFFFF"/>
                </a:solidFill>
                <a:latin typeface="Roboto"/>
              </a:rPr>
              <a:t>Welche Ideen lassen sich kombinieren?</a:t>
            </a:r>
          </a:p>
          <a:p>
            <a:pPr algn="l" marL="164592" indent="-164592">
              <a:spcAft>
                <a:spcPts val="700"/>
              </a:spcAft>
              <a:buClr>
                <a:srgbClr val="FB2762"/>
              </a:buClr>
              <a:buFont typeface="Arial"/>
              <a:buChar char="?"/>
            </a:pPr>
            <a:r>
              <a:rPr sz="1350" b="0" i="0">
                <a:solidFill>
                  <a:srgbClr val="FFFFFF"/>
                </a:solidFill>
                <a:latin typeface="Roboto"/>
              </a:rPr>
              <a:t>Welche Idee bringt den größten Nutzen bei vertretbarem Aufwand?</a:t>
            </a:r>
          </a:p>
        </p:txBody>
      </p:sp>
      <p:sp>
        <p:nvSpPr>
          <p:cNvPr id="13" name="Rounded Rectangle 12"/>
          <p:cNvSpPr/>
          <p:nvPr/>
        </p:nvSpPr>
        <p:spPr>
          <a:xfrm>
            <a:off x="5321807"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522975"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LuPencilRuler_w.png"/>
          <p:cNvPicPr>
            <a:picLocks noChangeAspect="1"/>
          </p:cNvPicPr>
          <p:nvPr/>
        </p:nvPicPr>
        <p:blipFill>
          <a:blip r:embed="rId3"/>
          <a:stretch>
            <a:fillRect/>
          </a:stretch>
        </p:blipFill>
        <p:spPr>
          <a:xfrm>
            <a:off x="5650260" y="2340132"/>
            <a:ext cx="275783" cy="275783"/>
          </a:xfrm>
          <a:prstGeom prst="rect">
            <a:avLst/>
          </a:prstGeom>
        </p:spPr>
      </p:pic>
      <p:sp>
        <p:nvSpPr>
          <p:cNvPr id="16" name="TextBox 15"/>
          <p:cNvSpPr txBox="1"/>
          <p:nvPr/>
        </p:nvSpPr>
        <p:spPr>
          <a:xfrm>
            <a:off x="6190488"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Brainwriting 6-3-5</a:t>
            </a:r>
          </a:p>
        </p:txBody>
      </p:sp>
      <p:sp>
        <p:nvSpPr>
          <p:cNvPr id="17" name="TextBox 16"/>
          <p:cNvSpPr txBox="1"/>
          <p:nvPr/>
        </p:nvSpPr>
        <p:spPr>
          <a:xfrm>
            <a:off x="5522975"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6 Personen, je 3 Ideen, 5 Minuten, dann weitergeben und ergänzen.</a:t>
            </a:r>
          </a:p>
        </p:txBody>
      </p:sp>
      <p:sp>
        <p:nvSpPr>
          <p:cNvPr id="18" name="Rounded Rectangle 17"/>
          <p:cNvSpPr/>
          <p:nvPr/>
        </p:nvSpPr>
        <p:spPr>
          <a:xfrm>
            <a:off x="8471916"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673084"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Timer_w.png"/>
          <p:cNvPicPr>
            <a:picLocks noChangeAspect="1"/>
          </p:cNvPicPr>
          <p:nvPr/>
        </p:nvPicPr>
        <p:blipFill>
          <a:blip r:embed="rId4"/>
          <a:stretch>
            <a:fillRect/>
          </a:stretch>
        </p:blipFill>
        <p:spPr>
          <a:xfrm>
            <a:off x="8800368" y="2340132"/>
            <a:ext cx="275783" cy="275783"/>
          </a:xfrm>
          <a:prstGeom prst="rect">
            <a:avLst/>
          </a:prstGeom>
        </p:spPr>
      </p:pic>
      <p:sp>
        <p:nvSpPr>
          <p:cNvPr id="21" name="TextBox 20"/>
          <p:cNvSpPr txBox="1"/>
          <p:nvPr/>
        </p:nvSpPr>
        <p:spPr>
          <a:xfrm>
            <a:off x="9340596"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Crazy 8s</a:t>
            </a:r>
          </a:p>
        </p:txBody>
      </p:sp>
      <p:sp>
        <p:nvSpPr>
          <p:cNvPr id="22" name="TextBox 21"/>
          <p:cNvSpPr txBox="1"/>
          <p:nvPr/>
        </p:nvSpPr>
        <p:spPr>
          <a:xfrm>
            <a:off x="8673084"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Ein Blatt, acht Felder, acht Minuten: eine Skizze pro Minute.</a:t>
            </a:r>
          </a:p>
        </p:txBody>
      </p:sp>
      <p:sp>
        <p:nvSpPr>
          <p:cNvPr id="23" name="Rounded Rectangle 22"/>
          <p:cNvSpPr/>
          <p:nvPr/>
        </p:nvSpPr>
        <p:spPr>
          <a:xfrm>
            <a:off x="5321807"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522975"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uGlobe_w.png"/>
          <p:cNvPicPr>
            <a:picLocks noChangeAspect="1"/>
          </p:cNvPicPr>
          <p:nvPr/>
        </p:nvPicPr>
        <p:blipFill>
          <a:blip r:embed="rId5"/>
          <a:stretch>
            <a:fillRect/>
          </a:stretch>
        </p:blipFill>
        <p:spPr>
          <a:xfrm>
            <a:off x="5650260" y="4397532"/>
            <a:ext cx="275783" cy="275783"/>
          </a:xfrm>
          <a:prstGeom prst="rect">
            <a:avLst/>
          </a:prstGeom>
        </p:spPr>
      </p:pic>
      <p:sp>
        <p:nvSpPr>
          <p:cNvPr id="26" name="TextBox 25"/>
          <p:cNvSpPr txBox="1"/>
          <p:nvPr/>
        </p:nvSpPr>
        <p:spPr>
          <a:xfrm>
            <a:off x="6190488"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Analogien &amp; SCAMPER</a:t>
            </a:r>
          </a:p>
        </p:txBody>
      </p:sp>
      <p:sp>
        <p:nvSpPr>
          <p:cNvPr id="27" name="TextBox 26"/>
          <p:cNvSpPr txBox="1"/>
          <p:nvPr/>
        </p:nvSpPr>
        <p:spPr>
          <a:xfrm>
            <a:off x="5522975"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Ideen aus anderen Branchen übertragen, bestehende Ideen systematisch abwandeln.</a:t>
            </a:r>
          </a:p>
        </p:txBody>
      </p:sp>
      <p:sp>
        <p:nvSpPr>
          <p:cNvPr id="28" name="Rounded Rectangle 27"/>
          <p:cNvSpPr/>
          <p:nvPr/>
        </p:nvSpPr>
        <p:spPr>
          <a:xfrm>
            <a:off x="8471916"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8673084"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Check_w.png"/>
          <p:cNvPicPr>
            <a:picLocks noChangeAspect="1"/>
          </p:cNvPicPr>
          <p:nvPr/>
        </p:nvPicPr>
        <p:blipFill>
          <a:blip r:embed="rId6"/>
          <a:stretch>
            <a:fillRect/>
          </a:stretch>
        </p:blipFill>
        <p:spPr>
          <a:xfrm>
            <a:off x="8800368" y="4397532"/>
            <a:ext cx="275783" cy="275783"/>
          </a:xfrm>
          <a:prstGeom prst="rect">
            <a:avLst/>
          </a:prstGeom>
        </p:spPr>
      </p:pic>
      <p:sp>
        <p:nvSpPr>
          <p:cNvPr id="31" name="TextBox 30"/>
          <p:cNvSpPr txBox="1"/>
          <p:nvPr/>
        </p:nvSpPr>
        <p:spPr>
          <a:xfrm>
            <a:off x="9340596"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Dot-Voting &amp; Matrix</a:t>
            </a:r>
          </a:p>
        </p:txBody>
      </p:sp>
      <p:sp>
        <p:nvSpPr>
          <p:cNvPr id="32" name="TextBox 31"/>
          <p:cNvSpPr txBox="1"/>
          <p:nvPr/>
        </p:nvSpPr>
        <p:spPr>
          <a:xfrm>
            <a:off x="8673084"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Jede Person 3 Punkte. Danach Nutzen gegen Aufwand einordnen.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KI-Werkzeuge für diese Phase</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3: Ideen finden</a:t>
            </a:r>
          </a:p>
        </p:txBody>
      </p:sp>
      <p:sp>
        <p:nvSpPr>
          <p:cNvPr id="10" name="Rounded Rectangle 9"/>
          <p:cNvSpPr/>
          <p:nvPr/>
        </p:nvSpPr>
        <p:spPr>
          <a:xfrm>
            <a:off x="841248"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42416" y="2194560"/>
            <a:ext cx="530352" cy="530352"/>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Bot_w.png"/>
          <p:cNvPicPr>
            <a:picLocks noChangeAspect="1"/>
          </p:cNvPicPr>
          <p:nvPr/>
        </p:nvPicPr>
        <p:blipFill>
          <a:blip r:embed="rId3"/>
          <a:stretch>
            <a:fillRect/>
          </a:stretch>
        </p:blipFill>
        <p:spPr>
          <a:xfrm>
            <a:off x="1169700" y="2321844"/>
            <a:ext cx="275783" cy="275783"/>
          </a:xfrm>
          <a:prstGeom prst="rect">
            <a:avLst/>
          </a:prstGeom>
        </p:spPr>
      </p:pic>
      <p:sp>
        <p:nvSpPr>
          <p:cNvPr id="13" name="TextBox 12"/>
          <p:cNvSpPr txBox="1"/>
          <p:nvPr/>
        </p:nvSpPr>
        <p:spPr>
          <a:xfrm>
            <a:off x="1709928"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Agent: Ideen-Sparringspartner</a:t>
            </a:r>
          </a:p>
        </p:txBody>
      </p:sp>
      <p:sp>
        <p:nvSpPr>
          <p:cNvPr id="14" name="TextBox 13"/>
          <p:cNvSpPr txBox="1"/>
          <p:nvPr/>
        </p:nvSpPr>
        <p:spPr>
          <a:xfrm>
            <a:off x="1709928"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Erst selbst denken, dann die KI ergänzen lassen</a:t>
            </a:r>
          </a:p>
        </p:txBody>
      </p:sp>
      <p:sp>
        <p:nvSpPr>
          <p:cNvPr id="15" name="Rounded Rectangle 14"/>
          <p:cNvSpPr/>
          <p:nvPr/>
        </p:nvSpPr>
        <p:spPr>
          <a:xfrm>
            <a:off x="1042416"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61288"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„Hier sind unsere 20 Ideen. Ergänze 15, die in eine ganz andere Richtung gehen.“</a:t>
            </a:r>
          </a:p>
        </p:txBody>
      </p:sp>
      <p:sp>
        <p:nvSpPr>
          <p:cNvPr id="17" name="Rounded Rectangle 16"/>
          <p:cNvSpPr/>
          <p:nvPr/>
        </p:nvSpPr>
        <p:spPr>
          <a:xfrm>
            <a:off x="6231636"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32803" y="2194560"/>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uGlobe_w.png"/>
          <p:cNvPicPr>
            <a:picLocks noChangeAspect="1"/>
          </p:cNvPicPr>
          <p:nvPr/>
        </p:nvPicPr>
        <p:blipFill>
          <a:blip r:embed="rId4"/>
          <a:stretch>
            <a:fillRect/>
          </a:stretch>
        </p:blipFill>
        <p:spPr>
          <a:xfrm>
            <a:off x="6560088" y="2321844"/>
            <a:ext cx="275783" cy="275783"/>
          </a:xfrm>
          <a:prstGeom prst="rect">
            <a:avLst/>
          </a:prstGeom>
        </p:spPr>
      </p:pic>
      <p:sp>
        <p:nvSpPr>
          <p:cNvPr id="20" name="TextBox 19"/>
          <p:cNvSpPr txBox="1"/>
          <p:nvPr/>
        </p:nvSpPr>
        <p:spPr>
          <a:xfrm>
            <a:off x="7100316"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Analogie-Generator</a:t>
            </a:r>
          </a:p>
        </p:txBody>
      </p:sp>
      <p:sp>
        <p:nvSpPr>
          <p:cNvPr id="21" name="TextBox 20"/>
          <p:cNvSpPr txBox="1"/>
          <p:nvPr/>
        </p:nvSpPr>
        <p:spPr>
          <a:xfrm>
            <a:off x="7100316"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Lösungen aus fremden Branchen übertragen</a:t>
            </a:r>
          </a:p>
        </p:txBody>
      </p:sp>
      <p:sp>
        <p:nvSpPr>
          <p:cNvPr id="22" name="Rounded Rectangle 21"/>
          <p:cNvSpPr/>
          <p:nvPr/>
        </p:nvSpPr>
        <p:spPr>
          <a:xfrm>
            <a:off x="6432803"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51675"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„Wie sorgen Hotels, Fitnessstudios und Online-Spiele dafür, dass Menschen wiederkommen?“</a:t>
            </a:r>
          </a:p>
        </p:txBody>
      </p:sp>
      <p:sp>
        <p:nvSpPr>
          <p:cNvPr id="24" name="Rounded Rectangle 23"/>
          <p:cNvSpPr/>
          <p:nvPr/>
        </p:nvSpPr>
        <p:spPr>
          <a:xfrm>
            <a:off x="841248"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042416"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RefreshCw_w.png"/>
          <p:cNvPicPr>
            <a:picLocks noChangeAspect="1"/>
          </p:cNvPicPr>
          <p:nvPr/>
        </p:nvPicPr>
        <p:blipFill>
          <a:blip r:embed="rId5"/>
          <a:stretch>
            <a:fillRect/>
          </a:stretch>
        </p:blipFill>
        <p:spPr>
          <a:xfrm>
            <a:off x="1169700" y="4351812"/>
            <a:ext cx="275783" cy="275783"/>
          </a:xfrm>
          <a:prstGeom prst="rect">
            <a:avLst/>
          </a:prstGeom>
        </p:spPr>
      </p:pic>
      <p:sp>
        <p:nvSpPr>
          <p:cNvPr id="27" name="TextBox 26"/>
          <p:cNvSpPr txBox="1"/>
          <p:nvPr/>
        </p:nvSpPr>
        <p:spPr>
          <a:xfrm>
            <a:off x="1709928"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SCAMPER per Prompt</a:t>
            </a:r>
          </a:p>
        </p:txBody>
      </p:sp>
      <p:sp>
        <p:nvSpPr>
          <p:cNvPr id="28" name="TextBox 27"/>
          <p:cNvSpPr txBox="1"/>
          <p:nvPr/>
        </p:nvSpPr>
        <p:spPr>
          <a:xfrm>
            <a:off x="1709928"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Eine Idee systematisch in Varianten weiterdenken</a:t>
            </a:r>
          </a:p>
        </p:txBody>
      </p:sp>
      <p:sp>
        <p:nvSpPr>
          <p:cNvPr id="29" name="Rounded Rectangle 28"/>
          <p:cNvSpPr/>
          <p:nvPr/>
        </p:nvSpPr>
        <p:spPr>
          <a:xfrm>
            <a:off x="1042416"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161288"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„Wende SCAMPER auf Idee 7 an: je Buchstabe eine Variante.“</a:t>
            </a:r>
          </a:p>
        </p:txBody>
      </p:sp>
      <p:sp>
        <p:nvSpPr>
          <p:cNvPr id="31" name="Rounded Rectangle 30"/>
          <p:cNvSpPr/>
          <p:nvPr/>
        </p:nvSpPr>
        <p:spPr>
          <a:xfrm>
            <a:off x="6231636"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6432803"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LuChartColumn_w.png"/>
          <p:cNvPicPr>
            <a:picLocks noChangeAspect="1"/>
          </p:cNvPicPr>
          <p:nvPr/>
        </p:nvPicPr>
        <p:blipFill>
          <a:blip r:embed="rId6"/>
          <a:stretch>
            <a:fillRect/>
          </a:stretch>
        </p:blipFill>
        <p:spPr>
          <a:xfrm>
            <a:off x="6560088" y="4351812"/>
            <a:ext cx="275783" cy="275783"/>
          </a:xfrm>
          <a:prstGeom prst="rect">
            <a:avLst/>
          </a:prstGeom>
        </p:spPr>
      </p:pic>
      <p:sp>
        <p:nvSpPr>
          <p:cNvPr id="34" name="TextBox 33"/>
          <p:cNvSpPr txBox="1"/>
          <p:nvPr/>
        </p:nvSpPr>
        <p:spPr>
          <a:xfrm>
            <a:off x="7100316"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Bewertungshilfe</a:t>
            </a:r>
          </a:p>
        </p:txBody>
      </p:sp>
      <p:sp>
        <p:nvSpPr>
          <p:cNvPr id="35" name="TextBox 34"/>
          <p:cNvSpPr txBox="1"/>
          <p:nvPr/>
        </p:nvSpPr>
        <p:spPr>
          <a:xfrm>
            <a:off x="7100316"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Vorschlag zur Bewertung, das Team entscheidet</a:t>
            </a:r>
          </a:p>
        </p:txBody>
      </p:sp>
      <p:sp>
        <p:nvSpPr>
          <p:cNvPr id="36" name="Rounded Rectangle 35"/>
          <p:cNvSpPr/>
          <p:nvPr/>
        </p:nvSpPr>
        <p:spPr>
          <a:xfrm>
            <a:off x="6432803"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51675"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„Bewerte die Ideen nach Nutzen für die Persona, Aufwand und Risiko (1–5) mit Begründung.“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Skill und Automatisierung</a:t>
            </a:r>
          </a:p>
        </p:txBody>
      </p:sp>
      <p:sp>
        <p:nvSpPr>
          <p:cNvPr id="3" name="Rounded Rectangle 2"/>
          <p:cNvSpPr/>
          <p:nvPr/>
        </p:nvSpPr>
        <p:spPr>
          <a:xfrm>
            <a:off x="841248" y="850392"/>
            <a:ext cx="2209190"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SKILL &amp; AUTOMATISIERUNG</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3: Ideen finden</a:t>
            </a:r>
          </a:p>
        </p:txBody>
      </p:sp>
      <p:sp>
        <p:nvSpPr>
          <p:cNvPr id="10" name="Rounded Rectangle 9"/>
          <p:cNvSpPr/>
          <p:nvPr/>
        </p:nvSpPr>
        <p:spPr>
          <a:xfrm>
            <a:off x="841248" y="2011680"/>
            <a:ext cx="4160520" cy="3977639"/>
          </a:xfrm>
          <a:prstGeom prst="roundRect">
            <a:avLst>
              <a:gd name="adj" fmla="val 3000"/>
            </a:avLst>
          </a:prstGeom>
          <a:solidFill>
            <a:srgbClr val="0B1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78408" y="2130552"/>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161288" y="2130552"/>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344168" y="2130552"/>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618488" y="2039112"/>
            <a:ext cx="3246120" cy="292608"/>
          </a:xfrm>
          <a:prstGeom prst="rect">
            <a:avLst/>
          </a:prstGeom>
          <a:noFill/>
        </p:spPr>
        <p:txBody>
          <a:bodyPr wrap="square" lIns="0" rIns="0" tIns="0" bIns="0" anchor="ctr"/>
          <a:lstStyle/>
          <a:p>
            <a:pPr algn="l">
              <a:spcAft>
                <a:spcPts val="400"/>
              </a:spcAft>
              <a:buNone/>
            </a:pPr>
            <a:r>
              <a:rPr sz="1050" b="1" i="0">
                <a:solidFill>
                  <a:srgbClr val="9FB2D9"/>
                </a:solidFill>
                <a:latin typeface="Roboto"/>
              </a:rPr>
              <a:t>ideen-bewertung/SKILL.md</a:t>
            </a:r>
          </a:p>
        </p:txBody>
      </p:sp>
      <p:sp>
        <p:nvSpPr>
          <p:cNvPr id="15" name="TextBox 14"/>
          <p:cNvSpPr txBox="1"/>
          <p:nvPr/>
        </p:nvSpPr>
        <p:spPr>
          <a:xfrm>
            <a:off x="1069848" y="2468880"/>
            <a:ext cx="3749039" cy="3428999"/>
          </a:xfrm>
          <a:prstGeom prst="rect">
            <a:avLst/>
          </a:prstGeom>
          <a:noFill/>
        </p:spPr>
        <p:txBody>
          <a:bodyPr wrap="square" lIns="0" rIns="0" tIns="0" bIns="0" anchor="t"/>
          <a:lstStyle/>
          <a:p>
            <a:pPr algn="l">
              <a:spcAft>
                <a:spcPts val="150"/>
              </a:spcAft>
              <a:buNone/>
            </a:pPr>
            <a:r>
              <a:rPr sz="1050" b="0" i="0">
                <a:solidFill>
                  <a:srgbClr val="6E7FA8"/>
                </a:solidFill>
                <a:latin typeface="Roboto Mono"/>
              </a:rPr>
              <a:t>---</a:t>
            </a:r>
          </a:p>
          <a:p>
            <a:pPr algn="l">
              <a:spcAft>
                <a:spcPts val="150"/>
              </a:spcAft>
              <a:buNone/>
            </a:pPr>
            <a:r>
              <a:rPr sz="1050" b="0" i="0">
                <a:solidFill>
                  <a:srgbClr val="7FE0A7"/>
                </a:solidFill>
                <a:latin typeface="Roboto Mono"/>
              </a:rPr>
              <a:t>name: ideen-bewertung</a:t>
            </a:r>
          </a:p>
          <a:p>
            <a:pPr algn="l">
              <a:spcAft>
                <a:spcPts val="150"/>
              </a:spcAft>
              <a:buNone/>
            </a:pPr>
            <a:r>
              <a:rPr sz="1050" b="0" i="0">
                <a:solidFill>
                  <a:srgbClr val="7FE0A7"/>
                </a:solidFill>
                <a:latin typeface="Roboto Mono"/>
              </a:rPr>
              <a:t>description: Bewertet Ideen mit</a:t>
            </a:r>
          </a:p>
          <a:p>
            <a:pPr algn="l">
              <a:spcAft>
                <a:spcPts val="150"/>
              </a:spcAft>
              <a:buNone/>
            </a:pPr>
            <a:r>
              <a:rPr sz="1050" b="0" i="0">
                <a:solidFill>
                  <a:srgbClr val="7FE0A7"/>
                </a:solidFill>
                <a:latin typeface="Roboto Mono"/>
              </a:rPr>
              <a:t>  einer Nutzen-Aufwand-Matrix.</a:t>
            </a:r>
          </a:p>
          <a:p>
            <a:pPr algn="l">
              <a:spcAft>
                <a:spcPts val="150"/>
              </a:spcAft>
              <a:buNone/>
            </a:pPr>
            <a:r>
              <a:rPr sz="1050" b="0" i="0">
                <a:solidFill>
                  <a:srgbClr val="7FE0A7"/>
                </a:solidFill>
                <a:latin typeface="Roboto Mono"/>
              </a:rPr>
              <a:t>  Nutzen nach Brainstormings.</a:t>
            </a:r>
          </a:p>
          <a:p>
            <a:pPr algn="l">
              <a:spcAft>
                <a:spcPts val="150"/>
              </a:spcAft>
              <a:buNone/>
            </a:pPr>
            <a:r>
              <a:rPr sz="1050" b="0" i="0">
                <a:solidFill>
                  <a:srgbClr val="6E7FA8"/>
                </a:solidFill>
                <a:latin typeface="Roboto Mono"/>
              </a:rPr>
              <a:t>---</a:t>
            </a:r>
          </a:p>
          <a:p>
            <a:pPr algn="l">
              <a:spcAft>
                <a:spcPts val="150"/>
              </a:spcAft>
              <a:buNone/>
            </a:pPr>
            <a:r>
              <a:rPr sz="1050" b="0" i="0">
                <a:solidFill>
                  <a:srgbClr val="FFFFFF"/>
                </a:solidFill>
                <a:latin typeface="Roboto Mono"/>
              </a:rPr>
              <a:t># Ideen bewerten</a:t>
            </a:r>
          </a:p>
          <a:p>
            <a:pPr algn="l">
              <a:spcAft>
                <a:spcPts val="150"/>
              </a:spcAft>
              <a:buNone/>
            </a:pPr>
            <a:r>
              <a:rPr sz="1050" b="0" i="0">
                <a:solidFill>
                  <a:srgbClr val="C9D6EE"/>
                </a:solidFill>
                <a:latin typeface="Roboto Mono"/>
              </a:rPr>
              <a:t>1. Kriterien: Nutzen, Aufwand,</a:t>
            </a:r>
          </a:p>
          <a:p>
            <a:pPr algn="l">
              <a:spcAft>
                <a:spcPts val="150"/>
              </a:spcAft>
              <a:buNone/>
            </a:pPr>
            <a:r>
              <a:rPr sz="1050" b="0" i="0">
                <a:solidFill>
                  <a:srgbClr val="C9D6EE"/>
                </a:solidFill>
                <a:latin typeface="Roboto Mono"/>
              </a:rPr>
              <a:t>   Risiko, Strategie-Fit</a:t>
            </a:r>
          </a:p>
          <a:p>
            <a:pPr algn="l">
              <a:spcAft>
                <a:spcPts val="150"/>
              </a:spcAft>
              <a:buNone/>
            </a:pPr>
            <a:r>
              <a:rPr sz="1050" b="0" i="0">
                <a:solidFill>
                  <a:srgbClr val="C9D6EE"/>
                </a:solidFill>
                <a:latin typeface="Roboto Mono"/>
              </a:rPr>
              <a:t>2. Skala 1–5 mit Begründung</a:t>
            </a:r>
          </a:p>
          <a:p>
            <a:pPr algn="l">
              <a:spcAft>
                <a:spcPts val="150"/>
              </a:spcAft>
              <a:buNone/>
            </a:pPr>
            <a:r>
              <a:rPr sz="1050" b="0" i="0">
                <a:solidFill>
                  <a:srgbClr val="C9D6EE"/>
                </a:solidFill>
                <a:latin typeface="Roboto Mono"/>
              </a:rPr>
              <a:t>3. Felder: Quick Win, Großprojekt,</a:t>
            </a:r>
          </a:p>
          <a:p>
            <a:pPr algn="l">
              <a:spcAft>
                <a:spcPts val="150"/>
              </a:spcAft>
              <a:buNone/>
            </a:pPr>
            <a:r>
              <a:rPr sz="1050" b="0" i="0">
                <a:solidFill>
                  <a:srgbClr val="C9D6EE"/>
                </a:solidFill>
                <a:latin typeface="Roboto Mono"/>
              </a:rPr>
              <a:t>   Füller, Zeitfresser</a:t>
            </a:r>
          </a:p>
          <a:p>
            <a:pPr algn="l">
              <a:spcAft>
                <a:spcPts val="150"/>
              </a:spcAft>
              <a:buNone/>
            </a:pPr>
            <a:r>
              <a:rPr sz="1050" b="0" i="0">
                <a:solidFill>
                  <a:srgbClr val="FFC56B"/>
                </a:solidFill>
                <a:latin typeface="Roboto Mono"/>
              </a:rPr>
              <a:t>Ausgabe: Tabelle + Matrix (xlsx)</a:t>
            </a:r>
          </a:p>
        </p:txBody>
      </p:sp>
      <p:sp>
        <p:nvSpPr>
          <p:cNvPr id="16" name="Rounded Rectangle 15"/>
          <p:cNvSpPr/>
          <p:nvPr/>
        </p:nvSpPr>
        <p:spPr>
          <a:xfrm>
            <a:off x="5276088" y="2011680"/>
            <a:ext cx="6071616" cy="2240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5477255" y="2130552"/>
            <a:ext cx="457200" cy="45720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Workflow_w.png"/>
          <p:cNvPicPr>
            <a:picLocks noChangeAspect="1"/>
          </p:cNvPicPr>
          <p:nvPr/>
        </p:nvPicPr>
        <p:blipFill>
          <a:blip r:embed="rId3"/>
          <a:stretch>
            <a:fillRect/>
          </a:stretch>
        </p:blipFill>
        <p:spPr>
          <a:xfrm>
            <a:off x="5586983" y="2240280"/>
            <a:ext cx="237744" cy="237744"/>
          </a:xfrm>
          <a:prstGeom prst="rect">
            <a:avLst/>
          </a:prstGeom>
        </p:spPr>
      </p:pic>
      <p:sp>
        <p:nvSpPr>
          <p:cNvPr id="19" name="TextBox 18"/>
          <p:cNvSpPr txBox="1"/>
          <p:nvPr/>
        </p:nvSpPr>
        <p:spPr>
          <a:xfrm>
            <a:off x="6053327" y="2130552"/>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Der digitale Ideen-Briefkasten</a:t>
            </a:r>
          </a:p>
        </p:txBody>
      </p:sp>
      <p:sp>
        <p:nvSpPr>
          <p:cNvPr id="20" name="Rounded Rectangle 19"/>
          <p:cNvSpPr/>
          <p:nvPr/>
        </p:nvSpPr>
        <p:spPr>
          <a:xfrm>
            <a:off x="5477255"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ClipboardList_n.png"/>
          <p:cNvPicPr>
            <a:picLocks noChangeAspect="1"/>
          </p:cNvPicPr>
          <p:nvPr/>
        </p:nvPicPr>
        <p:blipFill>
          <a:blip r:embed="rId4"/>
          <a:stretch>
            <a:fillRect/>
          </a:stretch>
        </p:blipFill>
        <p:spPr>
          <a:xfrm>
            <a:off x="5909309" y="2788920"/>
            <a:ext cx="347472" cy="347472"/>
          </a:xfrm>
          <a:prstGeom prst="rect">
            <a:avLst/>
          </a:prstGeom>
        </p:spPr>
      </p:pic>
      <p:sp>
        <p:nvSpPr>
          <p:cNvPr id="22" name="TextBox 21"/>
          <p:cNvSpPr txBox="1"/>
          <p:nvPr/>
        </p:nvSpPr>
        <p:spPr>
          <a:xfrm>
            <a:off x="5522975"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Idee per</a:t>
            </a:r>
          </a:p>
          <a:p>
            <a:pPr algn="ctr">
              <a:spcAft>
                <a:spcPts val="0"/>
              </a:spcAft>
              <a:buNone/>
            </a:pPr>
            <a:r>
              <a:rPr sz="1150" b="1" i="0">
                <a:solidFill>
                  <a:srgbClr val="0E1F53"/>
                </a:solidFill>
                <a:latin typeface="Roboto"/>
              </a:rPr>
              <a:t>Formular</a:t>
            </a:r>
          </a:p>
        </p:txBody>
      </p:sp>
      <p:sp>
        <p:nvSpPr>
          <p:cNvPr id="23" name="Right Arrow 22"/>
          <p:cNvSpPr/>
          <p:nvPr/>
        </p:nvSpPr>
        <p:spPr>
          <a:xfrm>
            <a:off x="6734555" y="313639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963155"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uBot_n.png"/>
          <p:cNvPicPr>
            <a:picLocks noChangeAspect="1"/>
          </p:cNvPicPr>
          <p:nvPr/>
        </p:nvPicPr>
        <p:blipFill>
          <a:blip r:embed="rId5"/>
          <a:stretch>
            <a:fillRect/>
          </a:stretch>
        </p:blipFill>
        <p:spPr>
          <a:xfrm>
            <a:off x="7395210" y="2788920"/>
            <a:ext cx="347472" cy="347472"/>
          </a:xfrm>
          <a:prstGeom prst="rect">
            <a:avLst/>
          </a:prstGeom>
        </p:spPr>
      </p:pic>
      <p:sp>
        <p:nvSpPr>
          <p:cNvPr id="26" name="TextBox 25"/>
          <p:cNvSpPr txBox="1"/>
          <p:nvPr/>
        </p:nvSpPr>
        <p:spPr>
          <a:xfrm>
            <a:off x="7008875"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Agent ergänzt</a:t>
            </a:r>
          </a:p>
          <a:p>
            <a:pPr algn="ctr">
              <a:spcAft>
                <a:spcPts val="0"/>
              </a:spcAft>
              <a:buNone/>
            </a:pPr>
            <a:r>
              <a:rPr sz="1150" b="1" i="0">
                <a:solidFill>
                  <a:srgbClr val="0E1F53"/>
                </a:solidFill>
                <a:latin typeface="Roboto"/>
              </a:rPr>
              <a:t>&amp; bewertet</a:t>
            </a:r>
          </a:p>
        </p:txBody>
      </p:sp>
      <p:sp>
        <p:nvSpPr>
          <p:cNvPr id="27" name="Right Arrow 26"/>
          <p:cNvSpPr/>
          <p:nvPr/>
        </p:nvSpPr>
        <p:spPr>
          <a:xfrm>
            <a:off x="8220456" y="313639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8449056"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LuChartColumn_n.png"/>
          <p:cNvPicPr>
            <a:picLocks noChangeAspect="1"/>
          </p:cNvPicPr>
          <p:nvPr/>
        </p:nvPicPr>
        <p:blipFill>
          <a:blip r:embed="rId6"/>
          <a:stretch>
            <a:fillRect/>
          </a:stretch>
        </p:blipFill>
        <p:spPr>
          <a:xfrm>
            <a:off x="8881110" y="2788920"/>
            <a:ext cx="347472" cy="347472"/>
          </a:xfrm>
          <a:prstGeom prst="rect">
            <a:avLst/>
          </a:prstGeom>
        </p:spPr>
      </p:pic>
      <p:sp>
        <p:nvSpPr>
          <p:cNvPr id="30" name="TextBox 29"/>
          <p:cNvSpPr txBox="1"/>
          <p:nvPr/>
        </p:nvSpPr>
        <p:spPr>
          <a:xfrm>
            <a:off x="8494776"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Ideenspeicher</a:t>
            </a:r>
          </a:p>
          <a:p>
            <a:pPr algn="ctr">
              <a:spcAft>
                <a:spcPts val="0"/>
              </a:spcAft>
              <a:buNone/>
            </a:pPr>
            <a:r>
              <a:rPr sz="1150" b="1" i="0">
                <a:solidFill>
                  <a:srgbClr val="0E1F53"/>
                </a:solidFill>
                <a:latin typeface="Roboto"/>
              </a:rPr>
              <a:t>(Tabelle)</a:t>
            </a:r>
          </a:p>
        </p:txBody>
      </p:sp>
      <p:sp>
        <p:nvSpPr>
          <p:cNvPr id="31" name="Right Arrow 30"/>
          <p:cNvSpPr/>
          <p:nvPr/>
        </p:nvSpPr>
        <p:spPr>
          <a:xfrm>
            <a:off x="9706356" y="313639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9934956"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LuMail_n.png"/>
          <p:cNvPicPr>
            <a:picLocks noChangeAspect="1"/>
          </p:cNvPicPr>
          <p:nvPr/>
        </p:nvPicPr>
        <p:blipFill>
          <a:blip r:embed="rId7"/>
          <a:stretch>
            <a:fillRect/>
          </a:stretch>
        </p:blipFill>
        <p:spPr>
          <a:xfrm>
            <a:off x="10367010" y="2788920"/>
            <a:ext cx="347472" cy="347472"/>
          </a:xfrm>
          <a:prstGeom prst="rect">
            <a:avLst/>
          </a:prstGeom>
        </p:spPr>
      </p:pic>
      <p:sp>
        <p:nvSpPr>
          <p:cNvPr id="34" name="TextBox 33"/>
          <p:cNvSpPr txBox="1"/>
          <p:nvPr/>
        </p:nvSpPr>
        <p:spPr>
          <a:xfrm>
            <a:off x="9980676"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Monatsreport</a:t>
            </a:r>
          </a:p>
          <a:p>
            <a:pPr algn="ctr">
              <a:spcAft>
                <a:spcPts val="0"/>
              </a:spcAft>
              <a:buNone/>
            </a:pPr>
            <a:r>
              <a:rPr sz="1150" b="1" i="0">
                <a:solidFill>
                  <a:srgbClr val="0E1F53"/>
                </a:solidFill>
                <a:latin typeface="Roboto"/>
              </a:rPr>
              <a:t>an GF</a:t>
            </a:r>
          </a:p>
        </p:txBody>
      </p:sp>
      <p:sp>
        <p:nvSpPr>
          <p:cNvPr id="35" name="TextBox 34"/>
          <p:cNvSpPr txBox="1"/>
          <p:nvPr/>
        </p:nvSpPr>
        <p:spPr>
          <a:xfrm>
            <a:off x="5477255" y="3794760"/>
            <a:ext cx="5669280" cy="411480"/>
          </a:xfrm>
          <a:prstGeom prst="rect">
            <a:avLst/>
          </a:prstGeom>
          <a:noFill/>
        </p:spPr>
        <p:txBody>
          <a:bodyPr wrap="square" lIns="0" rIns="0" tIns="0" bIns="0" anchor="t"/>
          <a:lstStyle/>
          <a:p>
            <a:pPr algn="l">
              <a:spcAft>
                <a:spcPts val="400"/>
              </a:spcAft>
              <a:buNone/>
            </a:pPr>
            <a:r>
              <a:rPr sz="1100" b="0" i="0">
                <a:solidFill>
                  <a:srgbClr val="5A6684"/>
                </a:solidFill>
                <a:latin typeface="Roboto"/>
              </a:rPr>
              <a:t>Ideen kommen jederzeit, nicht nur im Workshop. Der Agent sammelt, ordnet und bereitet die Entscheidung vor.</a:t>
            </a:r>
          </a:p>
        </p:txBody>
      </p:sp>
      <p:sp>
        <p:nvSpPr>
          <p:cNvPr id="36" name="Rounded Rectangle 35"/>
          <p:cNvSpPr/>
          <p:nvPr/>
        </p:nvSpPr>
        <p:spPr>
          <a:xfrm>
            <a:off x="5276088" y="4434840"/>
            <a:ext cx="6071616" cy="1554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5477255" y="4553712"/>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LuGithub_w.png"/>
          <p:cNvPicPr>
            <a:picLocks noChangeAspect="1"/>
          </p:cNvPicPr>
          <p:nvPr/>
        </p:nvPicPr>
        <p:blipFill>
          <a:blip r:embed="rId8"/>
          <a:stretch>
            <a:fillRect/>
          </a:stretch>
        </p:blipFill>
        <p:spPr>
          <a:xfrm>
            <a:off x="5586983" y="4663440"/>
            <a:ext cx="237744" cy="237744"/>
          </a:xfrm>
          <a:prstGeom prst="rect">
            <a:avLst/>
          </a:prstGeom>
        </p:spPr>
      </p:pic>
      <p:sp>
        <p:nvSpPr>
          <p:cNvPr id="39" name="TextBox 38"/>
          <p:cNvSpPr txBox="1"/>
          <p:nvPr/>
        </p:nvSpPr>
        <p:spPr>
          <a:xfrm>
            <a:off x="6053327" y="4553712"/>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Fertige Skills auf GitHub</a:t>
            </a:r>
          </a:p>
        </p:txBody>
      </p:sp>
      <p:sp>
        <p:nvSpPr>
          <p:cNvPr id="40" name="Rounded Rectangle 39"/>
          <p:cNvSpPr/>
          <p:nvPr/>
        </p:nvSpPr>
        <p:spPr>
          <a:xfrm>
            <a:off x="5477255" y="5047488"/>
            <a:ext cx="1832956"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opportunity-solution-tree</a:t>
            </a:r>
          </a:p>
        </p:txBody>
      </p:sp>
      <p:sp>
        <p:nvSpPr>
          <p:cNvPr id="41" name="Rounded Rectangle 40"/>
          <p:cNvSpPr/>
          <p:nvPr/>
        </p:nvSpPr>
        <p:spPr>
          <a:xfrm>
            <a:off x="7401652" y="5047488"/>
            <a:ext cx="1521229"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design-sprint-sketch</a:t>
            </a:r>
          </a:p>
        </p:txBody>
      </p:sp>
      <p:sp>
        <p:nvSpPr>
          <p:cNvPr id="42" name="Rounded Rectangle 41"/>
          <p:cNvSpPr/>
          <p:nvPr/>
        </p:nvSpPr>
        <p:spPr>
          <a:xfrm>
            <a:off x="9014321" y="5047488"/>
            <a:ext cx="1084810"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note-and-vote</a:t>
            </a:r>
          </a:p>
        </p:txBody>
      </p:sp>
      <p:sp>
        <p:nvSpPr>
          <p:cNvPr id="43" name="TextBox 42"/>
          <p:cNvSpPr txBox="1"/>
          <p:nvPr/>
        </p:nvSpPr>
        <p:spPr>
          <a:xfrm>
            <a:off x="5477255" y="5724144"/>
            <a:ext cx="5669280" cy="237744"/>
          </a:xfrm>
          <a:prstGeom prst="rect">
            <a:avLst/>
          </a:prstGeom>
          <a:noFill/>
        </p:spPr>
        <p:txBody>
          <a:bodyPr wrap="square" lIns="0" rIns="0" tIns="0" bIns="0" anchor="t"/>
          <a:lstStyle/>
          <a:p>
            <a:pPr algn="l">
              <a:spcAft>
                <a:spcPts val="400"/>
              </a:spcAft>
              <a:buNone/>
            </a:pPr>
            <a:r>
              <a:rPr sz="950" b="0" i="0">
                <a:solidFill>
                  <a:srgbClr val="5A6684"/>
                </a:solidFill>
                <a:latin typeface="Roboto"/>
              </a:rPr>
              <a:t>GitHub: deanpeters/Product-Manager-Skills · product-on-purpose/pm-skills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 Der Ideen-Sparringspartner im Einsatz</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3: Ideen finden</a:t>
            </a:r>
          </a:p>
        </p:txBody>
      </p:sp>
      <p:sp>
        <p:nvSpPr>
          <p:cNvPr id="10" name="Rounded Rectangle 9"/>
          <p:cNvSpPr/>
          <p:nvPr/>
        </p:nvSpPr>
        <p:spPr>
          <a:xfrm>
            <a:off x="841248" y="2011680"/>
            <a:ext cx="74980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59536" y="2029968"/>
            <a:ext cx="74615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18488" y="2048256"/>
            <a:ext cx="65836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Ideen-Sparringspartner · Hochschule Rhein-Waal</a:t>
            </a:r>
          </a:p>
        </p:txBody>
      </p:sp>
      <p:sp>
        <p:nvSpPr>
          <p:cNvPr id="16" name="Rounded Rectangle 15"/>
          <p:cNvSpPr/>
          <p:nvPr/>
        </p:nvSpPr>
        <p:spPr>
          <a:xfrm>
            <a:off x="969264" y="2487168"/>
            <a:ext cx="7242047" cy="406895"/>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8" name="TextBox 17"/>
          <p:cNvSpPr txBox="1"/>
          <p:nvPr/>
        </p:nvSpPr>
        <p:spPr>
          <a:xfrm>
            <a:off x="2020824" y="2523744"/>
            <a:ext cx="6080759" cy="333743"/>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Ideen-Sparringspartner für das Innovationsteam der Hochschule Rhein-Waal.</a:t>
            </a:r>
          </a:p>
        </p:txBody>
      </p:sp>
      <p:sp>
        <p:nvSpPr>
          <p:cNvPr id="19" name="Rounded Rectangle 18"/>
          <p:cNvSpPr/>
          <p:nvPr/>
        </p:nvSpPr>
        <p:spPr>
          <a:xfrm>
            <a:off x="969264" y="2958071"/>
            <a:ext cx="7242047" cy="938001"/>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60704" y="3012935"/>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1" name="TextBox 20"/>
          <p:cNvSpPr txBox="1"/>
          <p:nvPr/>
        </p:nvSpPr>
        <p:spPr>
          <a:xfrm>
            <a:off x="2020824" y="2994647"/>
            <a:ext cx="6080759" cy="864849"/>
          </a:xfrm>
          <a:prstGeom prst="rect">
            <a:avLst/>
          </a:prstGeom>
          <a:noFill/>
        </p:spPr>
        <p:txBody>
          <a:bodyPr wrap="square" lIns="0" rIns="0" tIns="0" bIns="0" anchor="ctr"/>
          <a:lstStyle/>
          <a:p>
            <a:pPr algn="l">
              <a:spcAft>
                <a:spcPts val="0"/>
              </a:spcAft>
              <a:buNone/>
            </a:pPr>
            <a:r>
              <a:rPr sz="1150" b="0" i="0">
                <a:solidFill>
                  <a:srgbClr val="1B2440"/>
                </a:solidFill>
                <a:latin typeface="Roboto"/>
              </a:rPr>
              <a:t>Persona Jonas pendelt und kommt nur zu Pflichtterminen. Persona Priya sucht Kontakte und einen Job in der Region. Frage: Wie können wir Präsenztage so gestalten, dass sie einen Mehrwert bieten, den es online nicht gibt?</a:t>
            </a:r>
          </a:p>
        </p:txBody>
      </p:sp>
      <p:sp>
        <p:nvSpPr>
          <p:cNvPr id="22" name="Rounded Rectangle 21"/>
          <p:cNvSpPr/>
          <p:nvPr/>
        </p:nvSpPr>
        <p:spPr>
          <a:xfrm>
            <a:off x="969264" y="3960080"/>
            <a:ext cx="7242047" cy="406895"/>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60704" y="4014944"/>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4" name="TextBox 23"/>
          <p:cNvSpPr txBox="1"/>
          <p:nvPr/>
        </p:nvSpPr>
        <p:spPr>
          <a:xfrm>
            <a:off x="2020824" y="3996656"/>
            <a:ext cx="6080759" cy="333743"/>
          </a:xfrm>
          <a:prstGeom prst="rect">
            <a:avLst/>
          </a:prstGeom>
          <a:noFill/>
        </p:spPr>
        <p:txBody>
          <a:bodyPr wrap="square" lIns="0" rIns="0" tIns="0" bIns="0" anchor="ctr"/>
          <a:lstStyle/>
          <a:p>
            <a:pPr algn="l">
              <a:spcAft>
                <a:spcPts val="0"/>
              </a:spcAft>
              <a:buNone/>
            </a:pPr>
            <a:r>
              <a:rPr sz="1150" b="0" i="0">
                <a:solidFill>
                  <a:srgbClr val="1B2440"/>
                </a:solidFill>
                <a:latin typeface="Roboto"/>
              </a:rPr>
              <a:t>Ergänze unsere 32 Ideen aus dem Workshop und bewerte alle.</a:t>
            </a:r>
          </a:p>
        </p:txBody>
      </p:sp>
      <p:sp>
        <p:nvSpPr>
          <p:cNvPr id="25" name="Rounded Rectangle 24"/>
          <p:cNvSpPr/>
          <p:nvPr/>
        </p:nvSpPr>
        <p:spPr>
          <a:xfrm>
            <a:off x="969264" y="4430983"/>
            <a:ext cx="7242047" cy="552521"/>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60704" y="4485847"/>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7" name="TextBox 26"/>
          <p:cNvSpPr txBox="1"/>
          <p:nvPr/>
        </p:nvSpPr>
        <p:spPr>
          <a:xfrm>
            <a:off x="2020824" y="4467559"/>
            <a:ext cx="6080759" cy="479369"/>
          </a:xfrm>
          <a:prstGeom prst="rect">
            <a:avLst/>
          </a:prstGeom>
          <a:noFill/>
        </p:spPr>
        <p:txBody>
          <a:bodyPr wrap="square" lIns="0" rIns="0" tIns="0" bIns="0" anchor="ctr"/>
          <a:lstStyle/>
          <a:p>
            <a:pPr algn="l">
              <a:spcAft>
                <a:spcPts val="0"/>
              </a:spcAft>
              <a:buNone/>
            </a:pPr>
            <a:r>
              <a:rPr sz="1150" b="0" i="0">
                <a:solidFill>
                  <a:srgbClr val="1B2440"/>
                </a:solidFill>
                <a:latin typeface="Roboto"/>
              </a:rPr>
              <a:t>1. 15 neue Ideen, u. a. Analogien aus Coworking, Vereinsleben, Gaming. 2. 3 Kombi-Konzepte. 3. Bewertung nach Nutzen und Aufwand.</a:t>
            </a:r>
          </a:p>
        </p:txBody>
      </p:sp>
      <p:sp>
        <p:nvSpPr>
          <p:cNvPr id="28" name="Rounded Rectangle 27"/>
          <p:cNvSpPr/>
          <p:nvPr/>
        </p:nvSpPr>
        <p:spPr>
          <a:xfrm>
            <a:off x="969264" y="5047513"/>
            <a:ext cx="7242047" cy="406895"/>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60704" y="5102377"/>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0" name="TextBox 29"/>
          <p:cNvSpPr txBox="1"/>
          <p:nvPr/>
        </p:nvSpPr>
        <p:spPr>
          <a:xfrm>
            <a:off x="2020824" y="5084089"/>
            <a:ext cx="6080759" cy="333743"/>
          </a:xfrm>
          <a:prstGeom prst="rect">
            <a:avLst/>
          </a:prstGeom>
          <a:noFill/>
        </p:spPr>
        <p:txBody>
          <a:bodyPr wrap="square" lIns="0" rIns="0" tIns="0" bIns="0" anchor="ctr"/>
          <a:lstStyle/>
          <a:p>
            <a:pPr algn="l">
              <a:spcAft>
                <a:spcPts val="0"/>
              </a:spcAft>
              <a:buNone/>
            </a:pPr>
            <a:r>
              <a:rPr sz="1150" b="0" i="0">
                <a:solidFill>
                  <a:srgbClr val="1B2440"/>
                </a:solidFill>
                <a:latin typeface="Roboto"/>
              </a:rPr>
              <a:t>Ideentabelle und Nutzen-Aufwand-Matrix, Top 3 mit Begründung.</a:t>
            </a:r>
          </a:p>
        </p:txBody>
      </p:sp>
      <p:sp>
        <p:nvSpPr>
          <p:cNvPr id="31" name="Rounded Rectangle 30"/>
          <p:cNvSpPr/>
          <p:nvPr/>
        </p:nvSpPr>
        <p:spPr>
          <a:xfrm>
            <a:off x="969264" y="5518416"/>
            <a:ext cx="7242047" cy="406895"/>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60704" y="5573280"/>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3" name="TextBox 32"/>
          <p:cNvSpPr txBox="1"/>
          <p:nvPr/>
        </p:nvSpPr>
        <p:spPr>
          <a:xfrm>
            <a:off x="2020824" y="5554992"/>
            <a:ext cx="6080759" cy="333743"/>
          </a:xfrm>
          <a:prstGeom prst="rect">
            <a:avLst/>
          </a:prstGeom>
          <a:noFill/>
        </p:spPr>
        <p:txBody>
          <a:bodyPr wrap="square" lIns="0" rIns="0" tIns="0" bIns="0" anchor="ctr"/>
          <a:lstStyle/>
          <a:p>
            <a:pPr algn="l">
              <a:spcAft>
                <a:spcPts val="0"/>
              </a:spcAft>
              <a:buNone/>
            </a:pPr>
            <a:r>
              <a:rPr sz="1150" b="0" i="0">
                <a:solidFill>
                  <a:srgbClr val="1B2440"/>
                </a:solidFill>
                <a:latin typeface="Roboto"/>
              </a:rPr>
              <a:t>Rahmen beachten: Pilot im nächsten Semester, kleines Budget. Entscheidung trifft das Team.</a:t>
            </a:r>
          </a:p>
        </p:txBody>
      </p:sp>
      <p:sp>
        <p:nvSpPr>
          <p:cNvPr id="34" name="Rounded Rectangle 33"/>
          <p:cNvSpPr/>
          <p:nvPr/>
        </p:nvSpPr>
        <p:spPr>
          <a:xfrm>
            <a:off x="8613648" y="2011680"/>
            <a:ext cx="27340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842248" y="2194560"/>
            <a:ext cx="640080" cy="64008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LuLightbulb_w.png"/>
          <p:cNvPicPr>
            <a:picLocks noChangeAspect="1"/>
          </p:cNvPicPr>
          <p:nvPr/>
        </p:nvPicPr>
        <p:blipFill>
          <a:blip r:embed="rId3"/>
          <a:stretch>
            <a:fillRect/>
          </a:stretch>
        </p:blipFill>
        <p:spPr>
          <a:xfrm>
            <a:off x="8995867" y="2348179"/>
            <a:ext cx="332841" cy="332841"/>
          </a:xfrm>
          <a:prstGeom prst="rect">
            <a:avLst/>
          </a:prstGeom>
        </p:spPr>
      </p:pic>
      <p:sp>
        <p:nvSpPr>
          <p:cNvPr id="37" name="TextBox 36"/>
          <p:cNvSpPr txBox="1"/>
          <p:nvPr/>
        </p:nvSpPr>
        <p:spPr>
          <a:xfrm>
            <a:off x="9619488" y="2194560"/>
            <a:ext cx="1591056" cy="640080"/>
          </a:xfrm>
          <a:prstGeom prst="rect">
            <a:avLst/>
          </a:prstGeom>
          <a:noFill/>
        </p:spPr>
        <p:txBody>
          <a:bodyPr wrap="square" lIns="0" rIns="0" tIns="0" bIns="0" anchor="ctr"/>
          <a:lstStyle/>
          <a:p>
            <a:pPr algn="l">
              <a:spcAft>
                <a:spcPts val="0"/>
              </a:spcAft>
              <a:buNone/>
            </a:pPr>
            <a:r>
              <a:rPr sz="1500" b="1" i="0">
                <a:solidFill>
                  <a:srgbClr val="0E1F53"/>
                </a:solidFill>
                <a:latin typeface="Roboto"/>
              </a:rPr>
              <a:t>Ideen-Sparringspartner</a:t>
            </a:r>
          </a:p>
          <a:p>
            <a:pPr algn="l">
              <a:spcAft>
                <a:spcPts val="0"/>
              </a:spcAft>
              <a:buNone/>
            </a:pPr>
            <a:r>
              <a:rPr sz="1100" b="0" i="0">
                <a:solidFill>
                  <a:srgbClr val="5A6684"/>
                </a:solidFill>
                <a:latin typeface="Roboto"/>
              </a:rPr>
              <a:t>Phase 3 · Ideen finden</a:t>
            </a:r>
          </a:p>
        </p:txBody>
      </p:sp>
      <p:sp>
        <p:nvSpPr>
          <p:cNvPr id="38" name="TextBox 37"/>
          <p:cNvSpPr txBox="1"/>
          <p:nvPr/>
        </p:nvSpPr>
        <p:spPr>
          <a:xfrm>
            <a:off x="8842248" y="3063240"/>
            <a:ext cx="2276856" cy="320040"/>
          </a:xfrm>
          <a:prstGeom prst="rect">
            <a:avLst/>
          </a:prstGeom>
          <a:noFill/>
        </p:spPr>
        <p:txBody>
          <a:bodyPr wrap="square" lIns="0" rIns="0" tIns="0" bIns="0" anchor="t"/>
          <a:lstStyle/>
          <a:p>
            <a:pPr algn="l">
              <a:spcAft>
                <a:spcPts val="400"/>
              </a:spcAft>
              <a:buNone/>
            </a:pPr>
            <a:r>
              <a:rPr sz="1200" b="1" i="0">
                <a:solidFill>
                  <a:srgbClr val="5A6684"/>
                </a:solidFill>
                <a:latin typeface="Roboto"/>
              </a:rPr>
              <a:t>Im Einsatz</a:t>
            </a:r>
          </a:p>
        </p:txBody>
      </p:sp>
      <p:sp>
        <p:nvSpPr>
          <p:cNvPr id="39" name="Rounded Rectangle 38"/>
          <p:cNvSpPr/>
          <p:nvPr/>
        </p:nvSpPr>
        <p:spPr>
          <a:xfrm>
            <a:off x="8842248" y="3429000"/>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LuCheck_p.png"/>
          <p:cNvPicPr>
            <a:picLocks noChangeAspect="1"/>
          </p:cNvPicPr>
          <p:nvPr/>
        </p:nvPicPr>
        <p:blipFill>
          <a:blip r:embed="rId4"/>
          <a:stretch>
            <a:fillRect/>
          </a:stretch>
        </p:blipFill>
        <p:spPr>
          <a:xfrm>
            <a:off x="8933688" y="3502152"/>
            <a:ext cx="237744" cy="237744"/>
          </a:xfrm>
          <a:prstGeom prst="rect">
            <a:avLst/>
          </a:prstGeom>
        </p:spPr>
      </p:pic>
      <p:sp>
        <p:nvSpPr>
          <p:cNvPr id="41" name="TextBox 40"/>
          <p:cNvSpPr txBox="1"/>
          <p:nvPr/>
        </p:nvSpPr>
        <p:spPr>
          <a:xfrm>
            <a:off x="9253728" y="3429000"/>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Skill: ideen-bewertung</a:t>
            </a:r>
          </a:p>
        </p:txBody>
      </p:sp>
      <p:sp>
        <p:nvSpPr>
          <p:cNvPr id="42" name="Rounded Rectangle 41"/>
          <p:cNvSpPr/>
          <p:nvPr/>
        </p:nvSpPr>
        <p:spPr>
          <a:xfrm>
            <a:off x="8842248" y="3904487"/>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Picture 42" descr="LuCheck_p.png"/>
          <p:cNvPicPr>
            <a:picLocks noChangeAspect="1"/>
          </p:cNvPicPr>
          <p:nvPr/>
        </p:nvPicPr>
        <p:blipFill>
          <a:blip r:embed="rId4"/>
          <a:stretch>
            <a:fillRect/>
          </a:stretch>
        </p:blipFill>
        <p:spPr>
          <a:xfrm>
            <a:off x="8933688" y="3977639"/>
            <a:ext cx="237744" cy="237744"/>
          </a:xfrm>
          <a:prstGeom prst="rect">
            <a:avLst/>
          </a:prstGeom>
        </p:spPr>
      </p:pic>
      <p:sp>
        <p:nvSpPr>
          <p:cNvPr id="44" name="TextBox 43"/>
          <p:cNvSpPr txBox="1"/>
          <p:nvPr/>
        </p:nvSpPr>
        <p:spPr>
          <a:xfrm>
            <a:off x="9253728" y="3904487"/>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Tabelle (xlsx)</a:t>
            </a:r>
          </a:p>
        </p:txBody>
      </p:sp>
      <p:sp>
        <p:nvSpPr>
          <p:cNvPr id="45" name="Rounded Rectangle 44"/>
          <p:cNvSpPr/>
          <p:nvPr/>
        </p:nvSpPr>
        <p:spPr>
          <a:xfrm>
            <a:off x="8842248" y="4379976"/>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LuCheck_p.png"/>
          <p:cNvPicPr>
            <a:picLocks noChangeAspect="1"/>
          </p:cNvPicPr>
          <p:nvPr/>
        </p:nvPicPr>
        <p:blipFill>
          <a:blip r:embed="rId4"/>
          <a:stretch>
            <a:fillRect/>
          </a:stretch>
        </p:blipFill>
        <p:spPr>
          <a:xfrm>
            <a:off x="8933688" y="4453128"/>
            <a:ext cx="237744" cy="237744"/>
          </a:xfrm>
          <a:prstGeom prst="rect">
            <a:avLst/>
          </a:prstGeom>
        </p:spPr>
      </p:pic>
      <p:sp>
        <p:nvSpPr>
          <p:cNvPr id="47" name="TextBox 46"/>
          <p:cNvSpPr txBox="1"/>
          <p:nvPr/>
        </p:nvSpPr>
        <p:spPr>
          <a:xfrm>
            <a:off x="9253728" y="4379976"/>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Ideen-Briefkasten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HSRW-Ergebnis Ideen finden: Favorit gewählt</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3: Ideen finden</a:t>
            </a:r>
          </a:p>
        </p:txBody>
      </p:sp>
      <p:sp>
        <p:nvSpPr>
          <p:cNvPr id="10" name="Rectangle 9"/>
          <p:cNvSpPr/>
          <p:nvPr/>
        </p:nvSpPr>
        <p:spPr>
          <a:xfrm>
            <a:off x="1344168" y="2011680"/>
            <a:ext cx="2560320" cy="1828800"/>
          </a:xfrm>
          <a:prstGeom prst="rect">
            <a:avLst/>
          </a:prstGeom>
          <a:solidFill>
            <a:srgbClr val="E3F4EA"/>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53896" y="2084832"/>
            <a:ext cx="1828800" cy="274320"/>
          </a:xfrm>
          <a:prstGeom prst="rect">
            <a:avLst/>
          </a:prstGeom>
          <a:noFill/>
        </p:spPr>
        <p:txBody>
          <a:bodyPr wrap="square" lIns="0" rIns="0" tIns="0" bIns="0" anchor="t"/>
          <a:lstStyle/>
          <a:p>
            <a:pPr algn="l">
              <a:spcAft>
                <a:spcPts val="400"/>
              </a:spcAft>
              <a:buNone/>
            </a:pPr>
            <a:r>
              <a:rPr sz="1100" b="1" i="0">
                <a:solidFill>
                  <a:srgbClr val="5A6684"/>
                </a:solidFill>
                <a:latin typeface="Roboto"/>
              </a:rPr>
              <a:t>Quick Wins</a:t>
            </a:r>
          </a:p>
        </p:txBody>
      </p:sp>
      <p:sp>
        <p:nvSpPr>
          <p:cNvPr id="12" name="Rectangle 11"/>
          <p:cNvSpPr/>
          <p:nvPr/>
        </p:nvSpPr>
        <p:spPr>
          <a:xfrm>
            <a:off x="3904487" y="2011680"/>
            <a:ext cx="2560320" cy="1828800"/>
          </a:xfrm>
          <a:prstGeom prst="rect">
            <a:avLst/>
          </a:prstGeom>
          <a:solidFill>
            <a:srgbClr val="E1EDF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014215" y="2084832"/>
            <a:ext cx="1828800" cy="274320"/>
          </a:xfrm>
          <a:prstGeom prst="rect">
            <a:avLst/>
          </a:prstGeom>
          <a:noFill/>
        </p:spPr>
        <p:txBody>
          <a:bodyPr wrap="square" lIns="0" rIns="0" tIns="0" bIns="0" anchor="t"/>
          <a:lstStyle/>
          <a:p>
            <a:pPr algn="l">
              <a:spcAft>
                <a:spcPts val="400"/>
              </a:spcAft>
              <a:buNone/>
            </a:pPr>
            <a:r>
              <a:rPr sz="1100" b="1" i="0">
                <a:solidFill>
                  <a:srgbClr val="5A6684"/>
                </a:solidFill>
                <a:latin typeface="Roboto"/>
              </a:rPr>
              <a:t>Großprojekte</a:t>
            </a:r>
          </a:p>
        </p:txBody>
      </p:sp>
      <p:sp>
        <p:nvSpPr>
          <p:cNvPr id="14" name="Rectangle 13"/>
          <p:cNvSpPr/>
          <p:nvPr/>
        </p:nvSpPr>
        <p:spPr>
          <a:xfrm>
            <a:off x="1344168" y="3840480"/>
            <a:ext cx="2560320" cy="1828800"/>
          </a:xfrm>
          <a:prstGeom prst="rect">
            <a:avLst/>
          </a:prstGeom>
          <a:solidFill>
            <a:srgbClr val="F1F3F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453896" y="3913632"/>
            <a:ext cx="1828800" cy="274320"/>
          </a:xfrm>
          <a:prstGeom prst="rect">
            <a:avLst/>
          </a:prstGeom>
          <a:noFill/>
        </p:spPr>
        <p:txBody>
          <a:bodyPr wrap="square" lIns="0" rIns="0" tIns="0" bIns="0" anchor="t"/>
          <a:lstStyle/>
          <a:p>
            <a:pPr algn="l">
              <a:spcAft>
                <a:spcPts val="400"/>
              </a:spcAft>
              <a:buNone/>
            </a:pPr>
            <a:r>
              <a:rPr sz="1100" b="1" i="0">
                <a:solidFill>
                  <a:srgbClr val="5A6684"/>
                </a:solidFill>
                <a:latin typeface="Roboto"/>
              </a:rPr>
              <a:t>Füller</a:t>
            </a:r>
          </a:p>
        </p:txBody>
      </p:sp>
      <p:sp>
        <p:nvSpPr>
          <p:cNvPr id="16" name="Rectangle 15"/>
          <p:cNvSpPr/>
          <p:nvPr/>
        </p:nvSpPr>
        <p:spPr>
          <a:xfrm>
            <a:off x="3904487" y="3840480"/>
            <a:ext cx="2560320" cy="1828800"/>
          </a:xfrm>
          <a:prstGeom prst="rect">
            <a:avLst/>
          </a:prstGeom>
          <a:solidFill>
            <a:srgbClr val="FAE1E3"/>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014215" y="3913632"/>
            <a:ext cx="1828800" cy="274320"/>
          </a:xfrm>
          <a:prstGeom prst="rect">
            <a:avLst/>
          </a:prstGeom>
          <a:noFill/>
        </p:spPr>
        <p:txBody>
          <a:bodyPr wrap="square" lIns="0" rIns="0" tIns="0" bIns="0" anchor="t"/>
          <a:lstStyle/>
          <a:p>
            <a:pPr algn="l">
              <a:spcAft>
                <a:spcPts val="400"/>
              </a:spcAft>
              <a:buNone/>
            </a:pPr>
            <a:r>
              <a:rPr sz="1100" b="1" i="0">
                <a:solidFill>
                  <a:srgbClr val="5A6684"/>
                </a:solidFill>
                <a:latin typeface="Roboto"/>
              </a:rPr>
              <a:t>Zeitfresser</a:t>
            </a:r>
          </a:p>
        </p:txBody>
      </p:sp>
      <p:sp>
        <p:nvSpPr>
          <p:cNvPr id="18" name="TextBox 17"/>
          <p:cNvSpPr txBox="1"/>
          <p:nvPr/>
        </p:nvSpPr>
        <p:spPr>
          <a:xfrm rot="16200000">
            <a:off x="795528" y="2011680"/>
            <a:ext cx="457200" cy="3657600"/>
          </a:xfrm>
          <a:prstGeom prst="rect">
            <a:avLst/>
          </a:prstGeom>
          <a:noFill/>
        </p:spPr>
        <p:txBody>
          <a:bodyPr wrap="square" lIns="0" rIns="0" tIns="0" bIns="0" anchor="ctr"/>
          <a:lstStyle/>
          <a:p>
            <a:pPr algn="l">
              <a:spcAft>
                <a:spcPts val="400"/>
              </a:spcAft>
              <a:buNone/>
            </a:pPr>
            <a:r>
              <a:rPr sz="1100" b="1" i="0">
                <a:solidFill>
                  <a:srgbClr val="5A6684"/>
                </a:solidFill>
                <a:latin typeface="Roboto"/>
              </a:rPr>
              <a:t>Nutzen →</a:t>
            </a:r>
          </a:p>
        </p:txBody>
      </p:sp>
      <p:sp>
        <p:nvSpPr>
          <p:cNvPr id="19" name="TextBox 18"/>
          <p:cNvSpPr txBox="1"/>
          <p:nvPr/>
        </p:nvSpPr>
        <p:spPr>
          <a:xfrm>
            <a:off x="1344168" y="5715000"/>
            <a:ext cx="5120640" cy="274320"/>
          </a:xfrm>
          <a:prstGeom prst="rect">
            <a:avLst/>
          </a:prstGeom>
          <a:noFill/>
        </p:spPr>
        <p:txBody>
          <a:bodyPr wrap="square" lIns="0" rIns="0" tIns="0" bIns="0" anchor="t"/>
          <a:lstStyle/>
          <a:p>
            <a:pPr algn="ctr">
              <a:spcAft>
                <a:spcPts val="400"/>
              </a:spcAft>
              <a:buNone/>
            </a:pPr>
            <a:r>
              <a:rPr sz="1100" b="1" i="0">
                <a:solidFill>
                  <a:srgbClr val="5A6684"/>
                </a:solidFill>
                <a:latin typeface="Roboto"/>
              </a:rPr>
              <a:t>Aufwand →</a:t>
            </a:r>
          </a:p>
        </p:txBody>
      </p:sp>
      <p:sp>
        <p:nvSpPr>
          <p:cNvPr id="20" name="Oval 19"/>
          <p:cNvSpPr/>
          <p:nvPr/>
        </p:nvSpPr>
        <p:spPr>
          <a:xfrm>
            <a:off x="3097987" y="2258568"/>
            <a:ext cx="384048" cy="38404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1</a:t>
            </a:r>
          </a:p>
        </p:txBody>
      </p:sp>
      <p:sp>
        <p:nvSpPr>
          <p:cNvPr id="21" name="Oval 20"/>
          <p:cNvSpPr/>
          <p:nvPr/>
        </p:nvSpPr>
        <p:spPr>
          <a:xfrm>
            <a:off x="2110435" y="2587752"/>
            <a:ext cx="310896" cy="3108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2</a:t>
            </a:r>
          </a:p>
        </p:txBody>
      </p:sp>
      <p:sp>
        <p:nvSpPr>
          <p:cNvPr id="22" name="Oval 21"/>
          <p:cNvSpPr/>
          <p:nvPr/>
        </p:nvSpPr>
        <p:spPr>
          <a:xfrm>
            <a:off x="2468880" y="3392424"/>
            <a:ext cx="310896" cy="3108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3</a:t>
            </a:r>
          </a:p>
        </p:txBody>
      </p:sp>
      <p:sp>
        <p:nvSpPr>
          <p:cNvPr id="23" name="Oval 22"/>
          <p:cNvSpPr/>
          <p:nvPr/>
        </p:nvSpPr>
        <p:spPr>
          <a:xfrm>
            <a:off x="3339388" y="2953512"/>
            <a:ext cx="310896" cy="3108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4</a:t>
            </a:r>
          </a:p>
        </p:txBody>
      </p:sp>
      <p:sp>
        <p:nvSpPr>
          <p:cNvPr id="24" name="Oval 23"/>
          <p:cNvSpPr/>
          <p:nvPr/>
        </p:nvSpPr>
        <p:spPr>
          <a:xfrm>
            <a:off x="5182819" y="2404872"/>
            <a:ext cx="310896" cy="3108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5</a:t>
            </a:r>
          </a:p>
        </p:txBody>
      </p:sp>
      <p:sp>
        <p:nvSpPr>
          <p:cNvPr id="25" name="Oval 24"/>
          <p:cNvSpPr/>
          <p:nvPr/>
        </p:nvSpPr>
        <p:spPr>
          <a:xfrm>
            <a:off x="5541264" y="2953512"/>
            <a:ext cx="310896" cy="3108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6</a:t>
            </a:r>
          </a:p>
        </p:txBody>
      </p:sp>
      <p:sp>
        <p:nvSpPr>
          <p:cNvPr id="26" name="Oval 25"/>
          <p:cNvSpPr/>
          <p:nvPr/>
        </p:nvSpPr>
        <p:spPr>
          <a:xfrm>
            <a:off x="5029200" y="4233672"/>
            <a:ext cx="310896" cy="3108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7</a:t>
            </a:r>
          </a:p>
        </p:txBody>
      </p:sp>
      <p:sp>
        <p:nvSpPr>
          <p:cNvPr id="27" name="Oval 26"/>
          <p:cNvSpPr/>
          <p:nvPr/>
        </p:nvSpPr>
        <p:spPr>
          <a:xfrm>
            <a:off x="3236976" y="4343400"/>
            <a:ext cx="310896" cy="31089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8</a:t>
            </a:r>
          </a:p>
        </p:txBody>
      </p:sp>
      <p:sp>
        <p:nvSpPr>
          <p:cNvPr id="28" name="TextBox 27"/>
          <p:cNvSpPr txBox="1"/>
          <p:nvPr/>
        </p:nvSpPr>
        <p:spPr>
          <a:xfrm>
            <a:off x="6784848" y="2011680"/>
            <a:ext cx="4562856" cy="2743200"/>
          </a:xfrm>
          <a:prstGeom prst="rect">
            <a:avLst/>
          </a:prstGeom>
          <a:noFill/>
        </p:spPr>
        <p:txBody>
          <a:bodyPr wrap="square" lIns="0" rIns="0" tIns="0" bIns="0" anchor="t"/>
          <a:lstStyle/>
          <a:p>
            <a:pPr algn="l">
              <a:spcAft>
                <a:spcPts val="500"/>
              </a:spcAft>
              <a:buNone/>
            </a:pPr>
            <a:r>
              <a:rPr sz="1250" b="1" i="0">
                <a:solidFill>
                  <a:srgbClr val="FB2762"/>
                </a:solidFill>
                <a:latin typeface="Roboto"/>
              </a:rPr>
              <a:t>1  </a:t>
            </a:r>
            <a:r>
              <a:rPr sz="1250" b="1" i="0">
                <a:solidFill>
                  <a:srgbClr val="0E1F53"/>
                </a:solidFill>
                <a:latin typeface="Roboto"/>
              </a:rPr>
              <a:t>Campus-Mittwoch mit KMU-Challenges</a:t>
            </a:r>
          </a:p>
          <a:p>
            <a:pPr algn="l">
              <a:spcAft>
                <a:spcPts val="500"/>
              </a:spcAft>
              <a:buNone/>
            </a:pPr>
            <a:r>
              <a:rPr sz="1250" b="1" i="0">
                <a:solidFill>
                  <a:srgbClr val="0E1F53"/>
                </a:solidFill>
                <a:latin typeface="Roboto"/>
              </a:rPr>
              <a:t>2  </a:t>
            </a:r>
            <a:r>
              <a:rPr sz="1250" b="0" i="0">
                <a:solidFill>
                  <a:srgbClr val="0E1F53"/>
                </a:solidFill>
                <a:latin typeface="Roboto"/>
              </a:rPr>
              <a:t>Buddy-Programm lokal–international</a:t>
            </a:r>
          </a:p>
          <a:p>
            <a:pPr algn="l">
              <a:spcAft>
                <a:spcPts val="500"/>
              </a:spcAft>
              <a:buNone/>
            </a:pPr>
            <a:r>
              <a:rPr sz="1250" b="1" i="0">
                <a:solidFill>
                  <a:srgbClr val="0E1F53"/>
                </a:solidFill>
                <a:latin typeface="Roboto"/>
              </a:rPr>
              <a:t>3  </a:t>
            </a:r>
            <a:r>
              <a:rPr sz="1250" b="0" i="0">
                <a:solidFill>
                  <a:srgbClr val="0E1F53"/>
                </a:solidFill>
                <a:latin typeface="Roboto"/>
              </a:rPr>
              <a:t>Abend-Lernlounge mit Buchungs-App</a:t>
            </a:r>
          </a:p>
          <a:p>
            <a:pPr algn="l">
              <a:spcAft>
                <a:spcPts val="500"/>
              </a:spcAft>
              <a:buNone/>
            </a:pPr>
            <a:r>
              <a:rPr sz="1250" b="1" i="0">
                <a:solidFill>
                  <a:srgbClr val="0E1F53"/>
                </a:solidFill>
                <a:latin typeface="Roboto"/>
              </a:rPr>
              <a:t>4  </a:t>
            </a:r>
            <a:r>
              <a:rPr sz="1250" b="0" i="0">
                <a:solidFill>
                  <a:srgbClr val="0E1F53"/>
                </a:solidFill>
                <a:latin typeface="Roboto"/>
              </a:rPr>
              <a:t>Werkstudierenden-Börse der Region</a:t>
            </a:r>
          </a:p>
          <a:p>
            <a:pPr algn="l">
              <a:spcAft>
                <a:spcPts val="500"/>
              </a:spcAft>
              <a:buNone/>
            </a:pPr>
            <a:r>
              <a:rPr sz="1250" b="1" i="0">
                <a:solidFill>
                  <a:srgbClr val="0E1F53"/>
                </a:solidFill>
                <a:latin typeface="Roboto"/>
              </a:rPr>
              <a:t>5  </a:t>
            </a:r>
            <a:r>
              <a:rPr sz="1250" b="0" i="0">
                <a:solidFill>
                  <a:srgbClr val="0E1F53"/>
                </a:solidFill>
                <a:latin typeface="Roboto"/>
              </a:rPr>
              <a:t>G9-Brückensemester für Schulabgänger:innen</a:t>
            </a:r>
          </a:p>
          <a:p>
            <a:pPr algn="l">
              <a:spcAft>
                <a:spcPts val="500"/>
              </a:spcAft>
              <a:buNone/>
            </a:pPr>
            <a:r>
              <a:rPr sz="1250" b="1" i="0">
                <a:solidFill>
                  <a:srgbClr val="0E1F53"/>
                </a:solidFill>
                <a:latin typeface="Roboto"/>
              </a:rPr>
              <a:t>6  </a:t>
            </a:r>
            <a:r>
              <a:rPr sz="1250" b="0" i="0">
                <a:solidFill>
                  <a:srgbClr val="0E1F53"/>
                </a:solidFill>
                <a:latin typeface="Roboto"/>
              </a:rPr>
              <a:t>Grenzüberschreitende Angebote mit NL</a:t>
            </a:r>
          </a:p>
          <a:p>
            <a:pPr algn="l">
              <a:spcAft>
                <a:spcPts val="500"/>
              </a:spcAft>
              <a:buNone/>
            </a:pPr>
            <a:r>
              <a:rPr sz="1250" b="1" i="0">
                <a:solidFill>
                  <a:srgbClr val="0E1F53"/>
                </a:solidFill>
                <a:latin typeface="Roboto"/>
              </a:rPr>
              <a:t>7  </a:t>
            </a:r>
            <a:r>
              <a:rPr sz="1250" b="0" i="0">
                <a:solidFill>
                  <a:srgbClr val="0E1F53"/>
                </a:solidFill>
                <a:latin typeface="Roboto"/>
              </a:rPr>
              <a:t>Hybride Lernstudios</a:t>
            </a:r>
          </a:p>
          <a:p>
            <a:pPr algn="l">
              <a:spcAft>
                <a:spcPts val="500"/>
              </a:spcAft>
              <a:buNone/>
            </a:pPr>
            <a:r>
              <a:rPr sz="1250" b="1" i="0">
                <a:solidFill>
                  <a:srgbClr val="0E1F53"/>
                </a:solidFill>
                <a:latin typeface="Roboto"/>
              </a:rPr>
              <a:t>8  </a:t>
            </a:r>
            <a:r>
              <a:rPr sz="1250" b="0" i="0">
                <a:solidFill>
                  <a:srgbClr val="0E1F53"/>
                </a:solidFill>
                <a:latin typeface="Roboto"/>
              </a:rPr>
              <a:t>Campus-Food &amp; Events am Abend</a:t>
            </a:r>
          </a:p>
        </p:txBody>
      </p:sp>
      <p:sp>
        <p:nvSpPr>
          <p:cNvPr id="29" name="Rounded Rectangle 28"/>
          <p:cNvSpPr/>
          <p:nvPr/>
        </p:nvSpPr>
        <p:spPr>
          <a:xfrm>
            <a:off x="6784848" y="4800600"/>
            <a:ext cx="4562856" cy="1188720"/>
          </a:xfrm>
          <a:prstGeom prst="roundRect">
            <a:avLst>
              <a:gd name="adj" fmla="val 6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13448" y="4800600"/>
            <a:ext cx="4105656" cy="1188720"/>
          </a:xfrm>
          <a:prstGeom prst="rect">
            <a:avLst/>
          </a:prstGeom>
          <a:noFill/>
        </p:spPr>
        <p:txBody>
          <a:bodyPr wrap="square" lIns="0" rIns="0" tIns="0" bIns="0" anchor="ctr"/>
          <a:lstStyle/>
          <a:p>
            <a:pPr algn="l">
              <a:spcAft>
                <a:spcPts val="200"/>
              </a:spcAft>
              <a:buNone/>
            </a:pPr>
            <a:r>
              <a:rPr sz="1200" b="1" i="0">
                <a:solidFill>
                  <a:srgbClr val="FFFFFF"/>
                </a:solidFill>
                <a:latin typeface="Roboto"/>
              </a:rPr>
              <a:t>Favorit nach Dot-Voting</a:t>
            </a:r>
          </a:p>
          <a:p>
            <a:pPr algn="l">
              <a:spcAft>
                <a:spcPts val="400"/>
              </a:spcAft>
              <a:buNone/>
            </a:pPr>
            <a:r>
              <a:rPr sz="1350" b="1" i="0">
                <a:solidFill>
                  <a:srgbClr val="FFFFFF"/>
                </a:solidFill>
                <a:latin typeface="Roboto"/>
              </a:rPr>
              <a:t>Campus-Mittwoch: Studierende lösen jeden Mittwoch echte Aufgaben regionaler Unternehmen.</a:t>
            </a:r>
          </a:p>
        </p:txBody>
      </p:sp>
      <p:sp>
        <p:nvSpPr>
          <p:cNvPr id="31" name="TextBox 30"/>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Bewertungsvorschlag durch den Agenten, Entscheidung durch das Team · Illustratives Beispiel für den Workshop: Interviewaussagen und Testergebnisse sind fiktiv.</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Jetzt Sie: Ihre eigene Challenge</a:t>
            </a:r>
          </a:p>
        </p:txBody>
      </p:sp>
      <p:sp>
        <p:nvSpPr>
          <p:cNvPr id="3" name="Rounded Rectangle 2"/>
          <p:cNvSpPr/>
          <p:nvPr/>
        </p:nvSpPr>
        <p:spPr>
          <a:xfrm>
            <a:off x="841248" y="850392"/>
            <a:ext cx="153619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ÜBUNG · 15 MIN.</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3: Ideen finden</a:t>
            </a:r>
          </a:p>
        </p:txBody>
      </p:sp>
      <p:sp>
        <p:nvSpPr>
          <p:cNvPr id="10" name="Rounded Rectangle 9"/>
          <p:cNvSpPr/>
          <p:nvPr/>
        </p:nvSpPr>
        <p:spPr>
          <a:xfrm>
            <a:off x="841248" y="201168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42416" y="219456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1</a:t>
            </a:r>
          </a:p>
        </p:txBody>
      </p:sp>
      <p:sp>
        <p:nvSpPr>
          <p:cNvPr id="12" name="TextBox 11"/>
          <p:cNvSpPr txBox="1"/>
          <p:nvPr/>
        </p:nvSpPr>
        <p:spPr>
          <a:xfrm>
            <a:off x="1801368" y="201168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5 Minuten Brainwriting: allein, mindestens 8 Ideen auf Post-its.</a:t>
            </a:r>
          </a:p>
        </p:txBody>
      </p:sp>
      <p:sp>
        <p:nvSpPr>
          <p:cNvPr id="13" name="Rounded Rectangle 12"/>
          <p:cNvSpPr/>
          <p:nvPr/>
        </p:nvSpPr>
        <p:spPr>
          <a:xfrm>
            <a:off x="841248" y="310896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42416" y="329184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2</a:t>
            </a:r>
          </a:p>
        </p:txBody>
      </p:sp>
      <p:sp>
        <p:nvSpPr>
          <p:cNvPr id="15" name="TextBox 14"/>
          <p:cNvSpPr txBox="1"/>
          <p:nvPr/>
        </p:nvSpPr>
        <p:spPr>
          <a:xfrm>
            <a:off x="1801368" y="310896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KI-Sparring: Ideen eingeben und 15 Ergänzungen anfordern.</a:t>
            </a:r>
          </a:p>
        </p:txBody>
      </p:sp>
      <p:sp>
        <p:nvSpPr>
          <p:cNvPr id="16" name="Rounded Rectangle 15"/>
          <p:cNvSpPr/>
          <p:nvPr/>
        </p:nvSpPr>
        <p:spPr>
          <a:xfrm>
            <a:off x="841248" y="420624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042416" y="438912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3</a:t>
            </a:r>
          </a:p>
        </p:txBody>
      </p:sp>
      <p:sp>
        <p:nvSpPr>
          <p:cNvPr id="18" name="TextBox 17"/>
          <p:cNvSpPr txBox="1"/>
          <p:nvPr/>
        </p:nvSpPr>
        <p:spPr>
          <a:xfrm>
            <a:off x="1801368" y="420624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Dot-Voting am Tisch: Ihre Top 3 nehmen Sie mit in die Remote-Phase.</a:t>
            </a:r>
          </a:p>
        </p:txBody>
      </p:sp>
      <p:sp>
        <p:nvSpPr>
          <p:cNvPr id="19" name="Rounded Rectangle 18"/>
          <p:cNvSpPr/>
          <p:nvPr/>
        </p:nvSpPr>
        <p:spPr>
          <a:xfrm>
            <a:off x="8065008" y="2011680"/>
            <a:ext cx="3282696" cy="310896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Timer_w.png"/>
          <p:cNvPicPr>
            <a:picLocks noChangeAspect="1"/>
          </p:cNvPicPr>
          <p:nvPr/>
        </p:nvPicPr>
        <p:blipFill>
          <a:blip r:embed="rId3"/>
          <a:stretch>
            <a:fillRect/>
          </a:stretch>
        </p:blipFill>
        <p:spPr>
          <a:xfrm>
            <a:off x="8339328" y="2240280"/>
            <a:ext cx="548640" cy="548640"/>
          </a:xfrm>
          <a:prstGeom prst="rect">
            <a:avLst/>
          </a:prstGeom>
        </p:spPr>
      </p:pic>
      <p:sp>
        <p:nvSpPr>
          <p:cNvPr id="21" name="TextBox 20"/>
          <p:cNvSpPr txBox="1"/>
          <p:nvPr/>
        </p:nvSpPr>
        <p:spPr>
          <a:xfrm>
            <a:off x="9025128" y="2240280"/>
            <a:ext cx="2185415" cy="548640"/>
          </a:xfrm>
          <a:prstGeom prst="rect">
            <a:avLst/>
          </a:prstGeom>
          <a:noFill/>
        </p:spPr>
        <p:txBody>
          <a:bodyPr wrap="square" lIns="0" rIns="0" tIns="0" bIns="0" anchor="ctr"/>
          <a:lstStyle/>
          <a:p>
            <a:pPr algn="l">
              <a:spcAft>
                <a:spcPts val="400"/>
              </a:spcAft>
              <a:buNone/>
            </a:pPr>
            <a:r>
              <a:rPr sz="2400" b="1" i="0">
                <a:solidFill>
                  <a:srgbClr val="FFFFFF"/>
                </a:solidFill>
                <a:latin typeface="Roboto"/>
              </a:rPr>
              <a:t>15 Min.</a:t>
            </a:r>
          </a:p>
        </p:txBody>
      </p:sp>
      <p:sp>
        <p:nvSpPr>
          <p:cNvPr id="22" name="TextBox 21"/>
          <p:cNvSpPr txBox="1"/>
          <p:nvPr/>
        </p:nvSpPr>
        <p:spPr>
          <a:xfrm>
            <a:off x="8339328" y="2971800"/>
            <a:ext cx="2734056" cy="2011680"/>
          </a:xfrm>
          <a:prstGeom prst="rect">
            <a:avLst/>
          </a:prstGeom>
          <a:noFill/>
        </p:spPr>
        <p:txBody>
          <a:bodyPr wrap="square" lIns="0" rIns="0" tIns="0" bIns="0" anchor="t"/>
          <a:lstStyle/>
          <a:p>
            <a:pPr algn="l">
              <a:spcAft>
                <a:spcPts val="600"/>
              </a:spcAft>
              <a:buNone/>
            </a:pPr>
            <a:r>
              <a:rPr sz="1350" b="1" i="0">
                <a:solidFill>
                  <a:srgbClr val="9FD0FF"/>
                </a:solidFill>
                <a:latin typeface="Roboto"/>
              </a:rPr>
              <a:t>Hilfsmittel</a:t>
            </a:r>
          </a:p>
          <a:p>
            <a:pPr algn="l" marL="164592" indent="-164592">
              <a:spcAft>
                <a:spcPts val="400"/>
              </a:spcAft>
              <a:buClr>
                <a:srgbClr val="FB2762"/>
              </a:buClr>
              <a:buFont typeface="Arial"/>
              <a:buChar char="•"/>
            </a:pPr>
            <a:r>
              <a:rPr sz="1350" b="0" i="0">
                <a:solidFill>
                  <a:srgbClr val="FFFFFF"/>
                </a:solidFill>
                <a:latin typeface="Roboto"/>
              </a:rPr>
              <a:t>Systemprompt „Ideen-Sparringspartner“ im Arbeitsheft</a:t>
            </a:r>
          </a:p>
          <a:p>
            <a:pPr algn="l" marL="164592" indent="-164592">
              <a:spcAft>
                <a:spcPts val="400"/>
              </a:spcAft>
              <a:buClr>
                <a:srgbClr val="FB2762"/>
              </a:buClr>
              <a:buFont typeface="Arial"/>
              <a:buChar char="•"/>
            </a:pPr>
            <a:r>
              <a:rPr sz="1350" b="0" i="0">
                <a:solidFill>
                  <a:srgbClr val="FFFFFF"/>
                </a:solidFill>
                <a:latin typeface="Roboto"/>
              </a:rPr>
              <a:t>Ihr KI-Assistent auf dem Laptop</a:t>
            </a:r>
          </a:p>
          <a:p>
            <a:pPr algn="l" marL="164592" indent="-164592">
              <a:spcAft>
                <a:spcPts val="400"/>
              </a:spcAft>
              <a:buClr>
                <a:srgbClr val="FB2762"/>
              </a:buClr>
              <a:buFont typeface="Arial"/>
              <a:buChar char="•"/>
            </a:pPr>
            <a:r>
              <a:rPr sz="1350" b="0" i="0">
                <a:solidFill>
                  <a:srgbClr val="FFFFFF"/>
                </a:solidFill>
                <a:latin typeface="Roboto"/>
              </a:rPr>
              <a:t>Post-its und Stifte</a:t>
            </a:r>
          </a:p>
        </p:txBody>
      </p:sp>
      <p:sp>
        <p:nvSpPr>
          <p:cNvPr id="23" name="Rounded Rectangle 22"/>
          <p:cNvSpPr/>
          <p:nvPr/>
        </p:nvSpPr>
        <p:spPr>
          <a:xfrm>
            <a:off x="841248" y="5349240"/>
            <a:ext cx="10506456" cy="640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15568" y="5349240"/>
            <a:ext cx="9957816" cy="640080"/>
          </a:xfrm>
          <a:prstGeom prst="rect">
            <a:avLst/>
          </a:prstGeom>
          <a:noFill/>
        </p:spPr>
        <p:txBody>
          <a:bodyPr wrap="square" lIns="0" rIns="0" tIns="0" bIns="0" anchor="ctr"/>
          <a:lstStyle/>
          <a:p>
            <a:pPr algn="l">
              <a:spcAft>
                <a:spcPts val="400"/>
              </a:spcAft>
              <a:buNone/>
            </a:pPr>
            <a:r>
              <a:rPr sz="1350" b="1" i="0">
                <a:solidFill>
                  <a:srgbClr val="0E1F53"/>
                </a:solidFill>
                <a:latin typeface="Roboto"/>
              </a:rPr>
              <a:t>Hinweis: </a:t>
            </a:r>
            <a:r>
              <a:rPr sz="1350" b="0" i="0">
                <a:solidFill>
                  <a:srgbClr val="0E1F53"/>
                </a:solidFill>
                <a:latin typeface="Roboto"/>
              </a:rPr>
              <a:t>Ihre Top 3 nehmen Sie mit. Die endgültige Auswahl treffen Sie nach den Interviews.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Ihre Remote-Phase</a:t>
            </a:r>
          </a:p>
        </p:txBody>
      </p:sp>
      <p:sp>
        <p:nvSpPr>
          <p:cNvPr id="3" name="Text Placeholder 2"/>
          <p:cNvSpPr>
            <a:spLocks noGrp="1"/>
          </p:cNvSpPr>
          <p:nvPr>
            <p:ph type="body" idx="11" sz="quarter"/>
          </p:nvPr>
        </p:nvSpPr>
        <p:spPr/>
        <p:txBody>
          <a:bodyPr/>
          <a:lstStyle/>
          <a:p>
            <a:r>
              <a:rPr b="0" sz="2000"/>
              <a:t>Vom 03. bis 20.11.: rausgehen, zuhören, ausprobieren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Bis zum 20.11.: Ihre Aufgaben in der Remote-Phase</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REMOTE-PHASE</a:t>
            </a:r>
          </a:p>
        </p:txBody>
      </p:sp>
      <p:sp>
        <p:nvSpPr>
          <p:cNvPr id="4" name="Rounded Rectangle 3"/>
          <p:cNvSpPr/>
          <p:nvPr/>
        </p:nvSpPr>
        <p:spPr>
          <a:xfrm>
            <a:off x="841248" y="2011680"/>
            <a:ext cx="2420874" cy="3063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42416" y="2194560"/>
            <a:ext cx="594360" cy="59436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Mic_w.png"/>
          <p:cNvPicPr>
            <a:picLocks noChangeAspect="1"/>
          </p:cNvPicPr>
          <p:nvPr/>
        </p:nvPicPr>
        <p:blipFill>
          <a:blip r:embed="rId3"/>
          <a:stretch>
            <a:fillRect/>
          </a:stretch>
        </p:blipFill>
        <p:spPr>
          <a:xfrm>
            <a:off x="1185062" y="2337206"/>
            <a:ext cx="309067" cy="309067"/>
          </a:xfrm>
          <a:prstGeom prst="rect">
            <a:avLst/>
          </a:prstGeom>
        </p:spPr>
      </p:pic>
      <p:sp>
        <p:nvSpPr>
          <p:cNvPr id="7" name="Rounded Rectangle 6"/>
          <p:cNvSpPr/>
          <p:nvPr/>
        </p:nvSpPr>
        <p:spPr>
          <a:xfrm>
            <a:off x="2027681" y="2331720"/>
            <a:ext cx="928947"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50" b="1" i="0">
                <a:solidFill>
                  <a:srgbClr val="0E1F53"/>
                </a:solidFill>
                <a:latin typeface="Roboto"/>
              </a:rPr>
              <a:t>bis 10.11.</a:t>
            </a:r>
          </a:p>
        </p:txBody>
      </p:sp>
      <p:sp>
        <p:nvSpPr>
          <p:cNvPr id="8" name="TextBox 7"/>
          <p:cNvSpPr txBox="1"/>
          <p:nvPr/>
        </p:nvSpPr>
        <p:spPr>
          <a:xfrm>
            <a:off x="1042416" y="2971800"/>
            <a:ext cx="2018538" cy="411480"/>
          </a:xfrm>
          <a:prstGeom prst="rect">
            <a:avLst/>
          </a:prstGeom>
          <a:noFill/>
        </p:spPr>
        <p:txBody>
          <a:bodyPr wrap="square" lIns="0" rIns="0" tIns="0" bIns="0" anchor="t"/>
          <a:lstStyle/>
          <a:p>
            <a:pPr algn="l">
              <a:spcAft>
                <a:spcPts val="400"/>
              </a:spcAft>
              <a:buNone/>
            </a:pPr>
            <a:r>
              <a:rPr sz="1500" b="1" i="0">
                <a:solidFill>
                  <a:srgbClr val="0E1F53"/>
                </a:solidFill>
                <a:latin typeface="Roboto"/>
              </a:rPr>
              <a:t>1. Interviews führen</a:t>
            </a:r>
          </a:p>
        </p:txBody>
      </p:sp>
      <p:sp>
        <p:nvSpPr>
          <p:cNvPr id="9" name="TextBox 8"/>
          <p:cNvSpPr txBox="1"/>
          <p:nvPr/>
        </p:nvSpPr>
        <p:spPr>
          <a:xfrm>
            <a:off x="1042416" y="3429000"/>
            <a:ext cx="2018538" cy="1554480"/>
          </a:xfrm>
          <a:prstGeom prst="rect">
            <a:avLst/>
          </a:prstGeom>
          <a:noFill/>
        </p:spPr>
        <p:txBody>
          <a:bodyPr wrap="square" lIns="0" rIns="0" tIns="0" bIns="0" anchor="t"/>
          <a:lstStyle/>
          <a:p>
            <a:pPr algn="l">
              <a:spcAft>
                <a:spcPts val="400"/>
              </a:spcAft>
              <a:buNone/>
            </a:pPr>
            <a:r>
              <a:rPr sz="1300" b="0" i="0">
                <a:solidFill>
                  <a:srgbClr val="0E1F53"/>
                </a:solidFill>
                <a:latin typeface="Roboto"/>
              </a:rPr>
              <a:t>Mindestens 5 Gespräche mit Ihrer Zielgruppe, mit dem Leitfaden von heute.</a:t>
            </a:r>
          </a:p>
        </p:txBody>
      </p:sp>
      <p:sp>
        <p:nvSpPr>
          <p:cNvPr id="10" name="Right Arrow 9"/>
          <p:cNvSpPr/>
          <p:nvPr/>
        </p:nvSpPr>
        <p:spPr>
          <a:xfrm>
            <a:off x="3307841" y="3383280"/>
            <a:ext cx="182880" cy="219456"/>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3536441" y="2011680"/>
            <a:ext cx="2420874" cy="3063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3737609" y="2194560"/>
            <a:ext cx="594360" cy="59436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uLayers_w.png"/>
          <p:cNvPicPr>
            <a:picLocks noChangeAspect="1"/>
          </p:cNvPicPr>
          <p:nvPr/>
        </p:nvPicPr>
        <p:blipFill>
          <a:blip r:embed="rId4"/>
          <a:stretch>
            <a:fillRect/>
          </a:stretch>
        </p:blipFill>
        <p:spPr>
          <a:xfrm>
            <a:off x="3880256" y="2337206"/>
            <a:ext cx="309067" cy="309067"/>
          </a:xfrm>
          <a:prstGeom prst="rect">
            <a:avLst/>
          </a:prstGeom>
        </p:spPr>
      </p:pic>
      <p:sp>
        <p:nvSpPr>
          <p:cNvPr id="14" name="Rounded Rectangle 13"/>
          <p:cNvSpPr/>
          <p:nvPr/>
        </p:nvSpPr>
        <p:spPr>
          <a:xfrm>
            <a:off x="4722875" y="2331720"/>
            <a:ext cx="928947"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50" b="1" i="0">
                <a:solidFill>
                  <a:srgbClr val="0E1F53"/>
                </a:solidFill>
                <a:latin typeface="Roboto"/>
              </a:rPr>
              <a:t>bis 13.11.</a:t>
            </a:r>
          </a:p>
        </p:txBody>
      </p:sp>
      <p:sp>
        <p:nvSpPr>
          <p:cNvPr id="15" name="TextBox 14"/>
          <p:cNvSpPr txBox="1"/>
          <p:nvPr/>
        </p:nvSpPr>
        <p:spPr>
          <a:xfrm>
            <a:off x="3737609" y="2971800"/>
            <a:ext cx="2018538" cy="411480"/>
          </a:xfrm>
          <a:prstGeom prst="rect">
            <a:avLst/>
          </a:prstGeom>
          <a:noFill/>
        </p:spPr>
        <p:txBody>
          <a:bodyPr wrap="square" lIns="0" rIns="0" tIns="0" bIns="0" anchor="t"/>
          <a:lstStyle/>
          <a:p>
            <a:pPr algn="l">
              <a:spcAft>
                <a:spcPts val="400"/>
              </a:spcAft>
              <a:buNone/>
            </a:pPr>
            <a:r>
              <a:rPr sz="1500" b="1" i="0">
                <a:solidFill>
                  <a:srgbClr val="0E1F53"/>
                </a:solidFill>
                <a:latin typeface="Roboto"/>
              </a:rPr>
              <a:t>2. Auswerten &amp; schärfen</a:t>
            </a:r>
          </a:p>
        </p:txBody>
      </p:sp>
      <p:sp>
        <p:nvSpPr>
          <p:cNvPr id="16" name="TextBox 15"/>
          <p:cNvSpPr txBox="1"/>
          <p:nvPr/>
        </p:nvSpPr>
        <p:spPr>
          <a:xfrm>
            <a:off x="3737609" y="3429000"/>
            <a:ext cx="2018538" cy="1554480"/>
          </a:xfrm>
          <a:prstGeom prst="rect">
            <a:avLst/>
          </a:prstGeom>
          <a:noFill/>
        </p:spPr>
        <p:txBody>
          <a:bodyPr wrap="square" lIns="0" rIns="0" tIns="0" bIns="0" anchor="t"/>
          <a:lstStyle/>
          <a:p>
            <a:pPr algn="l">
              <a:spcAft>
                <a:spcPts val="400"/>
              </a:spcAft>
              <a:buNone/>
            </a:pPr>
            <a:r>
              <a:rPr sz="1300" b="0" i="0">
                <a:solidFill>
                  <a:srgbClr val="0E1F53"/>
                </a:solidFill>
                <a:latin typeface="Roboto"/>
              </a:rPr>
              <a:t>Mit Interview-Coach und Insight-Analyst: Erkenntnisse, Persona, POV.</a:t>
            </a:r>
          </a:p>
        </p:txBody>
      </p:sp>
      <p:sp>
        <p:nvSpPr>
          <p:cNvPr id="17" name="Right Arrow 16"/>
          <p:cNvSpPr/>
          <p:nvPr/>
        </p:nvSpPr>
        <p:spPr>
          <a:xfrm>
            <a:off x="6003036" y="3383280"/>
            <a:ext cx="182880" cy="219456"/>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231636" y="2011680"/>
            <a:ext cx="2420874" cy="3063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32803" y="2194560"/>
            <a:ext cx="594360" cy="59436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Lightbulb_w.png"/>
          <p:cNvPicPr>
            <a:picLocks noChangeAspect="1"/>
          </p:cNvPicPr>
          <p:nvPr/>
        </p:nvPicPr>
        <p:blipFill>
          <a:blip r:embed="rId5"/>
          <a:stretch>
            <a:fillRect/>
          </a:stretch>
        </p:blipFill>
        <p:spPr>
          <a:xfrm>
            <a:off x="6575450" y="2337206"/>
            <a:ext cx="309067" cy="309067"/>
          </a:xfrm>
          <a:prstGeom prst="rect">
            <a:avLst/>
          </a:prstGeom>
        </p:spPr>
      </p:pic>
      <p:sp>
        <p:nvSpPr>
          <p:cNvPr id="21" name="Rounded Rectangle 20"/>
          <p:cNvSpPr/>
          <p:nvPr/>
        </p:nvSpPr>
        <p:spPr>
          <a:xfrm>
            <a:off x="7418069" y="2331720"/>
            <a:ext cx="928947"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50" b="1" i="0">
                <a:solidFill>
                  <a:srgbClr val="0E1F53"/>
                </a:solidFill>
                <a:latin typeface="Roboto"/>
              </a:rPr>
              <a:t>bis 16.11.</a:t>
            </a:r>
          </a:p>
        </p:txBody>
      </p:sp>
      <p:sp>
        <p:nvSpPr>
          <p:cNvPr id="22" name="TextBox 21"/>
          <p:cNvSpPr txBox="1"/>
          <p:nvPr/>
        </p:nvSpPr>
        <p:spPr>
          <a:xfrm>
            <a:off x="6432803" y="2971800"/>
            <a:ext cx="2018538" cy="411480"/>
          </a:xfrm>
          <a:prstGeom prst="rect">
            <a:avLst/>
          </a:prstGeom>
          <a:noFill/>
        </p:spPr>
        <p:txBody>
          <a:bodyPr wrap="square" lIns="0" rIns="0" tIns="0" bIns="0" anchor="t"/>
          <a:lstStyle/>
          <a:p>
            <a:pPr algn="l">
              <a:spcAft>
                <a:spcPts val="400"/>
              </a:spcAft>
              <a:buNone/>
            </a:pPr>
            <a:r>
              <a:rPr sz="1500" b="1" i="0">
                <a:solidFill>
                  <a:srgbClr val="0E1F53"/>
                </a:solidFill>
                <a:latin typeface="Roboto"/>
              </a:rPr>
              <a:t>3. Idee auswählen</a:t>
            </a:r>
          </a:p>
        </p:txBody>
      </p:sp>
      <p:sp>
        <p:nvSpPr>
          <p:cNvPr id="23" name="TextBox 22"/>
          <p:cNvSpPr txBox="1"/>
          <p:nvPr/>
        </p:nvSpPr>
        <p:spPr>
          <a:xfrm>
            <a:off x="6432803" y="3429000"/>
            <a:ext cx="2018538" cy="1554480"/>
          </a:xfrm>
          <a:prstGeom prst="rect">
            <a:avLst/>
          </a:prstGeom>
          <a:noFill/>
        </p:spPr>
        <p:txBody>
          <a:bodyPr wrap="square" lIns="0" rIns="0" tIns="0" bIns="0" anchor="t"/>
          <a:lstStyle/>
          <a:p>
            <a:pPr algn="l">
              <a:spcAft>
                <a:spcPts val="400"/>
              </a:spcAft>
              <a:buNone/>
            </a:pPr>
            <a:r>
              <a:rPr sz="1300" b="0" i="0">
                <a:solidFill>
                  <a:srgbClr val="0E1F53"/>
                </a:solidFill>
                <a:latin typeface="Roboto"/>
              </a:rPr>
              <a:t>Top-3-Ideen am POV prüfen, eine Idee für den Prototyp wählen.</a:t>
            </a:r>
          </a:p>
        </p:txBody>
      </p:sp>
      <p:sp>
        <p:nvSpPr>
          <p:cNvPr id="24" name="Right Arrow 23"/>
          <p:cNvSpPr/>
          <p:nvPr/>
        </p:nvSpPr>
        <p:spPr>
          <a:xfrm>
            <a:off x="8698230" y="3383280"/>
            <a:ext cx="182880" cy="219456"/>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926830" y="2011680"/>
            <a:ext cx="2420874" cy="3063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127998" y="2194560"/>
            <a:ext cx="594360" cy="59436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uPencilRuler_w.png"/>
          <p:cNvPicPr>
            <a:picLocks noChangeAspect="1"/>
          </p:cNvPicPr>
          <p:nvPr/>
        </p:nvPicPr>
        <p:blipFill>
          <a:blip r:embed="rId6"/>
          <a:stretch>
            <a:fillRect/>
          </a:stretch>
        </p:blipFill>
        <p:spPr>
          <a:xfrm>
            <a:off x="9270644" y="2337206"/>
            <a:ext cx="309067" cy="309067"/>
          </a:xfrm>
          <a:prstGeom prst="rect">
            <a:avLst/>
          </a:prstGeom>
        </p:spPr>
      </p:pic>
      <p:sp>
        <p:nvSpPr>
          <p:cNvPr id="28" name="Rounded Rectangle 27"/>
          <p:cNvSpPr/>
          <p:nvPr/>
        </p:nvSpPr>
        <p:spPr>
          <a:xfrm>
            <a:off x="10113264" y="2331720"/>
            <a:ext cx="928947" cy="292608"/>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50" b="1" i="0">
                <a:solidFill>
                  <a:srgbClr val="0E1F53"/>
                </a:solidFill>
                <a:latin typeface="Roboto"/>
              </a:rPr>
              <a:t>bis 20.11.</a:t>
            </a:r>
          </a:p>
        </p:txBody>
      </p:sp>
      <p:sp>
        <p:nvSpPr>
          <p:cNvPr id="29" name="TextBox 28"/>
          <p:cNvSpPr txBox="1"/>
          <p:nvPr/>
        </p:nvSpPr>
        <p:spPr>
          <a:xfrm>
            <a:off x="9127998" y="2971800"/>
            <a:ext cx="2018538" cy="411480"/>
          </a:xfrm>
          <a:prstGeom prst="rect">
            <a:avLst/>
          </a:prstGeom>
          <a:noFill/>
        </p:spPr>
        <p:txBody>
          <a:bodyPr wrap="square" lIns="0" rIns="0" tIns="0" bIns="0" anchor="t"/>
          <a:lstStyle/>
          <a:p>
            <a:pPr algn="l">
              <a:spcAft>
                <a:spcPts val="400"/>
              </a:spcAft>
              <a:buNone/>
            </a:pPr>
            <a:r>
              <a:rPr sz="1500" b="1" i="0">
                <a:solidFill>
                  <a:srgbClr val="0E1F53"/>
                </a:solidFill>
                <a:latin typeface="Roboto"/>
              </a:rPr>
              <a:t>4. Prototyp ausprobieren</a:t>
            </a:r>
          </a:p>
        </p:txBody>
      </p:sp>
      <p:sp>
        <p:nvSpPr>
          <p:cNvPr id="30" name="TextBox 29"/>
          <p:cNvSpPr txBox="1"/>
          <p:nvPr/>
        </p:nvSpPr>
        <p:spPr>
          <a:xfrm>
            <a:off x="9127998" y="3429000"/>
            <a:ext cx="2018538" cy="1554480"/>
          </a:xfrm>
          <a:prstGeom prst="rect">
            <a:avLst/>
          </a:prstGeom>
          <a:noFill/>
        </p:spPr>
        <p:txBody>
          <a:bodyPr wrap="square" lIns="0" rIns="0" tIns="0" bIns="0" anchor="t"/>
          <a:lstStyle/>
          <a:p>
            <a:pPr algn="l">
              <a:spcAft>
                <a:spcPts val="400"/>
              </a:spcAft>
              <a:buNone/>
            </a:pPr>
            <a:r>
              <a:rPr sz="1300" b="0" i="0">
                <a:solidFill>
                  <a:srgbClr val="0E1F53"/>
                </a:solidFill>
                <a:latin typeface="Roboto"/>
              </a:rPr>
              <a:t>Erster schneller Versuch: Papier, Storyboard oder KI-Landingpage.</a:t>
            </a:r>
          </a:p>
        </p:txBody>
      </p:sp>
      <p:sp>
        <p:nvSpPr>
          <p:cNvPr id="31" name="Rounded Rectangle 30"/>
          <p:cNvSpPr/>
          <p:nvPr/>
        </p:nvSpPr>
        <p:spPr>
          <a:xfrm>
            <a:off x="841248" y="5303520"/>
            <a:ext cx="10506456" cy="68580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115568" y="5303520"/>
            <a:ext cx="9957816" cy="685800"/>
          </a:xfrm>
          <a:prstGeom prst="rect">
            <a:avLst/>
          </a:prstGeom>
          <a:noFill/>
        </p:spPr>
        <p:txBody>
          <a:bodyPr wrap="square" lIns="0" rIns="0" tIns="0" bIns="0" anchor="ctr"/>
          <a:lstStyle/>
          <a:p>
            <a:pPr algn="l">
              <a:spcAft>
                <a:spcPts val="400"/>
              </a:spcAft>
              <a:buNone/>
            </a:pPr>
            <a:r>
              <a:rPr sz="1400" b="1" i="0">
                <a:solidFill>
                  <a:srgbClr val="9FD0FF"/>
                </a:solidFill>
                <a:latin typeface="Roboto"/>
              </a:rPr>
              <a:t>Arbeitsheft: </a:t>
            </a:r>
            <a:r>
              <a:rPr sz="1400" b="0" i="0">
                <a:solidFill>
                  <a:srgbClr val="FFFFFF"/>
                </a:solidFill>
                <a:latin typeface="Roboto"/>
              </a:rPr>
              <a:t>Leitfaden, Vorlagen und alle Systemprompts zum Kopieren. Sie erhalten es heute digital.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Wir begleiten Sie: Beratung und Mitbringsel</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REMOTE-PHASE</a:t>
            </a:r>
          </a:p>
        </p:txBody>
      </p:sp>
      <p:sp>
        <p:nvSpPr>
          <p:cNvPr id="4" name="Rounded Rectangle 3"/>
          <p:cNvSpPr/>
          <p:nvPr/>
        </p:nvSpPr>
        <p:spPr>
          <a:xfrm>
            <a:off x="841248" y="2011680"/>
            <a:ext cx="5116068"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15568" y="2148840"/>
            <a:ext cx="4567428" cy="411480"/>
          </a:xfrm>
          <a:prstGeom prst="rect">
            <a:avLst/>
          </a:prstGeom>
          <a:noFill/>
        </p:spPr>
        <p:txBody>
          <a:bodyPr wrap="square" lIns="0" rIns="0" tIns="0" bIns="0" anchor="t"/>
          <a:lstStyle/>
          <a:p>
            <a:pPr algn="l">
              <a:spcAft>
                <a:spcPts val="400"/>
              </a:spcAft>
              <a:buNone/>
            </a:pPr>
            <a:r>
              <a:rPr sz="1700" b="1" i="0">
                <a:solidFill>
                  <a:srgbClr val="0E1F53"/>
                </a:solidFill>
                <a:latin typeface="Roboto"/>
              </a:rPr>
              <a:t>Remote-Beratung</a:t>
            </a:r>
          </a:p>
        </p:txBody>
      </p:sp>
      <p:sp>
        <p:nvSpPr>
          <p:cNvPr id="6" name="Rounded Rectangle 5"/>
          <p:cNvSpPr/>
          <p:nvPr/>
        </p:nvSpPr>
        <p:spPr>
          <a:xfrm>
            <a:off x="1115568" y="2697480"/>
            <a:ext cx="4567428" cy="65836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52728" y="2697480"/>
            <a:ext cx="1280160" cy="658368"/>
          </a:xfrm>
          <a:prstGeom prst="rect">
            <a:avLst/>
          </a:prstGeom>
          <a:noFill/>
        </p:spPr>
        <p:txBody>
          <a:bodyPr wrap="square" lIns="0" rIns="0" tIns="0" bIns="0" anchor="ctr"/>
          <a:lstStyle/>
          <a:p>
            <a:pPr algn="l">
              <a:spcAft>
                <a:spcPts val="0"/>
              </a:spcAft>
              <a:buNone/>
            </a:pPr>
            <a:r>
              <a:rPr sz="1350" b="1" i="0">
                <a:solidFill>
                  <a:srgbClr val="0E1F53"/>
                </a:solidFill>
                <a:latin typeface="Roboto"/>
              </a:rPr>
              <a:t>Di, 10.11.</a:t>
            </a:r>
          </a:p>
          <a:p>
            <a:pPr algn="l">
              <a:spcAft>
                <a:spcPts val="0"/>
              </a:spcAft>
              <a:buNone/>
            </a:pPr>
            <a:r>
              <a:rPr sz="1150" b="0" i="0">
                <a:solidFill>
                  <a:srgbClr val="5A6684"/>
                </a:solidFill>
                <a:latin typeface="Roboto"/>
              </a:rPr>
              <a:t>17:00–19:00</a:t>
            </a:r>
          </a:p>
        </p:txBody>
      </p:sp>
      <p:sp>
        <p:nvSpPr>
          <p:cNvPr id="8" name="TextBox 7"/>
          <p:cNvSpPr txBox="1"/>
          <p:nvPr/>
        </p:nvSpPr>
        <p:spPr>
          <a:xfrm>
            <a:off x="2624328" y="2697480"/>
            <a:ext cx="2921508" cy="658368"/>
          </a:xfrm>
          <a:prstGeom prst="rect">
            <a:avLst/>
          </a:prstGeom>
          <a:noFill/>
        </p:spPr>
        <p:txBody>
          <a:bodyPr wrap="square" lIns="0" rIns="0" tIns="0" bIns="0" anchor="ctr"/>
          <a:lstStyle/>
          <a:p>
            <a:pPr algn="l">
              <a:spcAft>
                <a:spcPts val="400"/>
              </a:spcAft>
              <a:buNone/>
            </a:pPr>
            <a:r>
              <a:rPr sz="1300" b="0" i="0">
                <a:solidFill>
                  <a:srgbClr val="0E1F53"/>
                </a:solidFill>
                <a:latin typeface="Roboto"/>
              </a:rPr>
              <a:t>Teil 2: Austausch zu Interviews und Methoden</a:t>
            </a:r>
          </a:p>
        </p:txBody>
      </p:sp>
      <p:sp>
        <p:nvSpPr>
          <p:cNvPr id="9" name="Rounded Rectangle 8"/>
          <p:cNvSpPr/>
          <p:nvPr/>
        </p:nvSpPr>
        <p:spPr>
          <a:xfrm>
            <a:off x="1115568" y="3474720"/>
            <a:ext cx="4567428" cy="65836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52728" y="3474720"/>
            <a:ext cx="1280160" cy="658368"/>
          </a:xfrm>
          <a:prstGeom prst="rect">
            <a:avLst/>
          </a:prstGeom>
          <a:noFill/>
        </p:spPr>
        <p:txBody>
          <a:bodyPr wrap="square" lIns="0" rIns="0" tIns="0" bIns="0" anchor="ctr"/>
          <a:lstStyle/>
          <a:p>
            <a:pPr algn="l">
              <a:spcAft>
                <a:spcPts val="0"/>
              </a:spcAft>
              <a:buNone/>
            </a:pPr>
            <a:r>
              <a:rPr sz="1350" b="1" i="0">
                <a:solidFill>
                  <a:srgbClr val="0E1F53"/>
                </a:solidFill>
                <a:latin typeface="Roboto"/>
              </a:rPr>
              <a:t>Fr, 13.11.</a:t>
            </a:r>
          </a:p>
          <a:p>
            <a:pPr algn="l">
              <a:spcAft>
                <a:spcPts val="0"/>
              </a:spcAft>
              <a:buNone/>
            </a:pPr>
            <a:r>
              <a:rPr sz="1150" b="0" i="0">
                <a:solidFill>
                  <a:srgbClr val="5A6684"/>
                </a:solidFill>
                <a:latin typeface="Roboto"/>
              </a:rPr>
              <a:t>17:00–19:00</a:t>
            </a:r>
          </a:p>
        </p:txBody>
      </p:sp>
      <p:sp>
        <p:nvSpPr>
          <p:cNvPr id="11" name="TextBox 10"/>
          <p:cNvSpPr txBox="1"/>
          <p:nvPr/>
        </p:nvSpPr>
        <p:spPr>
          <a:xfrm>
            <a:off x="2624328" y="3474720"/>
            <a:ext cx="2921508" cy="658368"/>
          </a:xfrm>
          <a:prstGeom prst="rect">
            <a:avLst/>
          </a:prstGeom>
          <a:noFill/>
        </p:spPr>
        <p:txBody>
          <a:bodyPr wrap="square" lIns="0" rIns="0" tIns="0" bIns="0" anchor="ctr"/>
          <a:lstStyle/>
          <a:p>
            <a:pPr algn="l">
              <a:spcAft>
                <a:spcPts val="400"/>
              </a:spcAft>
              <a:buNone/>
            </a:pPr>
            <a:r>
              <a:rPr sz="1300" b="0" i="0">
                <a:solidFill>
                  <a:srgbClr val="0E1F53"/>
                </a:solidFill>
                <a:latin typeface="Roboto"/>
              </a:rPr>
              <a:t>optional, nach Bedarf</a:t>
            </a:r>
          </a:p>
        </p:txBody>
      </p:sp>
      <p:sp>
        <p:nvSpPr>
          <p:cNvPr id="12" name="Rounded Rectangle 11"/>
          <p:cNvSpPr/>
          <p:nvPr/>
        </p:nvSpPr>
        <p:spPr>
          <a:xfrm>
            <a:off x="1115568" y="4251960"/>
            <a:ext cx="4567428" cy="65836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52728" y="4251960"/>
            <a:ext cx="1280160" cy="658368"/>
          </a:xfrm>
          <a:prstGeom prst="rect">
            <a:avLst/>
          </a:prstGeom>
          <a:noFill/>
        </p:spPr>
        <p:txBody>
          <a:bodyPr wrap="square" lIns="0" rIns="0" tIns="0" bIns="0" anchor="ctr"/>
          <a:lstStyle/>
          <a:p>
            <a:pPr algn="l">
              <a:spcAft>
                <a:spcPts val="0"/>
              </a:spcAft>
              <a:buNone/>
            </a:pPr>
            <a:r>
              <a:rPr sz="1350" b="1" i="0">
                <a:solidFill>
                  <a:srgbClr val="0E1F53"/>
                </a:solidFill>
                <a:latin typeface="Roboto"/>
              </a:rPr>
              <a:t>Mo, 16.11.</a:t>
            </a:r>
          </a:p>
          <a:p>
            <a:pPr algn="l">
              <a:spcAft>
                <a:spcPts val="0"/>
              </a:spcAft>
              <a:buNone/>
            </a:pPr>
            <a:r>
              <a:rPr sz="1150" b="0" i="0">
                <a:solidFill>
                  <a:srgbClr val="5A6684"/>
                </a:solidFill>
                <a:latin typeface="Roboto"/>
              </a:rPr>
              <a:t>17:00–19:00</a:t>
            </a:r>
          </a:p>
        </p:txBody>
      </p:sp>
      <p:sp>
        <p:nvSpPr>
          <p:cNvPr id="14" name="TextBox 13"/>
          <p:cNvSpPr txBox="1"/>
          <p:nvPr/>
        </p:nvSpPr>
        <p:spPr>
          <a:xfrm>
            <a:off x="2624328" y="4251960"/>
            <a:ext cx="2921508" cy="658368"/>
          </a:xfrm>
          <a:prstGeom prst="rect">
            <a:avLst/>
          </a:prstGeom>
          <a:noFill/>
        </p:spPr>
        <p:txBody>
          <a:bodyPr wrap="square" lIns="0" rIns="0" tIns="0" bIns="0" anchor="ctr"/>
          <a:lstStyle/>
          <a:p>
            <a:pPr algn="l">
              <a:spcAft>
                <a:spcPts val="400"/>
              </a:spcAft>
              <a:buNone/>
            </a:pPr>
            <a:r>
              <a:rPr sz="1300" b="0" i="0">
                <a:solidFill>
                  <a:srgbClr val="0E1F53"/>
                </a:solidFill>
                <a:latin typeface="Roboto"/>
              </a:rPr>
              <a:t>optional, nach Bedarf</a:t>
            </a:r>
          </a:p>
        </p:txBody>
      </p:sp>
      <p:sp>
        <p:nvSpPr>
          <p:cNvPr id="15" name="TextBox 14"/>
          <p:cNvSpPr txBox="1"/>
          <p:nvPr/>
        </p:nvSpPr>
        <p:spPr>
          <a:xfrm>
            <a:off x="1115568" y="5120640"/>
            <a:ext cx="4567428" cy="731520"/>
          </a:xfrm>
          <a:prstGeom prst="rect">
            <a:avLst/>
          </a:prstGeom>
          <a:noFill/>
        </p:spPr>
        <p:txBody>
          <a:bodyPr wrap="square" lIns="0" rIns="0" tIns="0" bIns="0" anchor="t"/>
          <a:lstStyle/>
          <a:p>
            <a:pPr algn="l">
              <a:spcAft>
                <a:spcPts val="400"/>
              </a:spcAft>
              <a:buNone/>
            </a:pPr>
            <a:r>
              <a:rPr sz="1250" b="0" i="1">
                <a:solidFill>
                  <a:srgbClr val="5A6684"/>
                </a:solidFill>
                <a:latin typeface="Roboto"/>
              </a:rPr>
              <a:t>Bringen Sie mit: Ihre Interviewnotizen und eine konkrete Frage, bei der Sie nicht weiterkommen.</a:t>
            </a:r>
          </a:p>
        </p:txBody>
      </p:sp>
      <p:sp>
        <p:nvSpPr>
          <p:cNvPr id="16" name="Rounded Rectangle 15"/>
          <p:cNvSpPr/>
          <p:nvPr/>
        </p:nvSpPr>
        <p:spPr>
          <a:xfrm>
            <a:off x="6231636" y="2011680"/>
            <a:ext cx="5116068" cy="3977639"/>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05955" y="2148840"/>
            <a:ext cx="4567428" cy="411480"/>
          </a:xfrm>
          <a:prstGeom prst="rect">
            <a:avLst/>
          </a:prstGeom>
          <a:noFill/>
        </p:spPr>
        <p:txBody>
          <a:bodyPr wrap="square" lIns="0" rIns="0" tIns="0" bIns="0" anchor="t"/>
          <a:lstStyle/>
          <a:p>
            <a:pPr algn="l">
              <a:spcAft>
                <a:spcPts val="400"/>
              </a:spcAft>
              <a:buNone/>
            </a:pPr>
            <a:r>
              <a:rPr sz="1700" b="1" i="0">
                <a:solidFill>
                  <a:srgbClr val="9FD0FF"/>
                </a:solidFill>
                <a:latin typeface="Roboto"/>
              </a:rPr>
              <a:t>Am 20.11. bringen Sie mit</a:t>
            </a:r>
          </a:p>
        </p:txBody>
      </p:sp>
      <p:sp>
        <p:nvSpPr>
          <p:cNvPr id="18" name="TextBox 17"/>
          <p:cNvSpPr txBox="1"/>
          <p:nvPr/>
        </p:nvSpPr>
        <p:spPr>
          <a:xfrm>
            <a:off x="6505955" y="2697480"/>
            <a:ext cx="4567428" cy="3200400"/>
          </a:xfrm>
          <a:prstGeom prst="rect">
            <a:avLst/>
          </a:prstGeom>
          <a:noFill/>
        </p:spPr>
        <p:txBody>
          <a:bodyPr wrap="square" lIns="0" rIns="0" tIns="0" bIns="0" anchor="t"/>
          <a:lstStyle/>
          <a:p>
            <a:pPr algn="l" marL="274320" indent="-274320">
              <a:spcAft>
                <a:spcPts val="800"/>
              </a:spcAft>
              <a:buClr>
                <a:srgbClr val="FB2762"/>
              </a:buClr>
              <a:buFont typeface="Arial"/>
              <a:buChar char="✓"/>
            </a:pPr>
            <a:r>
              <a:rPr sz="1400" b="0" i="0">
                <a:solidFill>
                  <a:srgbClr val="FFFFFF"/>
                </a:solidFill>
                <a:latin typeface="Roboto"/>
              </a:rPr>
              <a:t>Ihre Challenge (ggf. geschärft)</a:t>
            </a:r>
          </a:p>
          <a:p>
            <a:pPr algn="l" marL="274320" indent="-274320">
              <a:spcAft>
                <a:spcPts val="800"/>
              </a:spcAft>
              <a:buClr>
                <a:srgbClr val="FB2762"/>
              </a:buClr>
              <a:buFont typeface="Arial"/>
              <a:buChar char="✓"/>
            </a:pPr>
            <a:r>
              <a:rPr sz="1400" b="0" i="0">
                <a:solidFill>
                  <a:srgbClr val="FFFFFF"/>
                </a:solidFill>
                <a:latin typeface="Roboto"/>
              </a:rPr>
              <a:t>Die 3 wichtigsten Erkenntnisse aus den Interviews</a:t>
            </a:r>
          </a:p>
          <a:p>
            <a:pPr algn="l" marL="274320" indent="-274320">
              <a:spcAft>
                <a:spcPts val="800"/>
              </a:spcAft>
              <a:buClr>
                <a:srgbClr val="FB2762"/>
              </a:buClr>
              <a:buFont typeface="Arial"/>
              <a:buChar char="✓"/>
            </a:pPr>
            <a:r>
              <a:rPr sz="1400" b="0" i="0">
                <a:solidFill>
                  <a:srgbClr val="FFFFFF"/>
                </a:solidFill>
                <a:latin typeface="Roboto"/>
              </a:rPr>
              <a:t>Persona und Point of View</a:t>
            </a:r>
          </a:p>
          <a:p>
            <a:pPr algn="l" marL="274320" indent="-274320">
              <a:spcAft>
                <a:spcPts val="800"/>
              </a:spcAft>
              <a:buClr>
                <a:srgbClr val="FB2762"/>
              </a:buClr>
              <a:buFont typeface="Arial"/>
              <a:buChar char="✓"/>
            </a:pPr>
            <a:r>
              <a:rPr sz="1400" b="0" i="0">
                <a:solidFill>
                  <a:srgbClr val="FFFFFF"/>
                </a:solidFill>
                <a:latin typeface="Roboto"/>
              </a:rPr>
              <a:t>Ihre Top-Idee</a:t>
            </a:r>
          </a:p>
          <a:p>
            <a:pPr algn="l" marL="274320" indent="-274320">
              <a:spcAft>
                <a:spcPts val="800"/>
              </a:spcAft>
              <a:buClr>
                <a:srgbClr val="FB2762"/>
              </a:buClr>
              <a:buFont typeface="Arial"/>
              <a:buChar char="✓"/>
            </a:pPr>
            <a:r>
              <a:rPr sz="1400" b="0" i="0">
                <a:solidFill>
                  <a:srgbClr val="FFFFFF"/>
                </a:solidFill>
                <a:latin typeface="Roboto"/>
              </a:rPr>
              <a:t>Ihren ersten Prototyp-Versuch, egal wie roh</a:t>
            </a:r>
          </a:p>
          <a:p>
            <a:pPr algn="l" marL="274320" indent="-274320">
              <a:spcAft>
                <a:spcPts val="800"/>
              </a:spcAft>
              <a:buClr>
                <a:srgbClr val="FB2762"/>
              </a:buClr>
              <a:buFont typeface="Arial"/>
              <a:buChar char="✓"/>
            </a:pPr>
            <a:r>
              <a:rPr sz="1400" b="0" i="0">
                <a:solidFill>
                  <a:srgbClr val="FFFFFF"/>
                </a:solidFill>
                <a:latin typeface="Roboto"/>
              </a:rPr>
              <a:t>Laptop mit Ihrem KI-Assistenten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Unser Prozess: Design Thinking in fünf Phasen</a:t>
            </a:r>
          </a:p>
        </p:txBody>
      </p:sp>
      <p:sp>
        <p:nvSpPr>
          <p:cNvPr id="3" name="Rounded Rectangle 2"/>
          <p:cNvSpPr/>
          <p:nvPr/>
        </p:nvSpPr>
        <p:spPr>
          <a:xfrm>
            <a:off x="841248" y="850392"/>
            <a:ext cx="1031443"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SCHAUBILD</a:t>
            </a:r>
          </a:p>
        </p:txBody>
      </p:sp>
      <p:sp>
        <p:nvSpPr>
          <p:cNvPr id="4" name="Rounded Rectangle 3"/>
          <p:cNvSpPr/>
          <p:nvPr/>
        </p:nvSpPr>
        <p:spPr>
          <a:xfrm>
            <a:off x="841248" y="1938528"/>
            <a:ext cx="4092854" cy="329184"/>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41248" y="1938528"/>
            <a:ext cx="4092854" cy="329184"/>
          </a:xfrm>
          <a:prstGeom prst="rect">
            <a:avLst/>
          </a:prstGeom>
          <a:noFill/>
        </p:spPr>
        <p:txBody>
          <a:bodyPr wrap="square" lIns="0" rIns="0" tIns="0" bIns="0" anchor="ctr"/>
          <a:lstStyle/>
          <a:p>
            <a:pPr algn="ctr">
              <a:spcAft>
                <a:spcPts val="400"/>
              </a:spcAft>
              <a:buNone/>
            </a:pPr>
            <a:r>
              <a:rPr sz="1100" b="1" i="0">
                <a:solidFill>
                  <a:srgbClr val="FFFFFF"/>
                </a:solidFill>
                <a:latin typeface="Roboto"/>
              </a:rPr>
              <a:t>PROBLEMRAUM</a:t>
            </a:r>
          </a:p>
        </p:txBody>
      </p:sp>
      <p:sp>
        <p:nvSpPr>
          <p:cNvPr id="6" name="Rounded Rectangle 5"/>
          <p:cNvSpPr/>
          <p:nvPr/>
        </p:nvSpPr>
        <p:spPr>
          <a:xfrm>
            <a:off x="5116982" y="1938528"/>
            <a:ext cx="6230721" cy="329184"/>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16982" y="1938528"/>
            <a:ext cx="6230721" cy="329184"/>
          </a:xfrm>
          <a:prstGeom prst="rect">
            <a:avLst/>
          </a:prstGeom>
          <a:noFill/>
        </p:spPr>
        <p:txBody>
          <a:bodyPr wrap="square" lIns="0" rIns="0" tIns="0" bIns="0" anchor="ctr"/>
          <a:lstStyle/>
          <a:p>
            <a:pPr algn="ctr">
              <a:spcAft>
                <a:spcPts val="400"/>
              </a:spcAft>
              <a:buNone/>
            </a:pPr>
            <a:r>
              <a:rPr sz="1100" b="1" i="0">
                <a:solidFill>
                  <a:srgbClr val="FFFFFF"/>
                </a:solidFill>
                <a:latin typeface="Roboto"/>
              </a:rPr>
              <a:t>LÖSUNGSRAUM</a:t>
            </a:r>
          </a:p>
        </p:txBody>
      </p:sp>
      <p:sp>
        <p:nvSpPr>
          <p:cNvPr id="8" name="Rounded Rectangle 7"/>
          <p:cNvSpPr/>
          <p:nvPr/>
        </p:nvSpPr>
        <p:spPr>
          <a:xfrm>
            <a:off x="841248" y="2395728"/>
            <a:ext cx="1954987"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542032"/>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uEye_w.png"/>
          <p:cNvPicPr>
            <a:picLocks noChangeAspect="1"/>
          </p:cNvPicPr>
          <p:nvPr/>
        </p:nvPicPr>
        <p:blipFill>
          <a:blip r:embed="rId3"/>
          <a:stretch>
            <a:fillRect/>
          </a:stretch>
        </p:blipFill>
        <p:spPr>
          <a:xfrm>
            <a:off x="1160190" y="2678094"/>
            <a:ext cx="294802" cy="294802"/>
          </a:xfrm>
          <a:prstGeom prst="rect">
            <a:avLst/>
          </a:prstGeom>
        </p:spPr>
      </p:pic>
      <p:sp>
        <p:nvSpPr>
          <p:cNvPr id="11" name="TextBox 10"/>
          <p:cNvSpPr txBox="1"/>
          <p:nvPr/>
        </p:nvSpPr>
        <p:spPr>
          <a:xfrm>
            <a:off x="1709928" y="2542032"/>
            <a:ext cx="994867" cy="566928"/>
          </a:xfrm>
          <a:prstGeom prst="rect">
            <a:avLst/>
          </a:prstGeom>
          <a:noFill/>
        </p:spPr>
        <p:txBody>
          <a:bodyPr wrap="square" lIns="0" rIns="0" tIns="0" bIns="0" anchor="ctr"/>
          <a:lstStyle/>
          <a:p>
            <a:pPr algn="l">
              <a:spcAft>
                <a:spcPts val="400"/>
              </a:spcAft>
              <a:buNone/>
            </a:pPr>
            <a:r>
              <a:rPr sz="2200" b="1" i="0">
                <a:solidFill>
                  <a:srgbClr val="0E1F53"/>
                </a:solidFill>
                <a:latin typeface="Roboto"/>
              </a:rPr>
              <a:t>1</a:t>
            </a:r>
          </a:p>
        </p:txBody>
      </p:sp>
      <p:sp>
        <p:nvSpPr>
          <p:cNvPr id="12" name="TextBox 11"/>
          <p:cNvSpPr txBox="1"/>
          <p:nvPr/>
        </p:nvSpPr>
        <p:spPr>
          <a:xfrm>
            <a:off x="1024128" y="3200400"/>
            <a:ext cx="1589227" cy="868680"/>
          </a:xfrm>
          <a:prstGeom prst="rect">
            <a:avLst/>
          </a:prstGeom>
          <a:noFill/>
        </p:spPr>
        <p:txBody>
          <a:bodyPr wrap="square" lIns="0" rIns="0" tIns="0" bIns="0" anchor="t"/>
          <a:lstStyle/>
          <a:p>
            <a:pPr algn="l">
              <a:spcAft>
                <a:spcPts val="200"/>
              </a:spcAft>
              <a:buNone/>
            </a:pPr>
            <a:r>
              <a:rPr sz="1550" b="1" i="0">
                <a:solidFill>
                  <a:srgbClr val="0E1F53"/>
                </a:solidFill>
                <a:latin typeface="Roboto"/>
              </a:rPr>
              <a:t>Empathie</a:t>
            </a:r>
          </a:p>
          <a:p>
            <a:pPr algn="l">
              <a:spcAft>
                <a:spcPts val="0"/>
              </a:spcAft>
              <a:buNone/>
            </a:pPr>
            <a:r>
              <a:rPr sz="1150" b="0" i="0">
                <a:solidFill>
                  <a:srgbClr val="5A6684"/>
                </a:solidFill>
                <a:latin typeface="Roboto"/>
              </a:rPr>
              <a:t>Verstehen · Beobachten</a:t>
            </a:r>
          </a:p>
        </p:txBody>
      </p:sp>
      <p:sp>
        <p:nvSpPr>
          <p:cNvPr id="13" name="Right Arrow 12"/>
          <p:cNvSpPr/>
          <p:nvPr/>
        </p:nvSpPr>
        <p:spPr>
          <a:xfrm>
            <a:off x="2787091" y="2743200"/>
            <a:ext cx="201168" cy="201168"/>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2979115" y="2395728"/>
            <a:ext cx="1954987"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161995" y="2542032"/>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Target_w.png"/>
          <p:cNvPicPr>
            <a:picLocks noChangeAspect="1"/>
          </p:cNvPicPr>
          <p:nvPr/>
        </p:nvPicPr>
        <p:blipFill>
          <a:blip r:embed="rId4"/>
          <a:stretch>
            <a:fillRect/>
          </a:stretch>
        </p:blipFill>
        <p:spPr>
          <a:xfrm>
            <a:off x="3298057" y="2678094"/>
            <a:ext cx="294802" cy="294802"/>
          </a:xfrm>
          <a:prstGeom prst="rect">
            <a:avLst/>
          </a:prstGeom>
        </p:spPr>
      </p:pic>
      <p:sp>
        <p:nvSpPr>
          <p:cNvPr id="17" name="TextBox 16"/>
          <p:cNvSpPr txBox="1"/>
          <p:nvPr/>
        </p:nvSpPr>
        <p:spPr>
          <a:xfrm>
            <a:off x="3847795" y="2542032"/>
            <a:ext cx="994867" cy="566928"/>
          </a:xfrm>
          <a:prstGeom prst="rect">
            <a:avLst/>
          </a:prstGeom>
          <a:noFill/>
        </p:spPr>
        <p:txBody>
          <a:bodyPr wrap="square" lIns="0" rIns="0" tIns="0" bIns="0" anchor="ctr"/>
          <a:lstStyle/>
          <a:p>
            <a:pPr algn="l">
              <a:spcAft>
                <a:spcPts val="400"/>
              </a:spcAft>
              <a:buNone/>
            </a:pPr>
            <a:r>
              <a:rPr sz="2200" b="1" i="0">
                <a:solidFill>
                  <a:srgbClr val="0E1F53"/>
                </a:solidFill>
                <a:latin typeface="Roboto"/>
              </a:rPr>
              <a:t>2</a:t>
            </a:r>
          </a:p>
        </p:txBody>
      </p:sp>
      <p:sp>
        <p:nvSpPr>
          <p:cNvPr id="18" name="TextBox 17"/>
          <p:cNvSpPr txBox="1"/>
          <p:nvPr/>
        </p:nvSpPr>
        <p:spPr>
          <a:xfrm>
            <a:off x="3161995" y="3200400"/>
            <a:ext cx="1589227" cy="868680"/>
          </a:xfrm>
          <a:prstGeom prst="rect">
            <a:avLst/>
          </a:prstGeom>
          <a:noFill/>
        </p:spPr>
        <p:txBody>
          <a:bodyPr wrap="square" lIns="0" rIns="0" tIns="0" bIns="0" anchor="t"/>
          <a:lstStyle/>
          <a:p>
            <a:pPr algn="l">
              <a:spcAft>
                <a:spcPts val="200"/>
              </a:spcAft>
              <a:buNone/>
            </a:pPr>
            <a:r>
              <a:rPr sz="1550" b="1" i="0">
                <a:solidFill>
                  <a:srgbClr val="0E1F53"/>
                </a:solidFill>
                <a:latin typeface="Roboto"/>
              </a:rPr>
              <a:t>Definieren</a:t>
            </a:r>
          </a:p>
          <a:p>
            <a:pPr algn="l">
              <a:spcAft>
                <a:spcPts val="0"/>
              </a:spcAft>
              <a:buNone/>
            </a:pPr>
            <a:r>
              <a:rPr sz="1150" b="0" i="0">
                <a:solidFill>
                  <a:srgbClr val="5A6684"/>
                </a:solidFill>
                <a:latin typeface="Roboto"/>
              </a:rPr>
              <a:t>Erkenntnisse zu einer Sichtweise verdichten</a:t>
            </a:r>
          </a:p>
        </p:txBody>
      </p:sp>
      <p:sp>
        <p:nvSpPr>
          <p:cNvPr id="19" name="Right Arrow 18"/>
          <p:cNvSpPr/>
          <p:nvPr/>
        </p:nvSpPr>
        <p:spPr>
          <a:xfrm>
            <a:off x="4924958" y="2743200"/>
            <a:ext cx="201168" cy="201168"/>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5116982" y="2395728"/>
            <a:ext cx="1954987"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5299862" y="2542032"/>
            <a:ext cx="566928" cy="56692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uLightbulb_w.png"/>
          <p:cNvPicPr>
            <a:picLocks noChangeAspect="1"/>
          </p:cNvPicPr>
          <p:nvPr/>
        </p:nvPicPr>
        <p:blipFill>
          <a:blip r:embed="rId5"/>
          <a:stretch>
            <a:fillRect/>
          </a:stretch>
        </p:blipFill>
        <p:spPr>
          <a:xfrm>
            <a:off x="5435925" y="2678094"/>
            <a:ext cx="294802" cy="294802"/>
          </a:xfrm>
          <a:prstGeom prst="rect">
            <a:avLst/>
          </a:prstGeom>
        </p:spPr>
      </p:pic>
      <p:sp>
        <p:nvSpPr>
          <p:cNvPr id="23" name="TextBox 22"/>
          <p:cNvSpPr txBox="1"/>
          <p:nvPr/>
        </p:nvSpPr>
        <p:spPr>
          <a:xfrm>
            <a:off x="5985662" y="2542032"/>
            <a:ext cx="994867" cy="566928"/>
          </a:xfrm>
          <a:prstGeom prst="rect">
            <a:avLst/>
          </a:prstGeom>
          <a:noFill/>
        </p:spPr>
        <p:txBody>
          <a:bodyPr wrap="square" lIns="0" rIns="0" tIns="0" bIns="0" anchor="ctr"/>
          <a:lstStyle/>
          <a:p>
            <a:pPr algn="l">
              <a:spcAft>
                <a:spcPts val="400"/>
              </a:spcAft>
              <a:buNone/>
            </a:pPr>
            <a:r>
              <a:rPr sz="2200" b="1" i="0">
                <a:solidFill>
                  <a:srgbClr val="FB2762"/>
                </a:solidFill>
                <a:latin typeface="Roboto"/>
              </a:rPr>
              <a:t>3</a:t>
            </a:r>
          </a:p>
        </p:txBody>
      </p:sp>
      <p:sp>
        <p:nvSpPr>
          <p:cNvPr id="24" name="TextBox 23"/>
          <p:cNvSpPr txBox="1"/>
          <p:nvPr/>
        </p:nvSpPr>
        <p:spPr>
          <a:xfrm>
            <a:off x="5299862" y="3200400"/>
            <a:ext cx="1589227" cy="868680"/>
          </a:xfrm>
          <a:prstGeom prst="rect">
            <a:avLst/>
          </a:prstGeom>
          <a:noFill/>
        </p:spPr>
        <p:txBody>
          <a:bodyPr wrap="square" lIns="0" rIns="0" tIns="0" bIns="0" anchor="t"/>
          <a:lstStyle/>
          <a:p>
            <a:pPr algn="l">
              <a:spcAft>
                <a:spcPts val="200"/>
              </a:spcAft>
              <a:buNone/>
            </a:pPr>
            <a:r>
              <a:rPr sz="1550" b="1" i="0">
                <a:solidFill>
                  <a:srgbClr val="0E1F53"/>
                </a:solidFill>
                <a:latin typeface="Roboto"/>
              </a:rPr>
              <a:t>Ideen finden</a:t>
            </a:r>
          </a:p>
          <a:p>
            <a:pPr algn="l">
              <a:spcAft>
                <a:spcPts val="0"/>
              </a:spcAft>
              <a:buNone/>
            </a:pPr>
            <a:r>
              <a:rPr sz="1150" b="0" i="0">
                <a:solidFill>
                  <a:srgbClr val="5A6684"/>
                </a:solidFill>
                <a:latin typeface="Roboto"/>
              </a:rPr>
              <a:t>Viele Lösungsideen entwickeln</a:t>
            </a:r>
          </a:p>
        </p:txBody>
      </p:sp>
      <p:sp>
        <p:nvSpPr>
          <p:cNvPr id="25" name="Right Arrow 24"/>
          <p:cNvSpPr/>
          <p:nvPr/>
        </p:nvSpPr>
        <p:spPr>
          <a:xfrm>
            <a:off x="7062825" y="2743200"/>
            <a:ext cx="201168" cy="201168"/>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7254849" y="2395728"/>
            <a:ext cx="1954987"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37729" y="2542032"/>
            <a:ext cx="566928" cy="56692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uPencilRuler_w.png"/>
          <p:cNvPicPr>
            <a:picLocks noChangeAspect="1"/>
          </p:cNvPicPr>
          <p:nvPr/>
        </p:nvPicPr>
        <p:blipFill>
          <a:blip r:embed="rId6"/>
          <a:stretch>
            <a:fillRect/>
          </a:stretch>
        </p:blipFill>
        <p:spPr>
          <a:xfrm>
            <a:off x="7573792" y="2678094"/>
            <a:ext cx="294802" cy="294802"/>
          </a:xfrm>
          <a:prstGeom prst="rect">
            <a:avLst/>
          </a:prstGeom>
        </p:spPr>
      </p:pic>
      <p:sp>
        <p:nvSpPr>
          <p:cNvPr id="29" name="TextBox 28"/>
          <p:cNvSpPr txBox="1"/>
          <p:nvPr/>
        </p:nvSpPr>
        <p:spPr>
          <a:xfrm>
            <a:off x="8123529" y="2542032"/>
            <a:ext cx="994867" cy="566928"/>
          </a:xfrm>
          <a:prstGeom prst="rect">
            <a:avLst/>
          </a:prstGeom>
          <a:noFill/>
        </p:spPr>
        <p:txBody>
          <a:bodyPr wrap="square" lIns="0" rIns="0" tIns="0" bIns="0" anchor="ctr"/>
          <a:lstStyle/>
          <a:p>
            <a:pPr algn="l">
              <a:spcAft>
                <a:spcPts val="400"/>
              </a:spcAft>
              <a:buNone/>
            </a:pPr>
            <a:r>
              <a:rPr sz="2200" b="1" i="0">
                <a:solidFill>
                  <a:srgbClr val="FB2762"/>
                </a:solidFill>
                <a:latin typeface="Roboto"/>
              </a:rPr>
              <a:t>4</a:t>
            </a:r>
          </a:p>
        </p:txBody>
      </p:sp>
      <p:sp>
        <p:nvSpPr>
          <p:cNvPr id="30" name="TextBox 29"/>
          <p:cNvSpPr txBox="1"/>
          <p:nvPr/>
        </p:nvSpPr>
        <p:spPr>
          <a:xfrm>
            <a:off x="7437729" y="3200400"/>
            <a:ext cx="1589227" cy="868680"/>
          </a:xfrm>
          <a:prstGeom prst="rect">
            <a:avLst/>
          </a:prstGeom>
          <a:noFill/>
        </p:spPr>
        <p:txBody>
          <a:bodyPr wrap="square" lIns="0" rIns="0" tIns="0" bIns="0" anchor="t"/>
          <a:lstStyle/>
          <a:p>
            <a:pPr algn="l">
              <a:spcAft>
                <a:spcPts val="200"/>
              </a:spcAft>
              <a:buNone/>
            </a:pPr>
            <a:r>
              <a:rPr sz="1550" b="1" i="0">
                <a:solidFill>
                  <a:srgbClr val="0E1F53"/>
                </a:solidFill>
                <a:latin typeface="Roboto"/>
              </a:rPr>
              <a:t>Prototypen</a:t>
            </a:r>
          </a:p>
          <a:p>
            <a:pPr algn="l">
              <a:spcAft>
                <a:spcPts val="0"/>
              </a:spcAft>
              <a:buNone/>
            </a:pPr>
            <a:r>
              <a:rPr sz="1150" b="0" i="0">
                <a:solidFill>
                  <a:srgbClr val="5A6684"/>
                </a:solidFill>
                <a:latin typeface="Roboto"/>
              </a:rPr>
              <a:t>Ideen schnell greifbar machen</a:t>
            </a:r>
          </a:p>
        </p:txBody>
      </p:sp>
      <p:sp>
        <p:nvSpPr>
          <p:cNvPr id="31" name="Right Arrow 30"/>
          <p:cNvSpPr/>
          <p:nvPr/>
        </p:nvSpPr>
        <p:spPr>
          <a:xfrm>
            <a:off x="9200692" y="2743200"/>
            <a:ext cx="201168" cy="201168"/>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9392716" y="2395728"/>
            <a:ext cx="1954987"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575596" y="2542032"/>
            <a:ext cx="566928" cy="56692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FlaskConical_w.png"/>
          <p:cNvPicPr>
            <a:picLocks noChangeAspect="1"/>
          </p:cNvPicPr>
          <p:nvPr/>
        </p:nvPicPr>
        <p:blipFill>
          <a:blip r:embed="rId7"/>
          <a:stretch>
            <a:fillRect/>
          </a:stretch>
        </p:blipFill>
        <p:spPr>
          <a:xfrm>
            <a:off x="9711659" y="2678094"/>
            <a:ext cx="294802" cy="294802"/>
          </a:xfrm>
          <a:prstGeom prst="rect">
            <a:avLst/>
          </a:prstGeom>
        </p:spPr>
      </p:pic>
      <p:sp>
        <p:nvSpPr>
          <p:cNvPr id="35" name="TextBox 34"/>
          <p:cNvSpPr txBox="1"/>
          <p:nvPr/>
        </p:nvSpPr>
        <p:spPr>
          <a:xfrm>
            <a:off x="10261396" y="2542032"/>
            <a:ext cx="994867" cy="566928"/>
          </a:xfrm>
          <a:prstGeom prst="rect">
            <a:avLst/>
          </a:prstGeom>
          <a:noFill/>
        </p:spPr>
        <p:txBody>
          <a:bodyPr wrap="square" lIns="0" rIns="0" tIns="0" bIns="0" anchor="ctr"/>
          <a:lstStyle/>
          <a:p>
            <a:pPr algn="l">
              <a:spcAft>
                <a:spcPts val="400"/>
              </a:spcAft>
              <a:buNone/>
            </a:pPr>
            <a:r>
              <a:rPr sz="2200" b="1" i="0">
                <a:solidFill>
                  <a:srgbClr val="FB2762"/>
                </a:solidFill>
                <a:latin typeface="Roboto"/>
              </a:rPr>
              <a:t>5</a:t>
            </a:r>
          </a:p>
        </p:txBody>
      </p:sp>
      <p:sp>
        <p:nvSpPr>
          <p:cNvPr id="36" name="TextBox 35"/>
          <p:cNvSpPr txBox="1"/>
          <p:nvPr/>
        </p:nvSpPr>
        <p:spPr>
          <a:xfrm>
            <a:off x="9575596" y="3200400"/>
            <a:ext cx="1589227" cy="868680"/>
          </a:xfrm>
          <a:prstGeom prst="rect">
            <a:avLst/>
          </a:prstGeom>
          <a:noFill/>
        </p:spPr>
        <p:txBody>
          <a:bodyPr wrap="square" lIns="0" rIns="0" tIns="0" bIns="0" anchor="t"/>
          <a:lstStyle/>
          <a:p>
            <a:pPr algn="l">
              <a:spcAft>
                <a:spcPts val="200"/>
              </a:spcAft>
              <a:buNone/>
            </a:pPr>
            <a:r>
              <a:rPr sz="1550" b="1" i="0">
                <a:solidFill>
                  <a:srgbClr val="0E1F53"/>
                </a:solidFill>
                <a:latin typeface="Roboto"/>
              </a:rPr>
              <a:t>Testen</a:t>
            </a:r>
          </a:p>
          <a:p>
            <a:pPr algn="l">
              <a:spcAft>
                <a:spcPts val="0"/>
              </a:spcAft>
              <a:buNone/>
            </a:pPr>
            <a:r>
              <a:rPr sz="1150" b="0" i="0">
                <a:solidFill>
                  <a:srgbClr val="5A6684"/>
                </a:solidFill>
                <a:latin typeface="Roboto"/>
              </a:rPr>
              <a:t>Mit echten Nutzer:innen prüfen</a:t>
            </a:r>
          </a:p>
        </p:txBody>
      </p:sp>
      <p:cxnSp>
        <p:nvCxnSpPr>
          <p:cNvPr id="37" name="Connector 36"/>
          <p:cNvCxnSpPr/>
          <p:nvPr/>
        </p:nvCxnSpPr>
        <p:spPr>
          <a:xfrm>
            <a:off x="10370210" y="4133087"/>
            <a:ext cx="0" cy="237745"/>
          </a:xfrm>
          <a:prstGeom prst="line">
            <a:avLst/>
          </a:prstGeom>
          <a:ln w="22225">
            <a:solidFill>
              <a:srgbClr val="FB2762"/>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1818741" y="4370832"/>
            <a:ext cx="8551469" cy="0"/>
          </a:xfrm>
          <a:prstGeom prst="line">
            <a:avLst/>
          </a:prstGeom>
          <a:ln w="22225">
            <a:solidFill>
              <a:srgbClr val="FB276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818741" y="4151376"/>
            <a:ext cx="0" cy="219456"/>
          </a:xfrm>
          <a:prstGeom prst="line">
            <a:avLst/>
          </a:prstGeom>
          <a:ln w="15875">
            <a:solidFill>
              <a:srgbClr val="FB2762"/>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956608" y="4151376"/>
            <a:ext cx="0" cy="219456"/>
          </a:xfrm>
          <a:prstGeom prst="line">
            <a:avLst/>
          </a:prstGeom>
          <a:ln w="15875">
            <a:solidFill>
              <a:srgbClr val="FB2762"/>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6094476" y="4151376"/>
            <a:ext cx="0" cy="219456"/>
          </a:xfrm>
          <a:prstGeom prst="line">
            <a:avLst/>
          </a:prstGeom>
          <a:ln w="15875">
            <a:solidFill>
              <a:srgbClr val="FB2762"/>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8232343" y="4151376"/>
            <a:ext cx="0" cy="219456"/>
          </a:xfrm>
          <a:prstGeom prst="line">
            <a:avLst/>
          </a:prstGeom>
          <a:ln w="15875">
            <a:solidFill>
              <a:srgbClr val="FB2762"/>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157569" y="4242816"/>
            <a:ext cx="2011680" cy="25603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B2762"/>
                </a:solidFill>
                <a:latin typeface="Roboto"/>
              </a:rPr>
              <a:t>Iterieren: zurück in jede Phase</a:t>
            </a:r>
          </a:p>
        </p:txBody>
      </p:sp>
      <p:sp>
        <p:nvSpPr>
          <p:cNvPr id="44" name="Rounded Rectangle 43"/>
          <p:cNvSpPr/>
          <p:nvPr/>
        </p:nvSpPr>
        <p:spPr>
          <a:xfrm>
            <a:off x="841248" y="4736592"/>
            <a:ext cx="6303873" cy="246888"/>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50976" y="4736592"/>
            <a:ext cx="6120993" cy="246888"/>
          </a:xfrm>
          <a:prstGeom prst="rect">
            <a:avLst/>
          </a:prstGeom>
          <a:noFill/>
        </p:spPr>
        <p:txBody>
          <a:bodyPr wrap="square" lIns="0" rIns="0" tIns="0" bIns="0" anchor="ctr"/>
          <a:lstStyle/>
          <a:p>
            <a:pPr algn="l">
              <a:spcAft>
                <a:spcPts val="400"/>
              </a:spcAft>
              <a:buNone/>
            </a:pPr>
            <a:r>
              <a:rPr sz="1050" b="1" i="0">
                <a:solidFill>
                  <a:srgbClr val="FFFFFF"/>
                </a:solidFill>
                <a:latin typeface="Roboto"/>
              </a:rPr>
              <a:t>03.11.  </a:t>
            </a:r>
            <a:r>
              <a:rPr sz="1050" b="0" i="0">
                <a:solidFill>
                  <a:srgbClr val="FFFFFF"/>
                </a:solidFill>
                <a:latin typeface="Roboto"/>
              </a:rPr>
              <a:t>Workshop Teil 1: Phasen 1–3</a:t>
            </a:r>
          </a:p>
        </p:txBody>
      </p:sp>
      <p:sp>
        <p:nvSpPr>
          <p:cNvPr id="46" name="Rounded Rectangle 45"/>
          <p:cNvSpPr/>
          <p:nvPr/>
        </p:nvSpPr>
        <p:spPr>
          <a:xfrm>
            <a:off x="841248" y="5047488"/>
            <a:ext cx="8405164" cy="246888"/>
          </a:xfrm>
          <a:prstGeom prst="roundRect">
            <a:avLst>
              <a:gd name="adj" fmla="val 50000"/>
            </a:avLst>
          </a:prstGeom>
          <a:solidFill>
            <a:srgbClr val="8FA3C8"/>
          </a:solidFill>
          <a:ln w="25400">
            <a:solidFill>
              <a:srgbClr val="FB27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50976" y="5047488"/>
            <a:ext cx="8222284" cy="246888"/>
          </a:xfrm>
          <a:prstGeom prst="rect">
            <a:avLst/>
          </a:prstGeom>
          <a:noFill/>
        </p:spPr>
        <p:txBody>
          <a:bodyPr wrap="square" lIns="0" rIns="0" tIns="0" bIns="0" anchor="ctr"/>
          <a:lstStyle/>
          <a:p>
            <a:pPr algn="l">
              <a:spcAft>
                <a:spcPts val="400"/>
              </a:spcAft>
              <a:buNone/>
            </a:pPr>
            <a:r>
              <a:rPr sz="1050" b="1" i="0">
                <a:solidFill>
                  <a:srgbClr val="FFFFFF"/>
                </a:solidFill>
                <a:latin typeface="Roboto"/>
              </a:rPr>
              <a:t>bis 20.11.  </a:t>
            </a:r>
            <a:r>
              <a:rPr sz="1050" b="0" i="0">
                <a:solidFill>
                  <a:srgbClr val="FFFFFF"/>
                </a:solidFill>
                <a:latin typeface="Roboto"/>
              </a:rPr>
              <a:t>Remote: Interviews, Methoden, Prototyp ausprobieren</a:t>
            </a:r>
          </a:p>
        </p:txBody>
      </p:sp>
      <p:sp>
        <p:nvSpPr>
          <p:cNvPr id="48" name="Rounded Rectangle 47"/>
          <p:cNvSpPr/>
          <p:nvPr/>
        </p:nvSpPr>
        <p:spPr>
          <a:xfrm>
            <a:off x="7145121" y="5358383"/>
            <a:ext cx="4202582" cy="246888"/>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7254849" y="5358383"/>
            <a:ext cx="4019702" cy="246888"/>
          </a:xfrm>
          <a:prstGeom prst="rect">
            <a:avLst/>
          </a:prstGeom>
          <a:noFill/>
        </p:spPr>
        <p:txBody>
          <a:bodyPr wrap="square" lIns="0" rIns="0" tIns="0" bIns="0" anchor="ctr"/>
          <a:lstStyle/>
          <a:p>
            <a:pPr algn="l">
              <a:spcAft>
                <a:spcPts val="400"/>
              </a:spcAft>
              <a:buNone/>
            </a:pPr>
            <a:r>
              <a:rPr sz="1050" b="1" i="0">
                <a:solidFill>
                  <a:srgbClr val="FFFFFF"/>
                </a:solidFill>
                <a:latin typeface="Roboto"/>
              </a:rPr>
              <a:t>20.11.  </a:t>
            </a:r>
            <a:r>
              <a:rPr sz="1050" b="0" i="0">
                <a:solidFill>
                  <a:srgbClr val="FFFFFF"/>
                </a:solidFill>
                <a:latin typeface="Roboto"/>
              </a:rPr>
              <a:t>Workshop Teil 3: Phasen 4–5</a:t>
            </a:r>
          </a:p>
        </p:txBody>
      </p:sp>
      <p:sp>
        <p:nvSpPr>
          <p:cNvPr id="50" name="Rounded Rectangle 49"/>
          <p:cNvSpPr/>
          <p:nvPr/>
        </p:nvSpPr>
        <p:spPr>
          <a:xfrm>
            <a:off x="9246412" y="5669279"/>
            <a:ext cx="2101291" cy="246888"/>
          </a:xfrm>
          <a:prstGeom prst="roundRect">
            <a:avLst>
              <a:gd name="adj" fmla="val 50000"/>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356140" y="5669279"/>
            <a:ext cx="1918411" cy="246888"/>
          </a:xfrm>
          <a:prstGeom prst="rect">
            <a:avLst/>
          </a:prstGeom>
          <a:noFill/>
        </p:spPr>
        <p:txBody>
          <a:bodyPr wrap="square" lIns="0" rIns="0" tIns="0" bIns="0" anchor="ctr"/>
          <a:lstStyle/>
          <a:p>
            <a:pPr algn="l">
              <a:spcAft>
                <a:spcPts val="400"/>
              </a:spcAft>
              <a:buNone/>
            </a:pPr>
            <a:r>
              <a:rPr sz="1050" b="1" i="0">
                <a:solidFill>
                  <a:srgbClr val="FFFFFF"/>
                </a:solidFill>
                <a:latin typeface="Roboto"/>
              </a:rPr>
              <a:t>danach  </a:t>
            </a:r>
            <a:r>
              <a:rPr sz="1050" b="0" i="0">
                <a:solidFill>
                  <a:srgbClr val="FFFFFF"/>
                </a:solidFill>
                <a:latin typeface="Roboto"/>
              </a:rPr>
              <a:t>testen &amp; iterieren</a:t>
            </a:r>
          </a:p>
        </p:txBody>
      </p:sp>
      <p:sp>
        <p:nvSpPr>
          <p:cNvPr id="52" name="TextBox 51"/>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Prozessmodell nach Hasso Plattner Institute of Design at Stanford (d.school)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a:themeElements>
    <a:clrScheme name="KI für KMU">
      <a:dk1>
        <a:srgbClr val="0E1F53"/>
      </a:dk1>
      <a:lt1>
        <a:srgbClr val="D5ECFE"/>
      </a:lt1>
      <a:dk2>
        <a:srgbClr val="0E1F53"/>
      </a:dk2>
      <a:lt2>
        <a:srgbClr val="D5ECFE"/>
      </a:lt2>
      <a:accent1>
        <a:srgbClr val="0E1F53"/>
      </a:accent1>
      <a:accent2>
        <a:srgbClr val="D5ECFE"/>
      </a:accent2>
      <a:accent3>
        <a:srgbClr val="FFFFFF"/>
      </a:accent3>
      <a:accent4>
        <a:srgbClr val="FB2762"/>
      </a:accent4>
      <a:accent5>
        <a:srgbClr val="FFFF00"/>
      </a:accent5>
      <a:accent6>
        <a:srgbClr val="00B050"/>
      </a:accent6>
      <a:hlink>
        <a:srgbClr val="000000"/>
      </a:hlink>
      <a:folHlink>
        <a:srgbClr val="0000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8AB1A8060D28FA43BB9900564A78FB5F" ma:contentTypeVersion="11" ma:contentTypeDescription="Ein neues Dokument erstellen." ma:contentTypeScope="" ma:versionID="144e6748869825956ab089d46687b714">
  <xsd:schema xmlns:xsd="http://www.w3.org/2001/XMLSchema" xmlns:xs="http://www.w3.org/2001/XMLSchema" xmlns:p="http://schemas.microsoft.com/office/2006/metadata/properties" xmlns:ns2="2f2b9811-e224-499d-9cee-5ea94efd50cd" xmlns:ns3="0d50e631-021e-46c4-8466-675917dabca7" targetNamespace="http://schemas.microsoft.com/office/2006/metadata/properties" ma:root="true" ma:fieldsID="46124d4402fc9abb362099b213c94ac0" ns2:_="" ns3:_="">
    <xsd:import namespace="2f2b9811-e224-499d-9cee-5ea94efd50cd"/>
    <xsd:import namespace="0d50e631-021e-46c4-8466-675917dabca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2b9811-e224-499d-9cee-5ea94efd50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Bildmarkierungen" ma:readOnly="false" ma:fieldId="{5cf76f15-5ced-4ddc-b409-7134ff3c332f}" ma:taxonomyMulti="true" ma:sspId="7a9c7e18-6737-40fa-b448-03ddc414b1f5"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50e631-021e-46c4-8466-675917dabca7"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6abe772-63e3-48a9-946e-7b19bff8b72d}" ma:internalName="TaxCatchAll" ma:showField="CatchAllData" ma:web="0d50e631-021e-46c4-8466-675917dabca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2b9811-e224-499d-9cee-5ea94efd50cd">
      <Terms xmlns="http://schemas.microsoft.com/office/infopath/2007/PartnerControls"/>
    </lcf76f155ced4ddcb4097134ff3c332f>
    <TaxCatchAll xmlns="0d50e631-021e-46c4-8466-675917dabca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51883B-F1CC-4AE1-8B47-ACC0C47EE8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2b9811-e224-499d-9cee-5ea94efd50cd"/>
    <ds:schemaRef ds:uri="0d50e631-021e-46c4-8466-675917dabc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696C649-5B39-4CB8-8F3E-47F05CFF70B1}">
  <ds:schemaRefs>
    <ds:schemaRef ds:uri="http://schemas.microsoft.com/office/2006/metadata/properties"/>
    <ds:schemaRef ds:uri="http://schemas.microsoft.com/office/infopath/2007/PartnerControls"/>
    <ds:schemaRef ds:uri="72c6d9d0-3d9b-424b-95f4-b197d81fd0e7"/>
    <ds:schemaRef ds:uri="8b3dfbf8-1ae1-4b5f-be9c-68dbb0ad3816"/>
    <ds:schemaRef ds:uri="2f2b9811-e224-499d-9cee-5ea94efd50cd"/>
    <ds:schemaRef ds:uri="0d50e631-021e-46c4-8466-675917dabca7"/>
  </ds:schemaRefs>
</ds:datastoreItem>
</file>

<file path=customXml/itemProps3.xml><?xml version="1.0" encoding="utf-8"?>
<ds:datastoreItem xmlns:ds="http://schemas.openxmlformats.org/officeDocument/2006/customXml" ds:itemID="{A1E9A523-2ADD-48B3-AD86-64F03EEAF6C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24</Words>
  <Application>Microsoft Office PowerPoint</Application>
  <PresentationFormat>Widescreen</PresentationFormat>
  <Paragraphs>6</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Helen Dutzi</dc:creator>
  <cp:lastModifiedBy>Helen Dutzi</cp:lastModifiedBy>
  <cp:revision>3</cp:revision>
  <dcterms:created xsi:type="dcterms:W3CDTF">2026-04-01T07:51:41Z</dcterms:created>
  <dcterms:modified xsi:type="dcterms:W3CDTF">2026-10-14T12:40:27Z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0x0101008AB1A8060D28FA43BB9900564A78FB5F</vt:lpwstr>
  </property>
  <property fmtid="{D5CDD505-2E9C-101B-9397-08002B2CF9AE}" pid="3" name="MediaServiceImageTags">
    <vt:lpwstr/>
  </property>
</Properties>
</file>